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2"/>
  </p:notesMasterIdLst>
  <p:handoutMasterIdLst>
    <p:handoutMasterId r:id="rId193"/>
  </p:handoutMasterIdLst>
  <p:sldIdLst>
    <p:sldId id="272" r:id="rId2"/>
    <p:sldId id="665" r:id="rId3"/>
    <p:sldId id="739" r:id="rId4"/>
    <p:sldId id="651" r:id="rId5"/>
    <p:sldId id="648" r:id="rId6"/>
    <p:sldId id="649" r:id="rId7"/>
    <p:sldId id="650" r:id="rId8"/>
    <p:sldId id="647" r:id="rId9"/>
    <p:sldId id="675" r:id="rId10"/>
    <p:sldId id="659" r:id="rId11"/>
    <p:sldId id="664" r:id="rId12"/>
    <p:sldId id="660" r:id="rId13"/>
    <p:sldId id="663" r:id="rId14"/>
    <p:sldId id="577" r:id="rId15"/>
    <p:sldId id="477" r:id="rId16"/>
    <p:sldId id="479" r:id="rId17"/>
    <p:sldId id="480" r:id="rId18"/>
    <p:sldId id="478" r:id="rId19"/>
    <p:sldId id="481" r:id="rId20"/>
    <p:sldId id="483" r:id="rId21"/>
    <p:sldId id="485" r:id="rId22"/>
    <p:sldId id="486" r:id="rId23"/>
    <p:sldId id="487" r:id="rId24"/>
    <p:sldId id="488" r:id="rId25"/>
    <p:sldId id="489" r:id="rId26"/>
    <p:sldId id="484" r:id="rId27"/>
    <p:sldId id="490" r:id="rId28"/>
    <p:sldId id="492" r:id="rId29"/>
    <p:sldId id="491" r:id="rId30"/>
    <p:sldId id="493" r:id="rId31"/>
    <p:sldId id="494" r:id="rId32"/>
    <p:sldId id="495" r:id="rId33"/>
    <p:sldId id="496" r:id="rId34"/>
    <p:sldId id="498" r:id="rId35"/>
    <p:sldId id="499" r:id="rId36"/>
    <p:sldId id="500" r:id="rId37"/>
    <p:sldId id="501" r:id="rId38"/>
    <p:sldId id="578" r:id="rId39"/>
    <p:sldId id="502" r:id="rId40"/>
    <p:sldId id="503" r:id="rId41"/>
    <p:sldId id="678" r:id="rId42"/>
    <p:sldId id="679" r:id="rId43"/>
    <p:sldId id="504" r:id="rId44"/>
    <p:sldId id="505" r:id="rId45"/>
    <p:sldId id="506" r:id="rId46"/>
    <p:sldId id="507" r:id="rId47"/>
    <p:sldId id="508" r:id="rId48"/>
    <p:sldId id="579" r:id="rId49"/>
    <p:sldId id="509" r:id="rId50"/>
    <p:sldId id="680" r:id="rId51"/>
    <p:sldId id="681" r:id="rId52"/>
    <p:sldId id="682" r:id="rId53"/>
    <p:sldId id="683" r:id="rId54"/>
    <p:sldId id="580" r:id="rId55"/>
    <p:sldId id="510" r:id="rId56"/>
    <p:sldId id="511" r:id="rId57"/>
    <p:sldId id="513" r:id="rId58"/>
    <p:sldId id="582" r:id="rId59"/>
    <p:sldId id="515" r:id="rId60"/>
    <p:sldId id="514" r:id="rId61"/>
    <p:sldId id="516" r:id="rId62"/>
    <p:sldId id="517" r:id="rId63"/>
    <p:sldId id="583" r:id="rId64"/>
    <p:sldId id="573" r:id="rId65"/>
    <p:sldId id="574" r:id="rId66"/>
    <p:sldId id="584" r:id="rId67"/>
    <p:sldId id="518" r:id="rId68"/>
    <p:sldId id="519" r:id="rId69"/>
    <p:sldId id="520" r:id="rId70"/>
    <p:sldId id="521" r:id="rId71"/>
    <p:sldId id="522" r:id="rId72"/>
    <p:sldId id="523" r:id="rId73"/>
    <p:sldId id="524" r:id="rId74"/>
    <p:sldId id="529" r:id="rId75"/>
    <p:sldId id="530" r:id="rId76"/>
    <p:sldId id="525" r:id="rId77"/>
    <p:sldId id="526" r:id="rId78"/>
    <p:sldId id="528" r:id="rId79"/>
    <p:sldId id="532" r:id="rId80"/>
    <p:sldId id="585" r:id="rId81"/>
    <p:sldId id="533" r:id="rId82"/>
    <p:sldId id="534" r:id="rId83"/>
    <p:sldId id="536" r:id="rId84"/>
    <p:sldId id="538" r:id="rId85"/>
    <p:sldId id="537" r:id="rId86"/>
    <p:sldId id="539" r:id="rId87"/>
    <p:sldId id="540" r:id="rId88"/>
    <p:sldId id="541" r:id="rId89"/>
    <p:sldId id="542" r:id="rId90"/>
    <p:sldId id="543" r:id="rId91"/>
    <p:sldId id="544" r:id="rId92"/>
    <p:sldId id="545" r:id="rId93"/>
    <p:sldId id="740" r:id="rId94"/>
    <p:sldId id="741" r:id="rId95"/>
    <p:sldId id="742" r:id="rId96"/>
    <p:sldId id="589" r:id="rId97"/>
    <p:sldId id="571" r:id="rId98"/>
    <p:sldId id="572" r:id="rId99"/>
    <p:sldId id="587" r:id="rId100"/>
    <p:sldId id="624" r:id="rId101"/>
    <p:sldId id="625" r:id="rId102"/>
    <p:sldId id="605" r:id="rId103"/>
    <p:sldId id="684" r:id="rId104"/>
    <p:sldId id="685" r:id="rId105"/>
    <p:sldId id="686" r:id="rId106"/>
    <p:sldId id="687" r:id="rId107"/>
    <p:sldId id="688" r:id="rId108"/>
    <p:sldId id="689" r:id="rId109"/>
    <p:sldId id="690" r:id="rId110"/>
    <p:sldId id="691" r:id="rId111"/>
    <p:sldId id="692" r:id="rId112"/>
    <p:sldId id="693" r:id="rId113"/>
    <p:sldId id="694" r:id="rId114"/>
    <p:sldId id="695" r:id="rId115"/>
    <p:sldId id="696" r:id="rId116"/>
    <p:sldId id="697" r:id="rId117"/>
    <p:sldId id="698" r:id="rId118"/>
    <p:sldId id="700" r:id="rId119"/>
    <p:sldId id="701" r:id="rId120"/>
    <p:sldId id="702" r:id="rId121"/>
    <p:sldId id="703" r:id="rId122"/>
    <p:sldId id="610" r:id="rId123"/>
    <p:sldId id="704" r:id="rId124"/>
    <p:sldId id="705" r:id="rId125"/>
    <p:sldId id="706" r:id="rId126"/>
    <p:sldId id="707" r:id="rId127"/>
    <p:sldId id="708" r:id="rId128"/>
    <p:sldId id="709" r:id="rId129"/>
    <p:sldId id="712" r:id="rId130"/>
    <p:sldId id="711" r:id="rId131"/>
    <p:sldId id="713" r:id="rId132"/>
    <p:sldId id="714" r:id="rId133"/>
    <p:sldId id="715" r:id="rId134"/>
    <p:sldId id="716" r:id="rId135"/>
    <p:sldId id="717" r:id="rId136"/>
    <p:sldId id="718" r:id="rId137"/>
    <p:sldId id="620" r:id="rId138"/>
    <p:sldId id="719" r:id="rId139"/>
    <p:sldId id="720" r:id="rId140"/>
    <p:sldId id="721" r:id="rId141"/>
    <p:sldId id="722" r:id="rId142"/>
    <p:sldId id="723" r:id="rId143"/>
    <p:sldId id="724" r:id="rId144"/>
    <p:sldId id="725" r:id="rId145"/>
    <p:sldId id="726" r:id="rId146"/>
    <p:sldId id="727" r:id="rId147"/>
    <p:sldId id="728" r:id="rId148"/>
    <p:sldId id="729" r:id="rId149"/>
    <p:sldId id="730" r:id="rId150"/>
    <p:sldId id="731" r:id="rId151"/>
    <p:sldId id="732" r:id="rId152"/>
    <p:sldId id="733" r:id="rId153"/>
    <p:sldId id="734" r:id="rId154"/>
    <p:sldId id="735" r:id="rId155"/>
    <p:sldId id="736" r:id="rId156"/>
    <p:sldId id="737" r:id="rId157"/>
    <p:sldId id="738" r:id="rId158"/>
    <p:sldId id="640" r:id="rId159"/>
    <p:sldId id="549" r:id="rId160"/>
    <p:sldId id="586" r:id="rId161"/>
    <p:sldId id="626" r:id="rId162"/>
    <p:sldId id="627" r:id="rId163"/>
    <p:sldId id="632" r:id="rId164"/>
    <p:sldId id="633" r:id="rId165"/>
    <p:sldId id="634" r:id="rId166"/>
    <p:sldId id="635" r:id="rId167"/>
    <p:sldId id="636" r:id="rId168"/>
    <p:sldId id="637" r:id="rId169"/>
    <p:sldId id="628" r:id="rId170"/>
    <p:sldId id="629" r:id="rId171"/>
    <p:sldId id="630" r:id="rId172"/>
    <p:sldId id="631" r:id="rId173"/>
    <p:sldId id="552" r:id="rId174"/>
    <p:sldId id="553" r:id="rId175"/>
    <p:sldId id="639" r:id="rId176"/>
    <p:sldId id="554" r:id="rId177"/>
    <p:sldId id="556" r:id="rId178"/>
    <p:sldId id="588" r:id="rId179"/>
    <p:sldId id="557" r:id="rId180"/>
    <p:sldId id="558" r:id="rId181"/>
    <p:sldId id="559" r:id="rId182"/>
    <p:sldId id="560" r:id="rId183"/>
    <p:sldId id="561" r:id="rId184"/>
    <p:sldId id="562" r:id="rId185"/>
    <p:sldId id="563" r:id="rId186"/>
    <p:sldId id="564" r:id="rId187"/>
    <p:sldId id="565" r:id="rId188"/>
    <p:sldId id="567" r:id="rId189"/>
    <p:sldId id="568" r:id="rId190"/>
    <p:sldId id="570" r:id="rId19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dows-felhasználó" initials="W" lastIdx="2" clrIdx="0">
    <p:extLst>
      <p:ext uri="{19B8F6BF-5375-455C-9EA6-DF929625EA0E}">
        <p15:presenceInfo xmlns:p15="http://schemas.microsoft.com/office/powerpoint/2012/main" userId="8e497090a0d7aaa3" providerId="Windows Live"/>
      </p:ext>
    </p:extLst>
  </p:cmAuthor>
  <p:cmAuthor id="2" name="Dávid Szabó" initials="DS" lastIdx="1" clrIdx="1">
    <p:extLst>
      <p:ext uri="{19B8F6BF-5375-455C-9EA6-DF929625EA0E}">
        <p15:presenceInfo xmlns:p15="http://schemas.microsoft.com/office/powerpoint/2012/main" userId="Dávid Szabó" providerId="None"/>
      </p:ext>
    </p:extLst>
  </p:cmAuthor>
  <p:cmAuthor id="3" name="Szabó, Dávid" initials="SD" lastIdx="1" clrIdx="2">
    <p:extLst>
      <p:ext uri="{19B8F6BF-5375-455C-9EA6-DF929625EA0E}">
        <p15:presenceInfo xmlns:p15="http://schemas.microsoft.com/office/powerpoint/2012/main" userId="Szabó, Dávid" providerId="None"/>
      </p:ext>
    </p:extLst>
  </p:cmAuthor>
  <p:cmAuthor id="4" name="SzDávid" initials="SzD" lastIdx="2" clrIdx="3">
    <p:extLst>
      <p:ext uri="{19B8F6BF-5375-455C-9EA6-DF929625EA0E}">
        <p15:presenceInfo xmlns:p15="http://schemas.microsoft.com/office/powerpoint/2012/main" userId="SzDávid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2863"/>
    <a:srgbClr val="667085"/>
    <a:srgbClr val="0128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29" autoAdjust="0"/>
    <p:restoredTop sz="79592" autoAdjust="0"/>
  </p:normalViewPr>
  <p:slideViewPr>
    <p:cSldViewPr snapToGrid="0" snapToObjects="1">
      <p:cViewPr varScale="1">
        <p:scale>
          <a:sx n="49" d="100"/>
          <a:sy n="49" d="100"/>
        </p:scale>
        <p:origin x="1280" y="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04" d="100"/>
          <a:sy n="104" d="100"/>
        </p:scale>
        <p:origin x="5560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38" Type="http://schemas.openxmlformats.org/officeDocument/2006/relationships/slide" Target="slides/slide137.xml"/><Relationship Id="rId154" Type="http://schemas.openxmlformats.org/officeDocument/2006/relationships/slide" Target="slides/slide153.xml"/><Relationship Id="rId159" Type="http://schemas.openxmlformats.org/officeDocument/2006/relationships/slide" Target="slides/slide158.xml"/><Relationship Id="rId175" Type="http://schemas.openxmlformats.org/officeDocument/2006/relationships/slide" Target="slides/slide174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96" Type="http://schemas.openxmlformats.org/officeDocument/2006/relationships/viewProps" Target="view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144" Type="http://schemas.openxmlformats.org/officeDocument/2006/relationships/slide" Target="slides/slide143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65" Type="http://schemas.openxmlformats.org/officeDocument/2006/relationships/slide" Target="slides/slide164.xml"/><Relationship Id="rId181" Type="http://schemas.openxmlformats.org/officeDocument/2006/relationships/slide" Target="slides/slide180.xml"/><Relationship Id="rId186" Type="http://schemas.openxmlformats.org/officeDocument/2006/relationships/slide" Target="slides/slide185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55" Type="http://schemas.openxmlformats.org/officeDocument/2006/relationships/slide" Target="slides/slide154.xml"/><Relationship Id="rId171" Type="http://schemas.openxmlformats.org/officeDocument/2006/relationships/slide" Target="slides/slide170.xml"/><Relationship Id="rId176" Type="http://schemas.openxmlformats.org/officeDocument/2006/relationships/slide" Target="slides/slide175.xml"/><Relationship Id="rId192" Type="http://schemas.openxmlformats.org/officeDocument/2006/relationships/notesMaster" Target="notesMasters/notesMaster1.xml"/><Relationship Id="rId197" Type="http://schemas.openxmlformats.org/officeDocument/2006/relationships/theme" Target="theme/theme1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slide" Target="slides/slide160.xml"/><Relationship Id="rId166" Type="http://schemas.openxmlformats.org/officeDocument/2006/relationships/slide" Target="slides/slide165.xml"/><Relationship Id="rId182" Type="http://schemas.openxmlformats.org/officeDocument/2006/relationships/slide" Target="slides/slide181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tableStyles" Target="tableStyles.xml"/><Relationship Id="rId172" Type="http://schemas.openxmlformats.org/officeDocument/2006/relationships/slide" Target="slides/slide171.xml"/><Relationship Id="rId193" Type="http://schemas.openxmlformats.org/officeDocument/2006/relationships/handoutMaster" Target="handoutMasters/handout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commentAuthors" Target="commentAuthor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presProps" Target="presProps.xml"/><Relationship Id="rId190" Type="http://schemas.openxmlformats.org/officeDocument/2006/relationships/slide" Target="slides/slide189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12C39806-BB1D-8F56-1BD4-E8FD84A8860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8C5BF43A-04E9-CC17-BD51-B26CC338B3D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771E59-BB6D-9C41-A61C-2D524682E115}" type="datetimeFigureOut">
              <a:rPr lang="hu-HU" smtClean="0"/>
              <a:t>2025. 10. 01.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898E5719-5CA3-B83A-6AB2-CC9AF2C948A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8441738D-8521-5BCA-A098-BEAAADEBC96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9E7E85-FAC5-AA44-BBE8-3A2E745EC5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384333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DA393B-998D-3C45-ACA4-5C51E3A83922}" type="datetimeFigureOut">
              <a:rPr lang="hu-HU" smtClean="0"/>
              <a:t>2025. 10. 01.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hu-HU"/>
              <a:t>Mintaszöveg szerkesztése
Második szint
Harmadik szint
Negyedik szint
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8B25AA-5A0B-7648-B33A-37E9A013F9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28872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558103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87C42-6274-57B5-1398-80516D54D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78E377-8F02-9250-B7F3-A080E4C01B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54248-4EEC-853B-34DD-40CEF7B5FB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7EA535-AC40-387A-0BA9-17ED3B24B0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64497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28493-A1C4-EF58-A27E-6D1507DAD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F20CBD-D728-A5FB-BE65-123448DEE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E97158-1319-5C25-7DCE-07047AA88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559A3F-FB6C-5DF9-3423-167BEDB4ED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54541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AE6DA-2132-5F16-D17B-5D57218C1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12DCD9-8331-E607-35A8-47E7E25555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EDE690-D875-2198-4220-ECFB9A131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</a:t>
            </a:r>
            <a:r>
              <a:rPr lang="en-US" b="0" i="0" dirty="0">
                <a:solidFill>
                  <a:srgbClr val="1A1523"/>
                </a:solidFill>
                <a:effectLst/>
                <a:highlight>
                  <a:srgbClr val="FFFFFF"/>
                </a:highlight>
                <a:latin typeface="Inter"/>
              </a:rPr>
              <a:t>accounting, billing, CRM</a:t>
            </a:r>
            <a:r>
              <a:rPr lang="en-US" b="1" i="0" dirty="0">
                <a:solidFill>
                  <a:srgbClr val="1A1523"/>
                </a:solidFill>
                <a:effectLst/>
                <a:highlight>
                  <a:srgbClr val="FFFFFF"/>
                </a:highlight>
                <a:latin typeface="Inter"/>
              </a:rPr>
              <a:t>, </a:t>
            </a:r>
            <a:r>
              <a:rPr lang="en-US" b="0" i="0" dirty="0">
                <a:solidFill>
                  <a:srgbClr val="1A1523"/>
                </a:solidFill>
                <a:effectLst/>
                <a:highlight>
                  <a:srgbClr val="FFFFFF"/>
                </a:highlight>
                <a:latin typeface="Inter"/>
              </a:rPr>
              <a:t>websites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8C479-F07B-C7DC-8071-85CF8BDDF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83388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F9E77-D48D-78B7-E12C-0D54D74E7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479318-8995-A682-C273-B2B7DD7FBA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ED46FA-21B2-6DA2-8691-1917ED0E6B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</a:t>
            </a:r>
            <a:r>
              <a:rPr lang="en-US" b="0" i="0" dirty="0">
                <a:solidFill>
                  <a:srgbClr val="1A1523"/>
                </a:solidFill>
                <a:effectLst/>
                <a:highlight>
                  <a:srgbClr val="FFFFFF"/>
                </a:highlight>
                <a:latin typeface="Inter"/>
              </a:rPr>
              <a:t>accounting, billing, CRM</a:t>
            </a:r>
            <a:r>
              <a:rPr lang="en-US" b="1" i="0" dirty="0">
                <a:solidFill>
                  <a:srgbClr val="1A1523"/>
                </a:solidFill>
                <a:effectLst/>
                <a:highlight>
                  <a:srgbClr val="FFFFFF"/>
                </a:highlight>
                <a:latin typeface="Inter"/>
              </a:rPr>
              <a:t>, </a:t>
            </a:r>
            <a:r>
              <a:rPr lang="en-US" b="0" i="0" dirty="0">
                <a:solidFill>
                  <a:srgbClr val="1A1523"/>
                </a:solidFill>
                <a:effectLst/>
                <a:highlight>
                  <a:srgbClr val="FFFFFF"/>
                </a:highlight>
                <a:latin typeface="Inter"/>
              </a:rPr>
              <a:t>websites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D2C8E-020E-76E5-DF70-442A3A353E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84188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9154A-6739-F6C3-FA28-539B07D23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2512D3-C45E-E1DA-DB7E-AE597C6B2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8ACEA8-FD35-3A03-27EF-D371E1C71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1A1523"/>
                </a:solidFill>
                <a:effectLst/>
                <a:highlight>
                  <a:srgbClr val="FFFFFF"/>
                </a:highlight>
                <a:latin typeface="Inter"/>
              </a:rPr>
              <a:t>accounting, billing, CRM</a:t>
            </a:r>
            <a:r>
              <a:rPr lang="en-US" b="1" i="0" dirty="0">
                <a:solidFill>
                  <a:srgbClr val="1A1523"/>
                </a:solidFill>
                <a:effectLst/>
                <a:highlight>
                  <a:srgbClr val="FFFFFF"/>
                </a:highlight>
                <a:latin typeface="Inter"/>
              </a:rPr>
              <a:t>, </a:t>
            </a:r>
            <a:r>
              <a:rPr lang="en-US" b="0" i="0" dirty="0">
                <a:solidFill>
                  <a:srgbClr val="1A1523"/>
                </a:solidFill>
                <a:effectLst/>
                <a:highlight>
                  <a:srgbClr val="FFFFFF"/>
                </a:highlight>
                <a:latin typeface="Inter"/>
              </a:rPr>
              <a:t>websites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7DDC56-D6D4-396B-5109-2DBFEBA6F0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20690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04811-B708-0ED1-3FC9-5492C459D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439F83-45FC-4238-7D33-A2A48584E9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ABA62A-C731-4152-8766-A26F7FFA6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04FF1A-8510-A0C2-62CA-C63B7B23FA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616503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B374C-C668-493C-B1CF-ABD95B150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5FB77B-4655-C0F0-DB8A-B4E4A1817E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BE9841-339D-C67C-5A6F-F52E252155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D199A-E344-A03A-1D41-922960245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79309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11923-6BC7-F0D8-F43B-A81FD673B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4F4A4-BA28-E4D2-9042-286B73933F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C5F059-FBBE-56E5-388A-5132D20468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95EAAF-FCE7-A833-0CF4-CB517F00E1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341651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1C72D-B7E1-7261-29C9-1204F5B93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EE5791-AD82-ED37-D198-1235CF73C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8D9AE-BDBD-584E-FAE3-0359558080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1F3340-7BBD-8589-E840-2D7EF2AE65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016452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DD343-F924-446C-A4AB-C3E996894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EE770E-C1B3-803F-517D-D2544BAE88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7E7213-6E2B-EF7B-C450-97D5E17BC9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2C0805-895A-127A-8367-18E9213FAE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993563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Logical (message sending perspective) Architecture -&gt; partitions and so</a:t>
            </a:r>
          </a:p>
          <a:p>
            <a:r>
              <a:rPr lang="hu-HU" dirty="0"/>
              <a:t>Physicyal: Zookeeper and so -&gt;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68392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Logical (message sending perspective) Architecture -&gt; partitions and so</a:t>
            </a:r>
          </a:p>
          <a:p>
            <a:r>
              <a:rPr lang="hu-HU" dirty="0"/>
              <a:t>Physicyal: Zookeeper and so -&gt;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21314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Logical (message sending perspective) Architecture -&gt; partitions and so</a:t>
            </a:r>
          </a:p>
          <a:p>
            <a:r>
              <a:rPr lang="hu-HU" dirty="0"/>
              <a:t>Physicyal: Zookeeper and so -&gt;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867716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Logical (message sending perspective) Architecture -&gt; partitions and so</a:t>
            </a:r>
          </a:p>
          <a:p>
            <a:r>
              <a:rPr lang="hu-HU" dirty="0"/>
              <a:t>Physicyal: Zookeeper and so -&gt;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62215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Logical (message sending perspective) Architecture -&gt; partitions and so</a:t>
            </a:r>
          </a:p>
          <a:p>
            <a:r>
              <a:rPr lang="hu-HU" dirty="0"/>
              <a:t>Physicyal: Zookeeper and so -&gt;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658428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Logical (message sending perspective) Architecture -&gt; partitions and so</a:t>
            </a:r>
          </a:p>
          <a:p>
            <a:r>
              <a:rPr lang="hu-HU" dirty="0"/>
              <a:t>Physicyal: Zookeeper and so -&gt;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23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779585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Logical (message sending perspective) Architecture -&gt; partitions and so</a:t>
            </a:r>
          </a:p>
          <a:p>
            <a:r>
              <a:rPr lang="hu-HU" dirty="0"/>
              <a:t>Physicyal: Zookeeper and so -&gt;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24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93483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Logical (message sending perspective) Architecture -&gt; partitions and so</a:t>
            </a:r>
          </a:p>
          <a:p>
            <a:r>
              <a:rPr lang="hu-HU" dirty="0"/>
              <a:t>Physicyal: Zookeeper and so -&gt;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26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534780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Logical (message sending perspective) Architecture -&gt; partitions and so</a:t>
            </a:r>
          </a:p>
          <a:p>
            <a:r>
              <a:rPr lang="hu-HU" dirty="0"/>
              <a:t>Physicyal: Zookeeper and so -&gt;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27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73528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a set of consumers from the same application that work together to consume and process messages from one or more topics.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28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388918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a set of consumers from the same application that work together to consume and process messages from one or more topics.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29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566907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a set of consumers from the same application that work together to consume and process messages from one or more topics.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30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6744940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a set of consumers from the same application that work together to consume and process messages from one or more topics.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31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792685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a set of consumers from the same application that work together to consume and process messages from one or more topics.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32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309176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39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922391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40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025713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42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8930616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43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26846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44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309211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45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6402847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46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685214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47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86636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1. Pure Implementation vs. </a:t>
            </a:r>
            <a:r>
              <a:rPr lang="en-US" b="1" dirty="0" err="1"/>
              <a:t>librdkafka</a:t>
            </a:r>
            <a:r>
              <a:rPr lang="en-US" b="1" dirty="0"/>
              <a:t>-based</a:t>
            </a:r>
          </a:p>
          <a:p>
            <a:r>
              <a:rPr lang="en-US" b="1" dirty="0"/>
              <a:t>What it means:</a:t>
            </a:r>
          </a:p>
          <a:p>
            <a:r>
              <a:rPr lang="en-US" b="1" dirty="0"/>
              <a:t>Pure implementation</a:t>
            </a:r>
            <a:r>
              <a:rPr lang="en-US" dirty="0"/>
              <a:t>: The client is written entirely in the target language (e.g., </a:t>
            </a:r>
            <a:r>
              <a:rPr lang="en-US" dirty="0" err="1"/>
              <a:t>kafka</a:t>
            </a:r>
            <a:r>
              <a:rPr lang="en-US" dirty="0"/>
              <a:t>-python is pure Python).</a:t>
            </a:r>
          </a:p>
          <a:p>
            <a:r>
              <a:rPr lang="en-US" b="1" dirty="0" err="1"/>
              <a:t>librdkafka</a:t>
            </a:r>
            <a:r>
              <a:rPr lang="en-US" b="1" dirty="0"/>
              <a:t>-based</a:t>
            </a:r>
            <a:r>
              <a:rPr lang="en-US" dirty="0"/>
              <a:t>: The client wraps around </a:t>
            </a:r>
            <a:r>
              <a:rPr lang="en-US" dirty="0" err="1"/>
              <a:t>librdkafka</a:t>
            </a:r>
            <a:r>
              <a:rPr lang="en-US" dirty="0"/>
              <a:t>, a high-performance C/C++ Kafka client developed by Confluent.</a:t>
            </a:r>
          </a:p>
          <a:p>
            <a:r>
              <a:rPr lang="en-US" b="1" dirty="0"/>
              <a:t>Why it matters:</a:t>
            </a:r>
          </a:p>
          <a:p>
            <a:r>
              <a:rPr lang="en-US" b="1" dirty="0"/>
              <a:t>Performance</a:t>
            </a:r>
            <a:r>
              <a:rPr lang="en-US" dirty="0"/>
              <a:t>: </a:t>
            </a:r>
            <a:r>
              <a:rPr lang="en-US" dirty="0" err="1"/>
              <a:t>librdkafka</a:t>
            </a:r>
            <a:r>
              <a:rPr lang="en-US" dirty="0"/>
              <a:t> is highly optimized and often faster than pure implementations.</a:t>
            </a:r>
          </a:p>
          <a:p>
            <a:r>
              <a:rPr lang="en-US" b="1" dirty="0"/>
              <a:t>Features</a:t>
            </a:r>
            <a:r>
              <a:rPr lang="en-US" dirty="0"/>
              <a:t>: It tends to support more Kafka features (e.g., compression, retries, batching).</a:t>
            </a:r>
          </a:p>
          <a:p>
            <a:r>
              <a:rPr lang="en-US" b="1" dirty="0"/>
              <a:t>Portability</a:t>
            </a:r>
            <a:r>
              <a:rPr lang="en-US" dirty="0"/>
              <a:t>: Pure implementations are easier to install and debug, but may lag behind in features.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50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6813796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C96C-5D57-4802-3266-1509F0EFF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2F37BD-1313-1B6B-2C38-C5247FF35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8BAC42-7DB8-1367-0E46-E6D9C79E2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Kafka supports multiple security protocols:</a:t>
            </a:r>
          </a:p>
          <a:p>
            <a:r>
              <a:rPr lang="en-US" dirty="0"/>
              <a:t>PLAINTEXT: No encryption or authentication</a:t>
            </a:r>
          </a:p>
          <a:p>
            <a:r>
              <a:rPr lang="en-US" dirty="0"/>
              <a:t>SSL: Encrypted communication</a:t>
            </a:r>
          </a:p>
          <a:p>
            <a:r>
              <a:rPr lang="en-US" dirty="0"/>
              <a:t>SASL: Authentication mechanisms like Kerberos, SCRAM, OAUTHBEARER</a:t>
            </a:r>
          </a:p>
          <a:p>
            <a:r>
              <a:rPr lang="en-US" b="1" dirty="0"/>
              <a:t>Why it matters:</a:t>
            </a:r>
          </a:p>
          <a:p>
            <a:r>
              <a:rPr lang="en-US" dirty="0"/>
              <a:t>If your Kafka cluster uses SSL or SASL, your client </a:t>
            </a:r>
            <a:r>
              <a:rPr lang="en-US" b="1" dirty="0"/>
              <a:t>must support</a:t>
            </a:r>
            <a:r>
              <a:rPr lang="en-US" dirty="0"/>
              <a:t> those protocols.</a:t>
            </a:r>
          </a:p>
          <a:p>
            <a:r>
              <a:rPr lang="en-US" b="1" dirty="0"/>
              <a:t>What to check:</a:t>
            </a:r>
          </a:p>
          <a:p>
            <a:r>
              <a:rPr lang="en-US" dirty="0"/>
              <a:t>Does the client support configuring SSL certificates?</a:t>
            </a:r>
          </a:p>
          <a:p>
            <a:r>
              <a:rPr lang="en-US" dirty="0"/>
              <a:t>Can it handle SASL authentication?</a:t>
            </a:r>
          </a:p>
          <a:p>
            <a:r>
              <a:rPr lang="en-US" dirty="0"/>
              <a:t>Is it compatible with your Kafka broker’s security setup?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88C22-DC0F-534F-2D91-481311F581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51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865690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8F84F-C979-9119-A86E-64B79423B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2923F0-A0EE-68A0-E6BF-C6E82E2D3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B3F94F-C0E1-8EDF-92E5-2C615AC2D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Kafka supports multiple security protocols:</a:t>
            </a:r>
          </a:p>
          <a:p>
            <a:r>
              <a:rPr lang="en-US" dirty="0"/>
              <a:t>PLAINTEXT: No encryption or authentication</a:t>
            </a:r>
          </a:p>
          <a:p>
            <a:r>
              <a:rPr lang="en-US" dirty="0"/>
              <a:t>SSL: Encrypted communication</a:t>
            </a:r>
          </a:p>
          <a:p>
            <a:r>
              <a:rPr lang="en-US" dirty="0"/>
              <a:t>SASL: Authentication mechanisms like Kerberos, SCRAM, OAUTHBEARER</a:t>
            </a:r>
          </a:p>
          <a:p>
            <a:r>
              <a:rPr lang="en-US" b="1" dirty="0"/>
              <a:t>Why it matters:</a:t>
            </a:r>
          </a:p>
          <a:p>
            <a:r>
              <a:rPr lang="en-US" dirty="0"/>
              <a:t>If your Kafka cluster uses SSL or SASL, your client </a:t>
            </a:r>
            <a:r>
              <a:rPr lang="en-US" b="1" dirty="0"/>
              <a:t>must support</a:t>
            </a:r>
            <a:r>
              <a:rPr lang="en-US" dirty="0"/>
              <a:t> those protocols.</a:t>
            </a:r>
          </a:p>
          <a:p>
            <a:r>
              <a:rPr lang="en-US" b="1" dirty="0"/>
              <a:t>What to check:</a:t>
            </a:r>
          </a:p>
          <a:p>
            <a:r>
              <a:rPr lang="en-US" dirty="0"/>
              <a:t>Does the client support configuring SSL certificates?</a:t>
            </a:r>
          </a:p>
          <a:p>
            <a:r>
              <a:rPr lang="en-US" dirty="0"/>
              <a:t>Can it handle SASL authentication?</a:t>
            </a:r>
          </a:p>
          <a:p>
            <a:r>
              <a:rPr lang="en-US" dirty="0"/>
              <a:t>Is it compatible with your Kafka broker’s security setup?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11C859-7CD2-CBEC-D1CF-D5EF503B9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52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7308440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86F4-314F-F547-797A-47DE070A7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99F3E-6444-E985-663F-694E8EC6FD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A665A6-B0CC-78E3-61F8-94D3228955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Kafka supports multiple security protocols:</a:t>
            </a:r>
          </a:p>
          <a:p>
            <a:r>
              <a:rPr lang="en-US" dirty="0"/>
              <a:t>PLAINTEXT: No encryption or authentication</a:t>
            </a:r>
          </a:p>
          <a:p>
            <a:r>
              <a:rPr lang="en-US" dirty="0"/>
              <a:t>SSL: Encrypted communication</a:t>
            </a:r>
          </a:p>
          <a:p>
            <a:r>
              <a:rPr lang="en-US" dirty="0"/>
              <a:t>SASL: Authentication mechanisms like Kerberos, SCRAM, OAUTHBEARER</a:t>
            </a:r>
          </a:p>
          <a:p>
            <a:r>
              <a:rPr lang="en-US" b="1" dirty="0"/>
              <a:t>Why it matters:</a:t>
            </a:r>
          </a:p>
          <a:p>
            <a:r>
              <a:rPr lang="en-US" dirty="0"/>
              <a:t>If your Kafka cluster uses SSL or SASL, your client </a:t>
            </a:r>
            <a:r>
              <a:rPr lang="en-US" b="1" dirty="0"/>
              <a:t>must support</a:t>
            </a:r>
            <a:r>
              <a:rPr lang="en-US" dirty="0"/>
              <a:t> those protocols.</a:t>
            </a:r>
          </a:p>
          <a:p>
            <a:r>
              <a:rPr lang="en-US" b="1" dirty="0"/>
              <a:t>What to check:</a:t>
            </a:r>
          </a:p>
          <a:p>
            <a:r>
              <a:rPr lang="en-US" dirty="0"/>
              <a:t>Does the client support configuring SSL certificates?</a:t>
            </a:r>
          </a:p>
          <a:p>
            <a:r>
              <a:rPr lang="en-US" dirty="0"/>
              <a:t>Can it handle SASL authentication?</a:t>
            </a:r>
          </a:p>
          <a:p>
            <a:r>
              <a:rPr lang="en-US" dirty="0"/>
              <a:t>Is it compatible with your Kafka broker’s security setup?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9DEA7-CC3D-5399-C829-97597B1078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53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712105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55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2915811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56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138218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Logical (message sending perspective) Architecture -&gt; partitions and so</a:t>
            </a:r>
          </a:p>
          <a:p>
            <a:r>
              <a:rPr lang="hu-HU" dirty="0"/>
              <a:t>Physicyal: Zookeeper and so -&gt;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57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37579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Logical (message sending perspective) Architecture -&gt; partitions and so</a:t>
            </a:r>
          </a:p>
          <a:p>
            <a:r>
              <a:rPr lang="hu-HU" dirty="0"/>
              <a:t>Physicyal: Zookeeper and so -&gt;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67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5540462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Logical (message sending perspective) Architecture -&gt; partitions and so</a:t>
            </a:r>
          </a:p>
          <a:p>
            <a:r>
              <a:rPr lang="hu-HU" dirty="0"/>
              <a:t>Physicyal: Zookeeper and so -&gt;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68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0583070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Logical (message sending perspective) Architecture -&gt; partitions and so</a:t>
            </a:r>
          </a:p>
          <a:p>
            <a:r>
              <a:rPr lang="hu-HU" dirty="0"/>
              <a:t>Physicyal: Zookeeper and so -&gt;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69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729064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Logical (message sending perspective) Architecture -&gt; partitions and so</a:t>
            </a:r>
          </a:p>
          <a:p>
            <a:r>
              <a:rPr lang="hu-HU" dirty="0"/>
              <a:t>Physicyal: Zookeeper and so -&gt;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70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95380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Additional Notes</a:t>
            </a:r>
          </a:p>
          <a:p>
            <a:r>
              <a:rPr lang="en-US" dirty="0"/>
              <a:t>Compression is applied </a:t>
            </a:r>
            <a:r>
              <a:rPr lang="en-US" b="1" dirty="0"/>
              <a:t>per batch</a:t>
            </a:r>
            <a:r>
              <a:rPr lang="en-US" dirty="0"/>
              <a:t>, not per message.</a:t>
            </a:r>
          </a:p>
          <a:p>
            <a:r>
              <a:rPr lang="en-US" dirty="0"/>
              <a:t>Compression is most effective when messages are sent to the </a:t>
            </a:r>
            <a:r>
              <a:rPr lang="en-US" b="1" dirty="0"/>
              <a:t>same partition</a:t>
            </a:r>
            <a:r>
              <a:rPr lang="en-US" dirty="0"/>
              <a:t>.</a:t>
            </a:r>
          </a:p>
          <a:p>
            <a:r>
              <a:rPr lang="en-US" dirty="0"/>
              <a:t>You can tune </a:t>
            </a:r>
            <a:r>
              <a:rPr lang="en-US" dirty="0" err="1"/>
              <a:t>batch.size</a:t>
            </a:r>
            <a:r>
              <a:rPr lang="en-US" dirty="0"/>
              <a:t> and linger.ms to optimize batching and compression</a:t>
            </a:r>
            <a:r>
              <a:rPr lang="hu-HU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73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243270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What It Doesn’t Cover:</a:t>
            </a:r>
          </a:p>
          <a:p>
            <a:r>
              <a:rPr lang="en-US" b="1" dirty="0"/>
              <a:t>Consumers</a:t>
            </a:r>
            <a:r>
              <a:rPr lang="en-US" dirty="0"/>
              <a:t> might still reprocess messages if they crash before committing offsets.</a:t>
            </a:r>
          </a:p>
          <a:p>
            <a:r>
              <a:rPr lang="en-US" b="1" dirty="0"/>
              <a:t>Downstream systems</a:t>
            </a:r>
            <a:r>
              <a:rPr lang="en-US" dirty="0"/>
              <a:t> (e.g. databases, sinks) might receive duplicates if the consumer retries.</a:t>
            </a:r>
          </a:p>
          <a:p>
            <a:r>
              <a:rPr lang="en-US" b="1" dirty="0"/>
              <a:t>Multi-partition writes</a:t>
            </a:r>
            <a:r>
              <a:rPr lang="en-US" dirty="0"/>
              <a:t> aren’t atomic—some partitions might get updated while others don’t.</a:t>
            </a:r>
          </a:p>
          <a:p>
            <a:r>
              <a:rPr lang="en-US" dirty="0"/>
              <a:t>So idempotence solves </a:t>
            </a:r>
            <a:r>
              <a:rPr lang="en-US" b="1" dirty="0"/>
              <a:t>producer-side duplication</a:t>
            </a:r>
            <a:r>
              <a:rPr lang="en-US" dirty="0"/>
              <a:t>, but </a:t>
            </a:r>
            <a:r>
              <a:rPr lang="en-US" b="1" dirty="0"/>
              <a:t>not consumer-side reprocessing or atomicity across partitions</a:t>
            </a:r>
            <a:r>
              <a:rPr lang="en-US" dirty="0"/>
              <a:t>.</a:t>
            </a:r>
            <a:br>
              <a:rPr lang="hu-HU" dirty="0"/>
            </a:br>
            <a:br>
              <a:rPr lang="hu-HU" dirty="0"/>
            </a:br>
            <a:br>
              <a:rPr lang="hu-HU" dirty="0"/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Properties props = new Properties();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props.put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enable.idempotence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", "true");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props.put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("transactional.id", "my-transactional-producer");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KafkaProducer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&lt;String, String&gt; producer = new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KafkaProducer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&lt;&gt;(props);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producer.initTransactions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producer.beginTransaction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producer.send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(new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ProducerRecord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&lt;&gt;("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topicA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", "key", "value"));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producer.send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(new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ProducerRecord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&lt;&gt;("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topicB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", "key", "value"));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producer.commitTransaction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 // or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abortTransaction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78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809043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Data Flow</a:t>
            </a:r>
          </a:p>
          <a:p>
            <a:r>
              <a:rPr lang="en-US" dirty="0"/>
              <a:t>Ingests data from sources like Hadoop, databases, CRMs, and warehouses</a:t>
            </a:r>
          </a:p>
          <a:p>
            <a:r>
              <a:rPr lang="en-US" dirty="0"/>
              <a:t>Handles event types: DB changes, logs, IoT, web events, etc.</a:t>
            </a:r>
          </a:p>
          <a:p>
            <a:r>
              <a:rPr lang="en-US" dirty="0"/>
              <a:t>Enables real-time applications: fraud detection, customer 360, inventory tracking, ML analytics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95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6828407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Data Flow</a:t>
            </a:r>
          </a:p>
          <a:p>
            <a:r>
              <a:rPr lang="en-US" dirty="0"/>
              <a:t>Ingests data from sources like Hadoop, databases, CRMs, and warehouses</a:t>
            </a:r>
          </a:p>
          <a:p>
            <a:r>
              <a:rPr lang="en-US" dirty="0"/>
              <a:t>Handles event types: DB changes, logs, IoT, web events, etc.</a:t>
            </a:r>
          </a:p>
          <a:p>
            <a:r>
              <a:rPr lang="en-US" dirty="0"/>
              <a:t>Enables real-time applications: fraud detection, customer 360, inventory tracking, ML analytics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102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683727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Counting occurrences of each word in a stream (maintaining a count of words).</a:t>
            </a:r>
          </a:p>
          <a:p>
            <a:r>
              <a:rPr lang="en-US" dirty="0"/>
              <a:t>Aggregating data over time (e.g., sum of values within a time window).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0576078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2AF7-E1AC-1A9B-BD63-86D59294D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9B17B7-0780-C559-DAD2-E2735480AF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5B8701-091B-C808-8B6E-6452B77D59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Counting occurrences of each word in a stream (maintaining a count of words).</a:t>
            </a:r>
          </a:p>
          <a:p>
            <a:r>
              <a:rPr lang="en-US" dirty="0"/>
              <a:t>Aggregating data over time (e.g., sum of values within a time window).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8A96F-2860-3A4A-1FC0-FA988E9CB7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1635875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75397-CE5C-9F86-C841-05F52B5E5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22632-7192-87B7-BB5E-8E4B97DDFA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C3935D-8C45-91A1-77E3-374DF08840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Counting occurrences of each word in a stream (maintaining a count of words).</a:t>
            </a:r>
          </a:p>
          <a:p>
            <a:r>
              <a:rPr lang="en-US" dirty="0"/>
              <a:t>Aggregating data over time (e.g., sum of values within a time window).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C8EC49-9CE0-0352-5A08-4EB9875249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552556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C735B-1509-966B-4B11-58BB19949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CD4DF2-160D-006E-30EF-05BB1230B9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F2FC80-214B-EF7E-7DB4-96F62458F8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Counting occurrences of each word in a stream (maintaining a count of words).</a:t>
            </a:r>
          </a:p>
          <a:p>
            <a:r>
              <a:rPr lang="en-US" dirty="0"/>
              <a:t>Aggregating data over time (e.g., sum of values within a time window).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DA90-D368-304C-5714-CBE129C021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6558153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260F7-66BE-BB55-0619-811D7D092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68504-D722-2DD7-9ADA-039F3B0B93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FFF34F-764E-1265-07DF-FBF66E5407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Counting occurrences of each word in a stream (maintaining a count of words).</a:t>
            </a:r>
          </a:p>
          <a:p>
            <a:r>
              <a:rPr lang="en-US" dirty="0"/>
              <a:t>Aggregating data over time (e.g., sum of values within a time window).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3531EB-EBCB-C818-A30E-FA8814A066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9860378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3B0-C6C5-DA3F-8B84-A8B584731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2A31B-256F-A48B-3AA4-956BC47F2E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890D94-66F6-8A9A-D963-738EF3DAB6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Counting occurrences of each word in a stream (maintaining a count of words).</a:t>
            </a:r>
          </a:p>
          <a:p>
            <a:r>
              <a:rPr lang="en-US" dirty="0"/>
              <a:t>Aggregating data over time (e.g., sum of values within a time window).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96307-8635-D1D5-5AEC-20E0DC53B4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685241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948CF-505A-3BEF-60B8-30364372B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14AA8D-5487-F08C-77A3-3084A578C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856B07-0552-F7EA-3AD9-A3A8CE8BF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Counting occurrences of each word in a stream (maintaining a count of words).</a:t>
            </a:r>
          </a:p>
          <a:p>
            <a:r>
              <a:rPr lang="en-US" dirty="0"/>
              <a:t>Aggregating data over time (e.g., sum of values within a time window).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988A98-1376-6873-86DA-9A79F43FD7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3271062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0F583-9C41-E25F-6C27-564ABF1F3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A36055-A0AE-06AD-3CCD-31FB72375E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52BCD1-0A7A-2CCD-3C3B-A5FED0E83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Counting occurrences of each word in a stream (maintaining a count of words).</a:t>
            </a:r>
          </a:p>
          <a:p>
            <a:r>
              <a:rPr lang="en-US" dirty="0"/>
              <a:t>Aggregating data over time (e.g., sum of values within a time window).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BB2E6C-65CC-CC4F-E1D9-E8AC934DEA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1530681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3F480-F0F6-FEC8-BADC-DC99AB326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C19B08-A715-A8DF-B5E9-E709ED9EE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E0530-3D7A-7FFE-38BB-58F9FAB820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Counting occurrences of each word in a stream (maintaining a count of words).</a:t>
            </a:r>
          </a:p>
          <a:p>
            <a:r>
              <a:rPr lang="en-US" dirty="0"/>
              <a:t>Aggregating data over time (e.g., sum of values within a time window).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9C7CDC-BB1F-F206-303B-884AFCA32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2971924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B3BF4-ABD5-4383-D0AE-1D6A6A434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EF651905-C4DA-B8D1-E591-327CF74415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49E6664D-C2FF-17C2-FCE0-7F03ADCE5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ts val="1950"/>
              </a:lnSpc>
              <a:spcAft>
                <a:spcPts val="1200"/>
              </a:spcAft>
            </a:pPr>
            <a:endParaRPr lang="en-GB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3473EE47-055F-62A7-90E5-A07C54A61D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123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257243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Metric Name</a:t>
            </a:r>
            <a:r>
              <a:rPr lang="en-US" dirty="0"/>
              <a:t>: The base identifier of the time series (e.g., </a:t>
            </a:r>
            <a:r>
              <a:rPr lang="en-US" dirty="0" err="1"/>
              <a:t>http_requests_total</a:t>
            </a:r>
            <a:r>
              <a:rPr lang="en-US" dirty="0"/>
              <a:t>).</a:t>
            </a:r>
          </a:p>
          <a:p>
            <a:r>
              <a:rPr lang="en-US" b="1" dirty="0"/>
              <a:t>Label Filtering</a:t>
            </a:r>
            <a:r>
              <a:rPr lang="en-US" dirty="0"/>
              <a:t>: Use {label="value"} or regex matchers like {label=~"regex"} to filter series.</a:t>
            </a:r>
          </a:p>
          <a:p>
            <a:r>
              <a:rPr lang="en-US" b="1" dirty="0"/>
              <a:t>Operators &amp; Functions</a:t>
            </a:r>
            <a:r>
              <a:rPr lang="en-US" dirty="0"/>
              <a:t>: Apply math (+, -, /, *), comparisons, and built-in functions like:</a:t>
            </a:r>
          </a:p>
          <a:p>
            <a:r>
              <a:rPr lang="en-US" dirty="0"/>
              <a:t>rate(), sum(), avg(), max(), min(), count(), etc.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150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2900116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18773-B73B-03FE-2335-3BDB6A42D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FA353E-3255-CCB3-14B7-36286BE25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5B579F-8501-B154-C3A5-6A63473EC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Metric Name</a:t>
            </a:r>
            <a:r>
              <a:rPr lang="en-US" dirty="0"/>
              <a:t>: The base identifier of the time series (e.g., </a:t>
            </a:r>
            <a:r>
              <a:rPr lang="en-US" dirty="0" err="1"/>
              <a:t>http_requests_total</a:t>
            </a:r>
            <a:r>
              <a:rPr lang="en-US" dirty="0"/>
              <a:t>).</a:t>
            </a:r>
          </a:p>
          <a:p>
            <a:r>
              <a:rPr lang="en-US" b="1" dirty="0"/>
              <a:t>Label Filtering</a:t>
            </a:r>
            <a:r>
              <a:rPr lang="en-US" dirty="0"/>
              <a:t>: Use {label="value"} or regex matchers like {label=~"regex"} to filter series.</a:t>
            </a:r>
          </a:p>
          <a:p>
            <a:r>
              <a:rPr lang="en-US" b="1" dirty="0"/>
              <a:t>Operators &amp; Functions</a:t>
            </a:r>
            <a:r>
              <a:rPr lang="en-US" dirty="0"/>
              <a:t>: Apply math (+, -, /, *), comparisons, and built-in functions like:</a:t>
            </a:r>
          </a:p>
          <a:p>
            <a:r>
              <a:rPr lang="en-US" dirty="0"/>
              <a:t>rate(), sum(), avg(), max(), min(), count(), etc.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84A25-9336-A096-14B8-FA9613249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B25AA-5A0B-7648-B33A-37E9A013F97A}" type="slidenum">
              <a:rPr lang="hu-HU" smtClean="0"/>
              <a:t>151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4716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 helye 10">
            <a:extLst>
              <a:ext uri="{FF2B5EF4-FFF2-40B4-BE49-F238E27FC236}">
                <a16:creationId xmlns:a16="http://schemas.microsoft.com/office/drawing/2014/main" id="{831FA102-844C-755E-D247-CB3718711D4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3900" y="2029968"/>
            <a:ext cx="10744200" cy="89111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500" baseline="0">
                <a:solidFill>
                  <a:schemeClr val="bg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PREZENTÁCIÓ CÍME</a:t>
            </a:r>
          </a:p>
        </p:txBody>
      </p:sp>
      <p:sp>
        <p:nvSpPr>
          <p:cNvPr id="6" name="Szöveg helye 10">
            <a:extLst>
              <a:ext uri="{FF2B5EF4-FFF2-40B4-BE49-F238E27FC236}">
                <a16:creationId xmlns:a16="http://schemas.microsoft.com/office/drawing/2014/main" id="{DF9D8FEB-E57B-5F73-ADA2-8D7B7485DFA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3900" y="2980944"/>
            <a:ext cx="10744200" cy="89111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baseline="0">
                <a:solidFill>
                  <a:schemeClr val="bg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Prezentáció alcíme</a:t>
            </a:r>
          </a:p>
        </p:txBody>
      </p:sp>
      <p:sp>
        <p:nvSpPr>
          <p:cNvPr id="7" name="Szöveg helye 10">
            <a:extLst>
              <a:ext uri="{FF2B5EF4-FFF2-40B4-BE49-F238E27FC236}">
                <a16:creationId xmlns:a16="http://schemas.microsoft.com/office/drawing/2014/main" id="{605BC215-EB6B-138C-D66F-E7064E16F28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723900" y="4301824"/>
            <a:ext cx="10744200" cy="6492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baseline="0">
                <a:solidFill>
                  <a:schemeClr val="bg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Előadó neve</a:t>
            </a:r>
          </a:p>
        </p:txBody>
      </p:sp>
      <p:sp>
        <p:nvSpPr>
          <p:cNvPr id="8" name="Szöveg helye 10">
            <a:extLst>
              <a:ext uri="{FF2B5EF4-FFF2-40B4-BE49-F238E27FC236}">
                <a16:creationId xmlns:a16="http://schemas.microsoft.com/office/drawing/2014/main" id="{2A598985-FDB3-7140-588C-68FBF5A82B23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723900" y="5005912"/>
            <a:ext cx="10744200" cy="6492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Előadó titulusa</a:t>
            </a:r>
          </a:p>
        </p:txBody>
      </p:sp>
      <p:sp>
        <p:nvSpPr>
          <p:cNvPr id="9" name="Szöveg helye 10">
            <a:extLst>
              <a:ext uri="{FF2B5EF4-FFF2-40B4-BE49-F238E27FC236}">
                <a16:creationId xmlns:a16="http://schemas.microsoft.com/office/drawing/2014/main" id="{91323EAC-BA77-33AC-53B7-F24EA909AB24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23900" y="5705856"/>
            <a:ext cx="10744200" cy="6492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Rendezvény, dátum</a:t>
            </a:r>
          </a:p>
        </p:txBody>
      </p:sp>
    </p:spTree>
    <p:extLst>
      <p:ext uri="{BB962C8B-B14F-4D97-AF65-F5344CB8AC3E}">
        <p14:creationId xmlns:p14="http://schemas.microsoft.com/office/powerpoint/2010/main" val="1320683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zövege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Egyenes összekötő 15">
            <a:extLst>
              <a:ext uri="{FF2B5EF4-FFF2-40B4-BE49-F238E27FC236}">
                <a16:creationId xmlns:a16="http://schemas.microsoft.com/office/drawing/2014/main" id="{A933D47C-7F86-9A48-A1AD-EEBD81F9A6A8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74462"/>
            <a:ext cx="10515600" cy="0"/>
          </a:xfrm>
          <a:prstGeom prst="line">
            <a:avLst/>
          </a:prstGeom>
          <a:ln>
            <a:solidFill>
              <a:srgbClr val="01285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zöveg helye 10">
            <a:extLst>
              <a:ext uri="{FF2B5EF4-FFF2-40B4-BE49-F238E27FC236}">
                <a16:creationId xmlns:a16="http://schemas.microsoft.com/office/drawing/2014/main" id="{3940BA6A-A9B7-7219-4D85-FAE0F7D5ABF8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38200" y="723315"/>
            <a:ext cx="10515600" cy="5294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aseline="0">
                <a:solidFill>
                  <a:srgbClr val="012850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DIA CÍME</a:t>
            </a:r>
          </a:p>
        </p:txBody>
      </p:sp>
      <p:sp>
        <p:nvSpPr>
          <p:cNvPr id="3" name="Szöveg helye 10">
            <a:extLst>
              <a:ext uri="{FF2B5EF4-FFF2-40B4-BE49-F238E27FC236}">
                <a16:creationId xmlns:a16="http://schemas.microsoft.com/office/drawing/2014/main" id="{55729B78-CCC8-F712-B7DB-176E91D2D65F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838200" y="1607437"/>
            <a:ext cx="10515600" cy="18460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tx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Mintaszöveg szerkesztése</a:t>
            </a:r>
          </a:p>
        </p:txBody>
      </p:sp>
      <p:sp>
        <p:nvSpPr>
          <p:cNvPr id="5" name="Szöveg helye 10">
            <a:extLst>
              <a:ext uri="{FF2B5EF4-FFF2-40B4-BE49-F238E27FC236}">
                <a16:creationId xmlns:a16="http://schemas.microsoft.com/office/drawing/2014/main" id="{ED6C24E1-FC98-931B-668F-1A2663E54988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6282280" y="3786425"/>
            <a:ext cx="5125629" cy="184601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tx1"/>
                </a:solidFill>
                <a:latin typeface="Open Sans" panose="020B0606030504020204" pitchFamily="34" charset="0"/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Mintaszöveg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Első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Második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Harmadik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Negyedik szint</a:t>
            </a:r>
          </a:p>
        </p:txBody>
      </p:sp>
      <p:sp>
        <p:nvSpPr>
          <p:cNvPr id="6" name="Szöveg helye 10">
            <a:extLst>
              <a:ext uri="{FF2B5EF4-FFF2-40B4-BE49-F238E27FC236}">
                <a16:creationId xmlns:a16="http://schemas.microsoft.com/office/drawing/2014/main" id="{BA10B23C-BC2C-AA33-C513-FD8B9D46C292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838201" y="3786425"/>
            <a:ext cx="5125629" cy="184601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tx1"/>
                </a:solidFill>
                <a:latin typeface="Open Sans" panose="020B0606030504020204" pitchFamily="34" charset="0"/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Mintaszöveg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Első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Második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Harmadik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Negyedik szint</a:t>
            </a:r>
          </a:p>
        </p:txBody>
      </p:sp>
    </p:spTree>
    <p:extLst>
      <p:ext uri="{BB962C8B-B14F-4D97-AF65-F5344CB8AC3E}">
        <p14:creationId xmlns:p14="http://schemas.microsoft.com/office/powerpoint/2010/main" val="2131341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szövegblokk - 1 ké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934CE5A9-19D5-B7FF-F605-96F82FA4FB0B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74462"/>
            <a:ext cx="10515600" cy="0"/>
          </a:xfrm>
          <a:prstGeom prst="line">
            <a:avLst/>
          </a:prstGeom>
          <a:ln>
            <a:solidFill>
              <a:srgbClr val="01285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Kép helye 2">
            <a:extLst>
              <a:ext uri="{FF2B5EF4-FFF2-40B4-BE49-F238E27FC236}">
                <a16:creationId xmlns:a16="http://schemas.microsoft.com/office/drawing/2014/main" id="{23D20630-BBCE-AC6F-5896-1CEEB0015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67351" y="1579457"/>
            <a:ext cx="5886450" cy="50178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2" name="Szöveg helye 10">
            <a:extLst>
              <a:ext uri="{FF2B5EF4-FFF2-40B4-BE49-F238E27FC236}">
                <a16:creationId xmlns:a16="http://schemas.microsoft.com/office/drawing/2014/main" id="{BC05F114-74F4-CAB6-3497-7C63660FE88E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38200" y="723315"/>
            <a:ext cx="10515600" cy="5294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aseline="0">
                <a:solidFill>
                  <a:srgbClr val="012850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DIA CÍME</a:t>
            </a:r>
          </a:p>
        </p:txBody>
      </p:sp>
      <p:sp>
        <p:nvSpPr>
          <p:cNvPr id="3" name="Szöveg helye 10">
            <a:extLst>
              <a:ext uri="{FF2B5EF4-FFF2-40B4-BE49-F238E27FC236}">
                <a16:creationId xmlns:a16="http://schemas.microsoft.com/office/drawing/2014/main" id="{C43265EB-5A74-13B8-25EF-C234D04EBA7E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838201" y="1582985"/>
            <a:ext cx="4391024" cy="50178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tx1"/>
                </a:solidFill>
                <a:latin typeface="Open Sans" panose="020B0606030504020204" pitchFamily="34" charset="0"/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Mintaszöveg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Első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Második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Harmadik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Negyedik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Ötödik szint</a:t>
            </a:r>
          </a:p>
        </p:txBody>
      </p:sp>
    </p:spTree>
    <p:extLst>
      <p:ext uri="{BB962C8B-B14F-4D97-AF65-F5344CB8AC3E}">
        <p14:creationId xmlns:p14="http://schemas.microsoft.com/office/powerpoint/2010/main" val="2073395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szövegblo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CE5C7C62-306F-C568-AC87-137E9C578BFC}"/>
              </a:ext>
            </a:extLst>
          </p:cNvPr>
          <p:cNvCxnSpPr>
            <a:cxnSpLocks/>
          </p:cNvCxnSpPr>
          <p:nvPr userDrawn="1"/>
        </p:nvCxnSpPr>
        <p:spPr>
          <a:xfrm>
            <a:off x="161924" y="748860"/>
            <a:ext cx="11877675" cy="0"/>
          </a:xfrm>
          <a:prstGeom prst="line">
            <a:avLst/>
          </a:prstGeom>
          <a:ln>
            <a:solidFill>
              <a:srgbClr val="01285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zöveg helye 10">
            <a:extLst>
              <a:ext uri="{FF2B5EF4-FFF2-40B4-BE49-F238E27FC236}">
                <a16:creationId xmlns:a16="http://schemas.microsoft.com/office/drawing/2014/main" id="{32B9E13B-D4C6-DDBF-DA2A-ED8F1AEADB5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161924" y="219456"/>
            <a:ext cx="11877675" cy="5294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aseline="0">
                <a:solidFill>
                  <a:srgbClr val="012850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DIA CÍME</a:t>
            </a:r>
          </a:p>
        </p:txBody>
      </p:sp>
      <p:sp>
        <p:nvSpPr>
          <p:cNvPr id="9" name="Tartalom helye 2">
            <a:extLst>
              <a:ext uri="{FF2B5EF4-FFF2-40B4-BE49-F238E27FC236}">
                <a16:creationId xmlns:a16="http://schemas.microsoft.com/office/drawing/2014/main" id="{ACB07BB1-AB18-FE6A-D774-B35AB40BA59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61924" y="847420"/>
            <a:ext cx="11877675" cy="5791119"/>
          </a:xfrm>
          <a:prstGeom prst="rect">
            <a:avLst/>
          </a:prstGeom>
        </p:spPr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>
              <a:buSzPct val="75000"/>
              <a:buFont typeface="Wingdings" panose="05000000000000000000" pitchFamily="2" charset="2"/>
              <a:buChar char="q"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>
              <a:buFont typeface="Arial" panose="020B0604020202020204" pitchFamily="34" charset="0"/>
              <a:buChar char="•"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>
              <a:buFont typeface="Courier New" panose="02070309020205020404" pitchFamily="49" charset="0"/>
              <a:buChar char="o"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</p:txBody>
      </p:sp>
    </p:spTree>
    <p:extLst>
      <p:ext uri="{BB962C8B-B14F-4D97-AF65-F5344CB8AC3E}">
        <p14:creationId xmlns:p14="http://schemas.microsoft.com/office/powerpoint/2010/main" val="3236759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zövegblo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Egyenes összekötő 15">
            <a:extLst>
              <a:ext uri="{FF2B5EF4-FFF2-40B4-BE49-F238E27FC236}">
                <a16:creationId xmlns:a16="http://schemas.microsoft.com/office/drawing/2014/main" id="{E4CEC806-06F8-0A8E-802F-451103EBAC0E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74462"/>
            <a:ext cx="10515600" cy="0"/>
          </a:xfrm>
          <a:prstGeom prst="line">
            <a:avLst/>
          </a:prstGeom>
          <a:ln>
            <a:solidFill>
              <a:srgbClr val="01285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zöveg helye 10">
            <a:extLst>
              <a:ext uri="{FF2B5EF4-FFF2-40B4-BE49-F238E27FC236}">
                <a16:creationId xmlns:a16="http://schemas.microsoft.com/office/drawing/2014/main" id="{737F6A48-F38F-FC31-62D0-11C22537C648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38200" y="723315"/>
            <a:ext cx="10515600" cy="5294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aseline="0">
                <a:solidFill>
                  <a:srgbClr val="012850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DIA CÍME</a:t>
            </a:r>
          </a:p>
        </p:txBody>
      </p:sp>
      <p:sp>
        <p:nvSpPr>
          <p:cNvPr id="3" name="Szöveg helye 10">
            <a:extLst>
              <a:ext uri="{FF2B5EF4-FFF2-40B4-BE49-F238E27FC236}">
                <a16:creationId xmlns:a16="http://schemas.microsoft.com/office/drawing/2014/main" id="{1E6D20BC-2EF9-211F-E045-74EB3321F442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838201" y="1579456"/>
            <a:ext cx="3212591" cy="40687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tx1"/>
                </a:solidFill>
                <a:latin typeface="Open Sans" panose="020B0606030504020204" pitchFamily="34" charset="0"/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Mintaszöveg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Első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Második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Harmadik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Negyedik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Ötödik szint</a:t>
            </a:r>
          </a:p>
        </p:txBody>
      </p:sp>
      <p:sp>
        <p:nvSpPr>
          <p:cNvPr id="10" name="Szöveg helye 10">
            <a:extLst>
              <a:ext uri="{FF2B5EF4-FFF2-40B4-BE49-F238E27FC236}">
                <a16:creationId xmlns:a16="http://schemas.microsoft.com/office/drawing/2014/main" id="{0AB37620-467A-3358-9635-1AE991B29903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4489704" y="1579456"/>
            <a:ext cx="3212591" cy="40687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tx1"/>
                </a:solidFill>
                <a:latin typeface="Open Sans" panose="020B0606030504020204" pitchFamily="34" charset="0"/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Mintaszöveg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Első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Második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Harmadik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Negyedik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Ötödik szint</a:t>
            </a:r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44317DED-74F7-596D-46E5-4EFCB5B1B45F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8141207" y="1579456"/>
            <a:ext cx="3212591" cy="40687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tx1"/>
                </a:solidFill>
                <a:latin typeface="Open Sans" panose="020B0606030504020204" pitchFamily="34" charset="0"/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Mintaszöveg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Első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Második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Harmadik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Negyedik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Ötödik szint</a:t>
            </a:r>
          </a:p>
        </p:txBody>
      </p:sp>
      <p:sp>
        <p:nvSpPr>
          <p:cNvPr id="5" name="Szöveg helye 10">
            <a:extLst>
              <a:ext uri="{FF2B5EF4-FFF2-40B4-BE49-F238E27FC236}">
                <a16:creationId xmlns:a16="http://schemas.microsoft.com/office/drawing/2014/main" id="{0614727D-5F43-1091-F059-56358E383047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2925371" y="6300874"/>
            <a:ext cx="7985760" cy="3376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cap="all" spc="0" baseline="0">
                <a:solidFill>
                  <a:schemeClr val="bg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Rendezvény, dátum</a:t>
            </a:r>
          </a:p>
        </p:txBody>
      </p:sp>
    </p:spTree>
    <p:extLst>
      <p:ext uri="{BB962C8B-B14F-4D97-AF65-F5344CB8AC3E}">
        <p14:creationId xmlns:p14="http://schemas.microsoft.com/office/powerpoint/2010/main" val="1253035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képe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Egyenes összekötő 11">
            <a:extLst>
              <a:ext uri="{FF2B5EF4-FFF2-40B4-BE49-F238E27FC236}">
                <a16:creationId xmlns:a16="http://schemas.microsoft.com/office/drawing/2014/main" id="{FDFD7BA7-C2A9-595B-15D6-EDE5F7DAE2D1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74462"/>
            <a:ext cx="10515600" cy="0"/>
          </a:xfrm>
          <a:prstGeom prst="line">
            <a:avLst/>
          </a:prstGeom>
          <a:ln>
            <a:solidFill>
              <a:srgbClr val="01285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Kép helye 2">
            <a:extLst>
              <a:ext uri="{FF2B5EF4-FFF2-40B4-BE49-F238E27FC236}">
                <a16:creationId xmlns:a16="http://schemas.microsoft.com/office/drawing/2014/main" id="{9E45454F-C86C-2D65-C04B-55E626DA88AE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6265629" y="1579456"/>
            <a:ext cx="5067632" cy="40687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20" name="Kép helye 2">
            <a:extLst>
              <a:ext uri="{FF2B5EF4-FFF2-40B4-BE49-F238E27FC236}">
                <a16:creationId xmlns:a16="http://schemas.microsoft.com/office/drawing/2014/main" id="{176350A7-3ED8-9325-46CB-CA499869403F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838200" y="1579456"/>
            <a:ext cx="5011973" cy="40687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2" name="Szöveg helye 10">
            <a:extLst>
              <a:ext uri="{FF2B5EF4-FFF2-40B4-BE49-F238E27FC236}">
                <a16:creationId xmlns:a16="http://schemas.microsoft.com/office/drawing/2014/main" id="{1BFA0AC3-D5FA-244D-2DF5-5874C6467C5D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38200" y="723315"/>
            <a:ext cx="10515600" cy="5294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aseline="0">
                <a:solidFill>
                  <a:srgbClr val="012850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DIA CÍME</a:t>
            </a:r>
          </a:p>
        </p:txBody>
      </p:sp>
      <p:sp>
        <p:nvSpPr>
          <p:cNvPr id="5" name="Szöveg helye 10">
            <a:extLst>
              <a:ext uri="{FF2B5EF4-FFF2-40B4-BE49-F238E27FC236}">
                <a16:creationId xmlns:a16="http://schemas.microsoft.com/office/drawing/2014/main" id="{6D82DBE0-A887-D830-B4E0-50498F0CA4C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2925371" y="6300874"/>
            <a:ext cx="7985760" cy="3376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cap="all" spc="0" baseline="0">
                <a:solidFill>
                  <a:schemeClr val="bg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Rendezvény, dátum</a:t>
            </a:r>
          </a:p>
        </p:txBody>
      </p:sp>
    </p:spTree>
    <p:extLst>
      <p:ext uri="{BB962C8B-B14F-4D97-AF65-F5344CB8AC3E}">
        <p14:creationId xmlns:p14="http://schemas.microsoft.com/office/powerpoint/2010/main" val="41514856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épe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A371C297-1CA5-94ED-2895-3B1AF69D27B3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74462"/>
            <a:ext cx="10515600" cy="0"/>
          </a:xfrm>
          <a:prstGeom prst="line">
            <a:avLst/>
          </a:prstGeom>
          <a:ln>
            <a:solidFill>
              <a:srgbClr val="01285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Kép helye 2">
            <a:extLst>
              <a:ext uri="{FF2B5EF4-FFF2-40B4-BE49-F238E27FC236}">
                <a16:creationId xmlns:a16="http://schemas.microsoft.com/office/drawing/2014/main" id="{B4B0655C-B169-D423-90AB-F5CB238B3C4B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838199" y="1579456"/>
            <a:ext cx="2564928" cy="41254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10" name="Kép helye 2">
            <a:extLst>
              <a:ext uri="{FF2B5EF4-FFF2-40B4-BE49-F238E27FC236}">
                <a16:creationId xmlns:a16="http://schemas.microsoft.com/office/drawing/2014/main" id="{88B1D7E9-B3E8-D3A3-7C3B-46B669E00D44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6639338" y="1579457"/>
            <a:ext cx="4693921" cy="412542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13" name="Kép helye 2">
            <a:extLst>
              <a:ext uri="{FF2B5EF4-FFF2-40B4-BE49-F238E27FC236}">
                <a16:creationId xmlns:a16="http://schemas.microsoft.com/office/drawing/2014/main" id="{DE50A8AD-DAA0-C470-251A-FB13BCEC03F1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3738768" y="1579456"/>
            <a:ext cx="2564928" cy="41254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2" name="Szöveg helye 10">
            <a:extLst>
              <a:ext uri="{FF2B5EF4-FFF2-40B4-BE49-F238E27FC236}">
                <a16:creationId xmlns:a16="http://schemas.microsoft.com/office/drawing/2014/main" id="{8A66C65D-5136-21C7-C4AA-39F449F6F4A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38200" y="723315"/>
            <a:ext cx="10515600" cy="5294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aseline="0">
                <a:solidFill>
                  <a:srgbClr val="012850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DIA CÍME</a:t>
            </a:r>
          </a:p>
        </p:txBody>
      </p:sp>
      <p:sp>
        <p:nvSpPr>
          <p:cNvPr id="5" name="Szöveg helye 10">
            <a:extLst>
              <a:ext uri="{FF2B5EF4-FFF2-40B4-BE49-F238E27FC236}">
                <a16:creationId xmlns:a16="http://schemas.microsoft.com/office/drawing/2014/main" id="{765D96AD-EB0E-433E-7DD3-3FEB95FE9F4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2925371" y="6300874"/>
            <a:ext cx="7985760" cy="3376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cap="all" spc="0" baseline="0">
                <a:solidFill>
                  <a:schemeClr val="bg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Rendezvény, dátum</a:t>
            </a:r>
          </a:p>
        </p:txBody>
      </p:sp>
    </p:spTree>
    <p:extLst>
      <p:ext uri="{BB962C8B-B14F-4D97-AF65-F5344CB8AC3E}">
        <p14:creationId xmlns:p14="http://schemas.microsoft.com/office/powerpoint/2010/main" val="411759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kép címm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D3B63919-F8C0-E45C-09D0-60059DD85486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74462"/>
            <a:ext cx="10515600" cy="0"/>
          </a:xfrm>
          <a:prstGeom prst="line">
            <a:avLst/>
          </a:prstGeom>
          <a:ln>
            <a:solidFill>
              <a:srgbClr val="01285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Kép helye 2">
            <a:extLst>
              <a:ext uri="{FF2B5EF4-FFF2-40B4-BE49-F238E27FC236}">
                <a16:creationId xmlns:a16="http://schemas.microsoft.com/office/drawing/2014/main" id="{885801D2-AD3D-65D3-7B5C-D11229926A42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838200" y="1557713"/>
            <a:ext cx="5021911" cy="32856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31" name="Kép helye 2">
            <a:extLst>
              <a:ext uri="{FF2B5EF4-FFF2-40B4-BE49-F238E27FC236}">
                <a16:creationId xmlns:a16="http://schemas.microsoft.com/office/drawing/2014/main" id="{BA351229-7C81-1BF9-C349-D053BA83B114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6331888" y="1557713"/>
            <a:ext cx="5021911" cy="32856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2" name="Szöveg helye 10">
            <a:extLst>
              <a:ext uri="{FF2B5EF4-FFF2-40B4-BE49-F238E27FC236}">
                <a16:creationId xmlns:a16="http://schemas.microsoft.com/office/drawing/2014/main" id="{567F4794-7128-84D5-187A-87B98CBB4B75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38200" y="723315"/>
            <a:ext cx="10515600" cy="5294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aseline="0">
                <a:solidFill>
                  <a:srgbClr val="012850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DIA CÍME</a:t>
            </a:r>
          </a:p>
        </p:txBody>
      </p:sp>
      <p:sp>
        <p:nvSpPr>
          <p:cNvPr id="10" name="Szöveg helye 10">
            <a:extLst>
              <a:ext uri="{FF2B5EF4-FFF2-40B4-BE49-F238E27FC236}">
                <a16:creationId xmlns:a16="http://schemas.microsoft.com/office/drawing/2014/main" id="{12964550-01B5-19AF-9500-49E3DD0D5A13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38200" y="5118900"/>
            <a:ext cx="5021911" cy="5294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aseline="0">
                <a:solidFill>
                  <a:schemeClr val="tx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Kép címe</a:t>
            </a:r>
          </a:p>
        </p:txBody>
      </p:sp>
      <p:sp>
        <p:nvSpPr>
          <p:cNvPr id="12" name="Szöveg helye 10">
            <a:extLst>
              <a:ext uri="{FF2B5EF4-FFF2-40B4-BE49-F238E27FC236}">
                <a16:creationId xmlns:a16="http://schemas.microsoft.com/office/drawing/2014/main" id="{9BE9CAC6-C1B1-88DE-E91F-5DF606EBF5F2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332692" y="5118900"/>
            <a:ext cx="5021911" cy="5294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aseline="0">
                <a:solidFill>
                  <a:schemeClr val="tx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Kép címe</a:t>
            </a:r>
          </a:p>
        </p:txBody>
      </p:sp>
      <p:sp>
        <p:nvSpPr>
          <p:cNvPr id="5" name="Szöveg helye 10">
            <a:extLst>
              <a:ext uri="{FF2B5EF4-FFF2-40B4-BE49-F238E27FC236}">
                <a16:creationId xmlns:a16="http://schemas.microsoft.com/office/drawing/2014/main" id="{728694AA-87CB-BD28-118C-72EAD9263FD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2925371" y="6300874"/>
            <a:ext cx="7985760" cy="3376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cap="all" spc="0" baseline="0">
                <a:solidFill>
                  <a:schemeClr val="bg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Rendezvény, dátum</a:t>
            </a:r>
          </a:p>
        </p:txBody>
      </p:sp>
    </p:spTree>
    <p:extLst>
      <p:ext uri="{BB962C8B-B14F-4D97-AF65-F5344CB8AC3E}">
        <p14:creationId xmlns:p14="http://schemas.microsoft.com/office/powerpoint/2010/main" val="1640834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zöveg és 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Egyenes összekötő 11">
            <a:extLst>
              <a:ext uri="{FF2B5EF4-FFF2-40B4-BE49-F238E27FC236}">
                <a16:creationId xmlns:a16="http://schemas.microsoft.com/office/drawing/2014/main" id="{0CA8BCE7-0004-CA11-4864-2FBA560C6C6E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74462"/>
            <a:ext cx="10515600" cy="0"/>
          </a:xfrm>
          <a:prstGeom prst="line">
            <a:avLst/>
          </a:prstGeom>
          <a:ln>
            <a:solidFill>
              <a:srgbClr val="01285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zöveg helye 10">
            <a:extLst>
              <a:ext uri="{FF2B5EF4-FFF2-40B4-BE49-F238E27FC236}">
                <a16:creationId xmlns:a16="http://schemas.microsoft.com/office/drawing/2014/main" id="{30FAA482-BFF6-CAB1-8393-9DB2C3435DC2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38200" y="723315"/>
            <a:ext cx="10515600" cy="5294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aseline="0">
                <a:solidFill>
                  <a:srgbClr val="012850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DIA CÍME</a:t>
            </a:r>
          </a:p>
        </p:txBody>
      </p:sp>
      <p:sp>
        <p:nvSpPr>
          <p:cNvPr id="4" name="Szöveg helye 10">
            <a:extLst>
              <a:ext uri="{FF2B5EF4-FFF2-40B4-BE49-F238E27FC236}">
                <a16:creationId xmlns:a16="http://schemas.microsoft.com/office/drawing/2014/main" id="{ACFC1F6F-F293-C843-538C-5B5685FD46B2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838201" y="1579456"/>
            <a:ext cx="3212591" cy="4060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tx1"/>
                </a:solidFill>
                <a:latin typeface="Open Sans" panose="020B0606030504020204" pitchFamily="34" charset="0"/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Mintaszöveg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Első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Második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Harmadik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Negyedik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Ötödik szint</a:t>
            </a:r>
          </a:p>
        </p:txBody>
      </p:sp>
      <p:sp>
        <p:nvSpPr>
          <p:cNvPr id="11" name="Diagram helye 10">
            <a:extLst>
              <a:ext uri="{FF2B5EF4-FFF2-40B4-BE49-F238E27FC236}">
                <a16:creationId xmlns:a16="http://schemas.microsoft.com/office/drawing/2014/main" id="{B11D781D-DBC5-AFF1-5464-03EB686EDB38}"/>
              </a:ext>
            </a:extLst>
          </p:cNvPr>
          <p:cNvSpPr>
            <a:spLocks noGrp="1"/>
          </p:cNvSpPr>
          <p:nvPr>
            <p:ph type="chart" sz="quarter" idx="21"/>
          </p:nvPr>
        </p:nvSpPr>
        <p:spPr>
          <a:xfrm>
            <a:off x="4426343" y="1579563"/>
            <a:ext cx="6927457" cy="4060579"/>
          </a:xfrm>
          <a:prstGeom prst="rect">
            <a:avLst/>
          </a:prstGeom>
        </p:spPr>
        <p:txBody>
          <a:bodyPr/>
          <a:lstStyle>
            <a:lvl1pPr>
              <a:defRPr baseline="0">
                <a:latin typeface="Open Sans" panose="020B0606030504020204" pitchFamily="34" charset="0"/>
              </a:defRPr>
            </a:lvl1pPr>
          </a:lstStyle>
          <a:p>
            <a:endParaRPr lang="hu-HU" dirty="0"/>
          </a:p>
        </p:txBody>
      </p:sp>
      <p:sp>
        <p:nvSpPr>
          <p:cNvPr id="6" name="Szöveg helye 10">
            <a:extLst>
              <a:ext uri="{FF2B5EF4-FFF2-40B4-BE49-F238E27FC236}">
                <a16:creationId xmlns:a16="http://schemas.microsoft.com/office/drawing/2014/main" id="{D9D13E09-0F82-5456-63BF-CA3E8480C879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2925371" y="6300874"/>
            <a:ext cx="7985760" cy="3376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cap="all" spc="0" baseline="0">
                <a:solidFill>
                  <a:schemeClr val="bg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Rendezvény, dátum</a:t>
            </a:r>
          </a:p>
        </p:txBody>
      </p:sp>
    </p:spTree>
    <p:extLst>
      <p:ext uri="{BB962C8B-B14F-4D97-AF65-F5344CB8AC3E}">
        <p14:creationId xmlns:p14="http://schemas.microsoft.com/office/powerpoint/2010/main" val="569136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jléc nélküli 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 helye 10">
            <a:extLst>
              <a:ext uri="{FF2B5EF4-FFF2-40B4-BE49-F238E27FC236}">
                <a16:creationId xmlns:a16="http://schemas.microsoft.com/office/drawing/2014/main" id="{ACFC1F6F-F293-C843-538C-5B5685FD46B2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838201" y="824948"/>
            <a:ext cx="3212591" cy="48151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tx1"/>
                </a:solidFill>
                <a:latin typeface="Open Sans" panose="020B0606030504020204" pitchFamily="34" charset="0"/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Mintaszöveg szerkesztése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Első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Második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Harmadik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Negyedik szint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2000" b="0" i="0" u="none" strike="noStrike" kern="1200" cap="none" spc="0" normalizeH="0" baseline="0" noProof="0" dirty="0">
                <a:ln>
                  <a:noFill/>
                </a:ln>
                <a:solidFill>
                  <a:srgbClr val="01285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Ötödik szint</a:t>
            </a:r>
          </a:p>
        </p:txBody>
      </p:sp>
      <p:sp>
        <p:nvSpPr>
          <p:cNvPr id="6" name="Szöveg helye 10">
            <a:extLst>
              <a:ext uri="{FF2B5EF4-FFF2-40B4-BE49-F238E27FC236}">
                <a16:creationId xmlns:a16="http://schemas.microsoft.com/office/drawing/2014/main" id="{D9D13E09-0F82-5456-63BF-CA3E8480C879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2925371" y="6300874"/>
            <a:ext cx="7985760" cy="3376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cap="all" spc="0" baseline="0">
                <a:solidFill>
                  <a:schemeClr val="bg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Rendezvény, dátum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8B18A01D-AB8A-1A1D-4805-AABE921EF4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522305" y="824949"/>
            <a:ext cx="6831496" cy="47585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984417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ábláz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áblázat helye 5">
            <a:extLst>
              <a:ext uri="{FF2B5EF4-FFF2-40B4-BE49-F238E27FC236}">
                <a16:creationId xmlns:a16="http://schemas.microsoft.com/office/drawing/2014/main" id="{A3ADE164-0269-1AA2-004B-8C8A82051E1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838200" y="1579457"/>
            <a:ext cx="10515598" cy="38558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Open Sans" panose="020B0606030504020204" pitchFamily="34" charset="0"/>
              </a:defRPr>
            </a:lvl1pPr>
          </a:lstStyle>
          <a:p>
            <a:endParaRPr lang="hu-HU" dirty="0"/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BF8F6AA8-C013-1657-CB5A-D3067FF15D45}"/>
              </a:ext>
            </a:extLst>
          </p:cNvPr>
          <p:cNvCxnSpPr>
            <a:cxnSpLocks/>
          </p:cNvCxnSpPr>
          <p:nvPr userDrawn="1"/>
        </p:nvCxnSpPr>
        <p:spPr>
          <a:xfrm>
            <a:off x="838200" y="1274462"/>
            <a:ext cx="10515600" cy="0"/>
          </a:xfrm>
          <a:prstGeom prst="line">
            <a:avLst/>
          </a:prstGeom>
          <a:ln>
            <a:solidFill>
              <a:srgbClr val="01285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zöveg helye 10">
            <a:extLst>
              <a:ext uri="{FF2B5EF4-FFF2-40B4-BE49-F238E27FC236}">
                <a16:creationId xmlns:a16="http://schemas.microsoft.com/office/drawing/2014/main" id="{D8E6700D-6881-9CCD-3252-E02F5676557B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38200" y="723315"/>
            <a:ext cx="10515598" cy="5294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aseline="0">
                <a:solidFill>
                  <a:srgbClr val="012850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DIA CÍME</a:t>
            </a:r>
          </a:p>
        </p:txBody>
      </p:sp>
      <p:sp>
        <p:nvSpPr>
          <p:cNvPr id="3" name="Szöveg helye 10">
            <a:extLst>
              <a:ext uri="{FF2B5EF4-FFF2-40B4-BE49-F238E27FC236}">
                <a16:creationId xmlns:a16="http://schemas.microsoft.com/office/drawing/2014/main" id="{11CE3FB9-7112-50B3-73CE-4614F7CA6107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2925371" y="6300874"/>
            <a:ext cx="7985760" cy="3376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cap="all" spc="0" baseline="0">
                <a:solidFill>
                  <a:schemeClr val="bg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Rendezvény, dátum</a:t>
            </a:r>
          </a:p>
        </p:txBody>
      </p:sp>
    </p:spTree>
    <p:extLst>
      <p:ext uri="{BB962C8B-B14F-4D97-AF65-F5344CB8AC3E}">
        <p14:creationId xmlns:p14="http://schemas.microsoft.com/office/powerpoint/2010/main" val="2509271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áró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zöveg helye 10">
            <a:extLst>
              <a:ext uri="{FF2B5EF4-FFF2-40B4-BE49-F238E27FC236}">
                <a16:creationId xmlns:a16="http://schemas.microsoft.com/office/drawing/2014/main" id="{27654B00-1ACA-72E8-4C79-A237BB0FAEA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723900" y="2191523"/>
            <a:ext cx="10744200" cy="17106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5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hu-HU" dirty="0"/>
              <a:t>Köszönjük a figyelmet!</a:t>
            </a:r>
          </a:p>
        </p:txBody>
      </p:sp>
      <p:sp>
        <p:nvSpPr>
          <p:cNvPr id="12" name="Szöveg helye 10">
            <a:extLst>
              <a:ext uri="{FF2B5EF4-FFF2-40B4-BE49-F238E27FC236}">
                <a16:creationId xmlns:a16="http://schemas.microsoft.com/office/drawing/2014/main" id="{1B1DEF9F-AC4A-3457-057F-560795FA384B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723900" y="4301824"/>
            <a:ext cx="10744200" cy="6492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baseline="0">
                <a:solidFill>
                  <a:schemeClr val="bg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Előadó neve</a:t>
            </a:r>
          </a:p>
        </p:txBody>
      </p:sp>
      <p:sp>
        <p:nvSpPr>
          <p:cNvPr id="13" name="Szöveg helye 10">
            <a:extLst>
              <a:ext uri="{FF2B5EF4-FFF2-40B4-BE49-F238E27FC236}">
                <a16:creationId xmlns:a16="http://schemas.microsoft.com/office/drawing/2014/main" id="{D2769BC2-6B1C-E731-CB6F-BC48B5D77D55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723900" y="5005912"/>
            <a:ext cx="10744200" cy="6492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Előadó titulusa</a:t>
            </a:r>
          </a:p>
        </p:txBody>
      </p:sp>
      <p:sp>
        <p:nvSpPr>
          <p:cNvPr id="14" name="Szöveg helye 10">
            <a:extLst>
              <a:ext uri="{FF2B5EF4-FFF2-40B4-BE49-F238E27FC236}">
                <a16:creationId xmlns:a16="http://schemas.microsoft.com/office/drawing/2014/main" id="{A35D0690-9E41-0FD7-2C21-CAE7926EAC5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23900" y="5705856"/>
            <a:ext cx="10744200" cy="6492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Open Sans" panose="020B0606030504020204" pitchFamily="34" charset="0"/>
              </a:defRPr>
            </a:lvl1pPr>
          </a:lstStyle>
          <a:p>
            <a:pPr lvl="0"/>
            <a:r>
              <a:rPr lang="hu-HU" dirty="0"/>
              <a:t>Rendezvény, dátum</a:t>
            </a:r>
          </a:p>
        </p:txBody>
      </p:sp>
    </p:spTree>
    <p:extLst>
      <p:ext uri="{BB962C8B-B14F-4D97-AF65-F5344CB8AC3E}">
        <p14:creationId xmlns:p14="http://schemas.microsoft.com/office/powerpoint/2010/main" val="15294803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Alcím mintájának szerkesztése</a:t>
            </a:r>
          </a:p>
        </p:txBody>
      </p:sp>
      <p:sp>
        <p:nvSpPr>
          <p:cNvPr id="7" name="Cím 6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8" name="Dátum hely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DB08A-2EEF-4077-BDDA-D2BF2F02C0E2}" type="datetimeFigureOut">
              <a:rPr lang="hu-HU" smtClean="0">
                <a:solidFill>
                  <a:prstClr val="black">
                    <a:tint val="75000"/>
                  </a:prstClr>
                </a:solidFill>
              </a:rPr>
              <a:pPr/>
              <a:t>2025. 10. 01.</a:t>
            </a:fld>
            <a:endParaRPr lang="hu-H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Élőláb helye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Dia számának helye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3C54C-9CE6-47BC-B290-0EA782513D0E}" type="slidenum">
              <a:rPr lang="hu-H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hu-H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8267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229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3" r:id="rId6"/>
    <p:sldLayoutId id="2147483655" r:id="rId7"/>
    <p:sldLayoutId id="2147483656" r:id="rId8"/>
    <p:sldLayoutId id="2147483657" r:id="rId9"/>
    <p:sldLayoutId id="2147483660" r:id="rId10"/>
    <p:sldLayoutId id="2147483659" r:id="rId11"/>
    <p:sldLayoutId id="2147483658" r:id="rId12"/>
    <p:sldLayoutId id="214748366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5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Relationship Id="rId9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conduktor.io/kafka/kafka-sdk-list/" TargetMode="Externa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lockchain.com/explorer/api/api_websocket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docs.kafka-ui.provectus.io/overview/features" TargetMode="External"/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jpeg"/><Relationship Id="rId3" Type="http://schemas.openxmlformats.org/officeDocument/2006/relationships/image" Target="../media/image42.png"/><Relationship Id="rId7" Type="http://schemas.openxmlformats.org/officeDocument/2006/relationships/hyperlink" Target="https://github.com/ContainerSolutions/java-operator-sdk" TargetMode="Externa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nolar/kopf" TargetMode="Externa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png"/><Relationship Id="rId18" Type="http://schemas.openxmlformats.org/officeDocument/2006/relationships/image" Target="../media/image62.png"/><Relationship Id="rId3" Type="http://schemas.openxmlformats.org/officeDocument/2006/relationships/image" Target="../media/image47.png"/><Relationship Id="rId21" Type="http://schemas.openxmlformats.org/officeDocument/2006/relationships/image" Target="../media/image65.jpeg"/><Relationship Id="rId7" Type="http://schemas.openxmlformats.org/officeDocument/2006/relationships/image" Target="../media/image51.jpeg"/><Relationship Id="rId12" Type="http://schemas.openxmlformats.org/officeDocument/2006/relationships/image" Target="../media/image56.png"/><Relationship Id="rId17" Type="http://schemas.openxmlformats.org/officeDocument/2006/relationships/image" Target="../media/image61.png"/><Relationship Id="rId2" Type="http://schemas.openxmlformats.org/officeDocument/2006/relationships/image" Target="../media/image46.png"/><Relationship Id="rId16" Type="http://schemas.openxmlformats.org/officeDocument/2006/relationships/image" Target="../media/image60.png"/><Relationship Id="rId20" Type="http://schemas.openxmlformats.org/officeDocument/2006/relationships/image" Target="../media/image6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5" Type="http://schemas.openxmlformats.org/officeDocument/2006/relationships/image" Target="../media/image59.png"/><Relationship Id="rId10" Type="http://schemas.openxmlformats.org/officeDocument/2006/relationships/image" Target="../media/image54.png"/><Relationship Id="rId19" Type="http://schemas.openxmlformats.org/officeDocument/2006/relationships/image" Target="../media/image63.png"/><Relationship Id="rId4" Type="http://schemas.openxmlformats.org/officeDocument/2006/relationships/image" Target="../media/image48.png"/><Relationship Id="rId9" Type="http://schemas.openxmlformats.org/officeDocument/2006/relationships/image" Target="../media/image53.jpeg"/><Relationship Id="rId14" Type="http://schemas.openxmlformats.org/officeDocument/2006/relationships/image" Target="../media/image58.png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hyperlink" Target="https://prometheus.io/docs/instrumenting/exporters/" TargetMode="External"/><Relationship Id="rId1" Type="http://schemas.openxmlformats.org/officeDocument/2006/relationships/slideLayout" Target="../slideLayouts/slideLayout4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jpeg"/><Relationship Id="rId1" Type="http://schemas.openxmlformats.org/officeDocument/2006/relationships/slideLayout" Target="../slideLayouts/slideLayout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hyperlink" Target="http://opentsdb.net/" TargetMode="External"/><Relationship Id="rId1" Type="http://schemas.openxmlformats.org/officeDocument/2006/relationships/slideLayout" Target="../slideLayouts/slideLayout4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hyperlink" Target="https://kafka.apache.org/documentation/#monitoring" TargetMode="Externa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confluent.io/platform/current/kafka/monitoring.html" TargetMode="Externa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3.jpeg"/><Relationship Id="rId5" Type="http://schemas.openxmlformats.org/officeDocument/2006/relationships/image" Target="../media/image82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nfluent.io/hub/" TargetMode="External"/><Relationship Id="rId2" Type="http://schemas.openxmlformats.org/officeDocument/2006/relationships/hyperlink" Target="https://docs.confluent.io/cloud/current/connectors/index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confluent.io/platform/current/connect/devguide.html" TargetMode="Externa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4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92.png"/><Relationship Id="rId7" Type="http://schemas.openxmlformats.org/officeDocument/2006/relationships/image" Target="../media/image15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4.xml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4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 helye 1">
            <a:extLst>
              <a:ext uri="{FF2B5EF4-FFF2-40B4-BE49-F238E27FC236}">
                <a16:creationId xmlns:a16="http://schemas.microsoft.com/office/drawing/2014/main" id="{2A7E8302-AC9C-A66D-07A6-1A5B9DE4A499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hu-HU" dirty="0"/>
              <a:t>Cloud Native Architecture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C3FF51C-1377-99D6-D639-C9342D916796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rPr lang="hu-HU" dirty="0"/>
              <a:t>Docker 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B3461CE-3807-2ADD-A4F6-83F5C4B6A2F8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5929423" y="4390918"/>
            <a:ext cx="3305841" cy="891112"/>
          </a:xfrm>
        </p:spPr>
        <p:txBody>
          <a:bodyPr anchor="ctr"/>
          <a:lstStyle/>
          <a:p>
            <a:pPr algn="ctr"/>
            <a:r>
              <a:rPr lang="hu-HU" sz="3600" b="1" dirty="0">
                <a:solidFill>
                  <a:srgbClr val="012863"/>
                </a:solidFill>
              </a:rPr>
              <a:t>Basics</a:t>
            </a:r>
          </a:p>
        </p:txBody>
      </p:sp>
      <p:pic>
        <p:nvPicPr>
          <p:cNvPr id="7" name="Picture 2" descr="Apache Kafka">
            <a:extLst>
              <a:ext uri="{FF2B5EF4-FFF2-40B4-BE49-F238E27FC236}">
                <a16:creationId xmlns:a16="http://schemas.microsoft.com/office/drawing/2014/main" id="{BF9CB369-1530-7F67-BE8D-7230453CA3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6633" y="2390492"/>
            <a:ext cx="3819367" cy="1740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08FCC39-6F10-DE67-D6D2-148E4D8426ED}"/>
              </a:ext>
            </a:extLst>
          </p:cNvPr>
          <p:cNvCxnSpPr>
            <a:cxnSpLocks/>
          </p:cNvCxnSpPr>
          <p:nvPr/>
        </p:nvCxnSpPr>
        <p:spPr>
          <a:xfrm>
            <a:off x="6499446" y="3095244"/>
            <a:ext cx="0" cy="1881166"/>
          </a:xfrm>
          <a:prstGeom prst="line">
            <a:avLst/>
          </a:prstGeom>
          <a:ln w="76200">
            <a:solidFill>
              <a:srgbClr val="01285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02869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5373C-7466-14B0-1014-2CBC7C74B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BCDBCB-DBAD-006C-C17B-766A0ACA5E1A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About me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0262CB-5A86-D106-28AC-8F9D338F8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</a:pPr>
            <a:r>
              <a:rPr lang="en-US" dirty="0">
                <a:solidFill>
                  <a:srgbClr val="000000"/>
                </a:solidFill>
              </a:rPr>
              <a:t>PhD in Telecommunications @ BME</a:t>
            </a:r>
            <a:endParaRPr lang="en-US" i="1" dirty="0"/>
          </a:p>
          <a:p>
            <a:pPr marL="609585" indent="-275160">
              <a:spcBef>
                <a:spcPts val="800"/>
              </a:spcBef>
              <a:buSzPct val="100000"/>
            </a:pPr>
            <a:r>
              <a:rPr lang="en-US" sz="1600" dirty="0"/>
              <a:t>Worked with 5G technology</a:t>
            </a:r>
          </a:p>
          <a:p>
            <a:pPr marL="609585" indent="-275160">
              <a:spcBef>
                <a:spcPts val="800"/>
              </a:spcBef>
              <a:buSzPct val="100000"/>
            </a:pPr>
            <a:r>
              <a:rPr lang="en-US" sz="1600" dirty="0"/>
              <a:t>SDN &amp; NFV </a:t>
            </a:r>
            <a:r>
              <a:rPr lang="en-US" sz="1600" dirty="0">
                <a:sym typeface="Wingdings" panose="05000000000000000000" pitchFamily="2" charset="2"/>
              </a:rPr>
              <a:t> Cloud Native Network Functions</a:t>
            </a:r>
            <a:endParaRPr lang="en-US" sz="1600" dirty="0"/>
          </a:p>
          <a:p>
            <a:pPr marL="609585" indent="-275160">
              <a:spcBef>
                <a:spcPts val="800"/>
              </a:spcBef>
              <a:buSzPct val="100000"/>
            </a:pPr>
            <a:r>
              <a:rPr lang="en-US" sz="1600" dirty="0"/>
              <a:t>Graduated in the EIT Digital Doctoral School</a:t>
            </a:r>
          </a:p>
          <a:p>
            <a:pPr>
              <a:spcBef>
                <a:spcPts val="2400"/>
              </a:spcBef>
            </a:pPr>
            <a:r>
              <a:rPr lang="en-US" dirty="0"/>
              <a:t>Co-founder &amp; CTO @ </a:t>
            </a:r>
            <a:r>
              <a:rPr lang="en-US" dirty="0" err="1"/>
              <a:t>LeanNet</a:t>
            </a:r>
            <a:r>
              <a:rPr lang="en-US" dirty="0"/>
              <a:t> Ltd.</a:t>
            </a:r>
            <a:endParaRPr lang="en-US" i="1" dirty="0"/>
          </a:p>
          <a:p>
            <a:pPr marL="609585" indent="-275160">
              <a:spcBef>
                <a:spcPts val="800"/>
              </a:spcBef>
              <a:buSzPct val="100000"/>
            </a:pPr>
            <a:r>
              <a:rPr lang="en-US" sz="1600" dirty="0"/>
              <a:t>Consulting, training, implementing</a:t>
            </a:r>
          </a:p>
          <a:p>
            <a:pPr marL="609585" indent="-275160">
              <a:spcBef>
                <a:spcPts val="800"/>
              </a:spcBef>
              <a:buSzPct val="100000"/>
            </a:pPr>
            <a:r>
              <a:rPr lang="en-US" sz="1600" dirty="0"/>
              <a:t>Cloud Native, Microservices, DevOps</a:t>
            </a:r>
            <a:endParaRPr lang="hu-HU" sz="1600" dirty="0"/>
          </a:p>
          <a:p>
            <a:pPr>
              <a:spcBef>
                <a:spcPts val="2400"/>
              </a:spcBef>
            </a:pPr>
            <a:r>
              <a:rPr lang="hu-HU" dirty="0"/>
              <a:t>Cloud Native Competence Center Leaders of adesso Hungary </a:t>
            </a:r>
            <a:endParaRPr lang="en-US" i="1" dirty="0"/>
          </a:p>
          <a:p>
            <a:pPr marL="609585" indent="-275160">
              <a:spcBef>
                <a:spcPts val="800"/>
              </a:spcBef>
              <a:buSzPct val="100000"/>
            </a:pPr>
            <a:r>
              <a:rPr lang="hu-HU" sz="1600" dirty="0"/>
              <a:t>Team building, strategy creation, sales</a:t>
            </a:r>
          </a:p>
          <a:p>
            <a:pPr>
              <a:spcBef>
                <a:spcPts val="2400"/>
              </a:spcBef>
            </a:pPr>
            <a:r>
              <a:rPr lang="hu-HU" dirty="0"/>
              <a:t>Freelancer, Consultant</a:t>
            </a:r>
          </a:p>
          <a:p>
            <a:pPr marL="334425">
              <a:spcBef>
                <a:spcPts val="800"/>
              </a:spcBef>
              <a:buSzPct val="100000"/>
            </a:pPr>
            <a:endParaRPr lang="hu-HU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C9198E-0F0C-1D53-03D5-85FBD2BA6DE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 t="4969" b="9749"/>
          <a:stretch/>
        </p:blipFill>
        <p:spPr>
          <a:xfrm>
            <a:off x="9559636" y="847420"/>
            <a:ext cx="2389739" cy="247503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Picture 6" descr="http://leannet.eu/img/linkedin.png">
            <a:extLst>
              <a:ext uri="{FF2B5EF4-FFF2-40B4-BE49-F238E27FC236}">
                <a16:creationId xmlns:a16="http://schemas.microsoft.com/office/drawing/2014/main" id="{97BEC4D4-78C7-D5DC-DD26-A40E91064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975" y="6230080"/>
            <a:ext cx="404835" cy="404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églalap 8">
            <a:extLst>
              <a:ext uri="{FF2B5EF4-FFF2-40B4-BE49-F238E27FC236}">
                <a16:creationId xmlns:a16="http://schemas.microsoft.com/office/drawing/2014/main" id="{033097A5-7538-E6DD-7176-E0770A57B5C2}"/>
              </a:ext>
            </a:extLst>
          </p:cNvPr>
          <p:cNvSpPr/>
          <p:nvPr/>
        </p:nvSpPr>
        <p:spPr>
          <a:xfrm>
            <a:off x="708533" y="6230920"/>
            <a:ext cx="27193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hu-H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linkedin.com/in/szabvid</a:t>
            </a:r>
          </a:p>
        </p:txBody>
      </p:sp>
    </p:spTree>
    <p:extLst>
      <p:ext uri="{BB962C8B-B14F-4D97-AF65-F5344CB8AC3E}">
        <p14:creationId xmlns:p14="http://schemas.microsoft.com/office/powerpoint/2010/main" val="12948818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7DA298-4273-C622-630B-16D58740075E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Course Outline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7693D-7398-8546-2446-F7F9EFFC0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5934076" cy="5791119"/>
          </a:xfrm>
        </p:spPr>
        <p:txBody>
          <a:bodyPr/>
          <a:lstStyle/>
          <a:p>
            <a:r>
              <a:rPr lang="en-US" sz="1600" dirty="0"/>
              <a:t>Introduction and Motivation</a:t>
            </a:r>
            <a:endParaRPr lang="hu-HU" sz="1600" dirty="0"/>
          </a:p>
          <a:p>
            <a:r>
              <a:rPr lang="en-US" sz="1600" dirty="0"/>
              <a:t>Kafka Architecture</a:t>
            </a:r>
            <a:endParaRPr lang="hu-HU" sz="1600" dirty="0"/>
          </a:p>
          <a:p>
            <a:r>
              <a:rPr lang="en-US" sz="1600" dirty="0"/>
              <a:t>Core Kafka Concepts:</a:t>
            </a:r>
            <a:endParaRPr lang="hu-HU" sz="1600" dirty="0"/>
          </a:p>
          <a:p>
            <a:pPr lvl="1"/>
            <a:r>
              <a:rPr lang="en-US" sz="1400" dirty="0"/>
              <a:t>Brokers and Clusters</a:t>
            </a:r>
            <a:r>
              <a:rPr lang="hu-HU" sz="1400" dirty="0"/>
              <a:t>, </a:t>
            </a:r>
            <a:r>
              <a:rPr lang="en-US" sz="1400" dirty="0"/>
              <a:t>Topics, Partitions, Offsets</a:t>
            </a:r>
            <a:endParaRPr lang="hu-HU" sz="1400" dirty="0"/>
          </a:p>
          <a:p>
            <a:pPr lvl="1"/>
            <a:r>
              <a:rPr lang="en-US" sz="1400" dirty="0"/>
              <a:t>Producers, Message Keys, Acknowledgments</a:t>
            </a:r>
            <a:endParaRPr lang="hu-HU" sz="1400" dirty="0"/>
          </a:p>
          <a:p>
            <a:pPr lvl="1"/>
            <a:r>
              <a:rPr lang="en-US" sz="1400" dirty="0"/>
              <a:t>Consumers, Consumer Groups, Offsets</a:t>
            </a:r>
            <a:endParaRPr lang="hu-HU" sz="1400" dirty="0"/>
          </a:p>
          <a:p>
            <a:pPr lvl="1"/>
            <a:r>
              <a:rPr lang="en-US" sz="1400" dirty="0"/>
              <a:t>Zookeeper and </a:t>
            </a:r>
            <a:r>
              <a:rPr lang="en-US" sz="1400" dirty="0" err="1"/>
              <a:t>KRaft</a:t>
            </a:r>
            <a:endParaRPr lang="en-US" sz="1400" dirty="0"/>
          </a:p>
          <a:p>
            <a:pPr marL="0" indent="0">
              <a:buNone/>
            </a:pPr>
            <a:endParaRPr lang="hu-HU" sz="1600" dirty="0"/>
          </a:p>
          <a:p>
            <a:r>
              <a:rPr lang="en-US" sz="1600" dirty="0"/>
              <a:t>Kafka Configuration and Access:</a:t>
            </a:r>
            <a:endParaRPr lang="hu-HU" sz="1600" dirty="0"/>
          </a:p>
          <a:p>
            <a:pPr lvl="1"/>
            <a:r>
              <a:rPr lang="en-US" sz="1400" dirty="0"/>
              <a:t>Starting Kafka with and without Zookeeper</a:t>
            </a:r>
            <a:endParaRPr lang="hu-HU" sz="1400" dirty="0"/>
          </a:p>
          <a:p>
            <a:pPr lvl="1"/>
            <a:r>
              <a:rPr lang="en-US" sz="1400" dirty="0"/>
              <a:t>Basic CLI Commands</a:t>
            </a:r>
            <a:r>
              <a:rPr lang="hu-HU" sz="1400" dirty="0"/>
              <a:t> </a:t>
            </a:r>
          </a:p>
          <a:p>
            <a:pPr lvl="1"/>
            <a:r>
              <a:rPr lang="en-US" sz="1400" dirty="0"/>
              <a:t>Producer Configuration</a:t>
            </a:r>
            <a:endParaRPr lang="hu-HU" sz="1400" dirty="0"/>
          </a:p>
          <a:p>
            <a:pPr lvl="1"/>
            <a:r>
              <a:rPr lang="en-US" sz="1400" dirty="0"/>
              <a:t>Consumer Configuration</a:t>
            </a:r>
          </a:p>
          <a:p>
            <a:endParaRPr lang="en-US" sz="1600" dirty="0"/>
          </a:p>
          <a:p>
            <a:r>
              <a:rPr lang="en-US" sz="1600" dirty="0"/>
              <a:t>Advanced Producer Configuration</a:t>
            </a:r>
            <a:endParaRPr lang="hu-HU" sz="1600" dirty="0"/>
          </a:p>
          <a:p>
            <a:r>
              <a:rPr lang="en-US" sz="1600" dirty="0"/>
              <a:t>Advanced Consumer Configuration</a:t>
            </a:r>
            <a:endParaRPr lang="hu-HU" sz="1600" dirty="0"/>
          </a:p>
          <a:p>
            <a:r>
              <a:rPr lang="en-US" sz="1600" dirty="0"/>
              <a:t>Broker Configuration</a:t>
            </a:r>
            <a:endParaRPr lang="hu-HU" sz="1600" dirty="0"/>
          </a:p>
          <a:p>
            <a:pPr lvl="1"/>
            <a:r>
              <a:rPr lang="en-US" sz="1400" dirty="0"/>
              <a:t>Kafka Ecosystem:</a:t>
            </a:r>
            <a:r>
              <a:rPr lang="hu-HU" sz="1400" dirty="0"/>
              <a:t> </a:t>
            </a:r>
          </a:p>
          <a:p>
            <a:pPr lvl="2"/>
            <a:r>
              <a:rPr lang="en-US" dirty="0"/>
              <a:t>Kafka Connect</a:t>
            </a:r>
            <a:r>
              <a:rPr lang="hu-HU" dirty="0"/>
              <a:t>, </a:t>
            </a:r>
            <a:r>
              <a:rPr lang="en-US" dirty="0"/>
              <a:t>Kafka Streams</a:t>
            </a:r>
            <a:r>
              <a:rPr lang="hu-HU" dirty="0"/>
              <a:t>, </a:t>
            </a:r>
            <a:r>
              <a:rPr lang="en-US" dirty="0"/>
              <a:t>Schema Registry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B5B43F0-6238-1983-D984-012396E49549}"/>
              </a:ext>
            </a:extLst>
          </p:cNvPr>
          <p:cNvSpPr txBox="1">
            <a:spLocks/>
          </p:cNvSpPr>
          <p:nvPr/>
        </p:nvSpPr>
        <p:spPr>
          <a:xfrm>
            <a:off x="6061166" y="847420"/>
            <a:ext cx="5934076" cy="579111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Wingdings" panose="05000000000000000000" pitchFamily="2" charset="2"/>
              <a:buChar char="q"/>
              <a:defRPr sz="16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Additional Kafka Ecosystem Components:</a:t>
            </a:r>
          </a:p>
          <a:p>
            <a:pPr lvl="1"/>
            <a:r>
              <a:rPr lang="en-US" sz="1400" dirty="0"/>
              <a:t>Kafka Bridge</a:t>
            </a:r>
            <a:r>
              <a:rPr lang="hu-HU" sz="1400" dirty="0"/>
              <a:t>, </a:t>
            </a:r>
          </a:p>
          <a:p>
            <a:pPr lvl="1"/>
            <a:r>
              <a:rPr lang="en-US" sz="1400" dirty="0"/>
              <a:t>Kafka Mirror Maker</a:t>
            </a:r>
            <a:r>
              <a:rPr lang="hu-HU" sz="1400" dirty="0"/>
              <a:t>, </a:t>
            </a:r>
          </a:p>
          <a:p>
            <a:pPr lvl="1"/>
            <a:r>
              <a:rPr lang="en-US" sz="1400" dirty="0" err="1"/>
              <a:t>ksqlDB</a:t>
            </a:r>
            <a:endParaRPr lang="hu-HU" sz="1400" dirty="0"/>
          </a:p>
          <a:p>
            <a:r>
              <a:rPr lang="en-US" sz="1600" dirty="0"/>
              <a:t>Examples / Case Studies</a:t>
            </a:r>
          </a:p>
          <a:p>
            <a:r>
              <a:rPr lang="en-US" sz="1600" dirty="0"/>
              <a:t>Kafka Graphical Interfaces:</a:t>
            </a:r>
            <a:r>
              <a:rPr lang="hu-HU" sz="1600" dirty="0"/>
              <a:t> </a:t>
            </a:r>
          </a:p>
          <a:p>
            <a:pPr lvl="1"/>
            <a:r>
              <a:rPr lang="en-US" sz="1400" dirty="0"/>
              <a:t>Kafka UI</a:t>
            </a:r>
            <a:r>
              <a:rPr lang="hu-HU" sz="1400" dirty="0"/>
              <a:t>, </a:t>
            </a:r>
            <a:r>
              <a:rPr lang="en-US" sz="1400" dirty="0" err="1"/>
              <a:t>Kafdrop</a:t>
            </a:r>
            <a:endParaRPr lang="en-US" sz="1400" dirty="0"/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Administrative Considerations:</a:t>
            </a:r>
          </a:p>
          <a:p>
            <a:pPr lvl="1"/>
            <a:r>
              <a:rPr lang="en-US" sz="1400" dirty="0"/>
              <a:t>Topic Configuration</a:t>
            </a:r>
          </a:p>
          <a:p>
            <a:pPr lvl="1"/>
            <a:r>
              <a:rPr lang="en-US" sz="1400" dirty="0"/>
              <a:t>Log Retention</a:t>
            </a:r>
          </a:p>
          <a:p>
            <a:pPr lvl="1"/>
            <a:r>
              <a:rPr lang="en-US" sz="1400" dirty="0"/>
              <a:t>Kafka Mirror Maker</a:t>
            </a:r>
          </a:p>
          <a:p>
            <a:pPr lvl="1"/>
            <a:r>
              <a:rPr lang="en-US" sz="1400" dirty="0" err="1"/>
              <a:t>Strimzi</a:t>
            </a:r>
            <a:r>
              <a:rPr lang="en-US" sz="1400" dirty="0"/>
              <a:t> Kafka Operator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Monitoring:</a:t>
            </a:r>
          </a:p>
          <a:p>
            <a:pPr lvl="1"/>
            <a:r>
              <a:rPr lang="en-US" sz="1400" dirty="0"/>
              <a:t>JMX Exporters</a:t>
            </a:r>
          </a:p>
          <a:p>
            <a:pPr lvl="1"/>
            <a:r>
              <a:rPr lang="en-US" sz="1400" dirty="0"/>
              <a:t>Prometheus</a:t>
            </a:r>
          </a:p>
          <a:p>
            <a:pPr lvl="1"/>
            <a:r>
              <a:rPr lang="en-US" sz="1400" dirty="0"/>
              <a:t>Grafana</a:t>
            </a:r>
          </a:p>
          <a:p>
            <a:endParaRPr lang="en-US" sz="1600" dirty="0"/>
          </a:p>
          <a:p>
            <a:endParaRPr lang="en-US" sz="16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3784F7-39AA-DD71-57FA-95A0803A4640}"/>
              </a:ext>
            </a:extLst>
          </p:cNvPr>
          <p:cNvCxnSpPr>
            <a:cxnSpLocks/>
          </p:cNvCxnSpPr>
          <p:nvPr/>
        </p:nvCxnSpPr>
        <p:spPr>
          <a:xfrm>
            <a:off x="431074" y="2991394"/>
            <a:ext cx="52120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8DE28A3-5B93-D358-A875-84696FC71852}"/>
              </a:ext>
            </a:extLst>
          </p:cNvPr>
          <p:cNvCxnSpPr>
            <a:cxnSpLocks/>
          </p:cNvCxnSpPr>
          <p:nvPr/>
        </p:nvCxnSpPr>
        <p:spPr>
          <a:xfrm>
            <a:off x="431074" y="4776651"/>
            <a:ext cx="52120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676F064-FE5A-D590-22FE-028F823A2F08}"/>
              </a:ext>
            </a:extLst>
          </p:cNvPr>
          <p:cNvCxnSpPr>
            <a:cxnSpLocks/>
          </p:cNvCxnSpPr>
          <p:nvPr/>
        </p:nvCxnSpPr>
        <p:spPr>
          <a:xfrm>
            <a:off x="6357256" y="2991394"/>
            <a:ext cx="52120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F257D27-B41D-A42B-5E1D-3C42589EF59D}"/>
              </a:ext>
            </a:extLst>
          </p:cNvPr>
          <p:cNvCxnSpPr>
            <a:cxnSpLocks/>
          </p:cNvCxnSpPr>
          <p:nvPr/>
        </p:nvCxnSpPr>
        <p:spPr>
          <a:xfrm>
            <a:off x="6357256" y="4776651"/>
            <a:ext cx="52120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0487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5B2FE-25E0-6D85-313D-FEE4A2817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35EBC3-72A7-F94C-53AA-669EFCAC2C01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What is Apache Kafka?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22042-37BA-54D6-26CC-2162420BF1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hu-HU" sz="2000" dirty="0"/>
              <a:t>An open-source distributed </a:t>
            </a:r>
            <a:r>
              <a:rPr lang="hu-HU" sz="2000" b="1" dirty="0"/>
              <a:t>event streaming platform </a:t>
            </a:r>
            <a:r>
              <a:rPr lang="hu-HU" sz="2000" dirty="0"/>
              <a:t>for </a:t>
            </a:r>
          </a:p>
          <a:p>
            <a:pPr lvl="1">
              <a:spcBef>
                <a:spcPts val="1200"/>
              </a:spcBef>
            </a:pPr>
            <a:r>
              <a:rPr lang="en-US" sz="1800" dirty="0"/>
              <a:t>data integration,</a:t>
            </a:r>
            <a:endParaRPr lang="hu-HU" sz="1800" dirty="0"/>
          </a:p>
          <a:p>
            <a:pPr lvl="1">
              <a:spcBef>
                <a:spcPts val="1200"/>
              </a:spcBef>
            </a:pPr>
            <a:r>
              <a:rPr lang="en-US" sz="1800" dirty="0"/>
              <a:t>mission-critical applications</a:t>
            </a:r>
            <a:r>
              <a:rPr lang="hu-HU" sz="1800" dirty="0"/>
              <a:t>,</a:t>
            </a:r>
          </a:p>
          <a:p>
            <a:pPr lvl="1">
              <a:spcBef>
                <a:spcPts val="1200"/>
              </a:spcBef>
            </a:pPr>
            <a:r>
              <a:rPr lang="en-US" sz="1800" dirty="0"/>
              <a:t>streaming analytics</a:t>
            </a:r>
            <a:r>
              <a:rPr lang="hu-HU" sz="1800" dirty="0"/>
              <a:t> and</a:t>
            </a:r>
          </a:p>
          <a:p>
            <a:pPr lvl="1">
              <a:spcBef>
                <a:spcPts val="1200"/>
              </a:spcBef>
            </a:pPr>
            <a:r>
              <a:rPr lang="en-US" sz="1800" dirty="0"/>
              <a:t>high-performance data pipelines</a:t>
            </a:r>
            <a:endParaRPr lang="hu-HU" sz="1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AE77A4-56DF-D818-FF3D-15EDE5B599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900"/>
                    </a14:imgEffect>
                  </a14:imgLayer>
                </a14:imgProps>
              </a:ext>
            </a:extLst>
          </a:blip>
          <a:srcRect l="10804" t="25801" r="7927" b="22078"/>
          <a:stretch>
            <a:fillRect/>
          </a:stretch>
        </p:blipFill>
        <p:spPr>
          <a:xfrm>
            <a:off x="7940677" y="847420"/>
            <a:ext cx="4089399" cy="1982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502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2A0B6-0613-26FF-D0F7-48EC668F1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9DE532E-2B58-013E-7189-0DCBECD123D1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What is Event Streaming?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325C7-ED18-8444-EFF0-3F1F4072C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2000" dirty="0"/>
              <a:t>It is</a:t>
            </a:r>
            <a:r>
              <a:rPr lang="en-US" sz="2000" dirty="0"/>
              <a:t> the practice of capturing data in</a:t>
            </a:r>
            <a:r>
              <a:rPr lang="hu-HU" sz="2000" dirty="0"/>
              <a:t> </a:t>
            </a:r>
          </a:p>
          <a:p>
            <a:pPr lvl="1"/>
            <a:r>
              <a:rPr lang="hu-HU" sz="1800" dirty="0"/>
              <a:t>i)</a:t>
            </a:r>
            <a:r>
              <a:rPr lang="en-US" sz="1800" dirty="0"/>
              <a:t> real-time from event sources </a:t>
            </a:r>
            <a:r>
              <a:rPr lang="hu-HU" sz="1800" dirty="0"/>
              <a:t>(e.g. </a:t>
            </a:r>
            <a:r>
              <a:rPr lang="en-US" sz="1800" dirty="0"/>
              <a:t>databases, sensors,</a:t>
            </a:r>
            <a:r>
              <a:rPr lang="hu-HU" sz="1800" dirty="0"/>
              <a:t> applications) </a:t>
            </a:r>
            <a:r>
              <a:rPr lang="en-US" sz="1800" dirty="0"/>
              <a:t>in the form of streams of events; </a:t>
            </a:r>
            <a:endParaRPr lang="hu-HU" sz="1800" dirty="0"/>
          </a:p>
          <a:p>
            <a:pPr lvl="1"/>
            <a:r>
              <a:rPr lang="hu-HU" sz="1800" dirty="0"/>
              <a:t>ii) </a:t>
            </a:r>
            <a:r>
              <a:rPr lang="en-US" sz="1800" dirty="0"/>
              <a:t>storing these event streams durably for later retrieval; </a:t>
            </a:r>
            <a:endParaRPr lang="hu-HU" sz="1800" dirty="0"/>
          </a:p>
          <a:p>
            <a:pPr lvl="1"/>
            <a:r>
              <a:rPr lang="hu-HU" sz="1800" dirty="0"/>
              <a:t>iii) </a:t>
            </a:r>
            <a:r>
              <a:rPr lang="en-US" sz="1800" dirty="0"/>
              <a:t>manipulating, processing, and reacting to the event streams in real-time as well as retrospectively;</a:t>
            </a:r>
            <a:endParaRPr lang="hu-HU" sz="1800" dirty="0"/>
          </a:p>
          <a:p>
            <a:pPr lvl="1"/>
            <a:r>
              <a:rPr lang="hu-HU" sz="1800" dirty="0"/>
              <a:t>iv)</a:t>
            </a:r>
            <a:r>
              <a:rPr lang="en-US" sz="1800" dirty="0"/>
              <a:t> and routing the event streams to different destination technologies as needed.</a:t>
            </a:r>
          </a:p>
          <a:p>
            <a:endParaRPr lang="hu-HU" sz="2000" dirty="0"/>
          </a:p>
          <a:p>
            <a:endParaRPr lang="hu-HU" sz="2000" dirty="0"/>
          </a:p>
          <a:p>
            <a:endParaRPr lang="hu-HU" sz="2000" dirty="0"/>
          </a:p>
          <a:p>
            <a:r>
              <a:rPr lang="hu-HU" sz="2000" dirty="0"/>
              <a:t>A typical challenge is data integration:</a:t>
            </a:r>
          </a:p>
          <a:p>
            <a:pPr lvl="1"/>
            <a:r>
              <a:rPr lang="en-US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Protocol</a:t>
            </a:r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– </a:t>
            </a:r>
            <a:endParaRPr lang="hu-HU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lvl="2"/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how the data is transported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?</a:t>
            </a:r>
          </a:p>
          <a:p>
            <a:pPr lvl="2"/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TCP, HTTP, REST, FTP, JDBC…</a:t>
            </a:r>
            <a:endParaRPr lang="en-US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lvl="1"/>
            <a:r>
              <a:rPr lang="en-US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format </a:t>
            </a:r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– </a:t>
            </a:r>
            <a:endParaRPr lang="hu-HU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lvl="2"/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how the data is parsed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?</a:t>
            </a:r>
          </a:p>
          <a:p>
            <a:pPr lvl="2"/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Binary, CSV, JSON, Avro…</a:t>
            </a:r>
            <a:endParaRPr lang="en-US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lvl="1"/>
            <a:r>
              <a:rPr lang="en-US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schema &amp; evolution </a:t>
            </a:r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– </a:t>
            </a:r>
            <a:endParaRPr lang="hu-HU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lvl="2"/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how the data is shaped and may change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?</a:t>
            </a:r>
            <a:endParaRPr lang="en-US" sz="16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endParaRPr lang="en-US" sz="20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91DDC6E-8983-23B0-922E-94970C6F6019}"/>
              </a:ext>
            </a:extLst>
          </p:cNvPr>
          <p:cNvGrpSpPr/>
          <p:nvPr/>
        </p:nvGrpSpPr>
        <p:grpSpPr>
          <a:xfrm>
            <a:off x="6184125" y="4088579"/>
            <a:ext cx="5697524" cy="2275892"/>
            <a:chOff x="6184125" y="4088579"/>
            <a:chExt cx="5697524" cy="227589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41AC67F-18D4-23F1-1F60-107759DF376F}"/>
                </a:ext>
              </a:extLst>
            </p:cNvPr>
            <p:cNvSpPr/>
            <p:nvPr/>
          </p:nvSpPr>
          <p:spPr>
            <a:xfrm>
              <a:off x="6184125" y="4088581"/>
              <a:ext cx="1446028" cy="47314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Source System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94B6002-EBD3-835F-248C-84EEB5DD1E2E}"/>
                </a:ext>
              </a:extLst>
            </p:cNvPr>
            <p:cNvSpPr/>
            <p:nvPr/>
          </p:nvSpPr>
          <p:spPr>
            <a:xfrm>
              <a:off x="7963307" y="4088580"/>
              <a:ext cx="1446028" cy="47314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Source System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70A68F2-0DA7-9B95-3BFF-57900CF36E67}"/>
                </a:ext>
              </a:extLst>
            </p:cNvPr>
            <p:cNvSpPr/>
            <p:nvPr/>
          </p:nvSpPr>
          <p:spPr>
            <a:xfrm>
              <a:off x="9742489" y="4088579"/>
              <a:ext cx="1446028" cy="47314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Source System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D62249D-84DE-4D35-EA41-3CBA20E41427}"/>
                </a:ext>
              </a:extLst>
            </p:cNvPr>
            <p:cNvSpPr txBox="1"/>
            <p:nvPr/>
          </p:nvSpPr>
          <p:spPr>
            <a:xfrm>
              <a:off x="11396587" y="4094952"/>
              <a:ext cx="4850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hu-HU" dirty="0"/>
                <a:t>. . .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CB46C10-7413-17CE-35F4-DD65DFDCF488}"/>
                </a:ext>
              </a:extLst>
            </p:cNvPr>
            <p:cNvSpPr/>
            <p:nvPr/>
          </p:nvSpPr>
          <p:spPr>
            <a:xfrm>
              <a:off x="6184125" y="5891322"/>
              <a:ext cx="1446028" cy="47314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Target System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3BB26FA-6938-59AE-F48D-5150F87002B0}"/>
                </a:ext>
              </a:extLst>
            </p:cNvPr>
            <p:cNvSpPr/>
            <p:nvPr/>
          </p:nvSpPr>
          <p:spPr>
            <a:xfrm>
              <a:off x="7963307" y="5891321"/>
              <a:ext cx="1446028" cy="47314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Target System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19F49E5-4269-FD90-12D6-282437CC6934}"/>
                </a:ext>
              </a:extLst>
            </p:cNvPr>
            <p:cNvSpPr/>
            <p:nvPr/>
          </p:nvSpPr>
          <p:spPr>
            <a:xfrm>
              <a:off x="9742489" y="5891320"/>
              <a:ext cx="1446028" cy="47314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Target System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820B56B-723A-6830-AC38-B30F586BB359}"/>
                </a:ext>
              </a:extLst>
            </p:cNvPr>
            <p:cNvSpPr txBox="1"/>
            <p:nvPr/>
          </p:nvSpPr>
          <p:spPr>
            <a:xfrm>
              <a:off x="11396587" y="5897693"/>
              <a:ext cx="4850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hu-HU" dirty="0"/>
                <a:t>. . .</a:t>
              </a:r>
              <a:endParaRPr lang="en-US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5E0A978-BEE0-6306-343E-ADC6C474816A}"/>
                </a:ext>
              </a:extLst>
            </p:cNvPr>
            <p:cNvCxnSpPr>
              <a:stCxn id="4" idx="2"/>
              <a:endCxn id="9" idx="0"/>
            </p:cNvCxnSpPr>
            <p:nvPr/>
          </p:nvCxnSpPr>
          <p:spPr>
            <a:xfrm>
              <a:off x="6907139" y="4561730"/>
              <a:ext cx="0" cy="1329592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F453C8D-3671-AAB7-F82C-CC277FE5AA90}"/>
                </a:ext>
              </a:extLst>
            </p:cNvPr>
            <p:cNvCxnSpPr>
              <a:cxnSpLocks/>
              <a:stCxn id="4" idx="2"/>
              <a:endCxn id="10" idx="0"/>
            </p:cNvCxnSpPr>
            <p:nvPr/>
          </p:nvCxnSpPr>
          <p:spPr>
            <a:xfrm>
              <a:off x="6907139" y="4561730"/>
              <a:ext cx="1779182" cy="1329591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A29A0DF7-71BE-0ADB-8981-517591808169}"/>
                </a:ext>
              </a:extLst>
            </p:cNvPr>
            <p:cNvCxnSpPr>
              <a:cxnSpLocks/>
              <a:stCxn id="4" idx="2"/>
              <a:endCxn id="11" idx="0"/>
            </p:cNvCxnSpPr>
            <p:nvPr/>
          </p:nvCxnSpPr>
          <p:spPr>
            <a:xfrm>
              <a:off x="6907139" y="4561730"/>
              <a:ext cx="3558364" cy="1329590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93ECA190-657F-55CE-ED6C-CB49267A7261}"/>
                </a:ext>
              </a:extLst>
            </p:cNvPr>
            <p:cNvCxnSpPr>
              <a:cxnSpLocks/>
              <a:stCxn id="5" idx="2"/>
              <a:endCxn id="9" idx="0"/>
            </p:cNvCxnSpPr>
            <p:nvPr/>
          </p:nvCxnSpPr>
          <p:spPr>
            <a:xfrm flipH="1">
              <a:off x="6907139" y="4561729"/>
              <a:ext cx="1779182" cy="1329593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7B42A6D-50E6-B50D-BA5C-27C04FD5ACD7}"/>
                </a:ext>
              </a:extLst>
            </p:cNvPr>
            <p:cNvCxnSpPr>
              <a:cxnSpLocks/>
              <a:stCxn id="5" idx="2"/>
              <a:endCxn id="11" idx="0"/>
            </p:cNvCxnSpPr>
            <p:nvPr/>
          </p:nvCxnSpPr>
          <p:spPr>
            <a:xfrm>
              <a:off x="8686321" y="4561729"/>
              <a:ext cx="1779182" cy="1329591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D9937B5E-FAB9-6FC5-6A9C-4B92ABDC0D82}"/>
                </a:ext>
              </a:extLst>
            </p:cNvPr>
            <p:cNvCxnSpPr>
              <a:cxnSpLocks/>
              <a:stCxn id="6" idx="2"/>
              <a:endCxn id="10" idx="0"/>
            </p:cNvCxnSpPr>
            <p:nvPr/>
          </p:nvCxnSpPr>
          <p:spPr>
            <a:xfrm flipH="1">
              <a:off x="8686321" y="4561728"/>
              <a:ext cx="1779182" cy="1329593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DAFD906-17A9-B263-E307-4595297F5B3B}"/>
                </a:ext>
              </a:extLst>
            </p:cNvPr>
            <p:cNvCxnSpPr>
              <a:cxnSpLocks/>
              <a:stCxn id="6" idx="2"/>
              <a:endCxn id="11" idx="0"/>
            </p:cNvCxnSpPr>
            <p:nvPr/>
          </p:nvCxnSpPr>
          <p:spPr>
            <a:xfrm>
              <a:off x="10465503" y="4561728"/>
              <a:ext cx="0" cy="1329592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242B8770-46E3-29D7-CB5B-0D859D264B5B}"/>
                </a:ext>
              </a:extLst>
            </p:cNvPr>
            <p:cNvSpPr/>
            <p:nvPr/>
          </p:nvSpPr>
          <p:spPr>
            <a:xfrm>
              <a:off x="6532543" y="5134583"/>
              <a:ext cx="736595" cy="210473"/>
            </a:xfrm>
            <a:prstGeom prst="round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data</a:t>
              </a:r>
              <a:endPara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8F8EE0D6-AF28-0809-C8BD-B4DFC1C3DC0F}"/>
                </a:ext>
              </a:extLst>
            </p:cNvPr>
            <p:cNvSpPr/>
            <p:nvPr/>
          </p:nvSpPr>
          <p:spPr>
            <a:xfrm>
              <a:off x="8304935" y="5134583"/>
              <a:ext cx="736595" cy="210473"/>
            </a:xfrm>
            <a:prstGeom prst="round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data</a:t>
              </a:r>
              <a:endPara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7BD77B6-A4E9-B164-E0F0-A5AF7013B6B1}"/>
                </a:ext>
              </a:extLst>
            </p:cNvPr>
            <p:cNvSpPr/>
            <p:nvPr/>
          </p:nvSpPr>
          <p:spPr>
            <a:xfrm>
              <a:off x="10097700" y="5161148"/>
              <a:ext cx="736595" cy="210473"/>
            </a:xfrm>
            <a:prstGeom prst="round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data</a:t>
              </a:r>
              <a:endPara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34166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40B3F-5F3A-87B6-32C5-384C4E599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9872F5A-8E55-4073-C832-F5C95D3BC9E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What is Event Streaming?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8A49E-FF1B-77BA-2F05-6CA3386B6D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2000" dirty="0"/>
              <a:t>It is</a:t>
            </a:r>
            <a:r>
              <a:rPr lang="en-US" sz="2000" dirty="0"/>
              <a:t> the practice of capturing data in</a:t>
            </a:r>
            <a:r>
              <a:rPr lang="hu-HU" sz="2000" dirty="0"/>
              <a:t> </a:t>
            </a:r>
          </a:p>
          <a:p>
            <a:pPr lvl="1"/>
            <a:r>
              <a:rPr lang="hu-HU" sz="1800" dirty="0"/>
              <a:t>i)</a:t>
            </a:r>
            <a:r>
              <a:rPr lang="en-US" sz="1800" dirty="0"/>
              <a:t> real-time from event sources </a:t>
            </a:r>
            <a:r>
              <a:rPr lang="hu-HU" sz="1800" dirty="0"/>
              <a:t>(e.g. </a:t>
            </a:r>
            <a:r>
              <a:rPr lang="en-US" sz="1800" dirty="0"/>
              <a:t>databases, sensors,</a:t>
            </a:r>
            <a:r>
              <a:rPr lang="hu-HU" sz="1800" dirty="0"/>
              <a:t> applications) </a:t>
            </a:r>
            <a:r>
              <a:rPr lang="en-US" sz="1800" dirty="0"/>
              <a:t>in the form of streams of events; </a:t>
            </a:r>
            <a:endParaRPr lang="hu-HU" sz="1800" dirty="0"/>
          </a:p>
          <a:p>
            <a:pPr lvl="1"/>
            <a:r>
              <a:rPr lang="hu-HU" sz="1800" dirty="0"/>
              <a:t>ii) </a:t>
            </a:r>
            <a:r>
              <a:rPr lang="en-US" sz="1800" dirty="0"/>
              <a:t>storing these event streams durably for later retrieval; </a:t>
            </a:r>
            <a:endParaRPr lang="hu-HU" sz="1800" dirty="0"/>
          </a:p>
          <a:p>
            <a:pPr lvl="1"/>
            <a:r>
              <a:rPr lang="hu-HU" sz="1800" dirty="0"/>
              <a:t>iii) </a:t>
            </a:r>
            <a:r>
              <a:rPr lang="en-US" sz="1800" dirty="0"/>
              <a:t>manipulating, processing, and reacting to the event streams in real-time as well as retrospectively;</a:t>
            </a:r>
            <a:endParaRPr lang="hu-HU" sz="1800" dirty="0"/>
          </a:p>
          <a:p>
            <a:pPr lvl="1"/>
            <a:r>
              <a:rPr lang="hu-HU" sz="1800" dirty="0"/>
              <a:t>iv)</a:t>
            </a:r>
            <a:r>
              <a:rPr lang="en-US" sz="1800" dirty="0"/>
              <a:t> and routing the event streams to different destination technologies as needed.</a:t>
            </a:r>
          </a:p>
          <a:p>
            <a:endParaRPr lang="hu-HU" sz="2000" dirty="0"/>
          </a:p>
          <a:p>
            <a:endParaRPr lang="hu-HU" sz="2000" dirty="0"/>
          </a:p>
          <a:p>
            <a:endParaRPr lang="hu-HU" sz="2000" dirty="0"/>
          </a:p>
          <a:p>
            <a:r>
              <a:rPr lang="hu-HU" sz="2000" dirty="0"/>
              <a:t>A typical challenge is data integration:</a:t>
            </a:r>
          </a:p>
          <a:p>
            <a:pPr lvl="1"/>
            <a:r>
              <a:rPr lang="en-US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Protocol</a:t>
            </a:r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– </a:t>
            </a:r>
            <a:endParaRPr lang="hu-HU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lvl="2"/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how the data is transported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?</a:t>
            </a:r>
          </a:p>
          <a:p>
            <a:pPr lvl="2"/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TCP, HTTP, REST, FTP, JDBC…</a:t>
            </a:r>
            <a:endParaRPr lang="en-US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lvl="1"/>
            <a:r>
              <a:rPr lang="en-US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format </a:t>
            </a:r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– </a:t>
            </a:r>
            <a:endParaRPr lang="hu-HU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lvl="2"/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how the data is parsed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?</a:t>
            </a:r>
          </a:p>
          <a:p>
            <a:pPr lvl="2"/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Binary, CSV, JSON, Avro…</a:t>
            </a:r>
            <a:endParaRPr lang="en-US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lvl="1"/>
            <a:r>
              <a:rPr lang="en-US" sz="1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schema &amp; evolution </a:t>
            </a:r>
            <a:r>
              <a:rPr 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– </a:t>
            </a:r>
            <a:endParaRPr lang="hu-HU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lvl="2"/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how the data is shaped and may change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?</a:t>
            </a:r>
            <a:endParaRPr lang="en-US" sz="16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B882B4-2759-55B4-10ED-45CD79416282}"/>
              </a:ext>
            </a:extLst>
          </p:cNvPr>
          <p:cNvSpPr/>
          <p:nvPr/>
        </p:nvSpPr>
        <p:spPr>
          <a:xfrm>
            <a:off x="6184125" y="4078086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Website Events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23B40A-E0DC-A480-44F6-4B922A57F70B}"/>
              </a:ext>
            </a:extLst>
          </p:cNvPr>
          <p:cNvSpPr/>
          <p:nvPr/>
        </p:nvSpPr>
        <p:spPr>
          <a:xfrm>
            <a:off x="7963307" y="4078085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Pricing Data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6F11DA-5316-5FC4-00D4-D009A85E0AE8}"/>
              </a:ext>
            </a:extLst>
          </p:cNvPr>
          <p:cNvSpPr/>
          <p:nvPr/>
        </p:nvSpPr>
        <p:spPr>
          <a:xfrm>
            <a:off x="9742489" y="4078084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Sensor Data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FE6BAF-D50B-D8A9-618E-A6DDD8C48D1C}"/>
              </a:ext>
            </a:extLst>
          </p:cNvPr>
          <p:cNvSpPr txBox="1"/>
          <p:nvPr/>
        </p:nvSpPr>
        <p:spPr>
          <a:xfrm>
            <a:off x="11396587" y="4084457"/>
            <a:ext cx="48506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hu-HU" dirty="0"/>
              <a:t>. . .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C67914-DC61-2F6B-EADF-853D99AB3A08}"/>
              </a:ext>
            </a:extLst>
          </p:cNvPr>
          <p:cNvSpPr/>
          <p:nvPr/>
        </p:nvSpPr>
        <p:spPr>
          <a:xfrm>
            <a:off x="6184125" y="5880827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Database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3A83B2-420C-E27F-3D75-8E4EF5133EEC}"/>
              </a:ext>
            </a:extLst>
          </p:cNvPr>
          <p:cNvSpPr/>
          <p:nvPr/>
        </p:nvSpPr>
        <p:spPr>
          <a:xfrm>
            <a:off x="7963307" y="5880826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Analytics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4517436-C89E-D5AA-4067-8FE881E5845E}"/>
              </a:ext>
            </a:extLst>
          </p:cNvPr>
          <p:cNvSpPr/>
          <p:nvPr/>
        </p:nvSpPr>
        <p:spPr>
          <a:xfrm>
            <a:off x="9742489" y="5880825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Audit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D186BF-D80D-433B-6DA4-883FF79F4FE0}"/>
              </a:ext>
            </a:extLst>
          </p:cNvPr>
          <p:cNvSpPr txBox="1"/>
          <p:nvPr/>
        </p:nvSpPr>
        <p:spPr>
          <a:xfrm>
            <a:off x="11396587" y="5887198"/>
            <a:ext cx="48506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hu-HU" dirty="0"/>
              <a:t>. . .</a:t>
            </a:r>
            <a:endParaRPr lang="en-US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A9A53D9-698E-3EBF-627E-3D6D2D128AE1}"/>
              </a:ext>
            </a:extLst>
          </p:cNvPr>
          <p:cNvCxnSpPr>
            <a:stCxn id="4" idx="2"/>
            <a:endCxn id="9" idx="0"/>
          </p:cNvCxnSpPr>
          <p:nvPr/>
        </p:nvCxnSpPr>
        <p:spPr>
          <a:xfrm>
            <a:off x="6907139" y="4551235"/>
            <a:ext cx="0" cy="132959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FD79BAC-9646-1C86-E526-90DA78F0C830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>
            <a:off x="6907139" y="4551235"/>
            <a:ext cx="1779182" cy="132959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75A049-7EB5-182F-983A-550B2C5B7B47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>
            <a:off x="6907139" y="4551235"/>
            <a:ext cx="3558364" cy="132959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13F3570-3376-AF25-28F7-22B1D9A5CCFC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6907139" y="4551234"/>
            <a:ext cx="1779182" cy="132959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7008384-7914-A400-53BF-AF5BE2F74A1F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8686321" y="4551234"/>
            <a:ext cx="1779182" cy="132959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799761-57CA-CBE7-99C7-6615FD1307B8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flipH="1">
            <a:off x="8686321" y="4551233"/>
            <a:ext cx="1779182" cy="132959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59CCD78-7072-8254-A02A-6716BC952E9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10465503" y="4551233"/>
            <a:ext cx="0" cy="132959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FE8F878-6724-586E-DC35-05BF37E093DF}"/>
              </a:ext>
            </a:extLst>
          </p:cNvPr>
          <p:cNvSpPr/>
          <p:nvPr/>
        </p:nvSpPr>
        <p:spPr>
          <a:xfrm>
            <a:off x="6532543" y="5124088"/>
            <a:ext cx="736595" cy="210473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</a:t>
            </a:r>
            <a:endParaRPr lang="en-US" sz="16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249CCEF0-9ABE-94D9-A01B-A7BF370FE2C3}"/>
              </a:ext>
            </a:extLst>
          </p:cNvPr>
          <p:cNvSpPr/>
          <p:nvPr/>
        </p:nvSpPr>
        <p:spPr>
          <a:xfrm>
            <a:off x="8304935" y="5124088"/>
            <a:ext cx="736595" cy="210473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</a:t>
            </a:r>
            <a:endParaRPr lang="en-US" sz="16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C708758-1663-4E16-3827-F8A21FC5877D}"/>
              </a:ext>
            </a:extLst>
          </p:cNvPr>
          <p:cNvSpPr/>
          <p:nvPr/>
        </p:nvSpPr>
        <p:spPr>
          <a:xfrm>
            <a:off x="10097700" y="5150653"/>
            <a:ext cx="736595" cy="210473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</a:t>
            </a:r>
            <a:endParaRPr lang="en-US" sz="16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84812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6C1C9-C4EA-4908-9CFD-B18C6EEEF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CEF14AD-4607-C988-654D-10A725BD99DB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to the Rescue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ED882-1248-0069-C611-C6B6DA805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Kafka was created at LinkedIn </a:t>
            </a:r>
            <a:r>
              <a:rPr lang="hu-HU" dirty="0"/>
              <a:t>at 2011 to service internal stream processing</a:t>
            </a:r>
          </a:p>
          <a:p>
            <a:r>
              <a:rPr lang="hu-HU" dirty="0"/>
              <a:t>Written in </a:t>
            </a:r>
            <a:r>
              <a:rPr lang="hu-HU" b="1" dirty="0"/>
              <a:t>Java</a:t>
            </a:r>
          </a:p>
          <a:p>
            <a:r>
              <a:rPr lang="hu-HU" dirty="0"/>
              <a:t>Quickly gained popularity and became an Apache Foundation project</a:t>
            </a:r>
          </a:p>
          <a:p>
            <a:r>
              <a:rPr lang="hu-HU" dirty="0"/>
              <a:t>Nowadays mainly maintained by Confluent, IBM, Yelp, Netflix, ...</a:t>
            </a:r>
          </a:p>
          <a:p>
            <a:r>
              <a:rPr lang="hu-HU" dirty="0"/>
              <a:t>Typical use-cases: </a:t>
            </a:r>
          </a:p>
          <a:p>
            <a:pPr lvl="1">
              <a:spcBef>
                <a:spcPts val="1200"/>
              </a:spcBef>
            </a:pPr>
            <a:r>
              <a:rPr lang="hu-HU" dirty="0"/>
              <a:t>Messaging systems</a:t>
            </a:r>
          </a:p>
          <a:p>
            <a:pPr lvl="1">
              <a:spcBef>
                <a:spcPts val="1200"/>
              </a:spcBef>
            </a:pPr>
            <a:r>
              <a:rPr lang="hu-HU" dirty="0"/>
              <a:t>Activity Tracking</a:t>
            </a:r>
          </a:p>
          <a:p>
            <a:pPr lvl="1">
              <a:spcBef>
                <a:spcPts val="1200"/>
              </a:spcBef>
            </a:pPr>
            <a:r>
              <a:rPr lang="hu-HU" dirty="0"/>
              <a:t>Gather metrics from many different locations, for example, IoT devices</a:t>
            </a:r>
          </a:p>
          <a:p>
            <a:pPr lvl="1">
              <a:spcBef>
                <a:spcPts val="1200"/>
              </a:spcBef>
            </a:pPr>
            <a:r>
              <a:rPr lang="hu-HU" dirty="0"/>
              <a:t>Application logs analysis</a:t>
            </a:r>
          </a:p>
          <a:p>
            <a:pPr lvl="1">
              <a:spcBef>
                <a:spcPts val="1200"/>
              </a:spcBef>
            </a:pPr>
            <a:r>
              <a:rPr lang="hu-HU" dirty="0"/>
              <a:t>De-coupling of system dependencies</a:t>
            </a:r>
          </a:p>
          <a:p>
            <a:pPr lvl="1">
              <a:spcBef>
                <a:spcPts val="1200"/>
              </a:spcBef>
            </a:pPr>
            <a:r>
              <a:rPr lang="hu-HU" dirty="0"/>
              <a:t>Integration with Big Data technologies like Spark,</a:t>
            </a:r>
          </a:p>
          <a:p>
            <a:pPr marL="457200" lvl="1" indent="0">
              <a:spcBef>
                <a:spcPts val="1200"/>
              </a:spcBef>
              <a:buNone/>
            </a:pPr>
            <a:r>
              <a:rPr lang="hu-HU" dirty="0"/>
              <a:t>    Flink, Storm, Hadoop.</a:t>
            </a:r>
          </a:p>
          <a:p>
            <a:pPr lvl="1">
              <a:spcBef>
                <a:spcPts val="1200"/>
              </a:spcBef>
            </a:pPr>
            <a:r>
              <a:rPr lang="hu-HU" dirty="0"/>
              <a:t>Event-sourcing store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408B7B6-15C6-3A6A-6800-F710D27DD44F}"/>
              </a:ext>
            </a:extLst>
          </p:cNvPr>
          <p:cNvSpPr/>
          <p:nvPr/>
        </p:nvSpPr>
        <p:spPr>
          <a:xfrm>
            <a:off x="6184125" y="4078086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Website Events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6D2F0A-8E61-A19B-24A8-ACE9F4B9E10C}"/>
              </a:ext>
            </a:extLst>
          </p:cNvPr>
          <p:cNvSpPr/>
          <p:nvPr/>
        </p:nvSpPr>
        <p:spPr>
          <a:xfrm>
            <a:off x="7963307" y="4078085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Pricing Data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A77B4D2-9275-272D-0AF7-93C1F4798381}"/>
              </a:ext>
            </a:extLst>
          </p:cNvPr>
          <p:cNvSpPr/>
          <p:nvPr/>
        </p:nvSpPr>
        <p:spPr>
          <a:xfrm>
            <a:off x="9742489" y="4078084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Sensor Data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8E697F-E76A-7508-BE36-5A54D47285EE}"/>
              </a:ext>
            </a:extLst>
          </p:cNvPr>
          <p:cNvSpPr txBox="1"/>
          <p:nvPr/>
        </p:nvSpPr>
        <p:spPr>
          <a:xfrm>
            <a:off x="11396587" y="4084457"/>
            <a:ext cx="48506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hu-HU" dirty="0"/>
              <a:t>. . .</a:t>
            </a:r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6C440A-FA6E-813D-EF42-425008F3B89D}"/>
              </a:ext>
            </a:extLst>
          </p:cNvPr>
          <p:cNvSpPr/>
          <p:nvPr/>
        </p:nvSpPr>
        <p:spPr>
          <a:xfrm>
            <a:off x="6184125" y="5880827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Database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F4D033D-DB3B-6E82-72AE-EB4E11E167F8}"/>
              </a:ext>
            </a:extLst>
          </p:cNvPr>
          <p:cNvSpPr/>
          <p:nvPr/>
        </p:nvSpPr>
        <p:spPr>
          <a:xfrm>
            <a:off x="7963307" y="5880826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Analytics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65C474-8622-4F72-7063-458A5EE0CBB7}"/>
              </a:ext>
            </a:extLst>
          </p:cNvPr>
          <p:cNvSpPr/>
          <p:nvPr/>
        </p:nvSpPr>
        <p:spPr>
          <a:xfrm>
            <a:off x="9742489" y="5880825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Audit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CCDF3AE-F055-0BBD-B71A-7C0B7335F2A4}"/>
              </a:ext>
            </a:extLst>
          </p:cNvPr>
          <p:cNvSpPr txBox="1"/>
          <p:nvPr/>
        </p:nvSpPr>
        <p:spPr>
          <a:xfrm>
            <a:off x="11396587" y="5887198"/>
            <a:ext cx="48506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hu-HU" dirty="0"/>
              <a:t>. . .</a:t>
            </a:r>
            <a:endParaRPr lang="en-US" dirty="0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BEFCF047-3D7E-2850-BE20-771823081B5F}"/>
              </a:ext>
            </a:extLst>
          </p:cNvPr>
          <p:cNvSpPr/>
          <p:nvPr/>
        </p:nvSpPr>
        <p:spPr>
          <a:xfrm>
            <a:off x="6438581" y="4862023"/>
            <a:ext cx="4495479" cy="734237"/>
          </a:xfrm>
          <a:prstGeom prst="roundRect">
            <a:avLst/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871E5DB-E985-42A2-7FCA-977B109F3BAD}"/>
              </a:ext>
            </a:extLst>
          </p:cNvPr>
          <p:cNvCxnSpPr>
            <a:cxnSpLocks/>
          </p:cNvCxnSpPr>
          <p:nvPr/>
        </p:nvCxnSpPr>
        <p:spPr>
          <a:xfrm>
            <a:off x="6907139" y="4558502"/>
            <a:ext cx="1056168" cy="30352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A02152E-91A1-2E4A-D5B2-A6D381AB2DC3}"/>
              </a:ext>
            </a:extLst>
          </p:cNvPr>
          <p:cNvCxnSpPr>
            <a:cxnSpLocks/>
          </p:cNvCxnSpPr>
          <p:nvPr/>
        </p:nvCxnSpPr>
        <p:spPr>
          <a:xfrm>
            <a:off x="8686321" y="4558501"/>
            <a:ext cx="0" cy="30352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8528A9F-FFFD-0510-61AB-F3053B1E3413}"/>
              </a:ext>
            </a:extLst>
          </p:cNvPr>
          <p:cNvCxnSpPr>
            <a:cxnSpLocks/>
          </p:cNvCxnSpPr>
          <p:nvPr/>
        </p:nvCxnSpPr>
        <p:spPr>
          <a:xfrm flipH="1">
            <a:off x="9409335" y="4558502"/>
            <a:ext cx="1038532" cy="30352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5A4B0-CAD1-1C31-06A7-EBD94F9A7EE9}"/>
              </a:ext>
            </a:extLst>
          </p:cNvPr>
          <p:cNvCxnSpPr>
            <a:cxnSpLocks/>
          </p:cNvCxnSpPr>
          <p:nvPr/>
        </p:nvCxnSpPr>
        <p:spPr>
          <a:xfrm flipH="1">
            <a:off x="6907139" y="5596260"/>
            <a:ext cx="1056168" cy="29183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D015579-D5C4-D546-2DA1-D669F80DE34D}"/>
              </a:ext>
            </a:extLst>
          </p:cNvPr>
          <p:cNvCxnSpPr>
            <a:cxnSpLocks/>
            <a:stCxn id="48" idx="2"/>
          </p:cNvCxnSpPr>
          <p:nvPr/>
        </p:nvCxnSpPr>
        <p:spPr>
          <a:xfrm>
            <a:off x="8686321" y="5596260"/>
            <a:ext cx="0" cy="29183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68C7669-FC48-BCF3-D75F-5887FFCC0234}"/>
              </a:ext>
            </a:extLst>
          </p:cNvPr>
          <p:cNvCxnSpPr>
            <a:cxnSpLocks/>
          </p:cNvCxnSpPr>
          <p:nvPr/>
        </p:nvCxnSpPr>
        <p:spPr>
          <a:xfrm>
            <a:off x="9409335" y="5596260"/>
            <a:ext cx="1056168" cy="29183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Picture 2" descr="Apache Kafka">
            <a:extLst>
              <a:ext uri="{FF2B5EF4-FFF2-40B4-BE49-F238E27FC236}">
                <a16:creationId xmlns:a16="http://schemas.microsoft.com/office/drawing/2014/main" id="{01F833C1-9727-11F0-FF8E-DA51679892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0479" y="4934744"/>
            <a:ext cx="1291684" cy="588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E9B7E16-569B-94CF-949F-74361E3025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0"/>
                    </a14:imgEffect>
                  </a14:imgLayer>
                </a14:imgProps>
              </a:ext>
            </a:extLst>
          </a:blip>
          <a:srcRect l="10804" t="25801" r="7927" b="22078"/>
          <a:stretch>
            <a:fillRect/>
          </a:stretch>
        </p:blipFill>
        <p:spPr>
          <a:xfrm>
            <a:off x="9554024" y="4948403"/>
            <a:ext cx="1158174" cy="561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392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1CE72-DBBD-C903-90BC-0314CA3ED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D56FADC-9936-C1F8-3ED5-E5DCF1393664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2766022" y="2198390"/>
            <a:ext cx="2" cy="49168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07CF244-EF83-5FAB-859C-6198A6FF4B80}"/>
              </a:ext>
            </a:extLst>
          </p:cNvPr>
          <p:cNvCxnSpPr>
            <a:cxnSpLocks/>
          </p:cNvCxnSpPr>
          <p:nvPr/>
        </p:nvCxnSpPr>
        <p:spPr>
          <a:xfrm>
            <a:off x="2780497" y="3080049"/>
            <a:ext cx="2" cy="49168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1B1FECB-AF96-1197-E63F-17AAAFBB0FBA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and Event-Driven Systems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BE434A-B6E9-2CB1-1D83-796CE42A5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27774"/>
            <a:ext cx="11877675" cy="5810766"/>
          </a:xfrm>
        </p:spPr>
        <p:txBody>
          <a:bodyPr/>
          <a:lstStyle/>
          <a:p>
            <a:r>
              <a:rPr lang="hu-HU" dirty="0"/>
              <a:t>Event-Driven System / Architecture:</a:t>
            </a:r>
          </a:p>
          <a:p>
            <a:pPr lvl="1"/>
            <a:r>
              <a:rPr lang="hu-HU" dirty="0"/>
              <a:t>A</a:t>
            </a:r>
            <a:r>
              <a:rPr lang="en-US" dirty="0" err="1"/>
              <a:t>rchitectural</a:t>
            </a:r>
            <a:r>
              <a:rPr lang="en-US" dirty="0"/>
              <a:t> concept where system components </a:t>
            </a:r>
            <a:r>
              <a:rPr lang="en-US" b="1" dirty="0"/>
              <a:t>communicate by producing and responding to events</a:t>
            </a:r>
            <a:r>
              <a:rPr lang="hu-HU" b="1" dirty="0"/>
              <a:t>.</a:t>
            </a:r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r>
              <a:rPr lang="en-US" dirty="0"/>
              <a:t>Key </a:t>
            </a:r>
            <a:r>
              <a:rPr lang="hu-HU" dirty="0"/>
              <a:t>c</a:t>
            </a:r>
            <a:r>
              <a:rPr lang="en-US" dirty="0" err="1"/>
              <a:t>haracteristics</a:t>
            </a:r>
            <a:r>
              <a:rPr lang="hu-HU" dirty="0"/>
              <a:t>:</a:t>
            </a:r>
            <a:endParaRPr lang="en-US" dirty="0"/>
          </a:p>
          <a:p>
            <a:pPr lvl="1"/>
            <a:r>
              <a:rPr lang="en-US" i="1" dirty="0"/>
              <a:t>Loose Coupling</a:t>
            </a:r>
            <a:r>
              <a:rPr lang="en-US" dirty="0"/>
              <a:t>: Producers don’t need to know about consumers.</a:t>
            </a:r>
          </a:p>
          <a:p>
            <a:pPr lvl="1"/>
            <a:r>
              <a:rPr lang="hu-HU" i="1" dirty="0"/>
              <a:t>A</a:t>
            </a:r>
            <a:r>
              <a:rPr lang="en-US" i="1" dirty="0"/>
              <a:t>synchronous Communication</a:t>
            </a:r>
            <a:r>
              <a:rPr lang="en-US" dirty="0"/>
              <a:t>: Events are sent and received independently.</a:t>
            </a:r>
          </a:p>
          <a:p>
            <a:pPr lvl="1"/>
            <a:r>
              <a:rPr lang="en-US" i="1" dirty="0"/>
              <a:t>Scalability</a:t>
            </a:r>
            <a:r>
              <a:rPr lang="en-US" dirty="0"/>
              <a:t>: Services can scale independently with increased event load.</a:t>
            </a:r>
          </a:p>
          <a:p>
            <a:pPr lvl="1"/>
            <a:r>
              <a:rPr lang="en-US" i="1" dirty="0"/>
              <a:t>Real-Time Responsiveness</a:t>
            </a:r>
            <a:r>
              <a:rPr lang="en-US" dirty="0"/>
              <a:t>: Enables systems to react instantly to change.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6A3307-3D1C-3FD9-1F3F-8D3578286088}"/>
              </a:ext>
            </a:extLst>
          </p:cNvPr>
          <p:cNvSpPr txBox="1"/>
          <p:nvPr/>
        </p:nvSpPr>
        <p:spPr>
          <a:xfrm>
            <a:off x="2034398" y="2690076"/>
            <a:ext cx="1463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/>
              <a:t>Event Broker</a:t>
            </a:r>
            <a:endParaRPr lang="en-US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3B441A-ACF2-308A-06CD-F578E7C08CFB}"/>
              </a:ext>
            </a:extLst>
          </p:cNvPr>
          <p:cNvSpPr txBox="1"/>
          <p:nvPr/>
        </p:nvSpPr>
        <p:spPr>
          <a:xfrm>
            <a:off x="1997862" y="1750144"/>
            <a:ext cx="1683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/>
              <a:t>Event Producer</a:t>
            </a:r>
            <a:endParaRPr lang="en-US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F5B47C-1E46-7A3F-5EC2-DED08B2BF02C}"/>
              </a:ext>
            </a:extLst>
          </p:cNvPr>
          <p:cNvSpPr txBox="1"/>
          <p:nvPr/>
        </p:nvSpPr>
        <p:spPr>
          <a:xfrm>
            <a:off x="1939391" y="3572622"/>
            <a:ext cx="1800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/>
              <a:t>Event Consumer</a:t>
            </a:r>
            <a:endParaRPr lang="en-US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17A5709-A710-37D4-699D-7070D797950F}"/>
              </a:ext>
            </a:extLst>
          </p:cNvPr>
          <p:cNvSpPr txBox="1"/>
          <p:nvPr/>
        </p:nvSpPr>
        <p:spPr>
          <a:xfrm>
            <a:off x="2338282" y="2253448"/>
            <a:ext cx="8677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dirty="0"/>
              <a:t>{ event }</a:t>
            </a:r>
            <a:endParaRPr lang="en-US" sz="16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5C1373-4DD5-4936-CE38-09BF26A2825D}"/>
              </a:ext>
            </a:extLst>
          </p:cNvPr>
          <p:cNvSpPr txBox="1"/>
          <p:nvPr/>
        </p:nvSpPr>
        <p:spPr>
          <a:xfrm>
            <a:off x="2332171" y="3157482"/>
            <a:ext cx="8677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dirty="0"/>
              <a:t>{ event }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47547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4" grpId="0"/>
      <p:bldP spid="35" grpId="0"/>
      <p:bldP spid="36" grpId="0"/>
      <p:bldP spid="3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6DEC9-9679-E39B-2B16-E39C3484B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F7E38D7-547E-6BA0-9934-C62BC2C7145A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2764001" y="2197458"/>
            <a:ext cx="2" cy="49168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07EE09F-4D3F-FD0C-921A-1184D86DD281}"/>
              </a:ext>
            </a:extLst>
          </p:cNvPr>
          <p:cNvCxnSpPr>
            <a:cxnSpLocks/>
          </p:cNvCxnSpPr>
          <p:nvPr/>
        </p:nvCxnSpPr>
        <p:spPr>
          <a:xfrm>
            <a:off x="2778476" y="3079117"/>
            <a:ext cx="2" cy="49168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4D65F56-8062-B08D-F23C-D675267B9E1E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What is an Event-Driven System?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4A0F8F-0273-6637-3332-708EE2BD5B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27774"/>
            <a:ext cx="11877675" cy="5810766"/>
          </a:xfrm>
        </p:spPr>
        <p:txBody>
          <a:bodyPr/>
          <a:lstStyle/>
          <a:p>
            <a:r>
              <a:rPr lang="hu-HU" dirty="0"/>
              <a:t>Event-Driven System / Architecture:</a:t>
            </a:r>
          </a:p>
          <a:p>
            <a:pPr lvl="1"/>
            <a:r>
              <a:rPr lang="hu-HU" dirty="0"/>
              <a:t>A</a:t>
            </a:r>
            <a:r>
              <a:rPr lang="en-US" dirty="0" err="1"/>
              <a:t>rchitectural</a:t>
            </a:r>
            <a:r>
              <a:rPr lang="en-US" dirty="0"/>
              <a:t> concept where system components </a:t>
            </a:r>
            <a:r>
              <a:rPr lang="en-US" b="1" dirty="0"/>
              <a:t>communicate by producing and responding to events</a:t>
            </a:r>
            <a:r>
              <a:rPr lang="hu-HU" b="1" dirty="0"/>
              <a:t>.</a:t>
            </a:r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endParaRPr lang="hu-HU" sz="1100" dirty="0"/>
          </a:p>
          <a:p>
            <a:r>
              <a:rPr lang="hu-HU" dirty="0"/>
              <a:t> </a:t>
            </a:r>
            <a:r>
              <a:rPr lang="en-US" dirty="0"/>
              <a:t>Common </a:t>
            </a:r>
            <a:r>
              <a:rPr lang="hu-HU" dirty="0"/>
              <a:t>u</a:t>
            </a:r>
            <a:r>
              <a:rPr lang="en-US" dirty="0"/>
              <a:t>se</a:t>
            </a:r>
            <a:r>
              <a:rPr lang="hu-HU" dirty="0"/>
              <a:t>-c</a:t>
            </a:r>
            <a:r>
              <a:rPr lang="en-US" dirty="0" err="1"/>
              <a:t>ases</a:t>
            </a:r>
            <a:r>
              <a:rPr lang="hu-HU" dirty="0"/>
              <a:t>:</a:t>
            </a:r>
            <a:endParaRPr lang="en-US" dirty="0"/>
          </a:p>
          <a:p>
            <a:pPr lvl="1"/>
            <a:r>
              <a:rPr lang="en-US" dirty="0"/>
              <a:t>Microservices communication</a:t>
            </a:r>
          </a:p>
          <a:p>
            <a:pPr lvl="1"/>
            <a:r>
              <a:rPr lang="en-US" dirty="0"/>
              <a:t>User activity tracking</a:t>
            </a:r>
          </a:p>
          <a:p>
            <a:pPr lvl="1"/>
            <a:r>
              <a:rPr lang="en-US" dirty="0"/>
              <a:t>Financial transactions</a:t>
            </a:r>
          </a:p>
          <a:p>
            <a:pPr lvl="1"/>
            <a:r>
              <a:rPr lang="en-US" dirty="0"/>
              <a:t>IoT sensor updates</a:t>
            </a:r>
            <a:endParaRPr lang="hu-HU" dirty="0"/>
          </a:p>
          <a:p>
            <a:pPr>
              <a:lnSpc>
                <a:spcPct val="120000"/>
              </a:lnSpc>
            </a:pPr>
            <a:r>
              <a:rPr lang="en-US" dirty="0"/>
              <a:t>Event Streaming </a:t>
            </a:r>
            <a:r>
              <a:rPr lang="en-US" b="1" dirty="0"/>
              <a:t>feeds</a:t>
            </a:r>
            <a:r>
              <a:rPr lang="en-US" dirty="0"/>
              <a:t> </a:t>
            </a:r>
            <a:r>
              <a:rPr lang="hu-HU" dirty="0"/>
              <a:t>EDS by </a:t>
            </a:r>
            <a:br>
              <a:rPr lang="hu-HU" dirty="0"/>
            </a:br>
            <a:r>
              <a:rPr lang="hu-HU" dirty="0"/>
              <a:t>delivering events reliably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F6355-E297-A338-B8AA-EA304F4DD6E7}"/>
              </a:ext>
            </a:extLst>
          </p:cNvPr>
          <p:cNvSpPr/>
          <p:nvPr/>
        </p:nvSpPr>
        <p:spPr>
          <a:xfrm>
            <a:off x="4310096" y="1679244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Website Events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4B3484-D6A7-0DAB-B29E-8E85912DD4F7}"/>
              </a:ext>
            </a:extLst>
          </p:cNvPr>
          <p:cNvSpPr/>
          <p:nvPr/>
        </p:nvSpPr>
        <p:spPr>
          <a:xfrm>
            <a:off x="6089278" y="1679243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Pricing Data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878F41-E099-F60D-0082-2AA1880951B4}"/>
              </a:ext>
            </a:extLst>
          </p:cNvPr>
          <p:cNvSpPr/>
          <p:nvPr/>
        </p:nvSpPr>
        <p:spPr>
          <a:xfrm>
            <a:off x="7868460" y="1679242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Sensor Data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35E6D1-959F-D22D-0AAB-59B2A69D14DC}"/>
              </a:ext>
            </a:extLst>
          </p:cNvPr>
          <p:cNvSpPr txBox="1"/>
          <p:nvPr/>
        </p:nvSpPr>
        <p:spPr>
          <a:xfrm>
            <a:off x="9522558" y="1685615"/>
            <a:ext cx="48506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hu-HU" dirty="0"/>
              <a:t>. . 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0285AC-A9C6-D178-5A09-D600F8FD8707}"/>
              </a:ext>
            </a:extLst>
          </p:cNvPr>
          <p:cNvSpPr/>
          <p:nvPr/>
        </p:nvSpPr>
        <p:spPr>
          <a:xfrm>
            <a:off x="4310096" y="3481985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Database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EF85BE-14A7-737D-2AFD-445DA790119A}"/>
              </a:ext>
            </a:extLst>
          </p:cNvPr>
          <p:cNvSpPr/>
          <p:nvPr/>
        </p:nvSpPr>
        <p:spPr>
          <a:xfrm>
            <a:off x="6089278" y="3481984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Analytics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3F0CF5-4E41-7F4B-6AB0-B9363414E6AB}"/>
              </a:ext>
            </a:extLst>
          </p:cNvPr>
          <p:cNvSpPr/>
          <p:nvPr/>
        </p:nvSpPr>
        <p:spPr>
          <a:xfrm>
            <a:off x="7868460" y="3481983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Audit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29E2D5-7D57-A501-93B1-9B5B520E02C3}"/>
              </a:ext>
            </a:extLst>
          </p:cNvPr>
          <p:cNvSpPr txBox="1"/>
          <p:nvPr/>
        </p:nvSpPr>
        <p:spPr>
          <a:xfrm>
            <a:off x="9522558" y="3488356"/>
            <a:ext cx="48506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hu-HU" dirty="0"/>
              <a:t>. . .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1B71261-2E3A-3FF7-439D-492F1E887A4C}"/>
              </a:ext>
            </a:extLst>
          </p:cNvPr>
          <p:cNvSpPr/>
          <p:nvPr/>
        </p:nvSpPr>
        <p:spPr>
          <a:xfrm>
            <a:off x="4564552" y="2463181"/>
            <a:ext cx="4495479" cy="734237"/>
          </a:xfrm>
          <a:prstGeom prst="roundRect">
            <a:avLst/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AE3682B-E67C-2E4F-2C19-A90A2E86EC9F}"/>
              </a:ext>
            </a:extLst>
          </p:cNvPr>
          <p:cNvCxnSpPr>
            <a:cxnSpLocks/>
          </p:cNvCxnSpPr>
          <p:nvPr/>
        </p:nvCxnSpPr>
        <p:spPr>
          <a:xfrm>
            <a:off x="5033110" y="2159660"/>
            <a:ext cx="1056168" cy="30352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8E1A6AB-31F3-1952-339F-28AAEAA295C5}"/>
              </a:ext>
            </a:extLst>
          </p:cNvPr>
          <p:cNvCxnSpPr>
            <a:cxnSpLocks/>
          </p:cNvCxnSpPr>
          <p:nvPr/>
        </p:nvCxnSpPr>
        <p:spPr>
          <a:xfrm>
            <a:off x="6812292" y="2159659"/>
            <a:ext cx="0" cy="30352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69BA97F-643C-6751-C988-730387D07AD7}"/>
              </a:ext>
            </a:extLst>
          </p:cNvPr>
          <p:cNvCxnSpPr>
            <a:cxnSpLocks/>
          </p:cNvCxnSpPr>
          <p:nvPr/>
        </p:nvCxnSpPr>
        <p:spPr>
          <a:xfrm flipH="1">
            <a:off x="7535306" y="2159660"/>
            <a:ext cx="1038532" cy="30352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95E0CBE-AF29-C62E-9660-BADEA5B251DD}"/>
              </a:ext>
            </a:extLst>
          </p:cNvPr>
          <p:cNvCxnSpPr>
            <a:cxnSpLocks/>
          </p:cNvCxnSpPr>
          <p:nvPr/>
        </p:nvCxnSpPr>
        <p:spPr>
          <a:xfrm flipH="1">
            <a:off x="5033110" y="3197418"/>
            <a:ext cx="1056168" cy="29183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4B55A3B-B189-7816-0EC5-BD2060F8598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6812292" y="3197418"/>
            <a:ext cx="0" cy="29183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D093D9-C644-44A2-0A25-9AE90A3A565D}"/>
              </a:ext>
            </a:extLst>
          </p:cNvPr>
          <p:cNvCxnSpPr>
            <a:cxnSpLocks/>
          </p:cNvCxnSpPr>
          <p:nvPr/>
        </p:nvCxnSpPr>
        <p:spPr>
          <a:xfrm>
            <a:off x="7535306" y="3197418"/>
            <a:ext cx="1056168" cy="29183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Apache Kafka">
            <a:extLst>
              <a:ext uri="{FF2B5EF4-FFF2-40B4-BE49-F238E27FC236}">
                <a16:creationId xmlns:a16="http://schemas.microsoft.com/office/drawing/2014/main" id="{8D06031A-6443-D75A-76E8-4BAFD4CF3F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6450" y="2535902"/>
            <a:ext cx="1291684" cy="588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0A3938C-5559-8DBF-9E75-A282135714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0"/>
                    </a14:imgEffect>
                  </a14:imgLayer>
                </a14:imgProps>
              </a:ext>
            </a:extLst>
          </a:blip>
          <a:srcRect l="10804" t="25801" r="7927" b="22078"/>
          <a:stretch>
            <a:fillRect/>
          </a:stretch>
        </p:blipFill>
        <p:spPr>
          <a:xfrm>
            <a:off x="7679995" y="2549561"/>
            <a:ext cx="1158174" cy="56147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3DCCF89-7E3B-70D4-E595-33C585C66799}"/>
              </a:ext>
            </a:extLst>
          </p:cNvPr>
          <p:cNvSpPr txBox="1"/>
          <p:nvPr/>
        </p:nvSpPr>
        <p:spPr>
          <a:xfrm>
            <a:off x="4621147" y="2123314"/>
            <a:ext cx="8677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dirty="0"/>
              <a:t>{ event }</a:t>
            </a:r>
            <a:endParaRPr lang="en-US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AACBD1-E206-873C-87BE-083BC185AB91}"/>
              </a:ext>
            </a:extLst>
          </p:cNvPr>
          <p:cNvSpPr txBox="1"/>
          <p:nvPr/>
        </p:nvSpPr>
        <p:spPr>
          <a:xfrm>
            <a:off x="6786521" y="3157678"/>
            <a:ext cx="8677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dirty="0"/>
              <a:t>{ event }</a:t>
            </a:r>
            <a:endParaRPr lang="en-US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6A59C27-AF4A-D0EB-5804-E269734B030C}"/>
              </a:ext>
            </a:extLst>
          </p:cNvPr>
          <p:cNvSpPr txBox="1"/>
          <p:nvPr/>
        </p:nvSpPr>
        <p:spPr>
          <a:xfrm>
            <a:off x="2032377" y="2689144"/>
            <a:ext cx="1463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/>
              <a:t>Event Broker</a:t>
            </a:r>
            <a:endParaRPr lang="en-US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0C9DB49-260B-32D2-0E1F-55F01195C502}"/>
              </a:ext>
            </a:extLst>
          </p:cNvPr>
          <p:cNvSpPr txBox="1"/>
          <p:nvPr/>
        </p:nvSpPr>
        <p:spPr>
          <a:xfrm>
            <a:off x="1995841" y="1749212"/>
            <a:ext cx="1683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/>
              <a:t>Event Producer</a:t>
            </a:r>
            <a:endParaRPr lang="en-US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FC0EC76-ABC9-C4E0-0CAA-CB9050E0A558}"/>
              </a:ext>
            </a:extLst>
          </p:cNvPr>
          <p:cNvSpPr txBox="1"/>
          <p:nvPr/>
        </p:nvSpPr>
        <p:spPr>
          <a:xfrm>
            <a:off x="1937370" y="3571690"/>
            <a:ext cx="1800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/>
              <a:t>Event Consumer</a:t>
            </a:r>
            <a:endParaRPr lang="en-US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ECD0BC-7CE5-782D-2431-A5A453893C8F}"/>
              </a:ext>
            </a:extLst>
          </p:cNvPr>
          <p:cNvSpPr txBox="1"/>
          <p:nvPr/>
        </p:nvSpPr>
        <p:spPr>
          <a:xfrm>
            <a:off x="2336261" y="2252516"/>
            <a:ext cx="8677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dirty="0"/>
              <a:t>{ event }</a:t>
            </a:r>
            <a:endParaRPr lang="en-US" sz="16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0124D23-6578-CD17-FF89-1DE7EEA08378}"/>
              </a:ext>
            </a:extLst>
          </p:cNvPr>
          <p:cNvSpPr txBox="1"/>
          <p:nvPr/>
        </p:nvSpPr>
        <p:spPr>
          <a:xfrm>
            <a:off x="2330150" y="3156550"/>
            <a:ext cx="8677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dirty="0"/>
              <a:t>{ event }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99446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/>
      <p:bldP spid="8" grpId="0" animBg="1"/>
      <p:bldP spid="9" grpId="0" animBg="1"/>
      <p:bldP spid="10" grpId="0" animBg="1"/>
      <p:bldP spid="11" grpId="0"/>
      <p:bldP spid="12" grpId="0" animBg="1"/>
      <p:bldP spid="27" grpId="0"/>
      <p:bldP spid="2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EBF13-1918-E4E7-8F67-7BAF56660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334447-4784-0862-2D82-821F899F81A7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Side Note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92C894-C078-0970-9563-C627EFC605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27774"/>
            <a:ext cx="11877675" cy="5810766"/>
          </a:xfrm>
        </p:spPr>
        <p:txBody>
          <a:bodyPr/>
          <a:lstStyle/>
          <a:p>
            <a:r>
              <a:rPr lang="en-US" dirty="0"/>
              <a:t>Difference in Focus</a:t>
            </a:r>
            <a:r>
              <a:rPr lang="hu-HU" dirty="0"/>
              <a:t>:</a:t>
            </a:r>
            <a:endParaRPr lang="en-US" dirty="0"/>
          </a:p>
          <a:p>
            <a:pPr lvl="1">
              <a:lnSpc>
                <a:spcPct val="110000"/>
              </a:lnSpc>
              <a:spcBef>
                <a:spcPts val="300"/>
              </a:spcBef>
              <a:spcAft>
                <a:spcPts val="600"/>
              </a:spcAft>
            </a:pPr>
            <a:r>
              <a:rPr lang="en-US" b="1" dirty="0"/>
              <a:t>Event-Driven </a:t>
            </a:r>
            <a:r>
              <a:rPr lang="hu-HU" b="1" dirty="0"/>
              <a:t>Systems</a:t>
            </a:r>
            <a:r>
              <a:rPr lang="en-US" dirty="0"/>
              <a:t> focuses on </a:t>
            </a:r>
            <a:r>
              <a:rPr lang="en-US" i="1" dirty="0"/>
              <a:t>reacting to events</a:t>
            </a:r>
            <a:br>
              <a:rPr lang="hu-HU" i="1" dirty="0"/>
            </a:br>
            <a:r>
              <a:rPr lang="en-US" dirty="0"/>
              <a:t>—it's about </a:t>
            </a:r>
            <a:r>
              <a:rPr lang="en-US" b="1" dirty="0"/>
              <a:t>event-triggered behavior and loosely coupled service interactions</a:t>
            </a:r>
            <a:r>
              <a:rPr lang="en-US" dirty="0"/>
              <a:t>.</a:t>
            </a:r>
          </a:p>
          <a:p>
            <a:pPr lvl="1">
              <a:lnSpc>
                <a:spcPct val="110000"/>
              </a:lnSpc>
              <a:spcBef>
                <a:spcPts val="300"/>
              </a:spcBef>
              <a:spcAft>
                <a:spcPts val="600"/>
              </a:spcAft>
            </a:pPr>
            <a:r>
              <a:rPr lang="en-US" b="1" dirty="0"/>
              <a:t>Event Streaming</a:t>
            </a:r>
            <a:r>
              <a:rPr lang="en-US" dirty="0"/>
              <a:t> focuses on </a:t>
            </a:r>
            <a:r>
              <a:rPr lang="en-US" i="1" dirty="0"/>
              <a:t>capturing and processing a continuous flow of events</a:t>
            </a:r>
            <a:br>
              <a:rPr lang="hu-HU" i="1" dirty="0"/>
            </a:br>
            <a:r>
              <a:rPr lang="en-US" dirty="0"/>
              <a:t>—it's about </a:t>
            </a:r>
            <a:r>
              <a:rPr lang="en-US" b="1" dirty="0"/>
              <a:t>real-time data movement and processing over time</a:t>
            </a:r>
            <a:r>
              <a:rPr lang="en-US" dirty="0"/>
              <a:t>.</a:t>
            </a:r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pPr>
              <a:spcBef>
                <a:spcPts val="1200"/>
              </a:spcBef>
            </a:pPr>
            <a:endParaRPr lang="hu-HU" b="1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E885B2A2-793C-08E1-B1C7-A70CAB77730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AEF"/>
              </a:clrFrom>
              <a:clrTo>
                <a:srgbClr val="FEFAEF">
                  <a:alpha val="0"/>
                </a:srgbClr>
              </a:clrTo>
            </a:clrChange>
          </a:blip>
          <a:srcRect l="12073" t="15461" r="12391" b="13728"/>
          <a:stretch>
            <a:fillRect/>
          </a:stretch>
        </p:blipFill>
        <p:spPr>
          <a:xfrm>
            <a:off x="9020876" y="827774"/>
            <a:ext cx="3009200" cy="1880668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B2FADCB4-F74B-69E2-C0E8-685BFB1D0A9D}"/>
              </a:ext>
            </a:extLst>
          </p:cNvPr>
          <p:cNvSpPr/>
          <p:nvPr/>
        </p:nvSpPr>
        <p:spPr>
          <a:xfrm>
            <a:off x="2790701" y="3135086"/>
            <a:ext cx="3728852" cy="3503454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139DDDA-C070-196F-C387-9108749752CB}"/>
              </a:ext>
            </a:extLst>
          </p:cNvPr>
          <p:cNvSpPr/>
          <p:nvPr/>
        </p:nvSpPr>
        <p:spPr>
          <a:xfrm>
            <a:off x="5104410" y="3135086"/>
            <a:ext cx="3728852" cy="3503454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6B1D17-9772-D7C6-C035-C2B27B5B5A9F}"/>
              </a:ext>
            </a:extLst>
          </p:cNvPr>
          <p:cNvSpPr txBox="1"/>
          <p:nvPr/>
        </p:nvSpPr>
        <p:spPr>
          <a:xfrm>
            <a:off x="3730438" y="2488755"/>
            <a:ext cx="18040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/>
              <a:t>EDA but not Event Streaming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A39327-608C-4789-216C-0CFDCE893D31}"/>
              </a:ext>
            </a:extLst>
          </p:cNvPr>
          <p:cNvSpPr txBox="1"/>
          <p:nvPr/>
        </p:nvSpPr>
        <p:spPr>
          <a:xfrm>
            <a:off x="6107875" y="2488755"/>
            <a:ext cx="1721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/>
              <a:t>Event Steaming but not EDA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994076-2AD2-C993-73FA-A5101F932274}"/>
              </a:ext>
            </a:extLst>
          </p:cNvPr>
          <p:cNvSpPr txBox="1"/>
          <p:nvPr/>
        </p:nvSpPr>
        <p:spPr>
          <a:xfrm>
            <a:off x="3094512" y="4368413"/>
            <a:ext cx="305888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 package delivery </a:t>
            </a:r>
            <a:endParaRPr lang="hu-HU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service emits “Parcel </a:t>
            </a:r>
            <a:endParaRPr lang="hu-HU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Shipped” events via </a:t>
            </a:r>
            <a:endParaRPr lang="hu-HU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 message queue, </a:t>
            </a:r>
            <a:endParaRPr lang="hu-HU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triggering customer </a:t>
            </a:r>
            <a:endParaRPr lang="hu-HU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notifications — no </a:t>
            </a:r>
            <a:endParaRPr lang="hu-HU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  </a:t>
            </a:r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streaming or historical </a:t>
            </a: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 </a:t>
            </a:r>
          </a:p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       </a:t>
            </a:r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playback is needed.</a:t>
            </a:r>
          </a:p>
        </p:txBody>
      </p:sp>
      <p:pic>
        <p:nvPicPr>
          <p:cNvPr id="1026" name="Picture 2" descr="Wind Turbine Icon Black Icon Isolated">
            <a:extLst>
              <a:ext uri="{FF2B5EF4-FFF2-40B4-BE49-F238E27FC236}">
                <a16:creationId xmlns:a16="http://schemas.microsoft.com/office/drawing/2014/main" id="{BDADFDF2-2157-4ACF-B3FC-5804C31C701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94" t="8256" r="6428" b="12976"/>
          <a:stretch>
            <a:fillRect/>
          </a:stretch>
        </p:blipFill>
        <p:spPr bwMode="auto">
          <a:xfrm>
            <a:off x="6810997" y="3273334"/>
            <a:ext cx="931715" cy="1016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roduct delivered, parcel delivery, package shipping concept ...">
            <a:extLst>
              <a:ext uri="{FF2B5EF4-FFF2-40B4-BE49-F238E27FC236}">
                <a16:creationId xmlns:a16="http://schemas.microsoft.com/office/drawing/2014/main" id="{C992B9F0-8CB6-2312-90A5-89BCD55A3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2417" y="3214000"/>
            <a:ext cx="1267351" cy="1194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8B1D17C-67AE-89A3-CB5B-C0DA7612572D}"/>
              </a:ext>
            </a:extLst>
          </p:cNvPr>
          <p:cNvSpPr txBox="1"/>
          <p:nvPr/>
        </p:nvSpPr>
        <p:spPr>
          <a:xfrm>
            <a:off x="6519553" y="4368413"/>
            <a:ext cx="246303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 </a:t>
            </a:r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 telemetry pipeline </a:t>
            </a: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</a:t>
            </a:r>
          </a:p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  </a:t>
            </a:r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continuously streams </a:t>
            </a: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 </a:t>
            </a:r>
          </a:p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   </a:t>
            </a:r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sensor data from wind </a:t>
            </a: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</a:t>
            </a:r>
          </a:p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   </a:t>
            </a:r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turbines into a data </a:t>
            </a:r>
            <a:endParaRPr lang="hu-HU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 </a:t>
            </a:r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lake via Kafka for </a:t>
            </a: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</a:p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</a:t>
            </a:r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analytics—no services </a:t>
            </a: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</a:p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react to events </a:t>
            </a:r>
            <a:endParaRPr lang="hu-HU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 real time.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C24F9B3-D4AC-7BAB-BCA6-8181AE2266F4}"/>
              </a:ext>
            </a:extLst>
          </p:cNvPr>
          <p:cNvGrpSpPr/>
          <p:nvPr/>
        </p:nvGrpSpPr>
        <p:grpSpPr>
          <a:xfrm>
            <a:off x="5115732" y="3994439"/>
            <a:ext cx="1403821" cy="1687874"/>
            <a:chOff x="5115732" y="3994439"/>
            <a:chExt cx="1403821" cy="1687874"/>
          </a:xfrm>
        </p:grpSpPr>
        <p:pic>
          <p:nvPicPr>
            <p:cNvPr id="1034" name="Picture 10" descr="generate a similar icon to the uploaded image">
              <a:extLst>
                <a:ext uri="{FF2B5EF4-FFF2-40B4-BE49-F238E27FC236}">
                  <a16:creationId xmlns:a16="http://schemas.microsoft.com/office/drawing/2014/main" id="{3BF0AF9C-58FE-AAEA-9C8C-F468E5CA3C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786" t="10919" r="11443" b="17749"/>
            <a:stretch>
              <a:fillRect/>
            </a:stretch>
          </p:blipFill>
          <p:spPr bwMode="auto">
            <a:xfrm>
              <a:off x="5397673" y="3994439"/>
              <a:ext cx="868475" cy="8285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E6E5DA6-536F-7EDC-3110-6D958F64D8AE}"/>
                </a:ext>
              </a:extLst>
            </p:cNvPr>
            <p:cNvSpPr txBox="1"/>
            <p:nvPr/>
          </p:nvSpPr>
          <p:spPr>
            <a:xfrm>
              <a:off x="5115732" y="4943649"/>
              <a:ext cx="1403821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Smart traffic </a:t>
              </a:r>
            </a:p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management </a:t>
              </a:r>
            </a:p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system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5BF6B55-CB0A-4C8F-1116-B769E7023CC2}"/>
              </a:ext>
            </a:extLst>
          </p:cNvPr>
          <p:cNvGrpSpPr/>
          <p:nvPr/>
        </p:nvGrpSpPr>
        <p:grpSpPr>
          <a:xfrm>
            <a:off x="5201826" y="4289499"/>
            <a:ext cx="1249278" cy="1218018"/>
            <a:chOff x="5201826" y="4289499"/>
            <a:chExt cx="1249278" cy="1218018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45FAF88-3CCF-F620-A669-D400D7724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9FBF9"/>
                </a:clrFrom>
                <a:clrTo>
                  <a:srgbClr val="F9FBF9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colorTemperature colorTemp="5900"/>
                      </a14:imgEffect>
                    </a14:imgLayer>
                  </a14:imgProps>
                </a:ext>
              </a:extLst>
            </a:blip>
            <a:srcRect l="10804" t="25801" r="7927" b="22078"/>
            <a:stretch>
              <a:fillRect/>
            </a:stretch>
          </p:blipFill>
          <p:spPr>
            <a:xfrm>
              <a:off x="5201826" y="4901874"/>
              <a:ext cx="1249278" cy="605643"/>
            </a:xfrm>
            <a:prstGeom prst="rect">
              <a:avLst/>
            </a:prstGeom>
          </p:spPr>
        </p:pic>
        <p:pic>
          <p:nvPicPr>
            <p:cNvPr id="15" name="Picture 2" descr="Apache Kafka">
              <a:extLst>
                <a:ext uri="{FF2B5EF4-FFF2-40B4-BE49-F238E27FC236}">
                  <a16:creationId xmlns:a16="http://schemas.microsoft.com/office/drawing/2014/main" id="{83E0EEF7-4A9F-34A4-07D6-C9A9208FAF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8225" y="4289499"/>
              <a:ext cx="1142005" cy="5205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75741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/>
      <p:bldP spid="7" grpId="0"/>
      <p:bldP spid="9" grpId="0"/>
      <p:bldP spid="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A793B-A6D5-05E6-C0F7-EC791F679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52B8CD-05EB-2F90-2266-255EF0D56369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Overview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8AC7542-95F7-6BFE-5956-78FEF06E47DF}"/>
              </a:ext>
            </a:extLst>
          </p:cNvPr>
          <p:cNvSpPr/>
          <p:nvPr/>
        </p:nvSpPr>
        <p:spPr>
          <a:xfrm>
            <a:off x="9059323" y="918648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7BB6733-96F1-0D44-00EB-065C7A984550}"/>
              </a:ext>
            </a:extLst>
          </p:cNvPr>
          <p:cNvSpPr/>
          <p:nvPr/>
        </p:nvSpPr>
        <p:spPr>
          <a:xfrm>
            <a:off x="9059323" y="3774191"/>
            <a:ext cx="1446028" cy="47314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5B7E0BA-997C-F2A4-BB54-02052AF3C7AA}"/>
              </a:ext>
            </a:extLst>
          </p:cNvPr>
          <p:cNvSpPr/>
          <p:nvPr/>
        </p:nvSpPr>
        <p:spPr>
          <a:xfrm>
            <a:off x="7534597" y="1709854"/>
            <a:ext cx="4495479" cy="1779772"/>
          </a:xfrm>
          <a:prstGeom prst="roundRect">
            <a:avLst/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dirty="0"/>
              <a:t>                     ...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BB77E77-BF33-BAD9-D545-4AC41A2B0383}"/>
              </a:ext>
            </a:extLst>
          </p:cNvPr>
          <p:cNvCxnSpPr>
            <a:cxnSpLocks/>
          </p:cNvCxnSpPr>
          <p:nvPr/>
        </p:nvCxnSpPr>
        <p:spPr>
          <a:xfrm>
            <a:off x="9782337" y="1399064"/>
            <a:ext cx="0" cy="30352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C0C308B-5CAA-4D54-039E-AB97B5C6279A}"/>
              </a:ext>
            </a:extLst>
          </p:cNvPr>
          <p:cNvCxnSpPr>
            <a:cxnSpLocks/>
          </p:cNvCxnSpPr>
          <p:nvPr/>
        </p:nvCxnSpPr>
        <p:spPr>
          <a:xfrm>
            <a:off x="9782337" y="3489625"/>
            <a:ext cx="0" cy="29183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78A2365D-7BEA-CB28-37E8-93E4C4AA2F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0"/>
            <a:ext cx="11877675" cy="5791123"/>
          </a:xfrm>
        </p:spPr>
        <p:txBody>
          <a:bodyPr/>
          <a:lstStyle/>
          <a:p>
            <a:r>
              <a:rPr lang="hu-HU" sz="1600" b="1" dirty="0">
                <a:solidFill>
                  <a:schemeClr val="accent1">
                    <a:lumMod val="75000"/>
                  </a:schemeClr>
                </a:solidFill>
              </a:rPr>
              <a:t>Topics</a:t>
            </a:r>
            <a:r>
              <a:rPr lang="hu-HU" sz="1600" dirty="0"/>
              <a:t> oragnize </a:t>
            </a:r>
            <a:r>
              <a:rPr lang="hu-HU" sz="1600" b="1" dirty="0"/>
              <a:t>related</a:t>
            </a:r>
            <a:r>
              <a:rPr lang="hu-HU" sz="1600" dirty="0"/>
              <a:t> </a:t>
            </a:r>
            <a:r>
              <a:rPr lang="hu-HU" sz="1600" b="1" dirty="0"/>
              <a:t>events</a:t>
            </a:r>
            <a:r>
              <a:rPr lang="hu-HU" sz="1600" dirty="0"/>
              <a:t>:</a:t>
            </a:r>
          </a:p>
          <a:p>
            <a:pPr lvl="1"/>
            <a:r>
              <a:rPr lang="hu-HU" sz="1400" dirty="0"/>
              <a:t>E.g. logs of a specific application</a:t>
            </a:r>
          </a:p>
          <a:p>
            <a:pPr lvl="1"/>
            <a:r>
              <a:rPr lang="hu-HU" sz="1400" dirty="0"/>
              <a:t>Rougly analogous to </a:t>
            </a:r>
            <a:r>
              <a:rPr lang="hu-HU" sz="1400" b="1" dirty="0"/>
              <a:t>SQL tables</a:t>
            </a:r>
          </a:p>
          <a:p>
            <a:pPr lvl="1"/>
            <a:endParaRPr lang="hu-HU" sz="1400" b="1" dirty="0"/>
          </a:p>
          <a:p>
            <a:r>
              <a:rPr lang="hu-HU" sz="1600" b="1" dirty="0">
                <a:solidFill>
                  <a:schemeClr val="accent1">
                    <a:lumMod val="75000"/>
                  </a:schemeClr>
                </a:solidFill>
              </a:rPr>
              <a:t>Producers</a:t>
            </a:r>
            <a:r>
              <a:rPr lang="hu-HU" sz="1600" dirty="0"/>
              <a:t> are applications that send data into topics:</a:t>
            </a:r>
          </a:p>
          <a:p>
            <a:pPr lvl="1"/>
            <a:r>
              <a:rPr lang="hu-HU" sz="1400" dirty="0"/>
              <a:t>They</a:t>
            </a:r>
            <a:r>
              <a:rPr lang="en-US" sz="1400" dirty="0"/>
              <a:t> are deployed outside Kafka and only interact with</a:t>
            </a:r>
            <a:r>
              <a:rPr lang="hu-HU" sz="1400" dirty="0"/>
              <a:t> it</a:t>
            </a:r>
          </a:p>
          <a:p>
            <a:pPr lvl="1"/>
            <a:r>
              <a:rPr lang="hu-HU" sz="1400" dirty="0"/>
              <a:t>At code level they integrate with Kafka client libraries (Java, Python, Go, etc.)</a:t>
            </a:r>
          </a:p>
          <a:p>
            <a:pPr lvl="1"/>
            <a:endParaRPr lang="hu-HU" sz="1400" dirty="0"/>
          </a:p>
          <a:p>
            <a:r>
              <a:rPr lang="hu-HU" sz="1600" b="1" dirty="0">
                <a:solidFill>
                  <a:schemeClr val="accent1">
                    <a:lumMod val="75000"/>
                  </a:schemeClr>
                </a:solidFill>
              </a:rPr>
              <a:t>Consumers</a:t>
            </a:r>
            <a:r>
              <a:rPr lang="hu-HU" sz="1600" dirty="0"/>
              <a:t> are applications that pull data from topics:</a:t>
            </a:r>
          </a:p>
          <a:p>
            <a:pPr lvl="1"/>
            <a:r>
              <a:rPr lang="hu-HU" sz="1400" dirty="0"/>
              <a:t>They</a:t>
            </a:r>
            <a:r>
              <a:rPr lang="en-US" sz="1400" dirty="0"/>
              <a:t> are deployed outside Kafka and only interact with</a:t>
            </a:r>
            <a:r>
              <a:rPr lang="hu-HU" sz="1400" dirty="0"/>
              <a:t> it</a:t>
            </a:r>
          </a:p>
          <a:p>
            <a:pPr lvl="1"/>
            <a:r>
              <a:rPr lang="hu-HU" sz="1400" dirty="0"/>
              <a:t>At code level they integrate with Kafka client libraries (Java, Python, Go, etc.)</a:t>
            </a:r>
          </a:p>
          <a:p>
            <a:pPr lvl="1"/>
            <a:endParaRPr lang="hu-HU" sz="1400" dirty="0"/>
          </a:p>
          <a:p>
            <a:r>
              <a:rPr lang="hu-HU" sz="1600" b="1" dirty="0"/>
              <a:t>Client-server </a:t>
            </a:r>
            <a:r>
              <a:rPr lang="hu-HU" sz="1600" dirty="0"/>
              <a:t>architecture:</a:t>
            </a:r>
          </a:p>
          <a:p>
            <a:pPr lvl="1"/>
            <a:r>
              <a:rPr lang="hu-HU" sz="1400" dirty="0"/>
              <a:t>Topics are stored on servers, called </a:t>
            </a:r>
            <a:r>
              <a:rPr lang="hu-HU" sz="1400" b="1" dirty="0">
                <a:solidFill>
                  <a:schemeClr val="accent1">
                    <a:lumMod val="75000"/>
                  </a:schemeClr>
                </a:solidFill>
              </a:rPr>
              <a:t>Kafka brokers</a:t>
            </a:r>
          </a:p>
          <a:p>
            <a:pPr lvl="1"/>
            <a:r>
              <a:rPr lang="hu-HU" sz="1400" dirty="0"/>
              <a:t>Producers and consumers are the clients</a:t>
            </a:r>
          </a:p>
          <a:p>
            <a:pPr lvl="1"/>
            <a:endParaRPr lang="hu-HU" sz="1400" dirty="0"/>
          </a:p>
          <a:p>
            <a:r>
              <a:rPr lang="hu-HU" sz="1600" dirty="0"/>
              <a:t>Can scale to 100s of brokers</a:t>
            </a:r>
          </a:p>
          <a:p>
            <a:r>
              <a:rPr lang="hu-HU" sz="1600" dirty="0"/>
              <a:t>Can scale to millions of messages per second</a:t>
            </a:r>
          </a:p>
          <a:p>
            <a:r>
              <a:rPr lang="hu-HU" sz="1600" dirty="0"/>
              <a:t>Latency of less than 10 ms ~ real time</a:t>
            </a:r>
          </a:p>
          <a:p>
            <a:pPr lvl="1"/>
            <a:endParaRPr lang="hu-HU" sz="1400" dirty="0"/>
          </a:p>
          <a:p>
            <a:pPr lvl="1"/>
            <a:endParaRPr lang="en-US" sz="1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592183-FFB4-32BF-FD1B-C5F069D7BBF5}"/>
              </a:ext>
            </a:extLst>
          </p:cNvPr>
          <p:cNvSpPr/>
          <p:nvPr/>
        </p:nvSpPr>
        <p:spPr>
          <a:xfrm>
            <a:off x="8869554" y="1918921"/>
            <a:ext cx="1063256" cy="14270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  <a:endParaRPr lang="en-US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E5226F1-7E62-56A5-36D1-0ED80159ED2B}"/>
              </a:ext>
            </a:extLst>
          </p:cNvPr>
          <p:cNvSpPr/>
          <p:nvPr/>
        </p:nvSpPr>
        <p:spPr>
          <a:xfrm>
            <a:off x="9039980" y="2322050"/>
            <a:ext cx="722404" cy="27092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0EF0259-01F8-C3ED-06B2-5D7D20DF2741}"/>
              </a:ext>
            </a:extLst>
          </p:cNvPr>
          <p:cNvSpPr/>
          <p:nvPr/>
        </p:nvSpPr>
        <p:spPr>
          <a:xfrm>
            <a:off x="9039980" y="2911030"/>
            <a:ext cx="722404" cy="27092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99E063-2988-8753-F31B-D464DEA4203F}"/>
              </a:ext>
            </a:extLst>
          </p:cNvPr>
          <p:cNvSpPr txBox="1"/>
          <p:nvPr/>
        </p:nvSpPr>
        <p:spPr>
          <a:xfrm>
            <a:off x="8869554" y="1915639"/>
            <a:ext cx="1063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/>
              <a:t>broker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8C78EE-1A7E-AB1D-B87F-D063E23D53A7}"/>
              </a:ext>
            </a:extLst>
          </p:cNvPr>
          <p:cNvSpPr/>
          <p:nvPr/>
        </p:nvSpPr>
        <p:spPr>
          <a:xfrm>
            <a:off x="10679801" y="1918921"/>
            <a:ext cx="1063256" cy="14270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  <a:endParaRPr lang="en-US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8B911D2-57FD-B3DA-6A6C-68DD358CB29F}"/>
              </a:ext>
            </a:extLst>
          </p:cNvPr>
          <p:cNvSpPr/>
          <p:nvPr/>
        </p:nvSpPr>
        <p:spPr>
          <a:xfrm>
            <a:off x="10850227" y="2322050"/>
            <a:ext cx="722404" cy="27092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71C8626-A2D3-0B7A-F0F9-DEE59222A737}"/>
              </a:ext>
            </a:extLst>
          </p:cNvPr>
          <p:cNvSpPr/>
          <p:nvPr/>
        </p:nvSpPr>
        <p:spPr>
          <a:xfrm>
            <a:off x="10850227" y="2911030"/>
            <a:ext cx="722404" cy="27092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02E02-982D-CB0A-DBE3-96E10B97DD00}"/>
              </a:ext>
            </a:extLst>
          </p:cNvPr>
          <p:cNvSpPr txBox="1"/>
          <p:nvPr/>
        </p:nvSpPr>
        <p:spPr>
          <a:xfrm>
            <a:off x="10679801" y="1915639"/>
            <a:ext cx="1063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/>
              <a:t>broker</a:t>
            </a:r>
            <a:endParaRPr lang="en-US" dirty="0"/>
          </a:p>
        </p:txBody>
      </p:sp>
      <p:pic>
        <p:nvPicPr>
          <p:cNvPr id="10" name="Picture 2" descr="Apache Kafka">
            <a:extLst>
              <a:ext uri="{FF2B5EF4-FFF2-40B4-BE49-F238E27FC236}">
                <a16:creationId xmlns:a16="http://schemas.microsoft.com/office/drawing/2014/main" id="{4ED9AF21-4F87-3B45-0FE6-3E1C2F78D6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6875" y="2394716"/>
            <a:ext cx="899556" cy="410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81844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7311E-4D66-4767-202E-84EBA0CE5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8304F68-7F04-EB52-9975-7A298A641286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Comparing Kafka to Other Message Brokers?</a:t>
            </a:r>
            <a:endParaRPr lang="en-US" dirty="0"/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916C8555-EE3C-F062-F992-975DB486F4E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42962" y="1147973"/>
          <a:ext cx="10515600" cy="4693920"/>
        </p:xfrm>
        <a:graphic>
          <a:graphicData uri="http://schemas.openxmlformats.org/drawingml/2006/table">
            <a:tbl>
              <a:tblPr firstRow="1" firstCol="1">
                <a:tableStyleId>{5FD0F851-EC5A-4D38-B0AD-8093EC10F338}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4917043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701436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1795346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4860586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424638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dirty="0"/>
                        <a:t>Feature / Broker</a:t>
                      </a:r>
                      <a:endParaRPr lang="en-US" sz="16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Apache Kafka</a:t>
                      </a:r>
                      <a:endParaRPr lang="en-US" sz="16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RabbitMQ</a:t>
                      </a:r>
                      <a:endParaRPr lang="en-US" sz="16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Redis Streams</a:t>
                      </a:r>
                      <a:endParaRPr lang="en-US" sz="16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Cloud-Native Brokers</a:t>
                      </a:r>
                      <a:r>
                        <a:rPr lang="en-US" sz="1600" dirty="0"/>
                        <a:t> (AWS, Azure, GCP)</a:t>
                      </a:r>
                      <a:endParaRPr lang="en-US" sz="16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09926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/>
                        <a:t>Message Retention</a:t>
                      </a:r>
                      <a:endParaRPr lang="en-US" sz="16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✅ Long-term, configurable (disk-based)</a:t>
                      </a:r>
                      <a:endParaRPr lang="en-US" sz="16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⚠️ Short-term (until consumed)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⚠️ Short-term (memory-based, optional persistence)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⚠️ Limited (varies by service; often time-bound)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82501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/>
                        <a:t>Throughput</a:t>
                      </a:r>
                      <a:endParaRPr lang="en-US" sz="16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🔥 Extremely high (millions/sec)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⚠️ Moderate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✅ High (in-memory, low latency)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⚠️ Moderate to high (depends on service tier)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74158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/>
                        <a:t>Replay Support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✅ Native replay from log</a:t>
                      </a:r>
                      <a:endParaRPr lang="en-US" sz="16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❌ Not supported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⚠️ Limited (manual tracking needed)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❌ Typically not supported (some exceptions)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8224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/>
                        <a:t>Ordering Guarantees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✅ Per partition (strong ordering)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✅ Per queue (FIFO optional)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✅ Per stream (by ID)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⚠️ Varies: some offer FIFO queues, others don’t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887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/>
                        <a:t>Use Case Fit</a:t>
                      </a:r>
                      <a:endParaRPr lang="en-US" sz="16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❌ Not lightweight (requires cluster)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✅ Lightweight, easy to deploy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✅ Lightweight, in-memory</a:t>
                      </a:r>
                      <a:endParaRPr lang="en-US" sz="160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✅ Lightweight, fully managed (cloud-native)</a:t>
                      </a:r>
                      <a:endParaRPr lang="en-US" sz="16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0593228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49EF3A7-4BD1-2A47-42C8-8F6F59507649}"/>
              </a:ext>
            </a:extLst>
          </p:cNvPr>
          <p:cNvSpPr txBox="1"/>
          <p:nvPr/>
        </p:nvSpPr>
        <p:spPr>
          <a:xfrm>
            <a:off x="842962" y="6109257"/>
            <a:ext cx="89898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Kafka isn’t </a:t>
            </a:r>
            <a:r>
              <a:rPr lang="en-US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just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 message broker—it’s a </a:t>
            </a: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distributed event streaming platform</a:t>
            </a: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8837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E5953-86CD-1EA7-1DE9-03AB35ED1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E21747F-4DAB-2A3A-4BBC-47CB955A8E96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&amp; Ecosystem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3F4E0E8-C7DD-7621-8D86-8A1EA07FA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8775" y="1638794"/>
            <a:ext cx="4014449" cy="4014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809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75D7A-7A3F-9E22-629E-C53D9239B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 helye 1">
            <a:extLst>
              <a:ext uri="{FF2B5EF4-FFF2-40B4-BE49-F238E27FC236}">
                <a16:creationId xmlns:a16="http://schemas.microsoft.com/office/drawing/2014/main" id="{3B3DB140-5CFB-F803-47D5-8FE27A4D951D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hu-HU" dirty="0"/>
              <a:t>Cloud Native Architecture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27CEC2A-6AF2-4899-3FFF-598E512208CE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 algn="ctr"/>
            <a:r>
              <a:rPr lang="hu-HU" sz="4000" dirty="0">
                <a:solidFill>
                  <a:srgbClr val="012863"/>
                </a:solidFill>
              </a:rPr>
              <a:t>Kafka Core Concepts</a:t>
            </a:r>
            <a:endParaRPr lang="en-US" sz="4000" dirty="0">
              <a:solidFill>
                <a:srgbClr val="012863"/>
              </a:solidFill>
            </a:endParaRPr>
          </a:p>
          <a:p>
            <a:pPr algn="ctr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97987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Overview 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E8C08C-1443-31B3-D844-947A90161772}"/>
              </a:ext>
            </a:extLst>
          </p:cNvPr>
          <p:cNvSpPr/>
          <p:nvPr/>
        </p:nvSpPr>
        <p:spPr>
          <a:xfrm>
            <a:off x="7963307" y="4078085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727D20-065C-EE2E-03E4-3649B07C2C7B}"/>
              </a:ext>
            </a:extLst>
          </p:cNvPr>
          <p:cNvSpPr/>
          <p:nvPr/>
        </p:nvSpPr>
        <p:spPr>
          <a:xfrm>
            <a:off x="7963307" y="5880826"/>
            <a:ext cx="1446028" cy="47314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0DC05DC-FB55-58E3-E878-50D2A0C7DB12}"/>
              </a:ext>
            </a:extLst>
          </p:cNvPr>
          <p:cNvSpPr/>
          <p:nvPr/>
        </p:nvSpPr>
        <p:spPr>
          <a:xfrm>
            <a:off x="6438581" y="4862023"/>
            <a:ext cx="4495479" cy="734237"/>
          </a:xfrm>
          <a:prstGeom prst="roundRect">
            <a:avLst/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" descr="Apache Kafka">
            <a:extLst>
              <a:ext uri="{FF2B5EF4-FFF2-40B4-BE49-F238E27FC236}">
                <a16:creationId xmlns:a16="http://schemas.microsoft.com/office/drawing/2014/main" id="{D39148AD-1325-F8EC-08D9-BB15831CC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0859" y="4934744"/>
            <a:ext cx="1291684" cy="588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C792060-F653-3587-5807-70A42CFF9EF3}"/>
              </a:ext>
            </a:extLst>
          </p:cNvPr>
          <p:cNvCxnSpPr>
            <a:cxnSpLocks/>
          </p:cNvCxnSpPr>
          <p:nvPr/>
        </p:nvCxnSpPr>
        <p:spPr>
          <a:xfrm>
            <a:off x="8686321" y="4558501"/>
            <a:ext cx="0" cy="30352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AA33CBC-31AF-0FAB-A315-D479C49088AD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8686321" y="5596260"/>
            <a:ext cx="0" cy="29183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0"/>
            <a:ext cx="11877675" cy="5791123"/>
          </a:xfrm>
        </p:spPr>
        <p:txBody>
          <a:bodyPr/>
          <a:lstStyle/>
          <a:p>
            <a:r>
              <a:rPr lang="hu-HU" sz="1600" b="1" dirty="0">
                <a:solidFill>
                  <a:schemeClr val="accent1">
                    <a:lumMod val="75000"/>
                  </a:schemeClr>
                </a:solidFill>
              </a:rPr>
              <a:t>Topics</a:t>
            </a:r>
            <a:r>
              <a:rPr lang="hu-HU" sz="1600" dirty="0"/>
              <a:t> organize </a:t>
            </a:r>
            <a:r>
              <a:rPr lang="hu-HU" sz="1600" b="1" dirty="0"/>
              <a:t>related</a:t>
            </a:r>
            <a:r>
              <a:rPr lang="hu-HU" sz="1600" dirty="0"/>
              <a:t> </a:t>
            </a:r>
            <a:r>
              <a:rPr lang="hu-HU" sz="1600" b="1" dirty="0"/>
              <a:t>events</a:t>
            </a:r>
            <a:r>
              <a:rPr lang="hu-HU" sz="1600" dirty="0"/>
              <a:t>:</a:t>
            </a:r>
          </a:p>
          <a:p>
            <a:pPr lvl="1"/>
            <a:r>
              <a:rPr lang="hu-HU" sz="1400" dirty="0"/>
              <a:t>E.g. logs of a specific application</a:t>
            </a:r>
          </a:p>
          <a:p>
            <a:pPr lvl="1"/>
            <a:r>
              <a:rPr lang="hu-HU" sz="1400" dirty="0"/>
              <a:t>Rougly analogous to </a:t>
            </a:r>
            <a:r>
              <a:rPr lang="hu-HU" sz="1400" b="1" dirty="0"/>
              <a:t>SQL tables</a:t>
            </a:r>
          </a:p>
          <a:p>
            <a:pPr lvl="1"/>
            <a:endParaRPr lang="hu-HU" sz="1400" b="1" dirty="0"/>
          </a:p>
          <a:p>
            <a:r>
              <a:rPr lang="hu-HU" sz="1600" b="1" dirty="0">
                <a:solidFill>
                  <a:schemeClr val="accent1">
                    <a:lumMod val="75000"/>
                  </a:schemeClr>
                </a:solidFill>
              </a:rPr>
              <a:t>Producers</a:t>
            </a:r>
            <a:r>
              <a:rPr lang="hu-HU" sz="1600" dirty="0"/>
              <a:t> are applications that send data into topics:</a:t>
            </a:r>
          </a:p>
          <a:p>
            <a:pPr lvl="1"/>
            <a:r>
              <a:rPr lang="hu-HU" sz="1400" dirty="0"/>
              <a:t>They</a:t>
            </a:r>
            <a:r>
              <a:rPr lang="en-US" sz="1400" dirty="0"/>
              <a:t> are deployed outside Kafka and only interact with</a:t>
            </a:r>
            <a:r>
              <a:rPr lang="hu-HU" sz="1400" dirty="0"/>
              <a:t> it</a:t>
            </a:r>
          </a:p>
          <a:p>
            <a:pPr lvl="1"/>
            <a:r>
              <a:rPr lang="hu-HU" sz="1400" dirty="0"/>
              <a:t>At code level they integrate with Kafka client libraries (Java, Python, Go, etc.)</a:t>
            </a:r>
          </a:p>
          <a:p>
            <a:pPr lvl="1"/>
            <a:endParaRPr lang="hu-HU" sz="1400" dirty="0"/>
          </a:p>
          <a:p>
            <a:r>
              <a:rPr lang="hu-HU" sz="1600" b="1" dirty="0">
                <a:solidFill>
                  <a:schemeClr val="accent1">
                    <a:lumMod val="75000"/>
                  </a:schemeClr>
                </a:solidFill>
              </a:rPr>
              <a:t>Consumers</a:t>
            </a:r>
            <a:r>
              <a:rPr lang="hu-HU" sz="1600" dirty="0"/>
              <a:t> are applications that pull data from topics:</a:t>
            </a:r>
          </a:p>
          <a:p>
            <a:pPr lvl="1"/>
            <a:r>
              <a:rPr lang="hu-HU" sz="1400" dirty="0"/>
              <a:t>They</a:t>
            </a:r>
            <a:r>
              <a:rPr lang="en-US" sz="1400" dirty="0"/>
              <a:t> are deployed outside Kafka and only interact with</a:t>
            </a:r>
            <a:r>
              <a:rPr lang="hu-HU" sz="1400" dirty="0"/>
              <a:t> it</a:t>
            </a:r>
          </a:p>
          <a:p>
            <a:pPr lvl="1"/>
            <a:r>
              <a:rPr lang="hu-HU" sz="1400" dirty="0"/>
              <a:t>At code level they integrate with Kafka client libraries (Java, Python, Go, etc.)</a:t>
            </a:r>
          </a:p>
          <a:p>
            <a:pPr marL="457200" lvl="1" indent="0">
              <a:buNone/>
            </a:pPr>
            <a:endParaRPr lang="hu-HU" sz="1400" dirty="0"/>
          </a:p>
          <a:p>
            <a:pPr lvl="1"/>
            <a:endParaRPr lang="en-US" sz="1400" dirty="0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318241C-9DF9-C6CE-93EA-C3ADE26613C3}"/>
              </a:ext>
            </a:extLst>
          </p:cNvPr>
          <p:cNvSpPr/>
          <p:nvPr/>
        </p:nvSpPr>
        <p:spPr>
          <a:xfrm>
            <a:off x="8114820" y="5065417"/>
            <a:ext cx="1143000" cy="327448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topic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3910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Overview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E8C08C-1443-31B3-D844-947A90161772}"/>
              </a:ext>
            </a:extLst>
          </p:cNvPr>
          <p:cNvSpPr/>
          <p:nvPr/>
        </p:nvSpPr>
        <p:spPr>
          <a:xfrm>
            <a:off x="7963307" y="3352410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11C1092-D374-A51B-C702-73D85B05EF80}"/>
              </a:ext>
            </a:extLst>
          </p:cNvPr>
          <p:cNvSpPr txBox="1"/>
          <p:nvPr/>
        </p:nvSpPr>
        <p:spPr>
          <a:xfrm>
            <a:off x="11396587" y="3358782"/>
            <a:ext cx="48506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hu-HU" dirty="0"/>
              <a:t>. . .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727D20-065C-EE2E-03E4-3649B07C2C7B}"/>
              </a:ext>
            </a:extLst>
          </p:cNvPr>
          <p:cNvSpPr/>
          <p:nvPr/>
        </p:nvSpPr>
        <p:spPr>
          <a:xfrm>
            <a:off x="7963307" y="6207953"/>
            <a:ext cx="1446028" cy="47314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E3EF817-2751-E427-7227-AFD7480D74D2}"/>
              </a:ext>
            </a:extLst>
          </p:cNvPr>
          <p:cNvSpPr txBox="1"/>
          <p:nvPr/>
        </p:nvSpPr>
        <p:spPr>
          <a:xfrm>
            <a:off x="11396587" y="6214325"/>
            <a:ext cx="48506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hu-HU" dirty="0"/>
              <a:t>. . .</a:t>
            </a:r>
            <a:endParaRPr lang="en-US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0DC05DC-FB55-58E3-E878-50D2A0C7DB12}"/>
              </a:ext>
            </a:extLst>
          </p:cNvPr>
          <p:cNvSpPr/>
          <p:nvPr/>
        </p:nvSpPr>
        <p:spPr>
          <a:xfrm>
            <a:off x="6438581" y="4143616"/>
            <a:ext cx="4495479" cy="1779772"/>
          </a:xfrm>
          <a:prstGeom prst="roundRect">
            <a:avLst/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dirty="0"/>
              <a:t>                     ...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C792060-F653-3587-5807-70A42CFF9EF3}"/>
              </a:ext>
            </a:extLst>
          </p:cNvPr>
          <p:cNvCxnSpPr>
            <a:cxnSpLocks/>
          </p:cNvCxnSpPr>
          <p:nvPr/>
        </p:nvCxnSpPr>
        <p:spPr>
          <a:xfrm>
            <a:off x="8686321" y="3832826"/>
            <a:ext cx="0" cy="30352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AA33CBC-31AF-0FAB-A315-D479C49088AD}"/>
              </a:ext>
            </a:extLst>
          </p:cNvPr>
          <p:cNvCxnSpPr>
            <a:cxnSpLocks/>
          </p:cNvCxnSpPr>
          <p:nvPr/>
        </p:nvCxnSpPr>
        <p:spPr>
          <a:xfrm>
            <a:off x="8686321" y="5923387"/>
            <a:ext cx="0" cy="29183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0"/>
            <a:ext cx="11877675" cy="5791123"/>
          </a:xfrm>
        </p:spPr>
        <p:txBody>
          <a:bodyPr/>
          <a:lstStyle/>
          <a:p>
            <a:r>
              <a:rPr lang="hu-HU" sz="1600" b="1" dirty="0">
                <a:solidFill>
                  <a:schemeClr val="accent1">
                    <a:lumMod val="75000"/>
                  </a:schemeClr>
                </a:solidFill>
              </a:rPr>
              <a:t>Topics</a:t>
            </a:r>
            <a:r>
              <a:rPr lang="hu-HU" sz="1600" dirty="0"/>
              <a:t> oragnize </a:t>
            </a:r>
            <a:r>
              <a:rPr lang="hu-HU" sz="1600" b="1" dirty="0"/>
              <a:t>related</a:t>
            </a:r>
            <a:r>
              <a:rPr lang="hu-HU" sz="1600" dirty="0"/>
              <a:t> </a:t>
            </a:r>
            <a:r>
              <a:rPr lang="hu-HU" sz="1600" b="1" dirty="0"/>
              <a:t>events</a:t>
            </a:r>
            <a:r>
              <a:rPr lang="hu-HU" sz="1600" dirty="0"/>
              <a:t>:</a:t>
            </a:r>
          </a:p>
          <a:p>
            <a:pPr lvl="1"/>
            <a:r>
              <a:rPr lang="hu-HU" sz="1400" dirty="0"/>
              <a:t>E.g. logs of a specific application</a:t>
            </a:r>
          </a:p>
          <a:p>
            <a:pPr lvl="1"/>
            <a:r>
              <a:rPr lang="hu-HU" sz="1400" dirty="0"/>
              <a:t>Rougly analogous to </a:t>
            </a:r>
            <a:r>
              <a:rPr lang="hu-HU" sz="1400" b="1" dirty="0"/>
              <a:t>SQL tables</a:t>
            </a:r>
          </a:p>
          <a:p>
            <a:pPr lvl="1"/>
            <a:endParaRPr lang="hu-HU" sz="1400" b="1" dirty="0"/>
          </a:p>
          <a:p>
            <a:r>
              <a:rPr lang="hu-HU" sz="1600" b="1" dirty="0">
                <a:solidFill>
                  <a:schemeClr val="accent1">
                    <a:lumMod val="75000"/>
                  </a:schemeClr>
                </a:solidFill>
              </a:rPr>
              <a:t>Producers</a:t>
            </a:r>
            <a:r>
              <a:rPr lang="hu-HU" sz="1600" dirty="0"/>
              <a:t> are applications that send data into topics:</a:t>
            </a:r>
          </a:p>
          <a:p>
            <a:pPr lvl="1"/>
            <a:r>
              <a:rPr lang="hu-HU" sz="1400" dirty="0"/>
              <a:t>They</a:t>
            </a:r>
            <a:r>
              <a:rPr lang="en-US" sz="1400" dirty="0"/>
              <a:t> are deployed outside Kafka and only interact with</a:t>
            </a:r>
            <a:r>
              <a:rPr lang="hu-HU" sz="1400" dirty="0"/>
              <a:t> it</a:t>
            </a:r>
          </a:p>
          <a:p>
            <a:pPr lvl="1"/>
            <a:r>
              <a:rPr lang="hu-HU" sz="1400" dirty="0"/>
              <a:t>At code level they integrate with Kafka client libraries (Java, Python, Go, etc.)</a:t>
            </a:r>
          </a:p>
          <a:p>
            <a:pPr lvl="1"/>
            <a:endParaRPr lang="hu-HU" sz="1400" dirty="0"/>
          </a:p>
          <a:p>
            <a:r>
              <a:rPr lang="hu-HU" sz="1600" b="1" dirty="0">
                <a:solidFill>
                  <a:schemeClr val="accent1">
                    <a:lumMod val="75000"/>
                  </a:schemeClr>
                </a:solidFill>
              </a:rPr>
              <a:t>Consumers</a:t>
            </a:r>
            <a:r>
              <a:rPr lang="hu-HU" sz="1600" dirty="0"/>
              <a:t> are applications that pull data from topics:</a:t>
            </a:r>
          </a:p>
          <a:p>
            <a:pPr lvl="1"/>
            <a:r>
              <a:rPr lang="hu-HU" sz="1400" dirty="0"/>
              <a:t>They</a:t>
            </a:r>
            <a:r>
              <a:rPr lang="en-US" sz="1400" dirty="0"/>
              <a:t> are deployed outside Kafka and only interact with</a:t>
            </a:r>
            <a:r>
              <a:rPr lang="hu-HU" sz="1400" dirty="0"/>
              <a:t> it</a:t>
            </a:r>
          </a:p>
          <a:p>
            <a:pPr lvl="1"/>
            <a:r>
              <a:rPr lang="hu-HU" sz="1400" dirty="0"/>
              <a:t>At code level they integrate with Kafka client libraries (Java, Python, Go, etc.)</a:t>
            </a:r>
          </a:p>
          <a:p>
            <a:pPr lvl="1"/>
            <a:endParaRPr lang="hu-HU" sz="1400" dirty="0"/>
          </a:p>
          <a:p>
            <a:r>
              <a:rPr lang="hu-HU" sz="1600" b="1" dirty="0"/>
              <a:t>Client-server </a:t>
            </a:r>
            <a:r>
              <a:rPr lang="hu-HU" sz="1600" dirty="0"/>
              <a:t>architecture:</a:t>
            </a:r>
          </a:p>
          <a:p>
            <a:pPr lvl="1"/>
            <a:r>
              <a:rPr lang="hu-HU" sz="1400" dirty="0"/>
              <a:t>Topics are stored on servers, called </a:t>
            </a:r>
            <a:r>
              <a:rPr lang="hu-HU" sz="1400" b="1" dirty="0">
                <a:solidFill>
                  <a:schemeClr val="accent1">
                    <a:lumMod val="75000"/>
                  </a:schemeClr>
                </a:solidFill>
              </a:rPr>
              <a:t>Kafka brokers</a:t>
            </a:r>
          </a:p>
          <a:p>
            <a:pPr lvl="1"/>
            <a:r>
              <a:rPr lang="hu-HU" sz="1400" dirty="0"/>
              <a:t>Producers and consumers are the clients</a:t>
            </a:r>
          </a:p>
          <a:p>
            <a:pPr lvl="1"/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lvl="1"/>
            <a:endParaRPr lang="en-US" sz="1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7840F6-E521-6126-E985-DF7DFA1796C2}"/>
              </a:ext>
            </a:extLst>
          </p:cNvPr>
          <p:cNvSpPr/>
          <p:nvPr/>
        </p:nvSpPr>
        <p:spPr>
          <a:xfrm>
            <a:off x="7773538" y="4352683"/>
            <a:ext cx="1063256" cy="14270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  <a:endParaRPr lang="en-US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318241C-9DF9-C6CE-93EA-C3ADE26613C3}"/>
              </a:ext>
            </a:extLst>
          </p:cNvPr>
          <p:cNvSpPr/>
          <p:nvPr/>
        </p:nvSpPr>
        <p:spPr>
          <a:xfrm>
            <a:off x="7943964" y="4755812"/>
            <a:ext cx="722404" cy="27092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64D9085-C9CF-C4FE-AC6D-EAC02F8A2BF7}"/>
              </a:ext>
            </a:extLst>
          </p:cNvPr>
          <p:cNvSpPr/>
          <p:nvPr/>
        </p:nvSpPr>
        <p:spPr>
          <a:xfrm>
            <a:off x="7943964" y="5344792"/>
            <a:ext cx="722404" cy="27092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987962-ED6E-F7EA-FCF4-306FCEE06B1A}"/>
              </a:ext>
            </a:extLst>
          </p:cNvPr>
          <p:cNvSpPr txBox="1"/>
          <p:nvPr/>
        </p:nvSpPr>
        <p:spPr>
          <a:xfrm>
            <a:off x="7773538" y="4349401"/>
            <a:ext cx="1063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/>
              <a:t>broker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962CED-1931-B0D8-B026-D8FB5F5295A7}"/>
              </a:ext>
            </a:extLst>
          </p:cNvPr>
          <p:cNvSpPr/>
          <p:nvPr/>
        </p:nvSpPr>
        <p:spPr>
          <a:xfrm>
            <a:off x="9583785" y="4352683"/>
            <a:ext cx="1063256" cy="14270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  <a:endParaRPr lang="en-US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1DCCD81-C791-DB75-9255-774C84A96548}"/>
              </a:ext>
            </a:extLst>
          </p:cNvPr>
          <p:cNvSpPr/>
          <p:nvPr/>
        </p:nvSpPr>
        <p:spPr>
          <a:xfrm>
            <a:off x="9754211" y="4755812"/>
            <a:ext cx="722404" cy="27092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C8B5E9-ADB0-0321-241B-92BC89530879}"/>
              </a:ext>
            </a:extLst>
          </p:cNvPr>
          <p:cNvSpPr/>
          <p:nvPr/>
        </p:nvSpPr>
        <p:spPr>
          <a:xfrm>
            <a:off x="9754211" y="5344792"/>
            <a:ext cx="722404" cy="27092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E2A26F-CD16-D4E6-B543-176FA279C54D}"/>
              </a:ext>
            </a:extLst>
          </p:cNvPr>
          <p:cNvSpPr txBox="1"/>
          <p:nvPr/>
        </p:nvSpPr>
        <p:spPr>
          <a:xfrm>
            <a:off x="9583785" y="4349401"/>
            <a:ext cx="1063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/>
              <a:t>broker</a:t>
            </a:r>
            <a:endParaRPr lang="en-US" dirty="0"/>
          </a:p>
        </p:txBody>
      </p:sp>
      <p:pic>
        <p:nvPicPr>
          <p:cNvPr id="10" name="Picture 2" descr="Apache Kafka">
            <a:extLst>
              <a:ext uri="{FF2B5EF4-FFF2-40B4-BE49-F238E27FC236}">
                <a16:creationId xmlns:a16="http://schemas.microsoft.com/office/drawing/2014/main" id="{818F931D-A22E-CA98-D6FB-DAC5F39942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0859" y="4828478"/>
            <a:ext cx="899556" cy="410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120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Overview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E8C08C-1443-31B3-D844-947A90161772}"/>
              </a:ext>
            </a:extLst>
          </p:cNvPr>
          <p:cNvSpPr/>
          <p:nvPr/>
        </p:nvSpPr>
        <p:spPr>
          <a:xfrm>
            <a:off x="7963307" y="3352410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11C1092-D374-A51B-C702-73D85B05EF80}"/>
              </a:ext>
            </a:extLst>
          </p:cNvPr>
          <p:cNvSpPr txBox="1"/>
          <p:nvPr/>
        </p:nvSpPr>
        <p:spPr>
          <a:xfrm>
            <a:off x="11396587" y="3358782"/>
            <a:ext cx="48506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hu-HU" dirty="0"/>
              <a:t>. . .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727D20-065C-EE2E-03E4-3649B07C2C7B}"/>
              </a:ext>
            </a:extLst>
          </p:cNvPr>
          <p:cNvSpPr/>
          <p:nvPr/>
        </p:nvSpPr>
        <p:spPr>
          <a:xfrm>
            <a:off x="7963307" y="6207953"/>
            <a:ext cx="1446028" cy="47314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E3EF817-2751-E427-7227-AFD7480D74D2}"/>
              </a:ext>
            </a:extLst>
          </p:cNvPr>
          <p:cNvSpPr txBox="1"/>
          <p:nvPr/>
        </p:nvSpPr>
        <p:spPr>
          <a:xfrm>
            <a:off x="11396587" y="6214325"/>
            <a:ext cx="48506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hu-HU" dirty="0"/>
              <a:t>. . .</a:t>
            </a:r>
            <a:endParaRPr lang="en-US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0DC05DC-FB55-58E3-E878-50D2A0C7DB12}"/>
              </a:ext>
            </a:extLst>
          </p:cNvPr>
          <p:cNvSpPr/>
          <p:nvPr/>
        </p:nvSpPr>
        <p:spPr>
          <a:xfrm>
            <a:off x="6438581" y="4143616"/>
            <a:ext cx="4495479" cy="1779772"/>
          </a:xfrm>
          <a:prstGeom prst="roundRect">
            <a:avLst/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dirty="0"/>
              <a:t>                     ...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C792060-F653-3587-5807-70A42CFF9EF3}"/>
              </a:ext>
            </a:extLst>
          </p:cNvPr>
          <p:cNvCxnSpPr>
            <a:cxnSpLocks/>
          </p:cNvCxnSpPr>
          <p:nvPr/>
        </p:nvCxnSpPr>
        <p:spPr>
          <a:xfrm>
            <a:off x="8686321" y="3832826"/>
            <a:ext cx="0" cy="30352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AA33CBC-31AF-0FAB-A315-D479C49088AD}"/>
              </a:ext>
            </a:extLst>
          </p:cNvPr>
          <p:cNvCxnSpPr>
            <a:cxnSpLocks/>
          </p:cNvCxnSpPr>
          <p:nvPr/>
        </p:nvCxnSpPr>
        <p:spPr>
          <a:xfrm>
            <a:off x="8686321" y="5923387"/>
            <a:ext cx="0" cy="29183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0"/>
            <a:ext cx="11877675" cy="5791123"/>
          </a:xfrm>
        </p:spPr>
        <p:txBody>
          <a:bodyPr/>
          <a:lstStyle/>
          <a:p>
            <a:r>
              <a:rPr lang="hu-HU" sz="1600" b="1" dirty="0">
                <a:solidFill>
                  <a:schemeClr val="accent1">
                    <a:lumMod val="75000"/>
                  </a:schemeClr>
                </a:solidFill>
              </a:rPr>
              <a:t>Topics</a:t>
            </a:r>
            <a:r>
              <a:rPr lang="hu-HU" sz="1600" dirty="0"/>
              <a:t> oragnize </a:t>
            </a:r>
            <a:r>
              <a:rPr lang="hu-HU" sz="1600" b="1" dirty="0"/>
              <a:t>related</a:t>
            </a:r>
            <a:r>
              <a:rPr lang="hu-HU" sz="1600" dirty="0"/>
              <a:t> </a:t>
            </a:r>
            <a:r>
              <a:rPr lang="hu-HU" sz="1600" b="1" dirty="0"/>
              <a:t>events</a:t>
            </a:r>
            <a:r>
              <a:rPr lang="hu-HU" sz="1600" dirty="0"/>
              <a:t>:</a:t>
            </a:r>
          </a:p>
          <a:p>
            <a:pPr lvl="1"/>
            <a:r>
              <a:rPr lang="hu-HU" sz="1400" dirty="0"/>
              <a:t>E.g. logs of a specific application</a:t>
            </a:r>
          </a:p>
          <a:p>
            <a:pPr lvl="1"/>
            <a:r>
              <a:rPr lang="hu-HU" sz="1400" dirty="0"/>
              <a:t>Rougly analogous to </a:t>
            </a:r>
            <a:r>
              <a:rPr lang="hu-HU" sz="1400" b="1" dirty="0"/>
              <a:t>SQL tables</a:t>
            </a:r>
          </a:p>
          <a:p>
            <a:pPr lvl="1"/>
            <a:endParaRPr lang="hu-HU" sz="1400" b="1" dirty="0"/>
          </a:p>
          <a:p>
            <a:r>
              <a:rPr lang="hu-HU" sz="1600" b="1" dirty="0">
                <a:solidFill>
                  <a:schemeClr val="accent1">
                    <a:lumMod val="75000"/>
                  </a:schemeClr>
                </a:solidFill>
              </a:rPr>
              <a:t>Producers</a:t>
            </a:r>
            <a:r>
              <a:rPr lang="hu-HU" sz="1600" dirty="0"/>
              <a:t> are applications that send data into topics:</a:t>
            </a:r>
          </a:p>
          <a:p>
            <a:pPr lvl="1"/>
            <a:r>
              <a:rPr lang="hu-HU" sz="1400" dirty="0"/>
              <a:t>They</a:t>
            </a:r>
            <a:r>
              <a:rPr lang="en-US" sz="1400" dirty="0"/>
              <a:t> are deployed outside Kafka and only interact with</a:t>
            </a:r>
            <a:r>
              <a:rPr lang="hu-HU" sz="1400" dirty="0"/>
              <a:t> it</a:t>
            </a:r>
          </a:p>
          <a:p>
            <a:pPr lvl="1"/>
            <a:r>
              <a:rPr lang="hu-HU" sz="1400" dirty="0"/>
              <a:t>At code level they integrate with Kafka client libraries (Java, Python, Go, etc.)</a:t>
            </a:r>
          </a:p>
          <a:p>
            <a:pPr lvl="1"/>
            <a:endParaRPr lang="hu-HU" sz="1400" dirty="0"/>
          </a:p>
          <a:p>
            <a:r>
              <a:rPr lang="hu-HU" sz="1600" b="1" dirty="0">
                <a:solidFill>
                  <a:schemeClr val="accent1">
                    <a:lumMod val="75000"/>
                  </a:schemeClr>
                </a:solidFill>
              </a:rPr>
              <a:t>Consumers</a:t>
            </a:r>
            <a:r>
              <a:rPr lang="hu-HU" sz="1600" dirty="0"/>
              <a:t> are applications that pull data from topics:</a:t>
            </a:r>
          </a:p>
          <a:p>
            <a:pPr lvl="1"/>
            <a:r>
              <a:rPr lang="hu-HU" sz="1400" dirty="0"/>
              <a:t>They</a:t>
            </a:r>
            <a:r>
              <a:rPr lang="en-US" sz="1400" dirty="0"/>
              <a:t> are deployed outside Kafka and only interact with</a:t>
            </a:r>
            <a:r>
              <a:rPr lang="hu-HU" sz="1400" dirty="0"/>
              <a:t> it</a:t>
            </a:r>
          </a:p>
          <a:p>
            <a:pPr lvl="1"/>
            <a:r>
              <a:rPr lang="hu-HU" sz="1400" dirty="0"/>
              <a:t>At code level they integrate with Kafka client libraries (Java, Python, Go, etc.)</a:t>
            </a:r>
          </a:p>
          <a:p>
            <a:pPr lvl="1"/>
            <a:endParaRPr lang="hu-HU" sz="1400" dirty="0"/>
          </a:p>
          <a:p>
            <a:r>
              <a:rPr lang="hu-HU" sz="1600" b="1" dirty="0"/>
              <a:t>Client-server </a:t>
            </a:r>
            <a:r>
              <a:rPr lang="hu-HU" sz="1600" dirty="0"/>
              <a:t>architecture:</a:t>
            </a:r>
          </a:p>
          <a:p>
            <a:pPr lvl="1"/>
            <a:r>
              <a:rPr lang="hu-HU" sz="1400" dirty="0"/>
              <a:t>Topics are stored on servers, called </a:t>
            </a:r>
            <a:r>
              <a:rPr lang="hu-HU" sz="1400" b="1" dirty="0">
                <a:solidFill>
                  <a:schemeClr val="accent1">
                    <a:lumMod val="75000"/>
                  </a:schemeClr>
                </a:solidFill>
              </a:rPr>
              <a:t>Kafka brokers</a:t>
            </a:r>
          </a:p>
          <a:p>
            <a:pPr lvl="1"/>
            <a:r>
              <a:rPr lang="hu-HU" sz="1400" dirty="0"/>
              <a:t>Producers and consumers are the clients</a:t>
            </a:r>
          </a:p>
          <a:p>
            <a:pPr lvl="1"/>
            <a:endParaRPr lang="hu-HU" sz="1400" dirty="0"/>
          </a:p>
          <a:p>
            <a:r>
              <a:rPr lang="hu-HU" sz="1600" dirty="0"/>
              <a:t>Can scale to 100s of brokers</a:t>
            </a:r>
          </a:p>
          <a:p>
            <a:r>
              <a:rPr lang="hu-HU" sz="1600" dirty="0"/>
              <a:t>Can scale to millions of messages per second</a:t>
            </a:r>
          </a:p>
          <a:p>
            <a:r>
              <a:rPr lang="hu-HU" sz="1600" dirty="0"/>
              <a:t>Latency of less than 10 ms ~ real time</a:t>
            </a:r>
          </a:p>
          <a:p>
            <a:pPr lvl="1"/>
            <a:endParaRPr lang="hu-HU" sz="1400" dirty="0"/>
          </a:p>
          <a:p>
            <a:pPr lvl="1"/>
            <a:endParaRPr lang="en-US" sz="1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7840F6-E521-6126-E985-DF7DFA1796C2}"/>
              </a:ext>
            </a:extLst>
          </p:cNvPr>
          <p:cNvSpPr/>
          <p:nvPr/>
        </p:nvSpPr>
        <p:spPr>
          <a:xfrm>
            <a:off x="7773538" y="4352683"/>
            <a:ext cx="1063256" cy="14270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  <a:endParaRPr lang="en-US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318241C-9DF9-C6CE-93EA-C3ADE26613C3}"/>
              </a:ext>
            </a:extLst>
          </p:cNvPr>
          <p:cNvSpPr/>
          <p:nvPr/>
        </p:nvSpPr>
        <p:spPr>
          <a:xfrm>
            <a:off x="7943964" y="4755812"/>
            <a:ext cx="722404" cy="27092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64D9085-C9CF-C4FE-AC6D-EAC02F8A2BF7}"/>
              </a:ext>
            </a:extLst>
          </p:cNvPr>
          <p:cNvSpPr/>
          <p:nvPr/>
        </p:nvSpPr>
        <p:spPr>
          <a:xfrm>
            <a:off x="7943964" y="5344792"/>
            <a:ext cx="722404" cy="27092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987962-ED6E-F7EA-FCF4-306FCEE06B1A}"/>
              </a:ext>
            </a:extLst>
          </p:cNvPr>
          <p:cNvSpPr txBox="1"/>
          <p:nvPr/>
        </p:nvSpPr>
        <p:spPr>
          <a:xfrm>
            <a:off x="7773538" y="4349401"/>
            <a:ext cx="1063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/>
              <a:t>broker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962CED-1931-B0D8-B026-D8FB5F5295A7}"/>
              </a:ext>
            </a:extLst>
          </p:cNvPr>
          <p:cNvSpPr/>
          <p:nvPr/>
        </p:nvSpPr>
        <p:spPr>
          <a:xfrm>
            <a:off x="9583785" y="4352683"/>
            <a:ext cx="1063256" cy="14270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endParaRPr lang="hu-HU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algn="ctr">
              <a:lnSpc>
                <a:spcPts val="400"/>
              </a:lnSpc>
            </a:pPr>
            <a:r>
              <a: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  <a:endParaRPr lang="en-US" sz="14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1DCCD81-C791-DB75-9255-774C84A96548}"/>
              </a:ext>
            </a:extLst>
          </p:cNvPr>
          <p:cNvSpPr/>
          <p:nvPr/>
        </p:nvSpPr>
        <p:spPr>
          <a:xfrm>
            <a:off x="9754211" y="4755812"/>
            <a:ext cx="722404" cy="27092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C8B5E9-ADB0-0321-241B-92BC89530879}"/>
              </a:ext>
            </a:extLst>
          </p:cNvPr>
          <p:cNvSpPr/>
          <p:nvPr/>
        </p:nvSpPr>
        <p:spPr>
          <a:xfrm>
            <a:off x="9754211" y="5344792"/>
            <a:ext cx="722404" cy="27092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E2A26F-CD16-D4E6-B543-176FA279C54D}"/>
              </a:ext>
            </a:extLst>
          </p:cNvPr>
          <p:cNvSpPr txBox="1"/>
          <p:nvPr/>
        </p:nvSpPr>
        <p:spPr>
          <a:xfrm>
            <a:off x="9583785" y="4349401"/>
            <a:ext cx="1063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/>
              <a:t>broker</a:t>
            </a:r>
            <a:endParaRPr lang="en-US" dirty="0"/>
          </a:p>
        </p:txBody>
      </p:sp>
      <p:pic>
        <p:nvPicPr>
          <p:cNvPr id="10" name="Picture 2" descr="Apache Kafka">
            <a:extLst>
              <a:ext uri="{FF2B5EF4-FFF2-40B4-BE49-F238E27FC236}">
                <a16:creationId xmlns:a16="http://schemas.microsoft.com/office/drawing/2014/main" id="{818F931D-A22E-CA98-D6FB-DAC5F39942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0859" y="4828478"/>
            <a:ext cx="899556" cy="410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29287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Topics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E8C08C-1443-31B3-D844-947A90161772}"/>
              </a:ext>
            </a:extLst>
          </p:cNvPr>
          <p:cNvSpPr/>
          <p:nvPr/>
        </p:nvSpPr>
        <p:spPr>
          <a:xfrm>
            <a:off x="9960610" y="916660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727D20-065C-EE2E-03E4-3649B07C2C7B}"/>
              </a:ext>
            </a:extLst>
          </p:cNvPr>
          <p:cNvSpPr/>
          <p:nvPr/>
        </p:nvSpPr>
        <p:spPr>
          <a:xfrm>
            <a:off x="9940963" y="4168370"/>
            <a:ext cx="1446028" cy="47314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29" name="Picture 2" descr="Apache Kafka">
            <a:extLst>
              <a:ext uri="{FF2B5EF4-FFF2-40B4-BE49-F238E27FC236}">
                <a16:creationId xmlns:a16="http://schemas.microsoft.com/office/drawing/2014/main" id="{D39148AD-1325-F8EC-08D9-BB15831CC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210" y="2654633"/>
            <a:ext cx="650400" cy="296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C792060-F653-3587-5807-70A42CFF9EF3}"/>
              </a:ext>
            </a:extLst>
          </p:cNvPr>
          <p:cNvCxnSpPr>
            <a:cxnSpLocks/>
          </p:cNvCxnSpPr>
          <p:nvPr/>
        </p:nvCxnSpPr>
        <p:spPr>
          <a:xfrm>
            <a:off x="10683624" y="1397076"/>
            <a:ext cx="0" cy="30352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AA33CBC-31AF-0FAB-A315-D479C49088AD}"/>
              </a:ext>
            </a:extLst>
          </p:cNvPr>
          <p:cNvCxnSpPr>
            <a:cxnSpLocks/>
          </p:cNvCxnSpPr>
          <p:nvPr/>
        </p:nvCxnSpPr>
        <p:spPr>
          <a:xfrm>
            <a:off x="10663977" y="3883804"/>
            <a:ext cx="0" cy="29183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3"/>
          </a:xfrm>
        </p:spPr>
        <p:txBody>
          <a:bodyPr/>
          <a:lstStyle/>
          <a:p>
            <a:r>
              <a:rPr lang="hu-HU" b="0" i="0" dirty="0">
                <a:solidFill>
                  <a:srgbClr val="1A1523"/>
                </a:solidFill>
                <a:effectLst/>
                <a:highlight>
                  <a:srgbClr val="FFFFFF"/>
                </a:highlight>
              </a:rPr>
              <a:t>A topic is a 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particular stream of data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Stream: sequence of messages</a:t>
            </a:r>
          </a:p>
          <a:p>
            <a:endParaRPr lang="hu-HU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en-US" b="0" i="0" dirty="0">
                <a:solidFill>
                  <a:srgbClr val="1A1523"/>
                </a:solidFill>
                <a:effectLst/>
                <a:highlight>
                  <a:srgbClr val="FFFFFF"/>
                </a:highlight>
              </a:rPr>
              <a:t>Similar to </a:t>
            </a:r>
            <a:r>
              <a:rPr lang="hu-HU" b="0" i="0" dirty="0">
                <a:solidFill>
                  <a:srgbClr val="1A1523"/>
                </a:solidFill>
                <a:effectLst/>
                <a:highlight>
                  <a:srgbClr val="FFFFFF"/>
                </a:highlight>
              </a:rPr>
              <a:t>a table in a</a:t>
            </a:r>
            <a:r>
              <a:rPr lang="en-US" b="0" i="0" dirty="0">
                <a:solidFill>
                  <a:srgbClr val="1A1523"/>
                </a:solidFill>
                <a:effectLst/>
                <a:highlight>
                  <a:srgbClr val="FFFFFF"/>
                </a:highlight>
              </a:rPr>
              <a:t> database</a:t>
            </a:r>
            <a:endParaRPr lang="hu-HU" b="0" i="0" dirty="0">
              <a:solidFill>
                <a:srgbClr val="1A1523"/>
              </a:solidFill>
              <a:effectLst/>
              <a:highlight>
                <a:srgbClr val="FFFFFF"/>
              </a:highlight>
            </a:endParaRPr>
          </a:p>
          <a:p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Identified by its name</a:t>
            </a:r>
          </a:p>
          <a:p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Any kind of message format (JSON, Avro, binary, ...)</a:t>
            </a:r>
          </a:p>
          <a:p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You can have as many as you want</a:t>
            </a:r>
          </a:p>
          <a:p>
            <a:endParaRPr lang="hu-HU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hu-HU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b="1" dirty="0">
                <a:solidFill>
                  <a:srgbClr val="1A1523"/>
                </a:solidFill>
                <a:highlight>
                  <a:srgbClr val="FFFFFF"/>
                </a:highlight>
              </a:rPr>
              <a:t>Its not queryable, use producers to write them and consumers to read them</a:t>
            </a:r>
            <a:endParaRPr lang="hu-HU" b="1" i="0" dirty="0">
              <a:solidFill>
                <a:srgbClr val="1A1523"/>
              </a:solidFill>
              <a:effectLst/>
              <a:highlight>
                <a:srgbClr val="FFFFFF"/>
              </a:highlight>
            </a:endParaRPr>
          </a:p>
          <a:p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0F9B221-A434-609F-1834-F04D36ECEBA9}"/>
              </a:ext>
            </a:extLst>
          </p:cNvPr>
          <p:cNvGrpSpPr/>
          <p:nvPr/>
        </p:nvGrpSpPr>
        <p:grpSpPr>
          <a:xfrm>
            <a:off x="10132349" y="1818719"/>
            <a:ext cx="1093536" cy="1965020"/>
            <a:chOff x="5831764" y="4342133"/>
            <a:chExt cx="1093536" cy="1965020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1C4305DA-12EC-995D-8052-C34539E512DE}"/>
                </a:ext>
              </a:extLst>
            </p:cNvPr>
            <p:cNvCxnSpPr>
              <a:cxnSpLocks/>
            </p:cNvCxnSpPr>
            <p:nvPr/>
          </p:nvCxnSpPr>
          <p:spPr>
            <a:xfrm>
              <a:off x="6744547" y="5916119"/>
              <a:ext cx="0" cy="291833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0C2832E-852C-B5C8-E3BE-C5FB80C3EE15}"/>
                </a:ext>
              </a:extLst>
            </p:cNvPr>
            <p:cNvSpPr/>
            <p:nvPr/>
          </p:nvSpPr>
          <p:spPr>
            <a:xfrm>
              <a:off x="5831764" y="4345415"/>
              <a:ext cx="1093536" cy="196173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400"/>
                </a:lnSpc>
              </a:pPr>
              <a:endPara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algn="ctr">
                <a:lnSpc>
                  <a:spcPts val="400"/>
                </a:lnSpc>
              </a:pPr>
              <a:endPara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algn="ctr">
                <a:lnSpc>
                  <a:spcPts val="400"/>
                </a:lnSpc>
              </a:pPr>
              <a:endPara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algn="ctr">
                <a:lnSpc>
                  <a:spcPts val="400"/>
                </a:lnSpc>
              </a:pPr>
              <a:endPara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algn="ctr">
                <a:lnSpc>
                  <a:spcPts val="400"/>
                </a:lnSpc>
              </a:pPr>
              <a:endParaRPr lang="hu-HU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algn="ctr">
                <a:lnSpc>
                  <a:spcPts val="400"/>
                </a:lnSpc>
              </a:pPr>
              <a:endParaRPr lang="en-US" sz="14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B785100-DBBA-E530-37F1-965EC86C64CD}"/>
                </a:ext>
              </a:extLst>
            </p:cNvPr>
            <p:cNvSpPr txBox="1"/>
            <p:nvPr/>
          </p:nvSpPr>
          <p:spPr>
            <a:xfrm>
              <a:off x="5831764" y="4342133"/>
              <a:ext cx="10632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dirty="0"/>
                <a:t>broker</a:t>
              </a:r>
              <a:endParaRPr lang="en-US" dirty="0"/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9318241C-9DF9-C6CE-93EA-C3ADE26613C3}"/>
                </a:ext>
              </a:extLst>
            </p:cNvPr>
            <p:cNvSpPr/>
            <p:nvPr/>
          </p:nvSpPr>
          <p:spPr>
            <a:xfrm>
              <a:off x="5949096" y="4747794"/>
              <a:ext cx="858871" cy="327448"/>
            </a:xfrm>
            <a:prstGeom prst="round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/>
                <a:t>traffic</a:t>
              </a:r>
              <a:endParaRPr lang="en-US" dirty="0"/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10F2EA6D-8BCE-86C0-497A-C526DBFF6CB5}"/>
                </a:ext>
              </a:extLst>
            </p:cNvPr>
            <p:cNvSpPr/>
            <p:nvPr/>
          </p:nvSpPr>
          <p:spPr>
            <a:xfrm>
              <a:off x="5949095" y="5224894"/>
              <a:ext cx="858871" cy="327448"/>
            </a:xfrm>
            <a:prstGeom prst="round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/>
                <a:t>logs</a:t>
              </a:r>
              <a:endParaRPr lang="en-US" dirty="0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9E12EE6-A80E-4571-C00A-37088C93A3B2}"/>
                </a:ext>
              </a:extLst>
            </p:cNvPr>
            <p:cNvSpPr/>
            <p:nvPr/>
          </p:nvSpPr>
          <p:spPr>
            <a:xfrm>
              <a:off x="5952601" y="5701994"/>
              <a:ext cx="858871" cy="327448"/>
            </a:xfrm>
            <a:prstGeom prst="round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/>
                <a:t>orders</a:t>
              </a:r>
              <a:endParaRPr lang="en-US" dirty="0"/>
            </a:p>
          </p:txBody>
        </p:sp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173BA5E-B50C-825F-3922-A089E4154B2D}"/>
              </a:ext>
            </a:extLst>
          </p:cNvPr>
          <p:cNvSpPr/>
          <p:nvPr/>
        </p:nvSpPr>
        <p:spPr>
          <a:xfrm>
            <a:off x="9080206" y="1701209"/>
            <a:ext cx="2647506" cy="2190307"/>
          </a:xfrm>
          <a:prstGeom prst="roundRect">
            <a:avLst/>
          </a:prstGeom>
          <a:noFill/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8073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Partitions and Offsets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4"/>
          </a:xfrm>
        </p:spPr>
        <p:txBody>
          <a:bodyPr/>
          <a:lstStyle/>
          <a:p>
            <a:r>
              <a:rPr lang="hu-HU" sz="1600" b="0" i="0" dirty="0">
                <a:solidFill>
                  <a:srgbClr val="1A1523"/>
                </a:solidFill>
                <a:effectLst/>
                <a:highlight>
                  <a:srgbClr val="FFFFFF"/>
                </a:highlight>
              </a:rPr>
              <a:t>Topics are broken down into a number of partitions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A single topic may have multiple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partitions: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no hard limit on how many (up to 100 its quite common)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The number is specified at topic creation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Messages within each partition are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ordered</a:t>
            </a:r>
          </a:p>
          <a:p>
            <a:pPr lvl="1"/>
            <a:r>
              <a:rPr lang="hu-HU" sz="1400" b="1" dirty="0">
                <a:solidFill>
                  <a:srgbClr val="1A1523"/>
                </a:solidFill>
                <a:highlight>
                  <a:srgbClr val="FFFFFF"/>
                </a:highlight>
              </a:rPr>
              <a:t>but not accross partitions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Each message within a partition gets incremental id,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called offset:</a:t>
            </a:r>
          </a:p>
          <a:p>
            <a:pPr lvl="1"/>
            <a:r>
              <a:rPr lang="hu-HU" sz="1400" b="1" dirty="0">
                <a:solidFill>
                  <a:srgbClr val="1A1523"/>
                </a:solidFill>
                <a:highlight>
                  <a:srgbClr val="FFFFFF"/>
                </a:highlight>
              </a:rPr>
              <a:t>an offset only have meaning for a specific partition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same offset for another partition does not guarantee the same message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Kafka topics are immutable: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once message is written it cannot be modified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Message is assigned randomly to a partition if no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message key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is provided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E93B418-16DF-49F7-7E18-CED899A62F02}"/>
              </a:ext>
            </a:extLst>
          </p:cNvPr>
          <p:cNvGrpSpPr/>
          <p:nvPr/>
        </p:nvGrpSpPr>
        <p:grpSpPr>
          <a:xfrm>
            <a:off x="3705731" y="2218760"/>
            <a:ext cx="8212046" cy="2718529"/>
            <a:chOff x="2194565" y="2158203"/>
            <a:chExt cx="8212046" cy="2718529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9318241C-9DF9-C6CE-93EA-C3ADE26613C3}"/>
                </a:ext>
              </a:extLst>
            </p:cNvPr>
            <p:cNvSpPr/>
            <p:nvPr/>
          </p:nvSpPr>
          <p:spPr>
            <a:xfrm>
              <a:off x="4436329" y="3062358"/>
              <a:ext cx="858871" cy="327448"/>
            </a:xfrm>
            <a:prstGeom prst="round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topic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" name="Left Brace 4">
              <a:extLst>
                <a:ext uri="{FF2B5EF4-FFF2-40B4-BE49-F238E27FC236}">
                  <a16:creationId xmlns:a16="http://schemas.microsoft.com/office/drawing/2014/main" id="{BCFCC1F6-F89E-37F3-9DD2-812B6E02639C}"/>
                </a:ext>
              </a:extLst>
            </p:cNvPr>
            <p:cNvSpPr/>
            <p:nvPr/>
          </p:nvSpPr>
          <p:spPr>
            <a:xfrm>
              <a:off x="5451017" y="2158203"/>
              <a:ext cx="491569" cy="213859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F3739EC-36FB-3B82-C3C8-FC04BE68CA56}"/>
                </a:ext>
              </a:extLst>
            </p:cNvPr>
            <p:cNvSpPr txBox="1"/>
            <p:nvPr/>
          </p:nvSpPr>
          <p:spPr>
            <a:xfrm>
              <a:off x="5942586" y="2318289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C62FC73-80D1-1E15-73FC-38E9D7F36CFB}"/>
                </a:ext>
              </a:extLst>
            </p:cNvPr>
            <p:cNvSpPr txBox="1"/>
            <p:nvPr/>
          </p:nvSpPr>
          <p:spPr>
            <a:xfrm>
              <a:off x="5942586" y="2888418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9F78126-3165-7D51-BB27-CB73236B0AE6}"/>
                </a:ext>
              </a:extLst>
            </p:cNvPr>
            <p:cNvSpPr txBox="1"/>
            <p:nvPr/>
          </p:nvSpPr>
          <p:spPr>
            <a:xfrm>
              <a:off x="5942586" y="3760590"/>
              <a:ext cx="12149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N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EEC50C5-FA73-F3EA-98EC-561622F0F54F}"/>
                </a:ext>
              </a:extLst>
            </p:cNvPr>
            <p:cNvSpPr txBox="1"/>
            <p:nvPr/>
          </p:nvSpPr>
          <p:spPr>
            <a:xfrm>
              <a:off x="6288206" y="3352309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49026A6-6622-532D-DB10-D53B882DA8CC}"/>
                </a:ext>
              </a:extLst>
            </p:cNvPr>
            <p:cNvSpPr/>
            <p:nvPr/>
          </p:nvSpPr>
          <p:spPr>
            <a:xfrm>
              <a:off x="7186355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30B94E0-F9C5-5181-9043-E5B5679B3A87}"/>
                </a:ext>
              </a:extLst>
            </p:cNvPr>
            <p:cNvSpPr/>
            <p:nvPr/>
          </p:nvSpPr>
          <p:spPr>
            <a:xfrm>
              <a:off x="7585553" y="2235602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BA99C6A-0E38-8FA8-5343-A5CEF95737B4}"/>
                </a:ext>
              </a:extLst>
            </p:cNvPr>
            <p:cNvSpPr/>
            <p:nvPr/>
          </p:nvSpPr>
          <p:spPr>
            <a:xfrm>
              <a:off x="7984751" y="2235604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A4F48D6-1950-0781-6848-6DAE4CF32FCA}"/>
                </a:ext>
              </a:extLst>
            </p:cNvPr>
            <p:cNvSpPr/>
            <p:nvPr/>
          </p:nvSpPr>
          <p:spPr>
            <a:xfrm>
              <a:off x="8383949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82687AE-5133-5D32-DED3-4A51F0F85617}"/>
                </a:ext>
              </a:extLst>
            </p:cNvPr>
            <p:cNvSpPr/>
            <p:nvPr/>
          </p:nvSpPr>
          <p:spPr>
            <a:xfrm>
              <a:off x="7186355" y="2862317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41EACEB-D0F9-0A08-AC19-29B439D561EF}"/>
                </a:ext>
              </a:extLst>
            </p:cNvPr>
            <p:cNvSpPr/>
            <p:nvPr/>
          </p:nvSpPr>
          <p:spPr>
            <a:xfrm>
              <a:off x="7585553" y="2862316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FB02AD3-07CF-D86E-CFD0-A5F6D4974AB4}"/>
                </a:ext>
              </a:extLst>
            </p:cNvPr>
            <p:cNvSpPr/>
            <p:nvPr/>
          </p:nvSpPr>
          <p:spPr>
            <a:xfrm>
              <a:off x="7984751" y="2862318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7C648C5-A0A2-E4EE-F524-B5D03D78C4AD}"/>
                </a:ext>
              </a:extLst>
            </p:cNvPr>
            <p:cNvSpPr/>
            <p:nvPr/>
          </p:nvSpPr>
          <p:spPr>
            <a:xfrm>
              <a:off x="8383949" y="2862317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BE6DDE0-D78E-EABC-C99D-0CAA6E271919}"/>
                </a:ext>
              </a:extLst>
            </p:cNvPr>
            <p:cNvSpPr/>
            <p:nvPr/>
          </p:nvSpPr>
          <p:spPr>
            <a:xfrm>
              <a:off x="8783147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C7BC536-BA11-37BD-E7FB-17B2B29F6F44}"/>
                </a:ext>
              </a:extLst>
            </p:cNvPr>
            <p:cNvSpPr/>
            <p:nvPr/>
          </p:nvSpPr>
          <p:spPr>
            <a:xfrm>
              <a:off x="9182345" y="2235602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C630052-2B56-262D-C94E-FCA679BB046F}"/>
                </a:ext>
              </a:extLst>
            </p:cNvPr>
            <p:cNvSpPr/>
            <p:nvPr/>
          </p:nvSpPr>
          <p:spPr>
            <a:xfrm>
              <a:off x="7186355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BE20A0A-A697-F65A-F98A-9F87121B326E}"/>
                </a:ext>
              </a:extLst>
            </p:cNvPr>
            <p:cNvSpPr/>
            <p:nvPr/>
          </p:nvSpPr>
          <p:spPr>
            <a:xfrm>
              <a:off x="7585553" y="3667330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2D945D0-4465-AC74-6B1E-8AC3DD0B16CE}"/>
                </a:ext>
              </a:extLst>
            </p:cNvPr>
            <p:cNvSpPr/>
            <p:nvPr/>
          </p:nvSpPr>
          <p:spPr>
            <a:xfrm>
              <a:off x="7984751" y="3667332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21724D9-0880-9AB5-BEAF-B3B71076B1F9}"/>
                </a:ext>
              </a:extLst>
            </p:cNvPr>
            <p:cNvSpPr/>
            <p:nvPr/>
          </p:nvSpPr>
          <p:spPr>
            <a:xfrm>
              <a:off x="8383949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4BCCC184-DBA8-83A0-5394-DBCD3F3496D2}"/>
                </a:ext>
              </a:extLst>
            </p:cNvPr>
            <p:cNvSpPr/>
            <p:nvPr/>
          </p:nvSpPr>
          <p:spPr>
            <a:xfrm>
              <a:off x="8783147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CBB0EB5-4BD5-7A17-2253-E263AA30C8DF}"/>
                </a:ext>
              </a:extLst>
            </p:cNvPr>
            <p:cNvSpPr/>
            <p:nvPr/>
          </p:nvSpPr>
          <p:spPr>
            <a:xfrm>
              <a:off x="9182345" y="3667330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D531372-E0FB-DDD3-A050-B209B36BF429}"/>
                </a:ext>
              </a:extLst>
            </p:cNvPr>
            <p:cNvSpPr/>
            <p:nvPr/>
          </p:nvSpPr>
          <p:spPr>
            <a:xfrm>
              <a:off x="9581543" y="3667332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6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656B9AC-9CE4-86D8-7E97-7268A65830BC}"/>
                </a:ext>
              </a:extLst>
            </p:cNvPr>
            <p:cNvSpPr/>
            <p:nvPr/>
          </p:nvSpPr>
          <p:spPr>
            <a:xfrm>
              <a:off x="2194565" y="2990924"/>
              <a:ext cx="1026854" cy="47314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Producer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58F60F3-E731-93DD-9ADF-F042DFF51AF1}"/>
                </a:ext>
              </a:extLst>
            </p:cNvPr>
            <p:cNvCxnSpPr>
              <a:cxnSpLocks/>
            </p:cNvCxnSpPr>
            <p:nvPr/>
          </p:nvCxnSpPr>
          <p:spPr>
            <a:xfrm>
              <a:off x="3459630" y="3221112"/>
              <a:ext cx="753914" cy="0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FDBEC50-4E0D-B35B-E2F8-0D65C115F9D8}"/>
                </a:ext>
              </a:extLst>
            </p:cNvPr>
            <p:cNvSpPr txBox="1"/>
            <p:nvPr/>
          </p:nvSpPr>
          <p:spPr>
            <a:xfrm>
              <a:off x="3305003" y="2923924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write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77A748A-C2FD-BC0F-D99D-B625C0ADC380}"/>
                </a:ext>
              </a:extLst>
            </p:cNvPr>
            <p:cNvSpPr txBox="1"/>
            <p:nvPr/>
          </p:nvSpPr>
          <p:spPr>
            <a:xfrm>
              <a:off x="8583548" y="4568955"/>
              <a:ext cx="1823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message offset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138B55D-4026-4D8B-B339-46011C8E39EC}"/>
                </a:ext>
              </a:extLst>
            </p:cNvPr>
            <p:cNvSpPr txBox="1"/>
            <p:nvPr/>
          </p:nvSpPr>
          <p:spPr>
            <a:xfrm rot="5400000">
              <a:off x="9724220" y="2267330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DE41B48-9070-3292-48E6-D85759655721}"/>
                </a:ext>
              </a:extLst>
            </p:cNvPr>
            <p:cNvSpPr txBox="1"/>
            <p:nvPr/>
          </p:nvSpPr>
          <p:spPr>
            <a:xfrm rot="5400000">
              <a:off x="8852904" y="2900036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FC3A3DF-AA09-91E4-98CA-654070BC7E77}"/>
                </a:ext>
              </a:extLst>
            </p:cNvPr>
            <p:cNvSpPr txBox="1"/>
            <p:nvPr/>
          </p:nvSpPr>
          <p:spPr>
            <a:xfrm rot="5400000">
              <a:off x="10039243" y="3705050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F5D3EF7-9647-4E1D-52A8-70C1408E0905}"/>
                </a:ext>
              </a:extLst>
            </p:cNvPr>
            <p:cNvCxnSpPr>
              <a:cxnSpLocks/>
              <a:stCxn id="60" idx="0"/>
              <a:endCxn id="42" idx="2"/>
            </p:cNvCxnSpPr>
            <p:nvPr/>
          </p:nvCxnSpPr>
          <p:spPr>
            <a:xfrm flipH="1" flipV="1">
              <a:off x="8583548" y="4057794"/>
              <a:ext cx="911532" cy="5111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93341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Message Keys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4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Producer can send key with the message (number, string, ...)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Based on the key the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producer decides to which partition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it sends the message: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E93B418-16DF-49F7-7E18-CED899A62F02}"/>
              </a:ext>
            </a:extLst>
          </p:cNvPr>
          <p:cNvGrpSpPr/>
          <p:nvPr/>
        </p:nvGrpSpPr>
        <p:grpSpPr>
          <a:xfrm>
            <a:off x="3705731" y="2218760"/>
            <a:ext cx="8212046" cy="2718529"/>
            <a:chOff x="2194565" y="2158203"/>
            <a:chExt cx="8212046" cy="2718529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9318241C-9DF9-C6CE-93EA-C3ADE26613C3}"/>
                </a:ext>
              </a:extLst>
            </p:cNvPr>
            <p:cNvSpPr/>
            <p:nvPr/>
          </p:nvSpPr>
          <p:spPr>
            <a:xfrm>
              <a:off x="4436329" y="3062358"/>
              <a:ext cx="858871" cy="327448"/>
            </a:xfrm>
            <a:prstGeom prst="round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topic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" name="Left Brace 4">
              <a:extLst>
                <a:ext uri="{FF2B5EF4-FFF2-40B4-BE49-F238E27FC236}">
                  <a16:creationId xmlns:a16="http://schemas.microsoft.com/office/drawing/2014/main" id="{BCFCC1F6-F89E-37F3-9DD2-812B6E02639C}"/>
                </a:ext>
              </a:extLst>
            </p:cNvPr>
            <p:cNvSpPr/>
            <p:nvPr/>
          </p:nvSpPr>
          <p:spPr>
            <a:xfrm>
              <a:off x="5451017" y="2158203"/>
              <a:ext cx="491569" cy="213859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F3739EC-36FB-3B82-C3C8-FC04BE68CA56}"/>
                </a:ext>
              </a:extLst>
            </p:cNvPr>
            <p:cNvSpPr txBox="1"/>
            <p:nvPr/>
          </p:nvSpPr>
          <p:spPr>
            <a:xfrm>
              <a:off x="5942586" y="2318289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C62FC73-80D1-1E15-73FC-38E9D7F36CFB}"/>
                </a:ext>
              </a:extLst>
            </p:cNvPr>
            <p:cNvSpPr txBox="1"/>
            <p:nvPr/>
          </p:nvSpPr>
          <p:spPr>
            <a:xfrm>
              <a:off x="5942586" y="2888418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9F78126-3165-7D51-BB27-CB73236B0AE6}"/>
                </a:ext>
              </a:extLst>
            </p:cNvPr>
            <p:cNvSpPr txBox="1"/>
            <p:nvPr/>
          </p:nvSpPr>
          <p:spPr>
            <a:xfrm>
              <a:off x="5942586" y="3760590"/>
              <a:ext cx="12149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N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EEC50C5-FA73-F3EA-98EC-561622F0F54F}"/>
                </a:ext>
              </a:extLst>
            </p:cNvPr>
            <p:cNvSpPr txBox="1"/>
            <p:nvPr/>
          </p:nvSpPr>
          <p:spPr>
            <a:xfrm>
              <a:off x="6288206" y="3352309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49026A6-6622-532D-DB10-D53B882DA8CC}"/>
                </a:ext>
              </a:extLst>
            </p:cNvPr>
            <p:cNvSpPr/>
            <p:nvPr/>
          </p:nvSpPr>
          <p:spPr>
            <a:xfrm>
              <a:off x="7186355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30B94E0-F9C5-5181-9043-E5B5679B3A87}"/>
                </a:ext>
              </a:extLst>
            </p:cNvPr>
            <p:cNvSpPr/>
            <p:nvPr/>
          </p:nvSpPr>
          <p:spPr>
            <a:xfrm>
              <a:off x="7585553" y="2235602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BA99C6A-0E38-8FA8-5343-A5CEF95737B4}"/>
                </a:ext>
              </a:extLst>
            </p:cNvPr>
            <p:cNvSpPr/>
            <p:nvPr/>
          </p:nvSpPr>
          <p:spPr>
            <a:xfrm>
              <a:off x="7984751" y="2235604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A4F48D6-1950-0781-6848-6DAE4CF32FCA}"/>
                </a:ext>
              </a:extLst>
            </p:cNvPr>
            <p:cNvSpPr/>
            <p:nvPr/>
          </p:nvSpPr>
          <p:spPr>
            <a:xfrm>
              <a:off x="8383949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82687AE-5133-5D32-DED3-4A51F0F85617}"/>
                </a:ext>
              </a:extLst>
            </p:cNvPr>
            <p:cNvSpPr/>
            <p:nvPr/>
          </p:nvSpPr>
          <p:spPr>
            <a:xfrm>
              <a:off x="7186355" y="2862317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41EACEB-D0F9-0A08-AC19-29B439D561EF}"/>
                </a:ext>
              </a:extLst>
            </p:cNvPr>
            <p:cNvSpPr/>
            <p:nvPr/>
          </p:nvSpPr>
          <p:spPr>
            <a:xfrm>
              <a:off x="7585553" y="2862316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FB02AD3-07CF-D86E-CFD0-A5F6D4974AB4}"/>
                </a:ext>
              </a:extLst>
            </p:cNvPr>
            <p:cNvSpPr/>
            <p:nvPr/>
          </p:nvSpPr>
          <p:spPr>
            <a:xfrm>
              <a:off x="7984751" y="2862318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7C648C5-A0A2-E4EE-F524-B5D03D78C4AD}"/>
                </a:ext>
              </a:extLst>
            </p:cNvPr>
            <p:cNvSpPr/>
            <p:nvPr/>
          </p:nvSpPr>
          <p:spPr>
            <a:xfrm>
              <a:off x="8383949" y="2862317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BE6DDE0-D78E-EABC-C99D-0CAA6E271919}"/>
                </a:ext>
              </a:extLst>
            </p:cNvPr>
            <p:cNvSpPr/>
            <p:nvPr/>
          </p:nvSpPr>
          <p:spPr>
            <a:xfrm>
              <a:off x="8783147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C7BC536-BA11-37BD-E7FB-17B2B29F6F44}"/>
                </a:ext>
              </a:extLst>
            </p:cNvPr>
            <p:cNvSpPr/>
            <p:nvPr/>
          </p:nvSpPr>
          <p:spPr>
            <a:xfrm>
              <a:off x="9182345" y="2235602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C630052-2B56-262D-C94E-FCA679BB046F}"/>
                </a:ext>
              </a:extLst>
            </p:cNvPr>
            <p:cNvSpPr/>
            <p:nvPr/>
          </p:nvSpPr>
          <p:spPr>
            <a:xfrm>
              <a:off x="7186355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BE20A0A-A697-F65A-F98A-9F87121B326E}"/>
                </a:ext>
              </a:extLst>
            </p:cNvPr>
            <p:cNvSpPr/>
            <p:nvPr/>
          </p:nvSpPr>
          <p:spPr>
            <a:xfrm>
              <a:off x="7585553" y="3667330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2D945D0-4465-AC74-6B1E-8AC3DD0B16CE}"/>
                </a:ext>
              </a:extLst>
            </p:cNvPr>
            <p:cNvSpPr/>
            <p:nvPr/>
          </p:nvSpPr>
          <p:spPr>
            <a:xfrm>
              <a:off x="7984751" y="3667332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21724D9-0880-9AB5-BEAF-B3B71076B1F9}"/>
                </a:ext>
              </a:extLst>
            </p:cNvPr>
            <p:cNvSpPr/>
            <p:nvPr/>
          </p:nvSpPr>
          <p:spPr>
            <a:xfrm>
              <a:off x="8383949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4BCCC184-DBA8-83A0-5394-DBCD3F3496D2}"/>
                </a:ext>
              </a:extLst>
            </p:cNvPr>
            <p:cNvSpPr/>
            <p:nvPr/>
          </p:nvSpPr>
          <p:spPr>
            <a:xfrm>
              <a:off x="8783147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CBB0EB5-4BD5-7A17-2253-E263AA30C8DF}"/>
                </a:ext>
              </a:extLst>
            </p:cNvPr>
            <p:cNvSpPr/>
            <p:nvPr/>
          </p:nvSpPr>
          <p:spPr>
            <a:xfrm>
              <a:off x="9182345" y="3667330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D531372-E0FB-DDD3-A050-B209B36BF429}"/>
                </a:ext>
              </a:extLst>
            </p:cNvPr>
            <p:cNvSpPr/>
            <p:nvPr/>
          </p:nvSpPr>
          <p:spPr>
            <a:xfrm>
              <a:off x="9581543" y="3667332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6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656B9AC-9CE4-86D8-7E97-7268A65830BC}"/>
                </a:ext>
              </a:extLst>
            </p:cNvPr>
            <p:cNvSpPr/>
            <p:nvPr/>
          </p:nvSpPr>
          <p:spPr>
            <a:xfrm>
              <a:off x="2194565" y="2990924"/>
              <a:ext cx="1026854" cy="47314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Producer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FDBEC50-4E0D-B35B-E2F8-0D65C115F9D8}"/>
                </a:ext>
              </a:extLst>
            </p:cNvPr>
            <p:cNvSpPr txBox="1"/>
            <p:nvPr/>
          </p:nvSpPr>
          <p:spPr>
            <a:xfrm>
              <a:off x="4006634" y="2754581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write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77A748A-C2FD-BC0F-D99D-B625C0ADC380}"/>
                </a:ext>
              </a:extLst>
            </p:cNvPr>
            <p:cNvSpPr txBox="1"/>
            <p:nvPr/>
          </p:nvSpPr>
          <p:spPr>
            <a:xfrm>
              <a:off x="8583548" y="4568955"/>
              <a:ext cx="1823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message offset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138B55D-4026-4D8B-B339-46011C8E39EC}"/>
                </a:ext>
              </a:extLst>
            </p:cNvPr>
            <p:cNvSpPr txBox="1"/>
            <p:nvPr/>
          </p:nvSpPr>
          <p:spPr>
            <a:xfrm rot="5400000">
              <a:off x="9724220" y="2267330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DE41B48-9070-3292-48E6-D85759655721}"/>
                </a:ext>
              </a:extLst>
            </p:cNvPr>
            <p:cNvSpPr txBox="1"/>
            <p:nvPr/>
          </p:nvSpPr>
          <p:spPr>
            <a:xfrm rot="5400000">
              <a:off x="8852904" y="2900036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FC3A3DF-AA09-91E4-98CA-654070BC7E77}"/>
                </a:ext>
              </a:extLst>
            </p:cNvPr>
            <p:cNvSpPr txBox="1"/>
            <p:nvPr/>
          </p:nvSpPr>
          <p:spPr>
            <a:xfrm rot="5400000">
              <a:off x="10039243" y="3705050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F5D3EF7-9647-4E1D-52A8-70C1408E0905}"/>
                </a:ext>
              </a:extLst>
            </p:cNvPr>
            <p:cNvCxnSpPr>
              <a:cxnSpLocks/>
              <a:stCxn id="60" idx="0"/>
              <a:endCxn id="42" idx="2"/>
            </p:cNvCxnSpPr>
            <p:nvPr/>
          </p:nvCxnSpPr>
          <p:spPr>
            <a:xfrm flipH="1" flipV="1">
              <a:off x="8583548" y="4057794"/>
              <a:ext cx="911532" cy="5111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732D3E3-BCCD-FDA5-8B9E-DC955A7BFE85}"/>
              </a:ext>
            </a:extLst>
          </p:cNvPr>
          <p:cNvSpPr/>
          <p:nvPr/>
        </p:nvSpPr>
        <p:spPr>
          <a:xfrm>
            <a:off x="4908884" y="2541069"/>
            <a:ext cx="2502569" cy="770022"/>
          </a:xfrm>
          <a:custGeom>
            <a:avLst/>
            <a:gdLst>
              <a:gd name="connsiteX0" fmla="*/ 0 w 2502569"/>
              <a:gd name="connsiteY0" fmla="*/ 770022 h 770022"/>
              <a:gd name="connsiteX1" fmla="*/ 1636295 w 2502569"/>
              <a:gd name="connsiteY1" fmla="*/ 558266 h 770022"/>
              <a:gd name="connsiteX2" fmla="*/ 2502569 w 2502569"/>
              <a:gd name="connsiteY2" fmla="*/ 0 h 770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02569" h="770022">
                <a:moveTo>
                  <a:pt x="0" y="770022"/>
                </a:moveTo>
                <a:cubicBezTo>
                  <a:pt x="609600" y="728312"/>
                  <a:pt x="1219200" y="686603"/>
                  <a:pt x="1636295" y="558266"/>
                </a:cubicBezTo>
                <a:cubicBezTo>
                  <a:pt x="2053390" y="429929"/>
                  <a:pt x="2277979" y="214964"/>
                  <a:pt x="2502569" y="0"/>
                </a:cubicBezTo>
              </a:path>
            </a:pathLst>
          </a:custGeom>
          <a:noFill/>
          <a:ln w="19050"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8526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Message Keys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4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Producer can send key with the message (number, string, ...)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Based on the key the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producer decides to which partition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it sends the message: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If 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key == null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 partition is selected at random</a:t>
            </a:r>
          </a:p>
          <a:p>
            <a:pPr lvl="1"/>
            <a:endParaRPr lang="hu-HU" sz="14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E93B418-16DF-49F7-7E18-CED899A62F02}"/>
              </a:ext>
            </a:extLst>
          </p:cNvPr>
          <p:cNvGrpSpPr/>
          <p:nvPr/>
        </p:nvGrpSpPr>
        <p:grpSpPr>
          <a:xfrm>
            <a:off x="3705731" y="2218760"/>
            <a:ext cx="8212046" cy="2718529"/>
            <a:chOff x="2194565" y="2158203"/>
            <a:chExt cx="8212046" cy="2718529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9318241C-9DF9-C6CE-93EA-C3ADE26613C3}"/>
                </a:ext>
              </a:extLst>
            </p:cNvPr>
            <p:cNvSpPr/>
            <p:nvPr/>
          </p:nvSpPr>
          <p:spPr>
            <a:xfrm>
              <a:off x="4436329" y="3062358"/>
              <a:ext cx="858871" cy="327448"/>
            </a:xfrm>
            <a:prstGeom prst="round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topic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" name="Left Brace 4">
              <a:extLst>
                <a:ext uri="{FF2B5EF4-FFF2-40B4-BE49-F238E27FC236}">
                  <a16:creationId xmlns:a16="http://schemas.microsoft.com/office/drawing/2014/main" id="{BCFCC1F6-F89E-37F3-9DD2-812B6E02639C}"/>
                </a:ext>
              </a:extLst>
            </p:cNvPr>
            <p:cNvSpPr/>
            <p:nvPr/>
          </p:nvSpPr>
          <p:spPr>
            <a:xfrm>
              <a:off x="5451017" y="2158203"/>
              <a:ext cx="491569" cy="213859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F3739EC-36FB-3B82-C3C8-FC04BE68CA56}"/>
                </a:ext>
              </a:extLst>
            </p:cNvPr>
            <p:cNvSpPr txBox="1"/>
            <p:nvPr/>
          </p:nvSpPr>
          <p:spPr>
            <a:xfrm>
              <a:off x="5942586" y="2318289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C62FC73-80D1-1E15-73FC-38E9D7F36CFB}"/>
                </a:ext>
              </a:extLst>
            </p:cNvPr>
            <p:cNvSpPr txBox="1"/>
            <p:nvPr/>
          </p:nvSpPr>
          <p:spPr>
            <a:xfrm>
              <a:off x="5942586" y="2888418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9F78126-3165-7D51-BB27-CB73236B0AE6}"/>
                </a:ext>
              </a:extLst>
            </p:cNvPr>
            <p:cNvSpPr txBox="1"/>
            <p:nvPr/>
          </p:nvSpPr>
          <p:spPr>
            <a:xfrm>
              <a:off x="5942586" y="3760590"/>
              <a:ext cx="12149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N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EEC50C5-FA73-F3EA-98EC-561622F0F54F}"/>
                </a:ext>
              </a:extLst>
            </p:cNvPr>
            <p:cNvSpPr txBox="1"/>
            <p:nvPr/>
          </p:nvSpPr>
          <p:spPr>
            <a:xfrm>
              <a:off x="6288206" y="3352309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49026A6-6622-532D-DB10-D53B882DA8CC}"/>
                </a:ext>
              </a:extLst>
            </p:cNvPr>
            <p:cNvSpPr/>
            <p:nvPr/>
          </p:nvSpPr>
          <p:spPr>
            <a:xfrm>
              <a:off x="7186355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30B94E0-F9C5-5181-9043-E5B5679B3A87}"/>
                </a:ext>
              </a:extLst>
            </p:cNvPr>
            <p:cNvSpPr/>
            <p:nvPr/>
          </p:nvSpPr>
          <p:spPr>
            <a:xfrm>
              <a:off x="7585553" y="2235602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BA99C6A-0E38-8FA8-5343-A5CEF95737B4}"/>
                </a:ext>
              </a:extLst>
            </p:cNvPr>
            <p:cNvSpPr/>
            <p:nvPr/>
          </p:nvSpPr>
          <p:spPr>
            <a:xfrm>
              <a:off x="7984751" y="2235604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A4F48D6-1950-0781-6848-6DAE4CF32FCA}"/>
                </a:ext>
              </a:extLst>
            </p:cNvPr>
            <p:cNvSpPr/>
            <p:nvPr/>
          </p:nvSpPr>
          <p:spPr>
            <a:xfrm>
              <a:off x="8383949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82687AE-5133-5D32-DED3-4A51F0F85617}"/>
                </a:ext>
              </a:extLst>
            </p:cNvPr>
            <p:cNvSpPr/>
            <p:nvPr/>
          </p:nvSpPr>
          <p:spPr>
            <a:xfrm>
              <a:off x="7186355" y="2862317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41EACEB-D0F9-0A08-AC19-29B439D561EF}"/>
                </a:ext>
              </a:extLst>
            </p:cNvPr>
            <p:cNvSpPr/>
            <p:nvPr/>
          </p:nvSpPr>
          <p:spPr>
            <a:xfrm>
              <a:off x="7585553" y="2862316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FB02AD3-07CF-D86E-CFD0-A5F6D4974AB4}"/>
                </a:ext>
              </a:extLst>
            </p:cNvPr>
            <p:cNvSpPr/>
            <p:nvPr/>
          </p:nvSpPr>
          <p:spPr>
            <a:xfrm>
              <a:off x="7984751" y="2862318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7C648C5-A0A2-E4EE-F524-B5D03D78C4AD}"/>
                </a:ext>
              </a:extLst>
            </p:cNvPr>
            <p:cNvSpPr/>
            <p:nvPr/>
          </p:nvSpPr>
          <p:spPr>
            <a:xfrm>
              <a:off x="8383949" y="2862317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BE6DDE0-D78E-EABC-C99D-0CAA6E271919}"/>
                </a:ext>
              </a:extLst>
            </p:cNvPr>
            <p:cNvSpPr/>
            <p:nvPr/>
          </p:nvSpPr>
          <p:spPr>
            <a:xfrm>
              <a:off x="8783147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C7BC536-BA11-37BD-E7FB-17B2B29F6F44}"/>
                </a:ext>
              </a:extLst>
            </p:cNvPr>
            <p:cNvSpPr/>
            <p:nvPr/>
          </p:nvSpPr>
          <p:spPr>
            <a:xfrm>
              <a:off x="9182345" y="2235602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C630052-2B56-262D-C94E-FCA679BB046F}"/>
                </a:ext>
              </a:extLst>
            </p:cNvPr>
            <p:cNvSpPr/>
            <p:nvPr/>
          </p:nvSpPr>
          <p:spPr>
            <a:xfrm>
              <a:off x="7186355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BE20A0A-A697-F65A-F98A-9F87121B326E}"/>
                </a:ext>
              </a:extLst>
            </p:cNvPr>
            <p:cNvSpPr/>
            <p:nvPr/>
          </p:nvSpPr>
          <p:spPr>
            <a:xfrm>
              <a:off x="7585553" y="3667330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2D945D0-4465-AC74-6B1E-8AC3DD0B16CE}"/>
                </a:ext>
              </a:extLst>
            </p:cNvPr>
            <p:cNvSpPr/>
            <p:nvPr/>
          </p:nvSpPr>
          <p:spPr>
            <a:xfrm>
              <a:off x="7984751" y="3667332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21724D9-0880-9AB5-BEAF-B3B71076B1F9}"/>
                </a:ext>
              </a:extLst>
            </p:cNvPr>
            <p:cNvSpPr/>
            <p:nvPr/>
          </p:nvSpPr>
          <p:spPr>
            <a:xfrm>
              <a:off x="8383949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4BCCC184-DBA8-83A0-5394-DBCD3F3496D2}"/>
                </a:ext>
              </a:extLst>
            </p:cNvPr>
            <p:cNvSpPr/>
            <p:nvPr/>
          </p:nvSpPr>
          <p:spPr>
            <a:xfrm>
              <a:off x="8783147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CBB0EB5-4BD5-7A17-2253-E263AA30C8DF}"/>
                </a:ext>
              </a:extLst>
            </p:cNvPr>
            <p:cNvSpPr/>
            <p:nvPr/>
          </p:nvSpPr>
          <p:spPr>
            <a:xfrm>
              <a:off x="9182345" y="3667330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D531372-E0FB-DDD3-A050-B209B36BF429}"/>
                </a:ext>
              </a:extLst>
            </p:cNvPr>
            <p:cNvSpPr/>
            <p:nvPr/>
          </p:nvSpPr>
          <p:spPr>
            <a:xfrm>
              <a:off x="9581543" y="3667332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6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656B9AC-9CE4-86D8-7E97-7268A65830BC}"/>
                </a:ext>
              </a:extLst>
            </p:cNvPr>
            <p:cNvSpPr/>
            <p:nvPr/>
          </p:nvSpPr>
          <p:spPr>
            <a:xfrm>
              <a:off x="2194565" y="2990924"/>
              <a:ext cx="1026854" cy="47314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Producer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FDBEC50-4E0D-B35B-E2F8-0D65C115F9D8}"/>
                </a:ext>
              </a:extLst>
            </p:cNvPr>
            <p:cNvSpPr txBox="1"/>
            <p:nvPr/>
          </p:nvSpPr>
          <p:spPr>
            <a:xfrm>
              <a:off x="3844383" y="2653505"/>
              <a:ext cx="135851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Courier New" panose="02070309020205020404" pitchFamily="49" charset="0"/>
                  <a:ea typeface="Open Sans" panose="020B0606030504020204" pitchFamily="34" charset="0"/>
                  <a:cs typeface="Courier New" panose="02070309020205020404" pitchFamily="49" charset="0"/>
                </a:rPr>
                <a:t>key: null</a:t>
              </a:r>
              <a:endParaRPr lang="en-US" sz="1400" dirty="0">
                <a:latin typeface="Courier New" panose="02070309020205020404" pitchFamily="49" charset="0"/>
                <a:ea typeface="Open Sans" panose="020B0606030504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77A748A-C2FD-BC0F-D99D-B625C0ADC380}"/>
                </a:ext>
              </a:extLst>
            </p:cNvPr>
            <p:cNvSpPr txBox="1"/>
            <p:nvPr/>
          </p:nvSpPr>
          <p:spPr>
            <a:xfrm>
              <a:off x="8583548" y="4568955"/>
              <a:ext cx="1823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message offset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138B55D-4026-4D8B-B339-46011C8E39EC}"/>
                </a:ext>
              </a:extLst>
            </p:cNvPr>
            <p:cNvSpPr txBox="1"/>
            <p:nvPr/>
          </p:nvSpPr>
          <p:spPr>
            <a:xfrm rot="5400000">
              <a:off x="9724220" y="2267330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DE41B48-9070-3292-48E6-D85759655721}"/>
                </a:ext>
              </a:extLst>
            </p:cNvPr>
            <p:cNvSpPr txBox="1"/>
            <p:nvPr/>
          </p:nvSpPr>
          <p:spPr>
            <a:xfrm rot="5400000">
              <a:off x="8852904" y="2900036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FC3A3DF-AA09-91E4-98CA-654070BC7E77}"/>
                </a:ext>
              </a:extLst>
            </p:cNvPr>
            <p:cNvSpPr txBox="1"/>
            <p:nvPr/>
          </p:nvSpPr>
          <p:spPr>
            <a:xfrm rot="5400000">
              <a:off x="10039243" y="3705050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F5D3EF7-9647-4E1D-52A8-70C1408E0905}"/>
                </a:ext>
              </a:extLst>
            </p:cNvPr>
            <p:cNvCxnSpPr>
              <a:cxnSpLocks/>
              <a:stCxn id="60" idx="0"/>
              <a:endCxn id="42" idx="2"/>
            </p:cNvCxnSpPr>
            <p:nvPr/>
          </p:nvCxnSpPr>
          <p:spPr>
            <a:xfrm flipH="1" flipV="1">
              <a:off x="8583548" y="4057794"/>
              <a:ext cx="911532" cy="5111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732D3E3-BCCD-FDA5-8B9E-DC955A7BFE85}"/>
              </a:ext>
            </a:extLst>
          </p:cNvPr>
          <p:cNvSpPr/>
          <p:nvPr/>
        </p:nvSpPr>
        <p:spPr>
          <a:xfrm flipV="1">
            <a:off x="4920018" y="3297476"/>
            <a:ext cx="2645439" cy="327449"/>
          </a:xfrm>
          <a:custGeom>
            <a:avLst/>
            <a:gdLst>
              <a:gd name="connsiteX0" fmla="*/ 0 w 2502569"/>
              <a:gd name="connsiteY0" fmla="*/ 770022 h 770022"/>
              <a:gd name="connsiteX1" fmla="*/ 1636295 w 2502569"/>
              <a:gd name="connsiteY1" fmla="*/ 558266 h 770022"/>
              <a:gd name="connsiteX2" fmla="*/ 2502569 w 2502569"/>
              <a:gd name="connsiteY2" fmla="*/ 0 h 770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02569" h="770022">
                <a:moveTo>
                  <a:pt x="0" y="770022"/>
                </a:moveTo>
                <a:cubicBezTo>
                  <a:pt x="609600" y="728312"/>
                  <a:pt x="1219200" y="686603"/>
                  <a:pt x="1636295" y="558266"/>
                </a:cubicBezTo>
                <a:cubicBezTo>
                  <a:pt x="2053390" y="429929"/>
                  <a:pt x="2277979" y="214964"/>
                  <a:pt x="2502569" y="0"/>
                </a:cubicBezTo>
              </a:path>
            </a:pathLst>
          </a:custGeom>
          <a:noFill/>
          <a:ln w="19050"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1813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Message Keys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4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Producer can send key with the message (number, string, ...)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Based on the key the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producer decides to which partition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it sends the message: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If 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key == null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 partition is selected at random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If 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key != null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 same partition is assigned to the same key</a:t>
            </a: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E93B418-16DF-49F7-7E18-CED899A62F02}"/>
              </a:ext>
            </a:extLst>
          </p:cNvPr>
          <p:cNvGrpSpPr/>
          <p:nvPr/>
        </p:nvGrpSpPr>
        <p:grpSpPr>
          <a:xfrm>
            <a:off x="3705731" y="2218760"/>
            <a:ext cx="8212046" cy="2718529"/>
            <a:chOff x="2194565" y="2158203"/>
            <a:chExt cx="8212046" cy="2718529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9318241C-9DF9-C6CE-93EA-C3ADE26613C3}"/>
                </a:ext>
              </a:extLst>
            </p:cNvPr>
            <p:cNvSpPr/>
            <p:nvPr/>
          </p:nvSpPr>
          <p:spPr>
            <a:xfrm>
              <a:off x="4436329" y="3062358"/>
              <a:ext cx="858871" cy="327448"/>
            </a:xfrm>
            <a:prstGeom prst="round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topic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" name="Left Brace 4">
              <a:extLst>
                <a:ext uri="{FF2B5EF4-FFF2-40B4-BE49-F238E27FC236}">
                  <a16:creationId xmlns:a16="http://schemas.microsoft.com/office/drawing/2014/main" id="{BCFCC1F6-F89E-37F3-9DD2-812B6E02639C}"/>
                </a:ext>
              </a:extLst>
            </p:cNvPr>
            <p:cNvSpPr/>
            <p:nvPr/>
          </p:nvSpPr>
          <p:spPr>
            <a:xfrm>
              <a:off x="5451017" y="2158203"/>
              <a:ext cx="491569" cy="213859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F3739EC-36FB-3B82-C3C8-FC04BE68CA56}"/>
                </a:ext>
              </a:extLst>
            </p:cNvPr>
            <p:cNvSpPr txBox="1"/>
            <p:nvPr/>
          </p:nvSpPr>
          <p:spPr>
            <a:xfrm>
              <a:off x="5942586" y="2318289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C62FC73-80D1-1E15-73FC-38E9D7F36CFB}"/>
                </a:ext>
              </a:extLst>
            </p:cNvPr>
            <p:cNvSpPr txBox="1"/>
            <p:nvPr/>
          </p:nvSpPr>
          <p:spPr>
            <a:xfrm>
              <a:off x="5942586" y="2888418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9F78126-3165-7D51-BB27-CB73236B0AE6}"/>
                </a:ext>
              </a:extLst>
            </p:cNvPr>
            <p:cNvSpPr txBox="1"/>
            <p:nvPr/>
          </p:nvSpPr>
          <p:spPr>
            <a:xfrm>
              <a:off x="5942586" y="3760590"/>
              <a:ext cx="12149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N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EEC50C5-FA73-F3EA-98EC-561622F0F54F}"/>
                </a:ext>
              </a:extLst>
            </p:cNvPr>
            <p:cNvSpPr txBox="1"/>
            <p:nvPr/>
          </p:nvSpPr>
          <p:spPr>
            <a:xfrm>
              <a:off x="6288206" y="3352309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49026A6-6622-532D-DB10-D53B882DA8CC}"/>
                </a:ext>
              </a:extLst>
            </p:cNvPr>
            <p:cNvSpPr/>
            <p:nvPr/>
          </p:nvSpPr>
          <p:spPr>
            <a:xfrm>
              <a:off x="7186355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30B94E0-F9C5-5181-9043-E5B5679B3A87}"/>
                </a:ext>
              </a:extLst>
            </p:cNvPr>
            <p:cNvSpPr/>
            <p:nvPr/>
          </p:nvSpPr>
          <p:spPr>
            <a:xfrm>
              <a:off x="7585553" y="2235602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BA99C6A-0E38-8FA8-5343-A5CEF95737B4}"/>
                </a:ext>
              </a:extLst>
            </p:cNvPr>
            <p:cNvSpPr/>
            <p:nvPr/>
          </p:nvSpPr>
          <p:spPr>
            <a:xfrm>
              <a:off x="7984751" y="2235604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A4F48D6-1950-0781-6848-6DAE4CF32FCA}"/>
                </a:ext>
              </a:extLst>
            </p:cNvPr>
            <p:cNvSpPr/>
            <p:nvPr/>
          </p:nvSpPr>
          <p:spPr>
            <a:xfrm>
              <a:off x="8383949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82687AE-5133-5D32-DED3-4A51F0F85617}"/>
                </a:ext>
              </a:extLst>
            </p:cNvPr>
            <p:cNvSpPr/>
            <p:nvPr/>
          </p:nvSpPr>
          <p:spPr>
            <a:xfrm>
              <a:off x="7186355" y="2862317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41EACEB-D0F9-0A08-AC19-29B439D561EF}"/>
                </a:ext>
              </a:extLst>
            </p:cNvPr>
            <p:cNvSpPr/>
            <p:nvPr/>
          </p:nvSpPr>
          <p:spPr>
            <a:xfrm>
              <a:off x="7585553" y="2862316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FB02AD3-07CF-D86E-CFD0-A5F6D4974AB4}"/>
                </a:ext>
              </a:extLst>
            </p:cNvPr>
            <p:cNvSpPr/>
            <p:nvPr/>
          </p:nvSpPr>
          <p:spPr>
            <a:xfrm>
              <a:off x="7984751" y="2862318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7C648C5-A0A2-E4EE-F524-B5D03D78C4AD}"/>
                </a:ext>
              </a:extLst>
            </p:cNvPr>
            <p:cNvSpPr/>
            <p:nvPr/>
          </p:nvSpPr>
          <p:spPr>
            <a:xfrm>
              <a:off x="8383949" y="2862317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BE6DDE0-D78E-EABC-C99D-0CAA6E271919}"/>
                </a:ext>
              </a:extLst>
            </p:cNvPr>
            <p:cNvSpPr/>
            <p:nvPr/>
          </p:nvSpPr>
          <p:spPr>
            <a:xfrm>
              <a:off x="8783147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C7BC536-BA11-37BD-E7FB-17B2B29F6F44}"/>
                </a:ext>
              </a:extLst>
            </p:cNvPr>
            <p:cNvSpPr/>
            <p:nvPr/>
          </p:nvSpPr>
          <p:spPr>
            <a:xfrm>
              <a:off x="9182345" y="2235602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C630052-2B56-262D-C94E-FCA679BB046F}"/>
                </a:ext>
              </a:extLst>
            </p:cNvPr>
            <p:cNvSpPr/>
            <p:nvPr/>
          </p:nvSpPr>
          <p:spPr>
            <a:xfrm>
              <a:off x="7186355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BE20A0A-A697-F65A-F98A-9F87121B326E}"/>
                </a:ext>
              </a:extLst>
            </p:cNvPr>
            <p:cNvSpPr/>
            <p:nvPr/>
          </p:nvSpPr>
          <p:spPr>
            <a:xfrm>
              <a:off x="7585553" y="3667330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2D945D0-4465-AC74-6B1E-8AC3DD0B16CE}"/>
                </a:ext>
              </a:extLst>
            </p:cNvPr>
            <p:cNvSpPr/>
            <p:nvPr/>
          </p:nvSpPr>
          <p:spPr>
            <a:xfrm>
              <a:off x="7984751" y="3667332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21724D9-0880-9AB5-BEAF-B3B71076B1F9}"/>
                </a:ext>
              </a:extLst>
            </p:cNvPr>
            <p:cNvSpPr/>
            <p:nvPr/>
          </p:nvSpPr>
          <p:spPr>
            <a:xfrm>
              <a:off x="8383949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4BCCC184-DBA8-83A0-5394-DBCD3F3496D2}"/>
                </a:ext>
              </a:extLst>
            </p:cNvPr>
            <p:cNvSpPr/>
            <p:nvPr/>
          </p:nvSpPr>
          <p:spPr>
            <a:xfrm>
              <a:off x="8783147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CBB0EB5-4BD5-7A17-2253-E263AA30C8DF}"/>
                </a:ext>
              </a:extLst>
            </p:cNvPr>
            <p:cNvSpPr/>
            <p:nvPr/>
          </p:nvSpPr>
          <p:spPr>
            <a:xfrm>
              <a:off x="9182345" y="3667330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D531372-E0FB-DDD3-A050-B209B36BF429}"/>
                </a:ext>
              </a:extLst>
            </p:cNvPr>
            <p:cNvSpPr/>
            <p:nvPr/>
          </p:nvSpPr>
          <p:spPr>
            <a:xfrm>
              <a:off x="9581543" y="3667332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6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656B9AC-9CE4-86D8-7E97-7268A65830BC}"/>
                </a:ext>
              </a:extLst>
            </p:cNvPr>
            <p:cNvSpPr/>
            <p:nvPr/>
          </p:nvSpPr>
          <p:spPr>
            <a:xfrm>
              <a:off x="2194565" y="2990924"/>
              <a:ext cx="1026854" cy="47314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Producer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FDBEC50-4E0D-B35B-E2F8-0D65C115F9D8}"/>
                </a:ext>
              </a:extLst>
            </p:cNvPr>
            <p:cNvSpPr txBox="1"/>
            <p:nvPr/>
          </p:nvSpPr>
          <p:spPr>
            <a:xfrm>
              <a:off x="3311845" y="3564499"/>
              <a:ext cx="23634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Courier New" panose="02070309020205020404" pitchFamily="49" charset="0"/>
                  <a:ea typeface="Open Sans" panose="020B0606030504020204" pitchFamily="34" charset="0"/>
                  <a:cs typeface="Courier New" panose="02070309020205020404" pitchFamily="49" charset="0"/>
                </a:rPr>
                <a:t>key (person_id): 6</a:t>
              </a:r>
              <a:endParaRPr lang="en-US" sz="1400" dirty="0">
                <a:latin typeface="Courier New" panose="02070309020205020404" pitchFamily="49" charset="0"/>
                <a:ea typeface="Open Sans" panose="020B0606030504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77A748A-C2FD-BC0F-D99D-B625C0ADC380}"/>
                </a:ext>
              </a:extLst>
            </p:cNvPr>
            <p:cNvSpPr txBox="1"/>
            <p:nvPr/>
          </p:nvSpPr>
          <p:spPr>
            <a:xfrm>
              <a:off x="8583548" y="4568955"/>
              <a:ext cx="1823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message offset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138B55D-4026-4D8B-B339-46011C8E39EC}"/>
                </a:ext>
              </a:extLst>
            </p:cNvPr>
            <p:cNvSpPr txBox="1"/>
            <p:nvPr/>
          </p:nvSpPr>
          <p:spPr>
            <a:xfrm rot="5400000">
              <a:off x="9724220" y="2267330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DE41B48-9070-3292-48E6-D85759655721}"/>
                </a:ext>
              </a:extLst>
            </p:cNvPr>
            <p:cNvSpPr txBox="1"/>
            <p:nvPr/>
          </p:nvSpPr>
          <p:spPr>
            <a:xfrm rot="5400000">
              <a:off x="8852904" y="2900036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FC3A3DF-AA09-91E4-98CA-654070BC7E77}"/>
                </a:ext>
              </a:extLst>
            </p:cNvPr>
            <p:cNvSpPr txBox="1"/>
            <p:nvPr/>
          </p:nvSpPr>
          <p:spPr>
            <a:xfrm rot="5400000">
              <a:off x="10039243" y="3705050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F5D3EF7-9647-4E1D-52A8-70C1408E0905}"/>
                </a:ext>
              </a:extLst>
            </p:cNvPr>
            <p:cNvCxnSpPr>
              <a:cxnSpLocks/>
              <a:stCxn id="60" idx="0"/>
              <a:endCxn id="42" idx="2"/>
            </p:cNvCxnSpPr>
            <p:nvPr/>
          </p:nvCxnSpPr>
          <p:spPr>
            <a:xfrm flipH="1" flipV="1">
              <a:off x="8583548" y="4057794"/>
              <a:ext cx="911532" cy="5111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732D3E3-BCCD-FDA5-8B9E-DC955A7BFE85}"/>
              </a:ext>
            </a:extLst>
          </p:cNvPr>
          <p:cNvSpPr/>
          <p:nvPr/>
        </p:nvSpPr>
        <p:spPr>
          <a:xfrm flipV="1">
            <a:off x="4920018" y="3297475"/>
            <a:ext cx="2504875" cy="677758"/>
          </a:xfrm>
          <a:custGeom>
            <a:avLst/>
            <a:gdLst>
              <a:gd name="connsiteX0" fmla="*/ 0 w 2502569"/>
              <a:gd name="connsiteY0" fmla="*/ 770022 h 770022"/>
              <a:gd name="connsiteX1" fmla="*/ 1636295 w 2502569"/>
              <a:gd name="connsiteY1" fmla="*/ 558266 h 770022"/>
              <a:gd name="connsiteX2" fmla="*/ 2502569 w 2502569"/>
              <a:gd name="connsiteY2" fmla="*/ 0 h 770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02569" h="770022">
                <a:moveTo>
                  <a:pt x="0" y="770022"/>
                </a:moveTo>
                <a:cubicBezTo>
                  <a:pt x="609600" y="728312"/>
                  <a:pt x="1219200" y="686603"/>
                  <a:pt x="1636295" y="558266"/>
                </a:cubicBezTo>
                <a:cubicBezTo>
                  <a:pt x="2053390" y="429929"/>
                  <a:pt x="2277979" y="214964"/>
                  <a:pt x="2502569" y="0"/>
                </a:cubicBezTo>
              </a:path>
            </a:pathLst>
          </a:custGeom>
          <a:noFill/>
          <a:ln w="19050"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898C7E-7E86-F12F-FD27-720DC72C3E41}"/>
              </a:ext>
            </a:extLst>
          </p:cNvPr>
          <p:cNvSpPr/>
          <p:nvPr/>
        </p:nvSpPr>
        <p:spPr>
          <a:xfrm>
            <a:off x="4908884" y="2541069"/>
            <a:ext cx="2502569" cy="770022"/>
          </a:xfrm>
          <a:custGeom>
            <a:avLst/>
            <a:gdLst>
              <a:gd name="connsiteX0" fmla="*/ 0 w 2502569"/>
              <a:gd name="connsiteY0" fmla="*/ 770022 h 770022"/>
              <a:gd name="connsiteX1" fmla="*/ 1636295 w 2502569"/>
              <a:gd name="connsiteY1" fmla="*/ 558266 h 770022"/>
              <a:gd name="connsiteX2" fmla="*/ 2502569 w 2502569"/>
              <a:gd name="connsiteY2" fmla="*/ 0 h 770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02569" h="770022">
                <a:moveTo>
                  <a:pt x="0" y="770022"/>
                </a:moveTo>
                <a:cubicBezTo>
                  <a:pt x="609600" y="728312"/>
                  <a:pt x="1219200" y="686603"/>
                  <a:pt x="1636295" y="558266"/>
                </a:cubicBezTo>
                <a:cubicBezTo>
                  <a:pt x="2053390" y="429929"/>
                  <a:pt x="2277979" y="214964"/>
                  <a:pt x="2502569" y="0"/>
                </a:cubicBezTo>
              </a:path>
            </a:pathLst>
          </a:custGeom>
          <a:noFill/>
          <a:ln w="19050"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E270BF-07B1-D3B3-185A-CF8E34BAC316}"/>
              </a:ext>
            </a:extLst>
          </p:cNvPr>
          <p:cNvSpPr txBox="1"/>
          <p:nvPr/>
        </p:nvSpPr>
        <p:spPr>
          <a:xfrm>
            <a:off x="4823011" y="2674655"/>
            <a:ext cx="23634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Courier New" panose="02070309020205020404" pitchFamily="49" charset="0"/>
                <a:ea typeface="Open Sans" panose="020B0606030504020204" pitchFamily="34" charset="0"/>
                <a:cs typeface="Courier New" panose="02070309020205020404" pitchFamily="49" charset="0"/>
              </a:rPr>
              <a:t>key (person_id): 1</a:t>
            </a:r>
            <a:endParaRPr lang="en-US" sz="1400" dirty="0">
              <a:latin typeface="Courier New" panose="02070309020205020404" pitchFamily="49" charset="0"/>
              <a:ea typeface="Open Sans" panose="020B060603050402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76845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Message Keys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4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Producer can send key with the message (number, string, ...)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Based on the key the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producer decides to which partition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it sends the message: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If 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key == null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 partition is selected at random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If 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key != null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 same partition is assigned to the same key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Use key if order is important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E93B418-16DF-49F7-7E18-CED899A62F02}"/>
              </a:ext>
            </a:extLst>
          </p:cNvPr>
          <p:cNvGrpSpPr/>
          <p:nvPr/>
        </p:nvGrpSpPr>
        <p:grpSpPr>
          <a:xfrm>
            <a:off x="3705731" y="2218760"/>
            <a:ext cx="8212046" cy="2718529"/>
            <a:chOff x="2194565" y="2158203"/>
            <a:chExt cx="8212046" cy="2718529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9318241C-9DF9-C6CE-93EA-C3ADE26613C3}"/>
                </a:ext>
              </a:extLst>
            </p:cNvPr>
            <p:cNvSpPr/>
            <p:nvPr/>
          </p:nvSpPr>
          <p:spPr>
            <a:xfrm>
              <a:off x="4436329" y="3062358"/>
              <a:ext cx="858871" cy="327448"/>
            </a:xfrm>
            <a:prstGeom prst="round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topic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" name="Left Brace 4">
              <a:extLst>
                <a:ext uri="{FF2B5EF4-FFF2-40B4-BE49-F238E27FC236}">
                  <a16:creationId xmlns:a16="http://schemas.microsoft.com/office/drawing/2014/main" id="{BCFCC1F6-F89E-37F3-9DD2-812B6E02639C}"/>
                </a:ext>
              </a:extLst>
            </p:cNvPr>
            <p:cNvSpPr/>
            <p:nvPr/>
          </p:nvSpPr>
          <p:spPr>
            <a:xfrm>
              <a:off x="5451017" y="2158203"/>
              <a:ext cx="491569" cy="213859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F3739EC-36FB-3B82-C3C8-FC04BE68CA56}"/>
                </a:ext>
              </a:extLst>
            </p:cNvPr>
            <p:cNvSpPr txBox="1"/>
            <p:nvPr/>
          </p:nvSpPr>
          <p:spPr>
            <a:xfrm>
              <a:off x="5942586" y="2318289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C62FC73-80D1-1E15-73FC-38E9D7F36CFB}"/>
                </a:ext>
              </a:extLst>
            </p:cNvPr>
            <p:cNvSpPr txBox="1"/>
            <p:nvPr/>
          </p:nvSpPr>
          <p:spPr>
            <a:xfrm>
              <a:off x="5942586" y="2888418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9F78126-3165-7D51-BB27-CB73236B0AE6}"/>
                </a:ext>
              </a:extLst>
            </p:cNvPr>
            <p:cNvSpPr txBox="1"/>
            <p:nvPr/>
          </p:nvSpPr>
          <p:spPr>
            <a:xfrm>
              <a:off x="5942586" y="3760590"/>
              <a:ext cx="12149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N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EEC50C5-FA73-F3EA-98EC-561622F0F54F}"/>
                </a:ext>
              </a:extLst>
            </p:cNvPr>
            <p:cNvSpPr txBox="1"/>
            <p:nvPr/>
          </p:nvSpPr>
          <p:spPr>
            <a:xfrm>
              <a:off x="6288206" y="3352309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49026A6-6622-532D-DB10-D53B882DA8CC}"/>
                </a:ext>
              </a:extLst>
            </p:cNvPr>
            <p:cNvSpPr/>
            <p:nvPr/>
          </p:nvSpPr>
          <p:spPr>
            <a:xfrm>
              <a:off x="7186355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30B94E0-F9C5-5181-9043-E5B5679B3A87}"/>
                </a:ext>
              </a:extLst>
            </p:cNvPr>
            <p:cNvSpPr/>
            <p:nvPr/>
          </p:nvSpPr>
          <p:spPr>
            <a:xfrm>
              <a:off x="7585553" y="2235602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BA99C6A-0E38-8FA8-5343-A5CEF95737B4}"/>
                </a:ext>
              </a:extLst>
            </p:cNvPr>
            <p:cNvSpPr/>
            <p:nvPr/>
          </p:nvSpPr>
          <p:spPr>
            <a:xfrm>
              <a:off x="7984751" y="2235604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A4F48D6-1950-0781-6848-6DAE4CF32FCA}"/>
                </a:ext>
              </a:extLst>
            </p:cNvPr>
            <p:cNvSpPr/>
            <p:nvPr/>
          </p:nvSpPr>
          <p:spPr>
            <a:xfrm>
              <a:off x="8383949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82687AE-5133-5D32-DED3-4A51F0F85617}"/>
                </a:ext>
              </a:extLst>
            </p:cNvPr>
            <p:cNvSpPr/>
            <p:nvPr/>
          </p:nvSpPr>
          <p:spPr>
            <a:xfrm>
              <a:off x="7186355" y="2862317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41EACEB-D0F9-0A08-AC19-29B439D561EF}"/>
                </a:ext>
              </a:extLst>
            </p:cNvPr>
            <p:cNvSpPr/>
            <p:nvPr/>
          </p:nvSpPr>
          <p:spPr>
            <a:xfrm>
              <a:off x="7585553" y="2862316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FB02AD3-07CF-D86E-CFD0-A5F6D4974AB4}"/>
                </a:ext>
              </a:extLst>
            </p:cNvPr>
            <p:cNvSpPr/>
            <p:nvPr/>
          </p:nvSpPr>
          <p:spPr>
            <a:xfrm>
              <a:off x="7984751" y="2862318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7C648C5-A0A2-E4EE-F524-B5D03D78C4AD}"/>
                </a:ext>
              </a:extLst>
            </p:cNvPr>
            <p:cNvSpPr/>
            <p:nvPr/>
          </p:nvSpPr>
          <p:spPr>
            <a:xfrm>
              <a:off x="8383949" y="2862317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BE6DDE0-D78E-EABC-C99D-0CAA6E271919}"/>
                </a:ext>
              </a:extLst>
            </p:cNvPr>
            <p:cNvSpPr/>
            <p:nvPr/>
          </p:nvSpPr>
          <p:spPr>
            <a:xfrm>
              <a:off x="8783147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C7BC536-BA11-37BD-E7FB-17B2B29F6F44}"/>
                </a:ext>
              </a:extLst>
            </p:cNvPr>
            <p:cNvSpPr/>
            <p:nvPr/>
          </p:nvSpPr>
          <p:spPr>
            <a:xfrm>
              <a:off x="9182345" y="2235602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C630052-2B56-262D-C94E-FCA679BB046F}"/>
                </a:ext>
              </a:extLst>
            </p:cNvPr>
            <p:cNvSpPr/>
            <p:nvPr/>
          </p:nvSpPr>
          <p:spPr>
            <a:xfrm>
              <a:off x="7186355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BE20A0A-A697-F65A-F98A-9F87121B326E}"/>
                </a:ext>
              </a:extLst>
            </p:cNvPr>
            <p:cNvSpPr/>
            <p:nvPr/>
          </p:nvSpPr>
          <p:spPr>
            <a:xfrm>
              <a:off x="7585553" y="3667330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2D945D0-4465-AC74-6B1E-8AC3DD0B16CE}"/>
                </a:ext>
              </a:extLst>
            </p:cNvPr>
            <p:cNvSpPr/>
            <p:nvPr/>
          </p:nvSpPr>
          <p:spPr>
            <a:xfrm>
              <a:off x="7984751" y="3667332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21724D9-0880-9AB5-BEAF-B3B71076B1F9}"/>
                </a:ext>
              </a:extLst>
            </p:cNvPr>
            <p:cNvSpPr/>
            <p:nvPr/>
          </p:nvSpPr>
          <p:spPr>
            <a:xfrm>
              <a:off x="8383949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4BCCC184-DBA8-83A0-5394-DBCD3F3496D2}"/>
                </a:ext>
              </a:extLst>
            </p:cNvPr>
            <p:cNvSpPr/>
            <p:nvPr/>
          </p:nvSpPr>
          <p:spPr>
            <a:xfrm>
              <a:off x="8783147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CBB0EB5-4BD5-7A17-2253-E263AA30C8DF}"/>
                </a:ext>
              </a:extLst>
            </p:cNvPr>
            <p:cNvSpPr/>
            <p:nvPr/>
          </p:nvSpPr>
          <p:spPr>
            <a:xfrm>
              <a:off x="9182345" y="3667330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D531372-E0FB-DDD3-A050-B209B36BF429}"/>
                </a:ext>
              </a:extLst>
            </p:cNvPr>
            <p:cNvSpPr/>
            <p:nvPr/>
          </p:nvSpPr>
          <p:spPr>
            <a:xfrm>
              <a:off x="9581543" y="3667332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6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656B9AC-9CE4-86D8-7E97-7268A65830BC}"/>
                </a:ext>
              </a:extLst>
            </p:cNvPr>
            <p:cNvSpPr/>
            <p:nvPr/>
          </p:nvSpPr>
          <p:spPr>
            <a:xfrm>
              <a:off x="2194565" y="2990924"/>
              <a:ext cx="1026854" cy="47314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Producer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FDBEC50-4E0D-B35B-E2F8-0D65C115F9D8}"/>
                </a:ext>
              </a:extLst>
            </p:cNvPr>
            <p:cNvSpPr txBox="1"/>
            <p:nvPr/>
          </p:nvSpPr>
          <p:spPr>
            <a:xfrm>
              <a:off x="3311845" y="3564499"/>
              <a:ext cx="236345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Courier New" panose="02070309020205020404" pitchFamily="49" charset="0"/>
                  <a:ea typeface="Open Sans" panose="020B0606030504020204" pitchFamily="34" charset="0"/>
                  <a:cs typeface="Courier New" panose="02070309020205020404" pitchFamily="49" charset="0"/>
                </a:rPr>
                <a:t>person_id_6</a:t>
              </a:r>
            </a:p>
            <a:p>
              <a:pPr algn="ctr"/>
              <a:r>
                <a:rPr lang="hu-HU" sz="1400" dirty="0">
                  <a:latin typeface="Courier New" panose="02070309020205020404" pitchFamily="49" charset="0"/>
                  <a:ea typeface="Open Sans" panose="020B0606030504020204" pitchFamily="34" charset="0"/>
                  <a:cs typeface="Courier New" panose="02070309020205020404" pitchFamily="49" charset="0"/>
                </a:rPr>
                <a:t>person_id_7</a:t>
              </a:r>
              <a:endParaRPr lang="en-US" sz="1400" dirty="0">
                <a:latin typeface="Courier New" panose="02070309020205020404" pitchFamily="49" charset="0"/>
                <a:ea typeface="Open Sans" panose="020B0606030504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77A748A-C2FD-BC0F-D99D-B625C0ADC380}"/>
                </a:ext>
              </a:extLst>
            </p:cNvPr>
            <p:cNvSpPr txBox="1"/>
            <p:nvPr/>
          </p:nvSpPr>
          <p:spPr>
            <a:xfrm>
              <a:off x="8583548" y="4568955"/>
              <a:ext cx="1823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message offset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138B55D-4026-4D8B-B339-46011C8E39EC}"/>
                </a:ext>
              </a:extLst>
            </p:cNvPr>
            <p:cNvSpPr txBox="1"/>
            <p:nvPr/>
          </p:nvSpPr>
          <p:spPr>
            <a:xfrm rot="5400000">
              <a:off x="9724220" y="2267330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DE41B48-9070-3292-48E6-D85759655721}"/>
                </a:ext>
              </a:extLst>
            </p:cNvPr>
            <p:cNvSpPr txBox="1"/>
            <p:nvPr/>
          </p:nvSpPr>
          <p:spPr>
            <a:xfrm rot="5400000">
              <a:off x="8852904" y="2900036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FC3A3DF-AA09-91E4-98CA-654070BC7E77}"/>
                </a:ext>
              </a:extLst>
            </p:cNvPr>
            <p:cNvSpPr txBox="1"/>
            <p:nvPr/>
          </p:nvSpPr>
          <p:spPr>
            <a:xfrm rot="5400000">
              <a:off x="10039243" y="3705050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F5D3EF7-9647-4E1D-52A8-70C1408E0905}"/>
                </a:ext>
              </a:extLst>
            </p:cNvPr>
            <p:cNvCxnSpPr>
              <a:cxnSpLocks/>
              <a:stCxn id="60" idx="0"/>
              <a:endCxn id="42" idx="2"/>
            </p:cNvCxnSpPr>
            <p:nvPr/>
          </p:nvCxnSpPr>
          <p:spPr>
            <a:xfrm flipH="1" flipV="1">
              <a:off x="8583548" y="4057794"/>
              <a:ext cx="911532" cy="5111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732D3E3-BCCD-FDA5-8B9E-DC955A7BFE85}"/>
              </a:ext>
            </a:extLst>
          </p:cNvPr>
          <p:cNvSpPr/>
          <p:nvPr/>
        </p:nvSpPr>
        <p:spPr>
          <a:xfrm flipV="1">
            <a:off x="4920018" y="3297475"/>
            <a:ext cx="2504875" cy="677758"/>
          </a:xfrm>
          <a:custGeom>
            <a:avLst/>
            <a:gdLst>
              <a:gd name="connsiteX0" fmla="*/ 0 w 2502569"/>
              <a:gd name="connsiteY0" fmla="*/ 770022 h 770022"/>
              <a:gd name="connsiteX1" fmla="*/ 1636295 w 2502569"/>
              <a:gd name="connsiteY1" fmla="*/ 558266 h 770022"/>
              <a:gd name="connsiteX2" fmla="*/ 2502569 w 2502569"/>
              <a:gd name="connsiteY2" fmla="*/ 0 h 770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02569" h="770022">
                <a:moveTo>
                  <a:pt x="0" y="770022"/>
                </a:moveTo>
                <a:cubicBezTo>
                  <a:pt x="609600" y="728312"/>
                  <a:pt x="1219200" y="686603"/>
                  <a:pt x="1636295" y="558266"/>
                </a:cubicBezTo>
                <a:cubicBezTo>
                  <a:pt x="2053390" y="429929"/>
                  <a:pt x="2277979" y="214964"/>
                  <a:pt x="2502569" y="0"/>
                </a:cubicBezTo>
              </a:path>
            </a:pathLst>
          </a:custGeom>
          <a:noFill/>
          <a:ln w="19050"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898C7E-7E86-F12F-FD27-720DC72C3E41}"/>
              </a:ext>
            </a:extLst>
          </p:cNvPr>
          <p:cNvSpPr/>
          <p:nvPr/>
        </p:nvSpPr>
        <p:spPr>
          <a:xfrm>
            <a:off x="4908884" y="2541069"/>
            <a:ext cx="2502569" cy="770022"/>
          </a:xfrm>
          <a:custGeom>
            <a:avLst/>
            <a:gdLst>
              <a:gd name="connsiteX0" fmla="*/ 0 w 2502569"/>
              <a:gd name="connsiteY0" fmla="*/ 770022 h 770022"/>
              <a:gd name="connsiteX1" fmla="*/ 1636295 w 2502569"/>
              <a:gd name="connsiteY1" fmla="*/ 558266 h 770022"/>
              <a:gd name="connsiteX2" fmla="*/ 2502569 w 2502569"/>
              <a:gd name="connsiteY2" fmla="*/ 0 h 770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02569" h="770022">
                <a:moveTo>
                  <a:pt x="0" y="770022"/>
                </a:moveTo>
                <a:cubicBezTo>
                  <a:pt x="609600" y="728312"/>
                  <a:pt x="1219200" y="686603"/>
                  <a:pt x="1636295" y="558266"/>
                </a:cubicBezTo>
                <a:cubicBezTo>
                  <a:pt x="2053390" y="429929"/>
                  <a:pt x="2277979" y="214964"/>
                  <a:pt x="2502569" y="0"/>
                </a:cubicBezTo>
              </a:path>
            </a:pathLst>
          </a:custGeom>
          <a:noFill/>
          <a:ln w="19050"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E270BF-07B1-D3B3-185A-CF8E34BAC316}"/>
              </a:ext>
            </a:extLst>
          </p:cNvPr>
          <p:cNvSpPr txBox="1"/>
          <p:nvPr/>
        </p:nvSpPr>
        <p:spPr>
          <a:xfrm>
            <a:off x="4817699" y="2387180"/>
            <a:ext cx="23634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Courier New" panose="02070309020205020404" pitchFamily="49" charset="0"/>
                <a:ea typeface="Open Sans" panose="020B0606030504020204" pitchFamily="34" charset="0"/>
                <a:cs typeface="Courier New" panose="02070309020205020404" pitchFamily="49" charset="0"/>
              </a:rPr>
              <a:t>person_id_1</a:t>
            </a:r>
          </a:p>
          <a:p>
            <a:pPr algn="ctr"/>
            <a:r>
              <a:rPr lang="hu-HU" sz="1400" dirty="0">
                <a:latin typeface="Courier New" panose="02070309020205020404" pitchFamily="49" charset="0"/>
                <a:ea typeface="Open Sans" panose="020B0606030504020204" pitchFamily="34" charset="0"/>
                <a:cs typeface="Courier New" panose="02070309020205020404" pitchFamily="49" charset="0"/>
              </a:rPr>
              <a:t>person_id_2</a:t>
            </a:r>
            <a:endParaRPr lang="en-US" sz="1400" dirty="0">
              <a:latin typeface="Courier New" panose="02070309020205020404" pitchFamily="49" charset="0"/>
              <a:ea typeface="Open Sans" panose="020B060603050402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2387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Message Keys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4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Producer can send key with the message (number, string, ...)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Based on the key the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producer decides to which partition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it sends the message: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If 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key == null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 partition is selected at random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If 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key != null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 same partition is assigned to the same key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Use key if order is important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(Typically a broker does not contain all the partitions for a topic (there are parameters to fine-tune this))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E93B418-16DF-49F7-7E18-CED899A62F02}"/>
              </a:ext>
            </a:extLst>
          </p:cNvPr>
          <p:cNvGrpSpPr/>
          <p:nvPr/>
        </p:nvGrpSpPr>
        <p:grpSpPr>
          <a:xfrm>
            <a:off x="3705731" y="2218760"/>
            <a:ext cx="8212046" cy="2718529"/>
            <a:chOff x="2194565" y="2158203"/>
            <a:chExt cx="8212046" cy="2718529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9318241C-9DF9-C6CE-93EA-C3ADE26613C3}"/>
                </a:ext>
              </a:extLst>
            </p:cNvPr>
            <p:cNvSpPr/>
            <p:nvPr/>
          </p:nvSpPr>
          <p:spPr>
            <a:xfrm>
              <a:off x="4436329" y="3062358"/>
              <a:ext cx="858871" cy="327448"/>
            </a:xfrm>
            <a:prstGeom prst="round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topic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" name="Left Brace 4">
              <a:extLst>
                <a:ext uri="{FF2B5EF4-FFF2-40B4-BE49-F238E27FC236}">
                  <a16:creationId xmlns:a16="http://schemas.microsoft.com/office/drawing/2014/main" id="{BCFCC1F6-F89E-37F3-9DD2-812B6E02639C}"/>
                </a:ext>
              </a:extLst>
            </p:cNvPr>
            <p:cNvSpPr/>
            <p:nvPr/>
          </p:nvSpPr>
          <p:spPr>
            <a:xfrm>
              <a:off x="5451017" y="2158203"/>
              <a:ext cx="491569" cy="213859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F3739EC-36FB-3B82-C3C8-FC04BE68CA56}"/>
                </a:ext>
              </a:extLst>
            </p:cNvPr>
            <p:cNvSpPr txBox="1"/>
            <p:nvPr/>
          </p:nvSpPr>
          <p:spPr>
            <a:xfrm>
              <a:off x="5942586" y="2318289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C62FC73-80D1-1E15-73FC-38E9D7F36CFB}"/>
                </a:ext>
              </a:extLst>
            </p:cNvPr>
            <p:cNvSpPr txBox="1"/>
            <p:nvPr/>
          </p:nvSpPr>
          <p:spPr>
            <a:xfrm>
              <a:off x="5942586" y="2888418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9F78126-3165-7D51-BB27-CB73236B0AE6}"/>
                </a:ext>
              </a:extLst>
            </p:cNvPr>
            <p:cNvSpPr txBox="1"/>
            <p:nvPr/>
          </p:nvSpPr>
          <p:spPr>
            <a:xfrm>
              <a:off x="5942586" y="3760590"/>
              <a:ext cx="12149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N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EEC50C5-FA73-F3EA-98EC-561622F0F54F}"/>
                </a:ext>
              </a:extLst>
            </p:cNvPr>
            <p:cNvSpPr txBox="1"/>
            <p:nvPr/>
          </p:nvSpPr>
          <p:spPr>
            <a:xfrm>
              <a:off x="6288206" y="3352309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49026A6-6622-532D-DB10-D53B882DA8CC}"/>
                </a:ext>
              </a:extLst>
            </p:cNvPr>
            <p:cNvSpPr/>
            <p:nvPr/>
          </p:nvSpPr>
          <p:spPr>
            <a:xfrm>
              <a:off x="7186355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30B94E0-F9C5-5181-9043-E5B5679B3A87}"/>
                </a:ext>
              </a:extLst>
            </p:cNvPr>
            <p:cNvSpPr/>
            <p:nvPr/>
          </p:nvSpPr>
          <p:spPr>
            <a:xfrm>
              <a:off x="7585553" y="2235602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BA99C6A-0E38-8FA8-5343-A5CEF95737B4}"/>
                </a:ext>
              </a:extLst>
            </p:cNvPr>
            <p:cNvSpPr/>
            <p:nvPr/>
          </p:nvSpPr>
          <p:spPr>
            <a:xfrm>
              <a:off x="7984751" y="2235604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A4F48D6-1950-0781-6848-6DAE4CF32FCA}"/>
                </a:ext>
              </a:extLst>
            </p:cNvPr>
            <p:cNvSpPr/>
            <p:nvPr/>
          </p:nvSpPr>
          <p:spPr>
            <a:xfrm>
              <a:off x="8383949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82687AE-5133-5D32-DED3-4A51F0F85617}"/>
                </a:ext>
              </a:extLst>
            </p:cNvPr>
            <p:cNvSpPr/>
            <p:nvPr/>
          </p:nvSpPr>
          <p:spPr>
            <a:xfrm>
              <a:off x="7186355" y="2862317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41EACEB-D0F9-0A08-AC19-29B439D561EF}"/>
                </a:ext>
              </a:extLst>
            </p:cNvPr>
            <p:cNvSpPr/>
            <p:nvPr/>
          </p:nvSpPr>
          <p:spPr>
            <a:xfrm>
              <a:off x="7585553" y="2862316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FB02AD3-07CF-D86E-CFD0-A5F6D4974AB4}"/>
                </a:ext>
              </a:extLst>
            </p:cNvPr>
            <p:cNvSpPr/>
            <p:nvPr/>
          </p:nvSpPr>
          <p:spPr>
            <a:xfrm>
              <a:off x="7984751" y="2862318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7C648C5-A0A2-E4EE-F524-B5D03D78C4AD}"/>
                </a:ext>
              </a:extLst>
            </p:cNvPr>
            <p:cNvSpPr/>
            <p:nvPr/>
          </p:nvSpPr>
          <p:spPr>
            <a:xfrm>
              <a:off x="8383949" y="2862317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BE6DDE0-D78E-EABC-C99D-0CAA6E271919}"/>
                </a:ext>
              </a:extLst>
            </p:cNvPr>
            <p:cNvSpPr/>
            <p:nvPr/>
          </p:nvSpPr>
          <p:spPr>
            <a:xfrm>
              <a:off x="8783147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C7BC536-BA11-37BD-E7FB-17B2B29F6F44}"/>
                </a:ext>
              </a:extLst>
            </p:cNvPr>
            <p:cNvSpPr/>
            <p:nvPr/>
          </p:nvSpPr>
          <p:spPr>
            <a:xfrm>
              <a:off x="9182345" y="2235602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C630052-2B56-262D-C94E-FCA679BB046F}"/>
                </a:ext>
              </a:extLst>
            </p:cNvPr>
            <p:cNvSpPr/>
            <p:nvPr/>
          </p:nvSpPr>
          <p:spPr>
            <a:xfrm>
              <a:off x="7186355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BE20A0A-A697-F65A-F98A-9F87121B326E}"/>
                </a:ext>
              </a:extLst>
            </p:cNvPr>
            <p:cNvSpPr/>
            <p:nvPr/>
          </p:nvSpPr>
          <p:spPr>
            <a:xfrm>
              <a:off x="7585553" y="3667330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2D945D0-4465-AC74-6B1E-8AC3DD0B16CE}"/>
                </a:ext>
              </a:extLst>
            </p:cNvPr>
            <p:cNvSpPr/>
            <p:nvPr/>
          </p:nvSpPr>
          <p:spPr>
            <a:xfrm>
              <a:off x="7984751" y="3667332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21724D9-0880-9AB5-BEAF-B3B71076B1F9}"/>
                </a:ext>
              </a:extLst>
            </p:cNvPr>
            <p:cNvSpPr/>
            <p:nvPr/>
          </p:nvSpPr>
          <p:spPr>
            <a:xfrm>
              <a:off x="8383949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4BCCC184-DBA8-83A0-5394-DBCD3F3496D2}"/>
                </a:ext>
              </a:extLst>
            </p:cNvPr>
            <p:cNvSpPr/>
            <p:nvPr/>
          </p:nvSpPr>
          <p:spPr>
            <a:xfrm>
              <a:off x="8783147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CBB0EB5-4BD5-7A17-2253-E263AA30C8DF}"/>
                </a:ext>
              </a:extLst>
            </p:cNvPr>
            <p:cNvSpPr/>
            <p:nvPr/>
          </p:nvSpPr>
          <p:spPr>
            <a:xfrm>
              <a:off x="9182345" y="3667330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D531372-E0FB-DDD3-A050-B209B36BF429}"/>
                </a:ext>
              </a:extLst>
            </p:cNvPr>
            <p:cNvSpPr/>
            <p:nvPr/>
          </p:nvSpPr>
          <p:spPr>
            <a:xfrm>
              <a:off x="9581543" y="3667332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6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656B9AC-9CE4-86D8-7E97-7268A65830BC}"/>
                </a:ext>
              </a:extLst>
            </p:cNvPr>
            <p:cNvSpPr/>
            <p:nvPr/>
          </p:nvSpPr>
          <p:spPr>
            <a:xfrm>
              <a:off x="2194565" y="2990924"/>
              <a:ext cx="1026854" cy="47314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Producer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FDBEC50-4E0D-B35B-E2F8-0D65C115F9D8}"/>
                </a:ext>
              </a:extLst>
            </p:cNvPr>
            <p:cNvSpPr txBox="1"/>
            <p:nvPr/>
          </p:nvSpPr>
          <p:spPr>
            <a:xfrm>
              <a:off x="3311845" y="3564499"/>
              <a:ext cx="236345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Courier New" panose="02070309020205020404" pitchFamily="49" charset="0"/>
                  <a:ea typeface="Open Sans" panose="020B0606030504020204" pitchFamily="34" charset="0"/>
                  <a:cs typeface="Courier New" panose="02070309020205020404" pitchFamily="49" charset="0"/>
                </a:rPr>
                <a:t>person_id_6</a:t>
              </a:r>
            </a:p>
            <a:p>
              <a:pPr algn="ctr"/>
              <a:r>
                <a:rPr lang="hu-HU" sz="1400" dirty="0">
                  <a:latin typeface="Courier New" panose="02070309020205020404" pitchFamily="49" charset="0"/>
                  <a:ea typeface="Open Sans" panose="020B0606030504020204" pitchFamily="34" charset="0"/>
                  <a:cs typeface="Courier New" panose="02070309020205020404" pitchFamily="49" charset="0"/>
                </a:rPr>
                <a:t>person_id_7</a:t>
              </a:r>
              <a:endParaRPr lang="en-US" sz="1400" dirty="0">
                <a:latin typeface="Courier New" panose="02070309020205020404" pitchFamily="49" charset="0"/>
                <a:ea typeface="Open Sans" panose="020B0606030504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77A748A-C2FD-BC0F-D99D-B625C0ADC380}"/>
                </a:ext>
              </a:extLst>
            </p:cNvPr>
            <p:cNvSpPr txBox="1"/>
            <p:nvPr/>
          </p:nvSpPr>
          <p:spPr>
            <a:xfrm>
              <a:off x="8583548" y="4568955"/>
              <a:ext cx="1823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message offset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138B55D-4026-4D8B-B339-46011C8E39EC}"/>
                </a:ext>
              </a:extLst>
            </p:cNvPr>
            <p:cNvSpPr txBox="1"/>
            <p:nvPr/>
          </p:nvSpPr>
          <p:spPr>
            <a:xfrm rot="5400000">
              <a:off x="9724220" y="2267330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DE41B48-9070-3292-48E6-D85759655721}"/>
                </a:ext>
              </a:extLst>
            </p:cNvPr>
            <p:cNvSpPr txBox="1"/>
            <p:nvPr/>
          </p:nvSpPr>
          <p:spPr>
            <a:xfrm rot="5400000">
              <a:off x="8852904" y="2900036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FC3A3DF-AA09-91E4-98CA-654070BC7E77}"/>
                </a:ext>
              </a:extLst>
            </p:cNvPr>
            <p:cNvSpPr txBox="1"/>
            <p:nvPr/>
          </p:nvSpPr>
          <p:spPr>
            <a:xfrm rot="5400000">
              <a:off x="10039243" y="3705050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F5D3EF7-9647-4E1D-52A8-70C1408E0905}"/>
                </a:ext>
              </a:extLst>
            </p:cNvPr>
            <p:cNvCxnSpPr>
              <a:cxnSpLocks/>
              <a:stCxn id="60" idx="0"/>
              <a:endCxn id="42" idx="2"/>
            </p:cNvCxnSpPr>
            <p:nvPr/>
          </p:nvCxnSpPr>
          <p:spPr>
            <a:xfrm flipH="1" flipV="1">
              <a:off x="8583548" y="4057794"/>
              <a:ext cx="911532" cy="5111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732D3E3-BCCD-FDA5-8B9E-DC955A7BFE85}"/>
              </a:ext>
            </a:extLst>
          </p:cNvPr>
          <p:cNvSpPr/>
          <p:nvPr/>
        </p:nvSpPr>
        <p:spPr>
          <a:xfrm flipV="1">
            <a:off x="4920018" y="3297475"/>
            <a:ext cx="2504875" cy="677758"/>
          </a:xfrm>
          <a:custGeom>
            <a:avLst/>
            <a:gdLst>
              <a:gd name="connsiteX0" fmla="*/ 0 w 2502569"/>
              <a:gd name="connsiteY0" fmla="*/ 770022 h 770022"/>
              <a:gd name="connsiteX1" fmla="*/ 1636295 w 2502569"/>
              <a:gd name="connsiteY1" fmla="*/ 558266 h 770022"/>
              <a:gd name="connsiteX2" fmla="*/ 2502569 w 2502569"/>
              <a:gd name="connsiteY2" fmla="*/ 0 h 770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02569" h="770022">
                <a:moveTo>
                  <a:pt x="0" y="770022"/>
                </a:moveTo>
                <a:cubicBezTo>
                  <a:pt x="609600" y="728312"/>
                  <a:pt x="1219200" y="686603"/>
                  <a:pt x="1636295" y="558266"/>
                </a:cubicBezTo>
                <a:cubicBezTo>
                  <a:pt x="2053390" y="429929"/>
                  <a:pt x="2277979" y="214964"/>
                  <a:pt x="2502569" y="0"/>
                </a:cubicBezTo>
              </a:path>
            </a:pathLst>
          </a:custGeom>
          <a:noFill/>
          <a:ln w="19050"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898C7E-7E86-F12F-FD27-720DC72C3E41}"/>
              </a:ext>
            </a:extLst>
          </p:cNvPr>
          <p:cNvSpPr/>
          <p:nvPr/>
        </p:nvSpPr>
        <p:spPr>
          <a:xfrm>
            <a:off x="4908884" y="2541069"/>
            <a:ext cx="2502569" cy="770022"/>
          </a:xfrm>
          <a:custGeom>
            <a:avLst/>
            <a:gdLst>
              <a:gd name="connsiteX0" fmla="*/ 0 w 2502569"/>
              <a:gd name="connsiteY0" fmla="*/ 770022 h 770022"/>
              <a:gd name="connsiteX1" fmla="*/ 1636295 w 2502569"/>
              <a:gd name="connsiteY1" fmla="*/ 558266 h 770022"/>
              <a:gd name="connsiteX2" fmla="*/ 2502569 w 2502569"/>
              <a:gd name="connsiteY2" fmla="*/ 0 h 770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02569" h="770022">
                <a:moveTo>
                  <a:pt x="0" y="770022"/>
                </a:moveTo>
                <a:cubicBezTo>
                  <a:pt x="609600" y="728312"/>
                  <a:pt x="1219200" y="686603"/>
                  <a:pt x="1636295" y="558266"/>
                </a:cubicBezTo>
                <a:cubicBezTo>
                  <a:pt x="2053390" y="429929"/>
                  <a:pt x="2277979" y="214964"/>
                  <a:pt x="2502569" y="0"/>
                </a:cubicBezTo>
              </a:path>
            </a:pathLst>
          </a:custGeom>
          <a:noFill/>
          <a:ln w="19050"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E270BF-07B1-D3B3-185A-CF8E34BAC316}"/>
              </a:ext>
            </a:extLst>
          </p:cNvPr>
          <p:cNvSpPr txBox="1"/>
          <p:nvPr/>
        </p:nvSpPr>
        <p:spPr>
          <a:xfrm>
            <a:off x="4817699" y="2387180"/>
            <a:ext cx="23634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Courier New" panose="02070309020205020404" pitchFamily="49" charset="0"/>
                <a:ea typeface="Open Sans" panose="020B0606030504020204" pitchFamily="34" charset="0"/>
                <a:cs typeface="Courier New" panose="02070309020205020404" pitchFamily="49" charset="0"/>
              </a:rPr>
              <a:t>person_id_1</a:t>
            </a:r>
          </a:p>
          <a:p>
            <a:pPr algn="ctr"/>
            <a:r>
              <a:rPr lang="hu-HU" sz="1400" dirty="0">
                <a:latin typeface="Courier New" panose="02070309020205020404" pitchFamily="49" charset="0"/>
                <a:ea typeface="Open Sans" panose="020B0606030504020204" pitchFamily="34" charset="0"/>
                <a:cs typeface="Courier New" panose="02070309020205020404" pitchFamily="49" charset="0"/>
              </a:rPr>
              <a:t>person_id_2</a:t>
            </a:r>
            <a:endParaRPr lang="en-US" sz="1400" dirty="0">
              <a:latin typeface="Courier New" panose="02070309020205020404" pitchFamily="49" charset="0"/>
              <a:ea typeface="Open Sans" panose="020B060603050402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38518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8AC4C71-C978-6C4A-DC55-C07D81848C23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Message Anatomy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E5C2D2-BCDD-3A0C-EDB8-954598070911}"/>
              </a:ext>
            </a:extLst>
          </p:cNvPr>
          <p:cNvSpPr/>
          <p:nvPr/>
        </p:nvSpPr>
        <p:spPr>
          <a:xfrm>
            <a:off x="4026896" y="1128703"/>
            <a:ext cx="1650889" cy="95740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Key-binary</a:t>
            </a:r>
          </a:p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(can be null)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D61C35-DE51-7F65-BB97-99A57558933D}"/>
              </a:ext>
            </a:extLst>
          </p:cNvPr>
          <p:cNvSpPr/>
          <p:nvPr/>
        </p:nvSpPr>
        <p:spPr>
          <a:xfrm>
            <a:off x="5677785" y="1128702"/>
            <a:ext cx="2860159" cy="95740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Value-binary</a:t>
            </a:r>
          </a:p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(can be null)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EEADBC-8462-E09C-A23A-8618478F29DA}"/>
              </a:ext>
            </a:extLst>
          </p:cNvPr>
          <p:cNvSpPr/>
          <p:nvPr/>
        </p:nvSpPr>
        <p:spPr>
          <a:xfrm>
            <a:off x="4026896" y="2086105"/>
            <a:ext cx="4511048" cy="575932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Compression Type</a:t>
            </a:r>
          </a:p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(none, gzip, snappy, lz4, zstd)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5D3A3D-064F-259B-77CC-093286441187}"/>
              </a:ext>
            </a:extLst>
          </p:cNvPr>
          <p:cNvSpPr/>
          <p:nvPr/>
        </p:nvSpPr>
        <p:spPr>
          <a:xfrm>
            <a:off x="4026896" y="2666408"/>
            <a:ext cx="4511048" cy="137514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B342BE-B3ED-44B1-C96E-D6AC5BAE28E4}"/>
              </a:ext>
            </a:extLst>
          </p:cNvPr>
          <p:cNvSpPr txBox="1"/>
          <p:nvPr/>
        </p:nvSpPr>
        <p:spPr>
          <a:xfrm>
            <a:off x="4026896" y="2782539"/>
            <a:ext cx="45110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Headers</a:t>
            </a: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(optional)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77E5C2-DAF8-5C19-BD38-0A5B2BFE5B42}"/>
              </a:ext>
            </a:extLst>
          </p:cNvPr>
          <p:cNvSpPr/>
          <p:nvPr/>
        </p:nvSpPr>
        <p:spPr>
          <a:xfrm>
            <a:off x="4179296" y="3210819"/>
            <a:ext cx="1650889" cy="30777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Key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7D8037-2666-B951-034B-F1D8521E35C1}"/>
              </a:ext>
            </a:extLst>
          </p:cNvPr>
          <p:cNvSpPr/>
          <p:nvPr/>
        </p:nvSpPr>
        <p:spPr>
          <a:xfrm>
            <a:off x="4179295" y="3519803"/>
            <a:ext cx="1650889" cy="30777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Key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CC10E8-D70C-E09E-2711-7E691DF53B89}"/>
              </a:ext>
            </a:extLst>
          </p:cNvPr>
          <p:cNvSpPr/>
          <p:nvPr/>
        </p:nvSpPr>
        <p:spPr>
          <a:xfrm>
            <a:off x="5830185" y="3212025"/>
            <a:ext cx="2556068" cy="30777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Value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40C46B-7F38-087B-FB3F-E5E19939000E}"/>
              </a:ext>
            </a:extLst>
          </p:cNvPr>
          <p:cNvSpPr/>
          <p:nvPr/>
        </p:nvSpPr>
        <p:spPr>
          <a:xfrm>
            <a:off x="5830185" y="3519803"/>
            <a:ext cx="2556068" cy="30777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Value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D23B90-93EB-ED9D-7D88-46445096541C}"/>
              </a:ext>
            </a:extLst>
          </p:cNvPr>
          <p:cNvSpPr/>
          <p:nvPr/>
        </p:nvSpPr>
        <p:spPr>
          <a:xfrm>
            <a:off x="4026896" y="4041552"/>
            <a:ext cx="4511048" cy="429487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+ Offset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354AC7-2B14-F19A-38A8-CF923D21A0D2}"/>
              </a:ext>
            </a:extLst>
          </p:cNvPr>
          <p:cNvSpPr/>
          <p:nvPr/>
        </p:nvSpPr>
        <p:spPr>
          <a:xfrm>
            <a:off x="4026896" y="4474042"/>
            <a:ext cx="4511048" cy="429487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Timestamp</a:t>
            </a: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(system or user set)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AB1F9B-85FD-7F22-D0D0-1ABC36A94231}"/>
              </a:ext>
            </a:extLst>
          </p:cNvPr>
          <p:cNvSpPr/>
          <p:nvPr/>
        </p:nvSpPr>
        <p:spPr>
          <a:xfrm>
            <a:off x="1623228" y="2782539"/>
            <a:ext cx="1026854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2FCEED9-1821-5A65-18AE-36004FAC60FA}"/>
              </a:ext>
            </a:extLst>
          </p:cNvPr>
          <p:cNvCxnSpPr>
            <a:cxnSpLocks/>
          </p:cNvCxnSpPr>
          <p:nvPr/>
        </p:nvCxnSpPr>
        <p:spPr>
          <a:xfrm>
            <a:off x="2925951" y="3075238"/>
            <a:ext cx="75391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508A1DE-BCE7-4B5A-39C6-2B41BF1E4445}"/>
              </a:ext>
            </a:extLst>
          </p:cNvPr>
          <p:cNvSpPr txBox="1"/>
          <p:nvPr/>
        </p:nvSpPr>
        <p:spPr>
          <a:xfrm>
            <a:off x="2771324" y="2778050"/>
            <a:ext cx="10705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8" name="Picture 2" descr="Apache Kafka">
            <a:extLst>
              <a:ext uri="{FF2B5EF4-FFF2-40B4-BE49-F238E27FC236}">
                <a16:creationId xmlns:a16="http://schemas.microsoft.com/office/drawing/2014/main" id="{09BD2E0D-0EBC-B968-EFF3-1717209CF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2991" y="2637541"/>
            <a:ext cx="1291684" cy="588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C717A4C3-2F5E-6184-A585-FF390B0A68EE}"/>
              </a:ext>
            </a:extLst>
          </p:cNvPr>
          <p:cNvSpPr/>
          <p:nvPr/>
        </p:nvSpPr>
        <p:spPr>
          <a:xfrm>
            <a:off x="8697433" y="2848992"/>
            <a:ext cx="659218" cy="1704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9B1C7FC8-E372-A731-532D-4FD367C0C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4"/>
          </a:xfrm>
        </p:spPr>
        <p:txBody>
          <a:bodyPr/>
          <a:lstStyle/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So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Kafka only accepts bytes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Clients obviously uses higher-level objects (Integer, String, etc.) for Key and Value 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To </a:t>
            </a:r>
            <a:r>
              <a:rPr lang="en-US" dirty="0">
                <a:solidFill>
                  <a:srgbClr val="1A1523"/>
                </a:solidFill>
                <a:highlight>
                  <a:srgbClr val="FFFFFF"/>
                </a:highlight>
              </a:rPr>
              <a:t>transform these objects into binaries 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a </a:t>
            </a:r>
            <a:r>
              <a:rPr lang="en-US" dirty="0">
                <a:solidFill>
                  <a:srgbClr val="1A1523"/>
                </a:solidFill>
                <a:highlight>
                  <a:srgbClr val="FFFFFF"/>
                </a:highlight>
              </a:rPr>
              <a:t>Producer </a:t>
            </a:r>
            <a:r>
              <a:rPr lang="en-US" b="1" dirty="0">
                <a:solidFill>
                  <a:srgbClr val="1A1523"/>
                </a:solidFill>
                <a:highlight>
                  <a:srgbClr val="FFFFFF"/>
                </a:highlight>
              </a:rPr>
              <a:t>Serializer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 is needed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To </a:t>
            </a:r>
            <a:r>
              <a:rPr lang="en-US" dirty="0">
                <a:solidFill>
                  <a:srgbClr val="1A1523"/>
                </a:solidFill>
                <a:highlight>
                  <a:srgbClr val="FFFFFF"/>
                </a:highlight>
              </a:rPr>
              <a:t>transform the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 </a:t>
            </a:r>
            <a:r>
              <a:rPr lang="en-US" dirty="0">
                <a:solidFill>
                  <a:srgbClr val="1A1523"/>
                </a:solidFill>
                <a:highlight>
                  <a:srgbClr val="FFFFFF"/>
                </a:highlight>
              </a:rPr>
              <a:t>binaries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 into objects</a:t>
            </a:r>
            <a:r>
              <a:rPr lang="en-US" dirty="0">
                <a:solidFill>
                  <a:srgbClr val="1A1523"/>
                </a:solidFill>
                <a:highlight>
                  <a:srgbClr val="FFFFFF"/>
                </a:highlight>
              </a:rPr>
              <a:t> 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a Consumer</a:t>
            </a:r>
            <a:r>
              <a:rPr lang="en-US" dirty="0">
                <a:solidFill>
                  <a:srgbClr val="1A1523"/>
                </a:solidFill>
                <a:highlight>
                  <a:srgbClr val="FFFFFF"/>
                </a:highlight>
              </a:rPr>
              <a:t> </a:t>
            </a:r>
            <a:r>
              <a:rPr lang="hu-HU" b="1" dirty="0">
                <a:solidFill>
                  <a:srgbClr val="1A1523"/>
                </a:solidFill>
                <a:highlight>
                  <a:srgbClr val="FFFFFF"/>
                </a:highlight>
              </a:rPr>
              <a:t>Des</a:t>
            </a:r>
            <a:r>
              <a:rPr lang="en-US" b="1" dirty="0" err="1">
                <a:solidFill>
                  <a:srgbClr val="1A1523"/>
                </a:solidFill>
                <a:highlight>
                  <a:srgbClr val="FFFFFF"/>
                </a:highlight>
              </a:rPr>
              <a:t>erializer</a:t>
            </a:r>
            <a:r>
              <a:rPr lang="hu-HU" b="1" dirty="0">
                <a:solidFill>
                  <a:srgbClr val="1A1523"/>
                </a:solidFill>
                <a:highlight>
                  <a:srgbClr val="FFFFFF"/>
                </a:highlight>
              </a:rPr>
              <a:t> 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is needed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657136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Serialization / Deserialization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1255E72-E68E-6ED6-AA03-9ADB069D90E2}"/>
              </a:ext>
            </a:extLst>
          </p:cNvPr>
          <p:cNvGrpSpPr/>
          <p:nvPr/>
        </p:nvGrpSpPr>
        <p:grpSpPr>
          <a:xfrm>
            <a:off x="787169" y="967360"/>
            <a:ext cx="4840157" cy="4619720"/>
            <a:chOff x="787169" y="967360"/>
            <a:chExt cx="4840157" cy="461972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4FE3F59-69BA-1876-BBD8-F0E9BE0DC674}"/>
                </a:ext>
              </a:extLst>
            </p:cNvPr>
            <p:cNvSpPr/>
            <p:nvPr/>
          </p:nvSpPr>
          <p:spPr>
            <a:xfrm>
              <a:off x="787169" y="1684059"/>
              <a:ext cx="1785363" cy="95740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Key-object</a:t>
              </a:r>
            </a:p>
            <a:p>
              <a:pPr algn="ctr"/>
              <a:endPara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123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0B12472-0C4A-900A-E074-1A18E10B4D63}"/>
                </a:ext>
              </a:extLst>
            </p:cNvPr>
            <p:cNvSpPr/>
            <p:nvPr/>
          </p:nvSpPr>
          <p:spPr>
            <a:xfrm>
              <a:off x="3114426" y="1679096"/>
              <a:ext cx="2046364" cy="95740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Value-object</a:t>
              </a:r>
            </a:p>
            <a:p>
              <a:pPr algn="ctr"/>
              <a:endPara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„hello world”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CC0DCD-510E-AFF6-9C12-9F2DF168EF66}"/>
                </a:ext>
              </a:extLst>
            </p:cNvPr>
            <p:cNvSpPr/>
            <p:nvPr/>
          </p:nvSpPr>
          <p:spPr>
            <a:xfrm>
              <a:off x="787169" y="3152024"/>
              <a:ext cx="1785363" cy="957403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Key Serializer=</a:t>
              </a:r>
            </a:p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Integer Serializer</a:t>
              </a:r>
            </a:p>
            <a:p>
              <a:pPr algn="ctr"/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D2CCFE4-0960-5C69-C3D6-E36C9624A952}"/>
                </a:ext>
              </a:extLst>
            </p:cNvPr>
            <p:cNvSpPr/>
            <p:nvPr/>
          </p:nvSpPr>
          <p:spPr>
            <a:xfrm>
              <a:off x="3114426" y="3145203"/>
              <a:ext cx="2046364" cy="957403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Value Serializer=</a:t>
              </a:r>
            </a:p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String Serializer</a:t>
              </a:r>
            </a:p>
            <a:p>
              <a:pPr algn="ctr"/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EF25945-A258-00FB-1B3F-6F082D7FF74B}"/>
                </a:ext>
              </a:extLst>
            </p:cNvPr>
            <p:cNvSpPr/>
            <p:nvPr/>
          </p:nvSpPr>
          <p:spPr>
            <a:xfrm>
              <a:off x="787169" y="4629677"/>
              <a:ext cx="1785363" cy="95740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Key-binary</a:t>
              </a:r>
            </a:p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01110011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40EBA5A-1F4F-A9BF-19DB-F83FB9CF8C12}"/>
                </a:ext>
              </a:extLst>
            </p:cNvPr>
            <p:cNvSpPr/>
            <p:nvPr/>
          </p:nvSpPr>
          <p:spPr>
            <a:xfrm>
              <a:off x="2572531" y="4629676"/>
              <a:ext cx="3054795" cy="95740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Value-binary</a:t>
              </a:r>
            </a:p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101011101110000001010110</a:t>
              </a:r>
            </a:p>
            <a:p>
              <a:pPr algn="ctr"/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0B0536F-62C2-1848-63EA-9EDA9928B747}"/>
                </a:ext>
              </a:extLst>
            </p:cNvPr>
            <p:cNvCxnSpPr>
              <a:stCxn id="6" idx="2"/>
              <a:endCxn id="8" idx="0"/>
            </p:cNvCxnSpPr>
            <p:nvPr/>
          </p:nvCxnSpPr>
          <p:spPr>
            <a:xfrm>
              <a:off x="1679851" y="2641462"/>
              <a:ext cx="0" cy="51056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1D3EF68-D626-D2F9-8B0A-BDE648DFE8B2}"/>
                </a:ext>
              </a:extLst>
            </p:cNvPr>
            <p:cNvCxnSpPr>
              <a:stCxn id="8" idx="2"/>
              <a:endCxn id="10" idx="0"/>
            </p:cNvCxnSpPr>
            <p:nvPr/>
          </p:nvCxnSpPr>
          <p:spPr>
            <a:xfrm>
              <a:off x="1679851" y="4109427"/>
              <a:ext cx="0" cy="5202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17DB0FC-FD87-5CC1-F92F-1E56C7507D8E}"/>
                </a:ext>
              </a:extLst>
            </p:cNvPr>
            <p:cNvCxnSpPr>
              <a:cxnSpLocks/>
              <a:stCxn id="7" idx="2"/>
              <a:endCxn id="9" idx="0"/>
            </p:cNvCxnSpPr>
            <p:nvPr/>
          </p:nvCxnSpPr>
          <p:spPr>
            <a:xfrm>
              <a:off x="4137608" y="2636499"/>
              <a:ext cx="0" cy="50870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27096EA-17B2-0A11-E30D-E5EDC43B3E84}"/>
                </a:ext>
              </a:extLst>
            </p:cNvPr>
            <p:cNvSpPr txBox="1"/>
            <p:nvPr/>
          </p:nvSpPr>
          <p:spPr>
            <a:xfrm>
              <a:off x="1693937" y="2740022"/>
              <a:ext cx="59746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6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55CE31E-ACA2-73CD-EFAC-4B703E41A431}"/>
                </a:ext>
              </a:extLst>
            </p:cNvPr>
            <p:cNvSpPr txBox="1"/>
            <p:nvPr/>
          </p:nvSpPr>
          <p:spPr>
            <a:xfrm>
              <a:off x="4159617" y="2721574"/>
              <a:ext cx="78668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6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string</a:t>
              </a:r>
              <a:endPara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504C977-3EB3-EF8C-0631-EFFEF72F75A5}"/>
                </a:ext>
              </a:extLst>
            </p:cNvPr>
            <p:cNvSpPr txBox="1"/>
            <p:nvPr/>
          </p:nvSpPr>
          <p:spPr>
            <a:xfrm>
              <a:off x="1696204" y="4207987"/>
              <a:ext cx="7657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6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bytes</a:t>
              </a:r>
              <a:endPara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F77BDCC-A001-58FE-3143-8B33360E56B4}"/>
                </a:ext>
              </a:extLst>
            </p:cNvPr>
            <p:cNvSpPr txBox="1"/>
            <p:nvPr/>
          </p:nvSpPr>
          <p:spPr>
            <a:xfrm>
              <a:off x="4236519" y="4187681"/>
              <a:ext cx="72921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6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bytes</a:t>
              </a:r>
              <a:endPara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cxnSp>
          <p:nvCxnSpPr>
            <p:cNvPr id="2064" name="Straight Arrow Connector 2063">
              <a:extLst>
                <a:ext uri="{FF2B5EF4-FFF2-40B4-BE49-F238E27FC236}">
                  <a16:creationId xmlns:a16="http://schemas.microsoft.com/office/drawing/2014/main" id="{2D379D2D-B786-F6F2-E39C-66FA2E3D827B}"/>
                </a:ext>
              </a:extLst>
            </p:cNvPr>
            <p:cNvCxnSpPr/>
            <p:nvPr/>
          </p:nvCxnSpPr>
          <p:spPr>
            <a:xfrm>
              <a:off x="4137608" y="4109426"/>
              <a:ext cx="0" cy="5202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2" name="TextBox 2071">
              <a:extLst>
                <a:ext uri="{FF2B5EF4-FFF2-40B4-BE49-F238E27FC236}">
                  <a16:creationId xmlns:a16="http://schemas.microsoft.com/office/drawing/2014/main" id="{DDE2724B-E887-11D1-A9BE-8F2369FEC57A}"/>
                </a:ext>
              </a:extLst>
            </p:cNvPr>
            <p:cNvSpPr txBox="1"/>
            <p:nvPr/>
          </p:nvSpPr>
          <p:spPr>
            <a:xfrm>
              <a:off x="1995120" y="967360"/>
              <a:ext cx="22413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b="1" dirty="0"/>
                <a:t>Producer</a:t>
              </a:r>
              <a:endParaRPr lang="en-US" b="1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DB63F657-6287-A6F5-9EB9-7B8C1518612C}"/>
              </a:ext>
            </a:extLst>
          </p:cNvPr>
          <p:cNvGrpSpPr/>
          <p:nvPr/>
        </p:nvGrpSpPr>
        <p:grpSpPr>
          <a:xfrm>
            <a:off x="6558460" y="966702"/>
            <a:ext cx="4915219" cy="4620379"/>
            <a:chOff x="6558460" y="966702"/>
            <a:chExt cx="4915219" cy="4620379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59E729-630C-EC9F-41B7-02D49303DD1D}"/>
                </a:ext>
              </a:extLst>
            </p:cNvPr>
            <p:cNvSpPr/>
            <p:nvPr/>
          </p:nvSpPr>
          <p:spPr>
            <a:xfrm>
              <a:off x="6558461" y="1684060"/>
              <a:ext cx="1860424" cy="95740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Key-object</a:t>
              </a:r>
            </a:p>
            <a:p>
              <a:pPr algn="ctr"/>
              <a:endPara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123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78CB466B-BE1B-0B35-CF5A-386BB6658E14}"/>
                </a:ext>
              </a:extLst>
            </p:cNvPr>
            <p:cNvSpPr/>
            <p:nvPr/>
          </p:nvSpPr>
          <p:spPr>
            <a:xfrm>
              <a:off x="8960779" y="1679097"/>
              <a:ext cx="1954271" cy="95740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Value-object</a:t>
              </a:r>
            </a:p>
            <a:p>
              <a:pPr algn="ctr"/>
              <a:endPara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„hello world”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0E7D040-1A74-79DC-113F-21C491B01E24}"/>
                </a:ext>
              </a:extLst>
            </p:cNvPr>
            <p:cNvSpPr/>
            <p:nvPr/>
          </p:nvSpPr>
          <p:spPr>
            <a:xfrm>
              <a:off x="6558460" y="3152025"/>
              <a:ext cx="1860425" cy="957403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Key Deserializer=</a:t>
              </a:r>
            </a:p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Integer Deserializer</a:t>
              </a:r>
            </a:p>
            <a:p>
              <a:pPr algn="ctr"/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4FFBB8C2-5DCD-740B-07AC-F5B3FBD2A36D}"/>
                </a:ext>
              </a:extLst>
            </p:cNvPr>
            <p:cNvSpPr/>
            <p:nvPr/>
          </p:nvSpPr>
          <p:spPr>
            <a:xfrm>
              <a:off x="8960779" y="3145204"/>
              <a:ext cx="1954271" cy="957403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Value Deserializer=</a:t>
              </a:r>
            </a:p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String Deserializer</a:t>
              </a:r>
            </a:p>
            <a:p>
              <a:pPr algn="ctr"/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25D0E39E-9BB7-D037-D885-F7DA50FEB105}"/>
                </a:ext>
              </a:extLst>
            </p:cNvPr>
            <p:cNvSpPr/>
            <p:nvPr/>
          </p:nvSpPr>
          <p:spPr>
            <a:xfrm>
              <a:off x="6558461" y="4629678"/>
              <a:ext cx="1860424" cy="95740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Key-binary</a:t>
              </a:r>
            </a:p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01110011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89B6FC0D-E4BF-47C2-1AD9-D07909B7EF2E}"/>
                </a:ext>
              </a:extLst>
            </p:cNvPr>
            <p:cNvSpPr/>
            <p:nvPr/>
          </p:nvSpPr>
          <p:spPr>
            <a:xfrm>
              <a:off x="8418884" y="4629677"/>
              <a:ext cx="3054795" cy="95740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Value-binary</a:t>
              </a:r>
            </a:p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101011101110000001010110</a:t>
              </a:r>
            </a:p>
            <a:p>
              <a:pPr algn="ctr"/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5CCB4562-8372-833B-6715-4E223EDC8C91}"/>
                </a:ext>
              </a:extLst>
            </p:cNvPr>
            <p:cNvCxnSpPr>
              <a:cxnSpLocks/>
              <a:stCxn id="50" idx="2"/>
              <a:endCxn id="54" idx="0"/>
            </p:cNvCxnSpPr>
            <p:nvPr/>
          </p:nvCxnSpPr>
          <p:spPr>
            <a:xfrm>
              <a:off x="7488673" y="2641463"/>
              <a:ext cx="0" cy="51056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8" name="Straight Arrow Connector 2047">
              <a:extLst>
                <a:ext uri="{FF2B5EF4-FFF2-40B4-BE49-F238E27FC236}">
                  <a16:creationId xmlns:a16="http://schemas.microsoft.com/office/drawing/2014/main" id="{EDA7E5AE-D883-3D13-5FE5-7D48200CDE5E}"/>
                </a:ext>
              </a:extLst>
            </p:cNvPr>
            <p:cNvCxnSpPr>
              <a:cxnSpLocks/>
              <a:stCxn id="54" idx="2"/>
              <a:endCxn id="57" idx="0"/>
            </p:cNvCxnSpPr>
            <p:nvPr/>
          </p:nvCxnSpPr>
          <p:spPr>
            <a:xfrm>
              <a:off x="7488673" y="4109428"/>
              <a:ext cx="0" cy="520250"/>
            </a:xfrm>
            <a:prstGeom prst="straightConnector1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9" name="Straight Connector 2048">
              <a:extLst>
                <a:ext uri="{FF2B5EF4-FFF2-40B4-BE49-F238E27FC236}">
                  <a16:creationId xmlns:a16="http://schemas.microsoft.com/office/drawing/2014/main" id="{2558FB9A-B60C-F504-864C-3A46183941D3}"/>
                </a:ext>
              </a:extLst>
            </p:cNvPr>
            <p:cNvCxnSpPr>
              <a:cxnSpLocks/>
              <a:stCxn id="52" idx="2"/>
              <a:endCxn id="56" idx="0"/>
            </p:cNvCxnSpPr>
            <p:nvPr/>
          </p:nvCxnSpPr>
          <p:spPr>
            <a:xfrm>
              <a:off x="9937915" y="2636500"/>
              <a:ext cx="0" cy="50870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1" name="Straight Arrow Connector 2050">
              <a:extLst>
                <a:ext uri="{FF2B5EF4-FFF2-40B4-BE49-F238E27FC236}">
                  <a16:creationId xmlns:a16="http://schemas.microsoft.com/office/drawing/2014/main" id="{7ACC9B11-BCC8-3CA2-08A9-9D6108D23829}"/>
                </a:ext>
              </a:extLst>
            </p:cNvPr>
            <p:cNvCxnSpPr>
              <a:cxnSpLocks/>
            </p:cNvCxnSpPr>
            <p:nvPr/>
          </p:nvCxnSpPr>
          <p:spPr>
            <a:xfrm>
              <a:off x="9937268" y="4102606"/>
              <a:ext cx="0" cy="527070"/>
            </a:xfrm>
            <a:prstGeom prst="straightConnector1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52" name="TextBox 2051">
              <a:extLst>
                <a:ext uri="{FF2B5EF4-FFF2-40B4-BE49-F238E27FC236}">
                  <a16:creationId xmlns:a16="http://schemas.microsoft.com/office/drawing/2014/main" id="{98F180F6-C2AE-DC8F-C813-E7195DE55B84}"/>
                </a:ext>
              </a:extLst>
            </p:cNvPr>
            <p:cNvSpPr txBox="1"/>
            <p:nvPr/>
          </p:nvSpPr>
          <p:spPr>
            <a:xfrm>
              <a:off x="7515171" y="2740023"/>
              <a:ext cx="62258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6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053" name="TextBox 2052">
              <a:extLst>
                <a:ext uri="{FF2B5EF4-FFF2-40B4-BE49-F238E27FC236}">
                  <a16:creationId xmlns:a16="http://schemas.microsoft.com/office/drawing/2014/main" id="{635A9449-D512-16CC-83B1-6111FEFAD0C0}"/>
                </a:ext>
              </a:extLst>
            </p:cNvPr>
            <p:cNvSpPr txBox="1"/>
            <p:nvPr/>
          </p:nvSpPr>
          <p:spPr>
            <a:xfrm>
              <a:off x="9946281" y="2721575"/>
              <a:ext cx="78668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6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string</a:t>
              </a:r>
              <a:endPara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054" name="TextBox 2053">
              <a:extLst>
                <a:ext uri="{FF2B5EF4-FFF2-40B4-BE49-F238E27FC236}">
                  <a16:creationId xmlns:a16="http://schemas.microsoft.com/office/drawing/2014/main" id="{86C82F4A-D3F1-F6EB-7341-164863226B1A}"/>
                </a:ext>
              </a:extLst>
            </p:cNvPr>
            <p:cNvSpPr txBox="1"/>
            <p:nvPr/>
          </p:nvSpPr>
          <p:spPr>
            <a:xfrm>
              <a:off x="7510363" y="4207988"/>
              <a:ext cx="797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6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bytes</a:t>
              </a:r>
              <a:endPara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055" name="TextBox 2054">
              <a:extLst>
                <a:ext uri="{FF2B5EF4-FFF2-40B4-BE49-F238E27FC236}">
                  <a16:creationId xmlns:a16="http://schemas.microsoft.com/office/drawing/2014/main" id="{67738E2B-2EEA-489D-FF39-C728660208B6}"/>
                </a:ext>
              </a:extLst>
            </p:cNvPr>
            <p:cNvSpPr txBox="1"/>
            <p:nvPr/>
          </p:nvSpPr>
          <p:spPr>
            <a:xfrm>
              <a:off x="9975017" y="4187682"/>
              <a:ext cx="72921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6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bytes</a:t>
              </a:r>
              <a:endPara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073" name="TextBox 2072">
              <a:extLst>
                <a:ext uri="{FF2B5EF4-FFF2-40B4-BE49-F238E27FC236}">
                  <a16:creationId xmlns:a16="http://schemas.microsoft.com/office/drawing/2014/main" id="{7E1C3DA5-4582-4FC8-746A-C0285C9E5F0E}"/>
                </a:ext>
              </a:extLst>
            </p:cNvPr>
            <p:cNvSpPr txBox="1"/>
            <p:nvPr/>
          </p:nvSpPr>
          <p:spPr>
            <a:xfrm>
              <a:off x="7515171" y="966702"/>
              <a:ext cx="22413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b="1" dirty="0"/>
                <a:t>Consumer</a:t>
              </a:r>
              <a:endParaRPr lang="en-US" b="1" dirty="0"/>
            </a:p>
          </p:txBody>
        </p:sp>
      </p:grpSp>
      <p:sp>
        <p:nvSpPr>
          <p:cNvPr id="2075" name="Content Placeholder 2074">
            <a:extLst>
              <a:ext uri="{FF2B5EF4-FFF2-40B4-BE49-F238E27FC236}">
                <a16:creationId xmlns:a16="http://schemas.microsoft.com/office/drawing/2014/main" id="{98DF36CE-E5B4-6BFD-374D-0A9DF70D4E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5809056"/>
            <a:ext cx="11877675" cy="829483"/>
          </a:xfrm>
        </p:spPr>
        <p:txBody>
          <a:bodyPr/>
          <a:lstStyle/>
          <a:p>
            <a:r>
              <a:rPr lang="hu-HU" dirty="0"/>
              <a:t>The serialization/deserialization is an important implementation choice</a:t>
            </a:r>
          </a:p>
          <a:p>
            <a:r>
              <a:rPr lang="hu-HU" b="1" dirty="0"/>
              <a:t>Changing the serialization</a:t>
            </a:r>
            <a:r>
              <a:rPr lang="hu-HU" dirty="0"/>
              <a:t> type for the topic </a:t>
            </a:r>
            <a:r>
              <a:rPr lang="hu-HU" b="1" dirty="0"/>
              <a:t>breaks the client</a:t>
            </a:r>
            <a:r>
              <a:rPr lang="hu-HU" dirty="0"/>
              <a:t> at code level (better to create a new topic)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3320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Consumers 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1707463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Consumer reads data from a topic in a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pull model</a:t>
            </a: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A consumer can read multiple partitions 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Each partition is being read in order, from lower to higher offset values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Typically a broker does not contain all partitions, but a consumer knows which broker to read from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In case of broker failure, a consumer knows how to recover </a:t>
            </a: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E93B418-16DF-49F7-7E18-CED899A62F02}"/>
              </a:ext>
            </a:extLst>
          </p:cNvPr>
          <p:cNvGrpSpPr/>
          <p:nvPr/>
        </p:nvGrpSpPr>
        <p:grpSpPr>
          <a:xfrm>
            <a:off x="544363" y="2958453"/>
            <a:ext cx="5970282" cy="2718529"/>
            <a:chOff x="4436329" y="2158203"/>
            <a:chExt cx="5970282" cy="2718529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9318241C-9DF9-C6CE-93EA-C3ADE26613C3}"/>
                </a:ext>
              </a:extLst>
            </p:cNvPr>
            <p:cNvSpPr/>
            <p:nvPr/>
          </p:nvSpPr>
          <p:spPr>
            <a:xfrm>
              <a:off x="4436329" y="3062358"/>
              <a:ext cx="858871" cy="327448"/>
            </a:xfrm>
            <a:prstGeom prst="roundRect">
              <a:avLst/>
            </a:prstGeom>
            <a:solidFill>
              <a:schemeClr val="accent5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Topic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" name="Left Brace 4">
              <a:extLst>
                <a:ext uri="{FF2B5EF4-FFF2-40B4-BE49-F238E27FC236}">
                  <a16:creationId xmlns:a16="http://schemas.microsoft.com/office/drawing/2014/main" id="{BCFCC1F6-F89E-37F3-9DD2-812B6E02639C}"/>
                </a:ext>
              </a:extLst>
            </p:cNvPr>
            <p:cNvSpPr/>
            <p:nvPr/>
          </p:nvSpPr>
          <p:spPr>
            <a:xfrm>
              <a:off x="5451017" y="2158203"/>
              <a:ext cx="491569" cy="213859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F3739EC-36FB-3B82-C3C8-FC04BE68CA56}"/>
                </a:ext>
              </a:extLst>
            </p:cNvPr>
            <p:cNvSpPr txBox="1"/>
            <p:nvPr/>
          </p:nvSpPr>
          <p:spPr>
            <a:xfrm>
              <a:off x="5942586" y="2318289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C62FC73-80D1-1E15-73FC-38E9D7F36CFB}"/>
                </a:ext>
              </a:extLst>
            </p:cNvPr>
            <p:cNvSpPr txBox="1"/>
            <p:nvPr/>
          </p:nvSpPr>
          <p:spPr>
            <a:xfrm>
              <a:off x="5942586" y="2888418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9F78126-3165-7D51-BB27-CB73236B0AE6}"/>
                </a:ext>
              </a:extLst>
            </p:cNvPr>
            <p:cNvSpPr txBox="1"/>
            <p:nvPr/>
          </p:nvSpPr>
          <p:spPr>
            <a:xfrm>
              <a:off x="5942586" y="3760590"/>
              <a:ext cx="12149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N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EEC50C5-FA73-F3EA-98EC-561622F0F54F}"/>
                </a:ext>
              </a:extLst>
            </p:cNvPr>
            <p:cNvSpPr txBox="1"/>
            <p:nvPr/>
          </p:nvSpPr>
          <p:spPr>
            <a:xfrm>
              <a:off x="6288206" y="3352309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49026A6-6622-532D-DB10-D53B882DA8CC}"/>
                </a:ext>
              </a:extLst>
            </p:cNvPr>
            <p:cNvSpPr/>
            <p:nvPr/>
          </p:nvSpPr>
          <p:spPr>
            <a:xfrm>
              <a:off x="7186355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30B94E0-F9C5-5181-9043-E5B5679B3A87}"/>
                </a:ext>
              </a:extLst>
            </p:cNvPr>
            <p:cNvSpPr/>
            <p:nvPr/>
          </p:nvSpPr>
          <p:spPr>
            <a:xfrm>
              <a:off x="7585553" y="2235602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BA99C6A-0E38-8FA8-5343-A5CEF95737B4}"/>
                </a:ext>
              </a:extLst>
            </p:cNvPr>
            <p:cNvSpPr/>
            <p:nvPr/>
          </p:nvSpPr>
          <p:spPr>
            <a:xfrm>
              <a:off x="7984751" y="2235604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A4F48D6-1950-0781-6848-6DAE4CF32FCA}"/>
                </a:ext>
              </a:extLst>
            </p:cNvPr>
            <p:cNvSpPr/>
            <p:nvPr/>
          </p:nvSpPr>
          <p:spPr>
            <a:xfrm>
              <a:off x="8383949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82687AE-5133-5D32-DED3-4A51F0F85617}"/>
                </a:ext>
              </a:extLst>
            </p:cNvPr>
            <p:cNvSpPr/>
            <p:nvPr/>
          </p:nvSpPr>
          <p:spPr>
            <a:xfrm>
              <a:off x="7186355" y="2862317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41EACEB-D0F9-0A08-AC19-29B439D561EF}"/>
                </a:ext>
              </a:extLst>
            </p:cNvPr>
            <p:cNvSpPr/>
            <p:nvPr/>
          </p:nvSpPr>
          <p:spPr>
            <a:xfrm>
              <a:off x="7585553" y="2862316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FB02AD3-07CF-D86E-CFD0-A5F6D4974AB4}"/>
                </a:ext>
              </a:extLst>
            </p:cNvPr>
            <p:cNvSpPr/>
            <p:nvPr/>
          </p:nvSpPr>
          <p:spPr>
            <a:xfrm>
              <a:off x="7984751" y="2862318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7C648C5-A0A2-E4EE-F524-B5D03D78C4AD}"/>
                </a:ext>
              </a:extLst>
            </p:cNvPr>
            <p:cNvSpPr/>
            <p:nvPr/>
          </p:nvSpPr>
          <p:spPr>
            <a:xfrm>
              <a:off x="8383949" y="2862317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BE6DDE0-D78E-EABC-C99D-0CAA6E271919}"/>
                </a:ext>
              </a:extLst>
            </p:cNvPr>
            <p:cNvSpPr/>
            <p:nvPr/>
          </p:nvSpPr>
          <p:spPr>
            <a:xfrm>
              <a:off x="8783147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C7BC536-BA11-37BD-E7FB-17B2B29F6F44}"/>
                </a:ext>
              </a:extLst>
            </p:cNvPr>
            <p:cNvSpPr/>
            <p:nvPr/>
          </p:nvSpPr>
          <p:spPr>
            <a:xfrm>
              <a:off x="9182345" y="2235602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C630052-2B56-262D-C94E-FCA679BB046F}"/>
                </a:ext>
              </a:extLst>
            </p:cNvPr>
            <p:cNvSpPr/>
            <p:nvPr/>
          </p:nvSpPr>
          <p:spPr>
            <a:xfrm>
              <a:off x="7186355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BE20A0A-A697-F65A-F98A-9F87121B326E}"/>
                </a:ext>
              </a:extLst>
            </p:cNvPr>
            <p:cNvSpPr/>
            <p:nvPr/>
          </p:nvSpPr>
          <p:spPr>
            <a:xfrm>
              <a:off x="7585553" y="3667330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2D945D0-4465-AC74-6B1E-8AC3DD0B16CE}"/>
                </a:ext>
              </a:extLst>
            </p:cNvPr>
            <p:cNvSpPr/>
            <p:nvPr/>
          </p:nvSpPr>
          <p:spPr>
            <a:xfrm>
              <a:off x="7984751" y="3667332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21724D9-0880-9AB5-BEAF-B3B71076B1F9}"/>
                </a:ext>
              </a:extLst>
            </p:cNvPr>
            <p:cNvSpPr/>
            <p:nvPr/>
          </p:nvSpPr>
          <p:spPr>
            <a:xfrm>
              <a:off x="8383949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4BCCC184-DBA8-83A0-5394-DBCD3F3496D2}"/>
                </a:ext>
              </a:extLst>
            </p:cNvPr>
            <p:cNvSpPr/>
            <p:nvPr/>
          </p:nvSpPr>
          <p:spPr>
            <a:xfrm>
              <a:off x="8783147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CBB0EB5-4BD5-7A17-2253-E263AA30C8DF}"/>
                </a:ext>
              </a:extLst>
            </p:cNvPr>
            <p:cNvSpPr/>
            <p:nvPr/>
          </p:nvSpPr>
          <p:spPr>
            <a:xfrm>
              <a:off x="9182345" y="3667330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D531372-E0FB-DDD3-A050-B209B36BF429}"/>
                </a:ext>
              </a:extLst>
            </p:cNvPr>
            <p:cNvSpPr/>
            <p:nvPr/>
          </p:nvSpPr>
          <p:spPr>
            <a:xfrm>
              <a:off x="9581543" y="3667332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6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77A748A-C2FD-BC0F-D99D-B625C0ADC380}"/>
                </a:ext>
              </a:extLst>
            </p:cNvPr>
            <p:cNvSpPr txBox="1"/>
            <p:nvPr/>
          </p:nvSpPr>
          <p:spPr>
            <a:xfrm>
              <a:off x="8583548" y="4568955"/>
              <a:ext cx="1823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message offset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138B55D-4026-4D8B-B339-46011C8E39EC}"/>
                </a:ext>
              </a:extLst>
            </p:cNvPr>
            <p:cNvSpPr txBox="1"/>
            <p:nvPr/>
          </p:nvSpPr>
          <p:spPr>
            <a:xfrm rot="5400000">
              <a:off x="9724220" y="2267330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DE41B48-9070-3292-48E6-D85759655721}"/>
                </a:ext>
              </a:extLst>
            </p:cNvPr>
            <p:cNvSpPr txBox="1"/>
            <p:nvPr/>
          </p:nvSpPr>
          <p:spPr>
            <a:xfrm rot="5400000">
              <a:off x="8852904" y="2900036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FC3A3DF-AA09-91E4-98CA-654070BC7E77}"/>
                </a:ext>
              </a:extLst>
            </p:cNvPr>
            <p:cNvSpPr txBox="1"/>
            <p:nvPr/>
          </p:nvSpPr>
          <p:spPr>
            <a:xfrm rot="5400000">
              <a:off x="10039243" y="3705050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F5D3EF7-9647-4E1D-52A8-70C1408E0905}"/>
                </a:ext>
              </a:extLst>
            </p:cNvPr>
            <p:cNvCxnSpPr>
              <a:cxnSpLocks/>
              <a:stCxn id="60" idx="0"/>
              <a:endCxn id="42" idx="2"/>
            </p:cNvCxnSpPr>
            <p:nvPr/>
          </p:nvCxnSpPr>
          <p:spPr>
            <a:xfrm flipH="1" flipV="1">
              <a:off x="8583548" y="4057794"/>
              <a:ext cx="911532" cy="5111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D28430D3-1B76-A77E-148C-6EF625EA8640}"/>
              </a:ext>
            </a:extLst>
          </p:cNvPr>
          <p:cNvSpPr/>
          <p:nvPr/>
        </p:nvSpPr>
        <p:spPr>
          <a:xfrm>
            <a:off x="7644571" y="2972171"/>
            <a:ext cx="1446028" cy="47314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A995D4-7664-47DB-C570-FFEB925C325D}"/>
              </a:ext>
            </a:extLst>
          </p:cNvPr>
          <p:cNvCxnSpPr>
            <a:cxnSpLocks/>
          </p:cNvCxnSpPr>
          <p:nvPr/>
        </p:nvCxnSpPr>
        <p:spPr>
          <a:xfrm>
            <a:off x="6316133" y="3211033"/>
            <a:ext cx="1087636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CDCB197-E836-97DC-193D-D75C7CD24613}"/>
              </a:ext>
            </a:extLst>
          </p:cNvPr>
          <p:cNvCxnSpPr>
            <a:cxnSpLocks/>
          </p:cNvCxnSpPr>
          <p:nvPr/>
        </p:nvCxnSpPr>
        <p:spPr>
          <a:xfrm flipV="1">
            <a:off x="5401733" y="3302646"/>
            <a:ext cx="2002036" cy="55996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D9666BF-A64D-6163-0326-3D6396AE0F54}"/>
              </a:ext>
            </a:extLst>
          </p:cNvPr>
          <p:cNvCxnSpPr>
            <a:cxnSpLocks/>
          </p:cNvCxnSpPr>
          <p:nvPr/>
        </p:nvCxnSpPr>
        <p:spPr>
          <a:xfrm>
            <a:off x="6556935" y="4667299"/>
            <a:ext cx="84683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3706D126-9762-964C-3CBF-F6509346B3CB}"/>
              </a:ext>
            </a:extLst>
          </p:cNvPr>
          <p:cNvSpPr/>
          <p:nvPr/>
        </p:nvSpPr>
        <p:spPr>
          <a:xfrm>
            <a:off x="7644571" y="4437188"/>
            <a:ext cx="1446028" cy="47314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5858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3CC2BCAA-16D9-705F-D548-EDD15111614D}"/>
              </a:ext>
            </a:extLst>
          </p:cNvPr>
          <p:cNvSpPr/>
          <p:nvPr/>
        </p:nvSpPr>
        <p:spPr>
          <a:xfrm>
            <a:off x="5457523" y="2454442"/>
            <a:ext cx="2473693" cy="27046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Consumer Groups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1"/>
            <a:ext cx="11877674" cy="1147166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A </a:t>
            </a:r>
            <a:r>
              <a:rPr lang="en-US" sz="1600" dirty="0">
                <a:solidFill>
                  <a:srgbClr val="1A1523"/>
                </a:solidFill>
                <a:highlight>
                  <a:srgbClr val="FFFFFF"/>
                </a:highlight>
              </a:rPr>
              <a:t>set of consumers from the same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 application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A consumer always belong to a group, even if it is a lonely consumer</a:t>
            </a:r>
            <a:endParaRPr lang="hu-HU" sz="12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Each consumer in the same group reads exlusive partitions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318241C-9DF9-C6CE-93EA-C3ADE26613C3}"/>
              </a:ext>
            </a:extLst>
          </p:cNvPr>
          <p:cNvSpPr/>
          <p:nvPr/>
        </p:nvSpPr>
        <p:spPr>
          <a:xfrm>
            <a:off x="838492" y="3922045"/>
            <a:ext cx="858871" cy="327448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9026A6-6622-532D-DB10-D53B882DA8CC}"/>
              </a:ext>
            </a:extLst>
          </p:cNvPr>
          <p:cNvSpPr/>
          <p:nvPr/>
        </p:nvSpPr>
        <p:spPr>
          <a:xfrm>
            <a:off x="1954279" y="2664677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8430D3-1B76-A77E-148C-6EF625EA8640}"/>
              </a:ext>
            </a:extLst>
          </p:cNvPr>
          <p:cNvSpPr/>
          <p:nvPr/>
        </p:nvSpPr>
        <p:spPr>
          <a:xfrm>
            <a:off x="5971355" y="2668764"/>
            <a:ext cx="1446028" cy="47314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A995D4-7664-47DB-C570-FFEB925C325D}"/>
              </a:ext>
            </a:extLst>
          </p:cNvPr>
          <p:cNvCxnSpPr>
            <a:cxnSpLocks/>
          </p:cNvCxnSpPr>
          <p:nvPr/>
        </p:nvCxnSpPr>
        <p:spPr>
          <a:xfrm>
            <a:off x="3274550" y="2870747"/>
            <a:ext cx="2473693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3706D126-9762-964C-3CBF-F6509346B3CB}"/>
              </a:ext>
            </a:extLst>
          </p:cNvPr>
          <p:cNvSpPr/>
          <p:nvPr/>
        </p:nvSpPr>
        <p:spPr>
          <a:xfrm>
            <a:off x="5971355" y="3348721"/>
            <a:ext cx="1446028" cy="47314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A0C9EA-7F0F-A584-7549-6F11478A4C5E}"/>
              </a:ext>
            </a:extLst>
          </p:cNvPr>
          <p:cNvSpPr/>
          <p:nvPr/>
        </p:nvSpPr>
        <p:spPr>
          <a:xfrm>
            <a:off x="1954279" y="3272103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5C3C9D-DFA1-1C62-B231-30953AD61580}"/>
              </a:ext>
            </a:extLst>
          </p:cNvPr>
          <p:cNvSpPr/>
          <p:nvPr/>
        </p:nvSpPr>
        <p:spPr>
          <a:xfrm>
            <a:off x="1954279" y="3879529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892636-DA3E-1228-3787-B5B86A12CC3E}"/>
              </a:ext>
            </a:extLst>
          </p:cNvPr>
          <p:cNvSpPr/>
          <p:nvPr/>
        </p:nvSpPr>
        <p:spPr>
          <a:xfrm>
            <a:off x="1954279" y="4465289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5FA5F2-9D36-44DC-F0A5-04AA75FE1D51}"/>
              </a:ext>
            </a:extLst>
          </p:cNvPr>
          <p:cNvSpPr/>
          <p:nvPr/>
        </p:nvSpPr>
        <p:spPr>
          <a:xfrm>
            <a:off x="1954279" y="5072715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029EF08-D128-523A-216C-BBB8D2F738AB}"/>
              </a:ext>
            </a:extLst>
          </p:cNvPr>
          <p:cNvSpPr/>
          <p:nvPr/>
        </p:nvSpPr>
        <p:spPr>
          <a:xfrm>
            <a:off x="5971355" y="4033417"/>
            <a:ext cx="1446028" cy="47314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0D427B-43F9-59FB-994A-70049D6C70A7}"/>
              </a:ext>
            </a:extLst>
          </p:cNvPr>
          <p:cNvSpPr txBox="1"/>
          <p:nvPr/>
        </p:nvSpPr>
        <p:spPr>
          <a:xfrm>
            <a:off x="5593143" y="4710064"/>
            <a:ext cx="2338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app-1-consumer-group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82EA556E-D4F9-33F9-2715-2074576B3C20}"/>
              </a:ext>
            </a:extLst>
          </p:cNvPr>
          <p:cNvCxnSpPr>
            <a:cxnSpLocks/>
          </p:cNvCxnSpPr>
          <p:nvPr/>
        </p:nvCxnSpPr>
        <p:spPr>
          <a:xfrm flipV="1">
            <a:off x="3274550" y="3016520"/>
            <a:ext cx="2473693" cy="412480"/>
          </a:xfrm>
          <a:prstGeom prst="bentConnector3">
            <a:avLst>
              <a:gd name="adj1" fmla="val 16116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583A8A3-7A5D-D43A-C0B8-1F2B0E60F7A9}"/>
              </a:ext>
            </a:extLst>
          </p:cNvPr>
          <p:cNvCxnSpPr>
            <a:cxnSpLocks/>
          </p:cNvCxnSpPr>
          <p:nvPr/>
        </p:nvCxnSpPr>
        <p:spPr>
          <a:xfrm flipV="1">
            <a:off x="3240746" y="3585295"/>
            <a:ext cx="2473693" cy="500474"/>
          </a:xfrm>
          <a:prstGeom prst="bentConnector3">
            <a:avLst>
              <a:gd name="adj1" fmla="val 43497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702C849A-8890-4E79-0D66-ADF81395DC3D}"/>
              </a:ext>
            </a:extLst>
          </p:cNvPr>
          <p:cNvCxnSpPr>
            <a:cxnSpLocks/>
          </p:cNvCxnSpPr>
          <p:nvPr/>
        </p:nvCxnSpPr>
        <p:spPr>
          <a:xfrm flipV="1">
            <a:off x="3240746" y="3746908"/>
            <a:ext cx="2473693" cy="952890"/>
          </a:xfrm>
          <a:prstGeom prst="bentConnector3">
            <a:avLst>
              <a:gd name="adj1" fmla="val 48631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E859BB1E-7DE0-0DEF-FEB2-A52FA8026DF4}"/>
              </a:ext>
            </a:extLst>
          </p:cNvPr>
          <p:cNvCxnSpPr>
            <a:cxnSpLocks/>
          </p:cNvCxnSpPr>
          <p:nvPr/>
        </p:nvCxnSpPr>
        <p:spPr>
          <a:xfrm flipV="1">
            <a:off x="3240746" y="4269992"/>
            <a:ext cx="2507497" cy="1022070"/>
          </a:xfrm>
          <a:prstGeom prst="bentConnector3">
            <a:avLst>
              <a:gd name="adj1" fmla="val 80051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816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3CC2BCAA-16D9-705F-D548-EDD15111614D}"/>
              </a:ext>
            </a:extLst>
          </p:cNvPr>
          <p:cNvSpPr/>
          <p:nvPr/>
        </p:nvSpPr>
        <p:spPr>
          <a:xfrm>
            <a:off x="5457523" y="2454441"/>
            <a:ext cx="2473693" cy="336156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Consumer Groups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1"/>
            <a:ext cx="11877674" cy="1147166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If there are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more consumers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than partitions: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318241C-9DF9-C6CE-93EA-C3ADE26613C3}"/>
              </a:ext>
            </a:extLst>
          </p:cNvPr>
          <p:cNvSpPr/>
          <p:nvPr/>
        </p:nvSpPr>
        <p:spPr>
          <a:xfrm>
            <a:off x="838492" y="3303610"/>
            <a:ext cx="858871" cy="327448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9026A6-6622-532D-DB10-D53B882DA8CC}"/>
              </a:ext>
            </a:extLst>
          </p:cNvPr>
          <p:cNvSpPr/>
          <p:nvPr/>
        </p:nvSpPr>
        <p:spPr>
          <a:xfrm>
            <a:off x="1954279" y="2664677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8430D3-1B76-A77E-148C-6EF625EA8640}"/>
              </a:ext>
            </a:extLst>
          </p:cNvPr>
          <p:cNvSpPr/>
          <p:nvPr/>
        </p:nvSpPr>
        <p:spPr>
          <a:xfrm>
            <a:off x="5971355" y="2668764"/>
            <a:ext cx="1446028" cy="47314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A995D4-7664-47DB-C570-FFEB925C325D}"/>
              </a:ext>
            </a:extLst>
          </p:cNvPr>
          <p:cNvCxnSpPr>
            <a:cxnSpLocks/>
          </p:cNvCxnSpPr>
          <p:nvPr/>
        </p:nvCxnSpPr>
        <p:spPr>
          <a:xfrm>
            <a:off x="3274550" y="2870747"/>
            <a:ext cx="2473693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3706D126-9762-964C-3CBF-F6509346B3CB}"/>
              </a:ext>
            </a:extLst>
          </p:cNvPr>
          <p:cNvSpPr/>
          <p:nvPr/>
        </p:nvSpPr>
        <p:spPr>
          <a:xfrm>
            <a:off x="5971355" y="3348721"/>
            <a:ext cx="1446028" cy="47314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A0C9EA-7F0F-A584-7549-6F11478A4C5E}"/>
              </a:ext>
            </a:extLst>
          </p:cNvPr>
          <p:cNvSpPr/>
          <p:nvPr/>
        </p:nvSpPr>
        <p:spPr>
          <a:xfrm>
            <a:off x="1954279" y="3272103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5C3C9D-DFA1-1C62-B231-30953AD61580}"/>
              </a:ext>
            </a:extLst>
          </p:cNvPr>
          <p:cNvSpPr/>
          <p:nvPr/>
        </p:nvSpPr>
        <p:spPr>
          <a:xfrm>
            <a:off x="1954279" y="3879529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029EF08-D128-523A-216C-BBB8D2F738AB}"/>
              </a:ext>
            </a:extLst>
          </p:cNvPr>
          <p:cNvSpPr/>
          <p:nvPr/>
        </p:nvSpPr>
        <p:spPr>
          <a:xfrm>
            <a:off x="5971355" y="4033417"/>
            <a:ext cx="1446028" cy="47314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0D427B-43F9-59FB-994A-70049D6C70A7}"/>
              </a:ext>
            </a:extLst>
          </p:cNvPr>
          <p:cNvSpPr txBox="1"/>
          <p:nvPr/>
        </p:nvSpPr>
        <p:spPr>
          <a:xfrm>
            <a:off x="5593143" y="5322396"/>
            <a:ext cx="2338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app-1-consumer-group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82EA556E-D4F9-33F9-2715-2074576B3C20}"/>
              </a:ext>
            </a:extLst>
          </p:cNvPr>
          <p:cNvCxnSpPr>
            <a:cxnSpLocks/>
          </p:cNvCxnSpPr>
          <p:nvPr/>
        </p:nvCxnSpPr>
        <p:spPr>
          <a:xfrm>
            <a:off x="3274550" y="3429000"/>
            <a:ext cx="2473693" cy="156295"/>
          </a:xfrm>
          <a:prstGeom prst="bentConnector3">
            <a:avLst>
              <a:gd name="adj1" fmla="val 50000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583A8A3-7A5D-D43A-C0B8-1F2B0E60F7A9}"/>
              </a:ext>
            </a:extLst>
          </p:cNvPr>
          <p:cNvCxnSpPr>
            <a:cxnSpLocks/>
          </p:cNvCxnSpPr>
          <p:nvPr/>
        </p:nvCxnSpPr>
        <p:spPr>
          <a:xfrm>
            <a:off x="3240746" y="4085769"/>
            <a:ext cx="2507497" cy="184222"/>
          </a:xfrm>
          <a:prstGeom prst="bentConnector3">
            <a:avLst>
              <a:gd name="adj1" fmla="val 50000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AD755E68-A1E5-4D9A-24F0-AE9B4D4CFE16}"/>
              </a:ext>
            </a:extLst>
          </p:cNvPr>
          <p:cNvSpPr/>
          <p:nvPr/>
        </p:nvSpPr>
        <p:spPr>
          <a:xfrm>
            <a:off x="5971355" y="4729845"/>
            <a:ext cx="1446028" cy="47314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8597B28-89FC-C12F-083A-6ED511CFCCF3}"/>
              </a:ext>
            </a:extLst>
          </p:cNvPr>
          <p:cNvSpPr txBox="1"/>
          <p:nvPr/>
        </p:nvSpPr>
        <p:spPr>
          <a:xfrm>
            <a:off x="5061258" y="4826086"/>
            <a:ext cx="9055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inactive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58366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3CC2BCAA-16D9-705F-D548-EDD15111614D}"/>
              </a:ext>
            </a:extLst>
          </p:cNvPr>
          <p:cNvSpPr/>
          <p:nvPr/>
        </p:nvSpPr>
        <p:spPr>
          <a:xfrm>
            <a:off x="5457523" y="1461131"/>
            <a:ext cx="2473693" cy="181555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Consumer Groups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1"/>
            <a:ext cx="11877674" cy="1147166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If there are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more consumer groups on one topic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: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318241C-9DF9-C6CE-93EA-C3ADE26613C3}"/>
              </a:ext>
            </a:extLst>
          </p:cNvPr>
          <p:cNvSpPr/>
          <p:nvPr/>
        </p:nvSpPr>
        <p:spPr>
          <a:xfrm>
            <a:off x="796699" y="2317101"/>
            <a:ext cx="858871" cy="313845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9026A6-6622-532D-DB10-D53B882DA8CC}"/>
              </a:ext>
            </a:extLst>
          </p:cNvPr>
          <p:cNvSpPr/>
          <p:nvPr/>
        </p:nvSpPr>
        <p:spPr>
          <a:xfrm>
            <a:off x="1954279" y="1671367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8430D3-1B76-A77E-148C-6EF625EA8640}"/>
              </a:ext>
            </a:extLst>
          </p:cNvPr>
          <p:cNvSpPr/>
          <p:nvPr/>
        </p:nvSpPr>
        <p:spPr>
          <a:xfrm>
            <a:off x="5971355" y="1675454"/>
            <a:ext cx="1446028" cy="47314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A995D4-7664-47DB-C570-FFEB925C325D}"/>
              </a:ext>
            </a:extLst>
          </p:cNvPr>
          <p:cNvCxnSpPr>
            <a:cxnSpLocks/>
          </p:cNvCxnSpPr>
          <p:nvPr/>
        </p:nvCxnSpPr>
        <p:spPr>
          <a:xfrm>
            <a:off x="3274550" y="1877437"/>
            <a:ext cx="2473693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3706D126-9762-964C-3CBF-F6509346B3CB}"/>
              </a:ext>
            </a:extLst>
          </p:cNvPr>
          <p:cNvSpPr/>
          <p:nvPr/>
        </p:nvSpPr>
        <p:spPr>
          <a:xfrm>
            <a:off x="5971355" y="2355411"/>
            <a:ext cx="1446028" cy="47314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A0C9EA-7F0F-A584-7549-6F11478A4C5E}"/>
              </a:ext>
            </a:extLst>
          </p:cNvPr>
          <p:cNvSpPr/>
          <p:nvPr/>
        </p:nvSpPr>
        <p:spPr>
          <a:xfrm>
            <a:off x="1954279" y="2278793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5C3C9D-DFA1-1C62-B231-30953AD61580}"/>
              </a:ext>
            </a:extLst>
          </p:cNvPr>
          <p:cNvSpPr/>
          <p:nvPr/>
        </p:nvSpPr>
        <p:spPr>
          <a:xfrm>
            <a:off x="1954279" y="2886219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0D427B-43F9-59FB-994A-70049D6C70A7}"/>
              </a:ext>
            </a:extLst>
          </p:cNvPr>
          <p:cNvSpPr txBox="1"/>
          <p:nvPr/>
        </p:nvSpPr>
        <p:spPr>
          <a:xfrm>
            <a:off x="5593143" y="2894787"/>
            <a:ext cx="2338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app-1-consumer-group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721674-9E94-E350-7B92-C4C32BC96659}"/>
              </a:ext>
            </a:extLst>
          </p:cNvPr>
          <p:cNvSpPr/>
          <p:nvPr/>
        </p:nvSpPr>
        <p:spPr>
          <a:xfrm>
            <a:off x="5457523" y="3427773"/>
            <a:ext cx="2473693" cy="18155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D9CBEE6-7373-B90B-7ED8-09AB4CAFF243}"/>
              </a:ext>
            </a:extLst>
          </p:cNvPr>
          <p:cNvSpPr/>
          <p:nvPr/>
        </p:nvSpPr>
        <p:spPr>
          <a:xfrm>
            <a:off x="5971355" y="3642095"/>
            <a:ext cx="1446028" cy="47314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D5D7BE-5803-F455-0D41-44A9953B10CE}"/>
              </a:ext>
            </a:extLst>
          </p:cNvPr>
          <p:cNvSpPr/>
          <p:nvPr/>
        </p:nvSpPr>
        <p:spPr>
          <a:xfrm>
            <a:off x="5971355" y="4322052"/>
            <a:ext cx="1446028" cy="47314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A22A27-F322-6097-02F0-AA73476DF9C2}"/>
              </a:ext>
            </a:extLst>
          </p:cNvPr>
          <p:cNvSpPr txBox="1"/>
          <p:nvPr/>
        </p:nvSpPr>
        <p:spPr>
          <a:xfrm>
            <a:off x="5593143" y="4854822"/>
            <a:ext cx="2338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app-2-consumer-group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991A2D7-54DB-7808-79EA-6975FF3D35A3}"/>
              </a:ext>
            </a:extLst>
          </p:cNvPr>
          <p:cNvCxnSpPr>
            <a:cxnSpLocks/>
          </p:cNvCxnSpPr>
          <p:nvPr/>
        </p:nvCxnSpPr>
        <p:spPr>
          <a:xfrm flipV="1">
            <a:off x="3274550" y="2023947"/>
            <a:ext cx="2473693" cy="43769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6FF731E-7E73-3CB6-CCD0-BDD41387FB4F}"/>
              </a:ext>
            </a:extLst>
          </p:cNvPr>
          <p:cNvCxnSpPr>
            <a:cxnSpLocks/>
          </p:cNvCxnSpPr>
          <p:nvPr/>
        </p:nvCxnSpPr>
        <p:spPr>
          <a:xfrm flipV="1">
            <a:off x="3274550" y="2574077"/>
            <a:ext cx="2473693" cy="44990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EB2B07B-B608-76A7-4A10-092759A63C93}"/>
              </a:ext>
            </a:extLst>
          </p:cNvPr>
          <p:cNvCxnSpPr>
            <a:cxnSpLocks/>
          </p:cNvCxnSpPr>
          <p:nvPr/>
        </p:nvCxnSpPr>
        <p:spPr>
          <a:xfrm>
            <a:off x="3274550" y="1877437"/>
            <a:ext cx="2473693" cy="206451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96313DC-0DCE-392A-F99F-D5CF1D76940D}"/>
              </a:ext>
            </a:extLst>
          </p:cNvPr>
          <p:cNvCxnSpPr>
            <a:cxnSpLocks/>
          </p:cNvCxnSpPr>
          <p:nvPr/>
        </p:nvCxnSpPr>
        <p:spPr>
          <a:xfrm>
            <a:off x="3333989" y="2490997"/>
            <a:ext cx="2414254" cy="205018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2A2ED2-7301-D2D4-AB79-94C79373C597}"/>
              </a:ext>
            </a:extLst>
          </p:cNvPr>
          <p:cNvCxnSpPr>
            <a:cxnSpLocks/>
          </p:cNvCxnSpPr>
          <p:nvPr/>
        </p:nvCxnSpPr>
        <p:spPr>
          <a:xfrm>
            <a:off x="3274550" y="3023983"/>
            <a:ext cx="2473693" cy="1517194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B76F7700-D54D-F474-5E38-0F2BF4C2D518}"/>
              </a:ext>
            </a:extLst>
          </p:cNvPr>
          <p:cNvSpPr/>
          <p:nvPr/>
        </p:nvSpPr>
        <p:spPr>
          <a:xfrm>
            <a:off x="5471027" y="5411516"/>
            <a:ext cx="2473693" cy="11256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089536C-43DA-631E-82F0-A4E5810854EB}"/>
              </a:ext>
            </a:extLst>
          </p:cNvPr>
          <p:cNvSpPr/>
          <p:nvPr/>
        </p:nvSpPr>
        <p:spPr>
          <a:xfrm>
            <a:off x="5984859" y="5625838"/>
            <a:ext cx="1446028" cy="47314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FC93903-BCFB-7C24-FB01-73A262C3FE2A}"/>
              </a:ext>
            </a:extLst>
          </p:cNvPr>
          <p:cNvSpPr txBox="1"/>
          <p:nvPr/>
        </p:nvSpPr>
        <p:spPr>
          <a:xfrm>
            <a:off x="5606647" y="6159420"/>
            <a:ext cx="2338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app-3-consumer-group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D40B1C0-96B7-7918-1730-153EEED66475}"/>
              </a:ext>
            </a:extLst>
          </p:cNvPr>
          <p:cNvCxnSpPr>
            <a:cxnSpLocks/>
          </p:cNvCxnSpPr>
          <p:nvPr/>
        </p:nvCxnSpPr>
        <p:spPr>
          <a:xfrm>
            <a:off x="3274549" y="1866598"/>
            <a:ext cx="2473694" cy="3880152"/>
          </a:xfrm>
          <a:prstGeom prst="straightConnector1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C976F85-4C94-5074-CC3D-39C46DEAC8BA}"/>
              </a:ext>
            </a:extLst>
          </p:cNvPr>
          <p:cNvCxnSpPr>
            <a:cxnSpLocks/>
          </p:cNvCxnSpPr>
          <p:nvPr/>
        </p:nvCxnSpPr>
        <p:spPr>
          <a:xfrm>
            <a:off x="3333989" y="2474023"/>
            <a:ext cx="2414254" cy="3399938"/>
          </a:xfrm>
          <a:prstGeom prst="straightConnector1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833D078-6CFA-A67B-519C-ADF674B6BA11}"/>
              </a:ext>
            </a:extLst>
          </p:cNvPr>
          <p:cNvCxnSpPr>
            <a:cxnSpLocks/>
          </p:cNvCxnSpPr>
          <p:nvPr/>
        </p:nvCxnSpPr>
        <p:spPr>
          <a:xfrm>
            <a:off x="3274550" y="3013764"/>
            <a:ext cx="2473693" cy="3012597"/>
          </a:xfrm>
          <a:prstGeom prst="straightConnector1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29945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3CC2BCAA-16D9-705F-D548-EDD15111614D}"/>
              </a:ext>
            </a:extLst>
          </p:cNvPr>
          <p:cNvSpPr/>
          <p:nvPr/>
        </p:nvSpPr>
        <p:spPr>
          <a:xfrm>
            <a:off x="5457523" y="1461131"/>
            <a:ext cx="2473693" cy="181555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Consumer Groups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1"/>
            <a:ext cx="11877674" cy="1147166"/>
          </a:xfrm>
        </p:spPr>
        <p:txBody>
          <a:bodyPr/>
          <a:lstStyle/>
          <a:p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A consumer in a group can read from one of more topics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: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318241C-9DF9-C6CE-93EA-C3ADE26613C3}"/>
              </a:ext>
            </a:extLst>
          </p:cNvPr>
          <p:cNvSpPr/>
          <p:nvPr/>
        </p:nvSpPr>
        <p:spPr>
          <a:xfrm>
            <a:off x="796699" y="2317101"/>
            <a:ext cx="858871" cy="313845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9026A6-6622-532D-DB10-D53B882DA8CC}"/>
              </a:ext>
            </a:extLst>
          </p:cNvPr>
          <p:cNvSpPr/>
          <p:nvPr/>
        </p:nvSpPr>
        <p:spPr>
          <a:xfrm>
            <a:off x="1954279" y="1671367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8430D3-1B76-A77E-148C-6EF625EA8640}"/>
              </a:ext>
            </a:extLst>
          </p:cNvPr>
          <p:cNvSpPr/>
          <p:nvPr/>
        </p:nvSpPr>
        <p:spPr>
          <a:xfrm>
            <a:off x="5971355" y="1675454"/>
            <a:ext cx="1446028" cy="47314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A995D4-7664-47DB-C570-FFEB925C325D}"/>
              </a:ext>
            </a:extLst>
          </p:cNvPr>
          <p:cNvCxnSpPr>
            <a:cxnSpLocks/>
          </p:cNvCxnSpPr>
          <p:nvPr/>
        </p:nvCxnSpPr>
        <p:spPr>
          <a:xfrm>
            <a:off x="3274550" y="1877437"/>
            <a:ext cx="2473693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3706D126-9762-964C-3CBF-F6509346B3CB}"/>
              </a:ext>
            </a:extLst>
          </p:cNvPr>
          <p:cNvSpPr/>
          <p:nvPr/>
        </p:nvSpPr>
        <p:spPr>
          <a:xfrm>
            <a:off x="5971355" y="2355411"/>
            <a:ext cx="1446028" cy="47314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A0C9EA-7F0F-A584-7549-6F11478A4C5E}"/>
              </a:ext>
            </a:extLst>
          </p:cNvPr>
          <p:cNvSpPr/>
          <p:nvPr/>
        </p:nvSpPr>
        <p:spPr>
          <a:xfrm>
            <a:off x="1954279" y="2278793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5C3C9D-DFA1-1C62-B231-30953AD61580}"/>
              </a:ext>
            </a:extLst>
          </p:cNvPr>
          <p:cNvSpPr/>
          <p:nvPr/>
        </p:nvSpPr>
        <p:spPr>
          <a:xfrm>
            <a:off x="1954279" y="2886219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0D427B-43F9-59FB-994A-70049D6C70A7}"/>
              </a:ext>
            </a:extLst>
          </p:cNvPr>
          <p:cNvSpPr txBox="1"/>
          <p:nvPr/>
        </p:nvSpPr>
        <p:spPr>
          <a:xfrm>
            <a:off x="5593143" y="2894787"/>
            <a:ext cx="2338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app-1-consumer-group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721674-9E94-E350-7B92-C4C32BC96659}"/>
              </a:ext>
            </a:extLst>
          </p:cNvPr>
          <p:cNvSpPr/>
          <p:nvPr/>
        </p:nvSpPr>
        <p:spPr>
          <a:xfrm>
            <a:off x="5457523" y="3427773"/>
            <a:ext cx="2473693" cy="18155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D9CBEE6-7373-B90B-7ED8-09AB4CAFF243}"/>
              </a:ext>
            </a:extLst>
          </p:cNvPr>
          <p:cNvSpPr/>
          <p:nvPr/>
        </p:nvSpPr>
        <p:spPr>
          <a:xfrm>
            <a:off x="5971355" y="3642095"/>
            <a:ext cx="1446028" cy="47314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D5D7BE-5803-F455-0D41-44A9953B10CE}"/>
              </a:ext>
            </a:extLst>
          </p:cNvPr>
          <p:cNvSpPr/>
          <p:nvPr/>
        </p:nvSpPr>
        <p:spPr>
          <a:xfrm>
            <a:off x="5971355" y="4322052"/>
            <a:ext cx="1446028" cy="47314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A22A27-F322-6097-02F0-AA73476DF9C2}"/>
              </a:ext>
            </a:extLst>
          </p:cNvPr>
          <p:cNvSpPr txBox="1"/>
          <p:nvPr/>
        </p:nvSpPr>
        <p:spPr>
          <a:xfrm>
            <a:off x="5593143" y="4854822"/>
            <a:ext cx="2338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app-2-consumer-group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991A2D7-54DB-7808-79EA-6975FF3D35A3}"/>
              </a:ext>
            </a:extLst>
          </p:cNvPr>
          <p:cNvCxnSpPr>
            <a:cxnSpLocks/>
          </p:cNvCxnSpPr>
          <p:nvPr/>
        </p:nvCxnSpPr>
        <p:spPr>
          <a:xfrm flipV="1">
            <a:off x="3274550" y="2023947"/>
            <a:ext cx="2473693" cy="43769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6FF731E-7E73-3CB6-CCD0-BDD41387FB4F}"/>
              </a:ext>
            </a:extLst>
          </p:cNvPr>
          <p:cNvCxnSpPr>
            <a:cxnSpLocks/>
          </p:cNvCxnSpPr>
          <p:nvPr/>
        </p:nvCxnSpPr>
        <p:spPr>
          <a:xfrm flipV="1">
            <a:off x="3274550" y="2574077"/>
            <a:ext cx="2473693" cy="44990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EB2B07B-B608-76A7-4A10-092759A63C93}"/>
              </a:ext>
            </a:extLst>
          </p:cNvPr>
          <p:cNvCxnSpPr>
            <a:cxnSpLocks/>
          </p:cNvCxnSpPr>
          <p:nvPr/>
        </p:nvCxnSpPr>
        <p:spPr>
          <a:xfrm>
            <a:off x="3274550" y="1877437"/>
            <a:ext cx="2473693" cy="206451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96313DC-0DCE-392A-F99F-D5CF1D76940D}"/>
              </a:ext>
            </a:extLst>
          </p:cNvPr>
          <p:cNvCxnSpPr>
            <a:cxnSpLocks/>
          </p:cNvCxnSpPr>
          <p:nvPr/>
        </p:nvCxnSpPr>
        <p:spPr>
          <a:xfrm>
            <a:off x="3333989" y="2490997"/>
            <a:ext cx="2414254" cy="205018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2A2ED2-7301-D2D4-AB79-94C79373C597}"/>
              </a:ext>
            </a:extLst>
          </p:cNvPr>
          <p:cNvCxnSpPr>
            <a:cxnSpLocks/>
          </p:cNvCxnSpPr>
          <p:nvPr/>
        </p:nvCxnSpPr>
        <p:spPr>
          <a:xfrm>
            <a:off x="3274550" y="3023983"/>
            <a:ext cx="2473693" cy="1517194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B76F7700-D54D-F474-5E38-0F2BF4C2D518}"/>
              </a:ext>
            </a:extLst>
          </p:cNvPr>
          <p:cNvSpPr/>
          <p:nvPr/>
        </p:nvSpPr>
        <p:spPr>
          <a:xfrm>
            <a:off x="5471027" y="5411516"/>
            <a:ext cx="2473693" cy="11256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089536C-43DA-631E-82F0-A4E5810854EB}"/>
              </a:ext>
            </a:extLst>
          </p:cNvPr>
          <p:cNvSpPr/>
          <p:nvPr/>
        </p:nvSpPr>
        <p:spPr>
          <a:xfrm>
            <a:off x="5984859" y="5625838"/>
            <a:ext cx="1446028" cy="47314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FC93903-BCFB-7C24-FB01-73A262C3FE2A}"/>
              </a:ext>
            </a:extLst>
          </p:cNvPr>
          <p:cNvSpPr txBox="1"/>
          <p:nvPr/>
        </p:nvSpPr>
        <p:spPr>
          <a:xfrm>
            <a:off x="5606647" y="6159420"/>
            <a:ext cx="2338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app-3-consumer-group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D40B1C0-96B7-7918-1730-153EEED66475}"/>
              </a:ext>
            </a:extLst>
          </p:cNvPr>
          <p:cNvCxnSpPr>
            <a:cxnSpLocks/>
          </p:cNvCxnSpPr>
          <p:nvPr/>
        </p:nvCxnSpPr>
        <p:spPr>
          <a:xfrm>
            <a:off x="3274549" y="1866598"/>
            <a:ext cx="2473694" cy="3880152"/>
          </a:xfrm>
          <a:prstGeom prst="straightConnector1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C976F85-4C94-5074-CC3D-39C46DEAC8BA}"/>
              </a:ext>
            </a:extLst>
          </p:cNvPr>
          <p:cNvCxnSpPr>
            <a:cxnSpLocks/>
          </p:cNvCxnSpPr>
          <p:nvPr/>
        </p:nvCxnSpPr>
        <p:spPr>
          <a:xfrm>
            <a:off x="3333989" y="2474023"/>
            <a:ext cx="2414254" cy="3399938"/>
          </a:xfrm>
          <a:prstGeom prst="straightConnector1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833D078-6CFA-A67B-519C-ADF674B6BA11}"/>
              </a:ext>
            </a:extLst>
          </p:cNvPr>
          <p:cNvCxnSpPr>
            <a:cxnSpLocks/>
          </p:cNvCxnSpPr>
          <p:nvPr/>
        </p:nvCxnSpPr>
        <p:spPr>
          <a:xfrm>
            <a:off x="3274550" y="3013764"/>
            <a:ext cx="2473693" cy="3012597"/>
          </a:xfrm>
          <a:prstGeom prst="straightConnector1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DFFECFB-9BF7-86BB-AF6D-A88E2F9C0ECF}"/>
              </a:ext>
            </a:extLst>
          </p:cNvPr>
          <p:cNvSpPr/>
          <p:nvPr/>
        </p:nvSpPr>
        <p:spPr>
          <a:xfrm>
            <a:off x="796699" y="4398249"/>
            <a:ext cx="858871" cy="31384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3B01D1-2E51-4541-A283-65ED91AB5BF9}"/>
              </a:ext>
            </a:extLst>
          </p:cNvPr>
          <p:cNvSpPr/>
          <p:nvPr/>
        </p:nvSpPr>
        <p:spPr>
          <a:xfrm>
            <a:off x="1954279" y="4359939"/>
            <a:ext cx="1156598" cy="39046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B3DDE20-07C0-2B64-7AA3-C3623EF6FB49}"/>
              </a:ext>
            </a:extLst>
          </p:cNvPr>
          <p:cNvCxnSpPr>
            <a:cxnSpLocks/>
          </p:cNvCxnSpPr>
          <p:nvPr/>
        </p:nvCxnSpPr>
        <p:spPr>
          <a:xfrm>
            <a:off x="3347493" y="4541177"/>
            <a:ext cx="2400750" cy="1465843"/>
          </a:xfrm>
          <a:prstGeom prst="straightConnector1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719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Consumer Offset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1650245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After a consumer reads a message it sends commit to Kafka regarding the offset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Kafka keep track of this information in the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__consumer_offsets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 topic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If a consumer fails and recover it can continue from where it was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There are multiple strategies from consumers side when to send the commit (see later)</a:t>
            </a:r>
            <a:endParaRPr lang="hu-HU" sz="14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CDEBB80-0D48-16E0-458A-E344ECF03F20}"/>
              </a:ext>
            </a:extLst>
          </p:cNvPr>
          <p:cNvSpPr/>
          <p:nvPr/>
        </p:nvSpPr>
        <p:spPr>
          <a:xfrm>
            <a:off x="1904284" y="3599910"/>
            <a:ext cx="858871" cy="327448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96E602-22E6-EFC3-4C0D-E9A5493C3013}"/>
              </a:ext>
            </a:extLst>
          </p:cNvPr>
          <p:cNvSpPr txBox="1"/>
          <p:nvPr/>
        </p:nvSpPr>
        <p:spPr>
          <a:xfrm>
            <a:off x="2918271" y="3357229"/>
            <a:ext cx="10705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CA4899-E06D-4CCA-F470-F7AD2E445FCE}"/>
              </a:ext>
            </a:extLst>
          </p:cNvPr>
          <p:cNvSpPr txBox="1"/>
          <p:nvPr/>
        </p:nvSpPr>
        <p:spPr>
          <a:xfrm>
            <a:off x="2918271" y="3927358"/>
            <a:ext cx="10705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8AA036-FAE6-C6BD-A2E6-C7AEE79D7DA2}"/>
              </a:ext>
            </a:extLst>
          </p:cNvPr>
          <p:cNvSpPr/>
          <p:nvPr/>
        </p:nvSpPr>
        <p:spPr>
          <a:xfrm>
            <a:off x="4162040" y="3274543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8B4D8F7-B041-79F9-226F-F0E6884C0E72}"/>
              </a:ext>
            </a:extLst>
          </p:cNvPr>
          <p:cNvSpPr/>
          <p:nvPr/>
        </p:nvSpPr>
        <p:spPr>
          <a:xfrm>
            <a:off x="4561238" y="3274542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40C9267-F3B2-2FD7-1A66-550604958D70}"/>
              </a:ext>
            </a:extLst>
          </p:cNvPr>
          <p:cNvSpPr/>
          <p:nvPr/>
        </p:nvSpPr>
        <p:spPr>
          <a:xfrm>
            <a:off x="4960436" y="3274544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F9CB30-C2FE-6B19-7D8B-1D108C6DDE06}"/>
              </a:ext>
            </a:extLst>
          </p:cNvPr>
          <p:cNvSpPr/>
          <p:nvPr/>
        </p:nvSpPr>
        <p:spPr>
          <a:xfrm>
            <a:off x="5359634" y="3274543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3720571-6053-F34A-7E28-DF838A9A875C}"/>
              </a:ext>
            </a:extLst>
          </p:cNvPr>
          <p:cNvSpPr/>
          <p:nvPr/>
        </p:nvSpPr>
        <p:spPr>
          <a:xfrm>
            <a:off x="5758832" y="3274543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FDA1B20-0126-D3E2-350F-03AFE1041DAE}"/>
              </a:ext>
            </a:extLst>
          </p:cNvPr>
          <p:cNvSpPr/>
          <p:nvPr/>
        </p:nvSpPr>
        <p:spPr>
          <a:xfrm>
            <a:off x="6158030" y="3274542"/>
            <a:ext cx="399198" cy="39046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4CE702-7DF4-7AE2-84B4-94C2AC9CB373}"/>
              </a:ext>
            </a:extLst>
          </p:cNvPr>
          <p:cNvSpPr/>
          <p:nvPr/>
        </p:nvSpPr>
        <p:spPr>
          <a:xfrm>
            <a:off x="4152269" y="3874688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0ACFCA-D077-95BF-24C0-57B58615C020}"/>
              </a:ext>
            </a:extLst>
          </p:cNvPr>
          <p:cNvSpPr/>
          <p:nvPr/>
        </p:nvSpPr>
        <p:spPr>
          <a:xfrm>
            <a:off x="4551467" y="3874687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C931D66-5881-B8A8-F977-995318949C91}"/>
              </a:ext>
            </a:extLst>
          </p:cNvPr>
          <p:cNvSpPr/>
          <p:nvPr/>
        </p:nvSpPr>
        <p:spPr>
          <a:xfrm>
            <a:off x="4950665" y="3874689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8C0FD8-DAC3-FB2E-38A3-69A93FC0BE09}"/>
              </a:ext>
            </a:extLst>
          </p:cNvPr>
          <p:cNvSpPr/>
          <p:nvPr/>
        </p:nvSpPr>
        <p:spPr>
          <a:xfrm>
            <a:off x="5349863" y="3874688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2802A89-BDDB-4DB2-7FBB-AB028E2D1647}"/>
              </a:ext>
            </a:extLst>
          </p:cNvPr>
          <p:cNvSpPr/>
          <p:nvPr/>
        </p:nvSpPr>
        <p:spPr>
          <a:xfrm>
            <a:off x="5749061" y="3874688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DEC244A-1AAF-7582-D73A-847486D00BBB}"/>
              </a:ext>
            </a:extLst>
          </p:cNvPr>
          <p:cNvSpPr/>
          <p:nvPr/>
        </p:nvSpPr>
        <p:spPr>
          <a:xfrm>
            <a:off x="6148259" y="3874687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108C67E-08FE-0DC9-04AC-11FC7DA3865D}"/>
              </a:ext>
            </a:extLst>
          </p:cNvPr>
          <p:cNvSpPr/>
          <p:nvPr/>
        </p:nvSpPr>
        <p:spPr>
          <a:xfrm>
            <a:off x="6547457" y="3874689"/>
            <a:ext cx="399198" cy="39046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6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F2D307C-4123-F28F-6EF3-EE4882D16D62}"/>
              </a:ext>
            </a:extLst>
          </p:cNvPr>
          <p:cNvSpPr txBox="1"/>
          <p:nvPr/>
        </p:nvSpPr>
        <p:spPr>
          <a:xfrm>
            <a:off x="5601523" y="4459456"/>
            <a:ext cx="18230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message offset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025E1C-6628-86B3-E6F6-E55D11EF9BB4}"/>
              </a:ext>
            </a:extLst>
          </p:cNvPr>
          <p:cNvSpPr txBox="1"/>
          <p:nvPr/>
        </p:nvSpPr>
        <p:spPr>
          <a:xfrm rot="5400000">
            <a:off x="6699905" y="3306270"/>
            <a:ext cx="339902" cy="3150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500"/>
              </a:lnSpc>
            </a:pP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algn="ctr">
              <a:lnSpc>
                <a:spcPts val="500"/>
              </a:lnSpc>
            </a:pP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algn="ctr">
              <a:lnSpc>
                <a:spcPts val="500"/>
              </a:lnSpc>
            </a:pP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78AD37-7BD9-4BD2-9934-099B1B049459}"/>
              </a:ext>
            </a:extLst>
          </p:cNvPr>
          <p:cNvSpPr txBox="1"/>
          <p:nvPr/>
        </p:nvSpPr>
        <p:spPr>
          <a:xfrm rot="5400000">
            <a:off x="7005157" y="3912407"/>
            <a:ext cx="339902" cy="3150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500"/>
              </a:lnSpc>
            </a:pP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algn="ctr">
              <a:lnSpc>
                <a:spcPts val="500"/>
              </a:lnSpc>
            </a:pP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algn="ctr">
              <a:lnSpc>
                <a:spcPts val="500"/>
              </a:lnSpc>
            </a:pP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0177EAE-7104-FF56-F224-81581F813C8E}"/>
              </a:ext>
            </a:extLst>
          </p:cNvPr>
          <p:cNvCxnSpPr>
            <a:cxnSpLocks/>
            <a:stCxn id="52" idx="0"/>
            <a:endCxn id="44" idx="2"/>
          </p:cNvCxnSpPr>
          <p:nvPr/>
        </p:nvCxnSpPr>
        <p:spPr>
          <a:xfrm flipH="1" flipV="1">
            <a:off x="5549462" y="4265151"/>
            <a:ext cx="963593" cy="1943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722E7561-0D3E-6C50-6F50-655EF9728F4A}"/>
              </a:ext>
            </a:extLst>
          </p:cNvPr>
          <p:cNvSpPr/>
          <p:nvPr/>
        </p:nvSpPr>
        <p:spPr>
          <a:xfrm>
            <a:off x="8512222" y="3210861"/>
            <a:ext cx="1446028" cy="47314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678379E1-C072-4676-6CFD-8527F30EC3A9}"/>
              </a:ext>
            </a:extLst>
          </p:cNvPr>
          <p:cNvCxnSpPr>
            <a:cxnSpLocks/>
            <a:stCxn id="53" idx="0"/>
          </p:cNvCxnSpPr>
          <p:nvPr/>
        </p:nvCxnSpPr>
        <p:spPr>
          <a:xfrm>
            <a:off x="7027368" y="3463782"/>
            <a:ext cx="1244052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E9F8F4B-12ED-7986-0D62-C541E2E962F2}"/>
              </a:ext>
            </a:extLst>
          </p:cNvPr>
          <p:cNvCxnSpPr>
            <a:cxnSpLocks/>
            <a:stCxn id="57" idx="0"/>
          </p:cNvCxnSpPr>
          <p:nvPr/>
        </p:nvCxnSpPr>
        <p:spPr>
          <a:xfrm flipV="1">
            <a:off x="7332620" y="3541336"/>
            <a:ext cx="938800" cy="52858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7499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D2492B1C-8998-95C4-E7D6-7703F7A87B33}"/>
              </a:ext>
            </a:extLst>
          </p:cNvPr>
          <p:cNvGrpSpPr/>
          <p:nvPr/>
        </p:nvGrpSpPr>
        <p:grpSpPr>
          <a:xfrm>
            <a:off x="7702483" y="4752892"/>
            <a:ext cx="2473693" cy="1825420"/>
            <a:chOff x="7611028" y="4292126"/>
            <a:chExt cx="2473693" cy="182542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F01C077-AC36-6EC4-D7BB-CB3C05038EAD}"/>
                </a:ext>
              </a:extLst>
            </p:cNvPr>
            <p:cNvSpPr/>
            <p:nvPr/>
          </p:nvSpPr>
          <p:spPr>
            <a:xfrm>
              <a:off x="7611028" y="4301995"/>
              <a:ext cx="2473693" cy="181555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474AECC-8E45-B787-774B-455DECC5BF01}"/>
                </a:ext>
              </a:extLst>
            </p:cNvPr>
            <p:cNvSpPr txBox="1"/>
            <p:nvPr/>
          </p:nvSpPr>
          <p:spPr>
            <a:xfrm>
              <a:off x="7611029" y="4292126"/>
              <a:ext cx="2473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3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6EE424C-0B9B-455D-6E59-B824E62CD979}"/>
              </a:ext>
            </a:extLst>
          </p:cNvPr>
          <p:cNvGrpSpPr/>
          <p:nvPr/>
        </p:nvGrpSpPr>
        <p:grpSpPr>
          <a:xfrm>
            <a:off x="5076390" y="4742606"/>
            <a:ext cx="2473693" cy="1825420"/>
            <a:chOff x="4984935" y="4281840"/>
            <a:chExt cx="2473693" cy="182542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608ADC0-A79D-537C-9795-F5B1A1604D17}"/>
                </a:ext>
              </a:extLst>
            </p:cNvPr>
            <p:cNvSpPr/>
            <p:nvPr/>
          </p:nvSpPr>
          <p:spPr>
            <a:xfrm>
              <a:off x="4984935" y="4291709"/>
              <a:ext cx="2473693" cy="181555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0C18318-7DC9-3AF8-AE12-AA0EC9F1CEF3}"/>
                </a:ext>
              </a:extLst>
            </p:cNvPr>
            <p:cNvSpPr txBox="1"/>
            <p:nvPr/>
          </p:nvSpPr>
          <p:spPr>
            <a:xfrm>
              <a:off x="4984936" y="4281840"/>
              <a:ext cx="2473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2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4D820F1-D1C8-4140-A8C9-F94587D65426}"/>
              </a:ext>
            </a:extLst>
          </p:cNvPr>
          <p:cNvGrpSpPr/>
          <p:nvPr/>
        </p:nvGrpSpPr>
        <p:grpSpPr>
          <a:xfrm>
            <a:off x="2450297" y="4742606"/>
            <a:ext cx="2473693" cy="1825420"/>
            <a:chOff x="2358842" y="4281840"/>
            <a:chExt cx="2473693" cy="182542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02BC2E2-AAA9-C5EF-7F5C-A2E0BF01B252}"/>
                </a:ext>
              </a:extLst>
            </p:cNvPr>
            <p:cNvSpPr/>
            <p:nvPr/>
          </p:nvSpPr>
          <p:spPr>
            <a:xfrm>
              <a:off x="2358842" y="4291709"/>
              <a:ext cx="2473693" cy="181555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1C07121-E730-53F0-85E0-213F91D5659E}"/>
                </a:ext>
              </a:extLst>
            </p:cNvPr>
            <p:cNvSpPr txBox="1"/>
            <p:nvPr/>
          </p:nvSpPr>
          <p:spPr>
            <a:xfrm>
              <a:off x="2358843" y="4281840"/>
              <a:ext cx="2473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1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F51ADC-586E-493B-79F7-6513F2FF7D7A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Brokers and Topics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752B3-116B-7F81-2681-3FE4E4E0C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2479980"/>
          </a:xfrm>
        </p:spPr>
        <p:txBody>
          <a:bodyPr/>
          <a:lstStyle/>
          <a:p>
            <a:r>
              <a:rPr lang="hu-HU" dirty="0"/>
              <a:t>A Kafka cluster contains multiple brokers („</a:t>
            </a:r>
            <a:r>
              <a:rPr lang="hu-HU" b="1" dirty="0"/>
              <a:t>bootstrap servers</a:t>
            </a:r>
            <a:r>
              <a:rPr lang="hu-HU" dirty="0"/>
              <a:t>”)</a:t>
            </a:r>
          </a:p>
          <a:p>
            <a:r>
              <a:rPr lang="hu-HU"/>
              <a:t>Each broker </a:t>
            </a:r>
            <a:r>
              <a:rPr lang="hu-HU" dirty="0"/>
              <a:t>stores only certain topic partitions:</a:t>
            </a:r>
          </a:p>
          <a:p>
            <a:pPr lvl="1"/>
            <a:r>
              <a:rPr lang="hu-HU" dirty="0"/>
              <a:t>It’s common that a broker contains no partition at all from a topic</a:t>
            </a:r>
          </a:p>
          <a:p>
            <a:pPr lvl="1"/>
            <a:r>
              <a:rPr lang="hu-HU" dirty="0"/>
              <a:t>A partition is stored on one broker (if there is no replication configured)</a:t>
            </a:r>
          </a:p>
          <a:p>
            <a:r>
              <a:rPr lang="hu-HU" dirty="0"/>
              <a:t>By connecting to a broker a client is automatically connected to the whole cluster</a:t>
            </a:r>
          </a:p>
          <a:p>
            <a:pPr lvl="1"/>
            <a:r>
              <a:rPr lang="hu-HU" dirty="0"/>
              <a:t>In case the needed partition is not on the accessed broker,  clients can get where to connect</a:t>
            </a:r>
          </a:p>
          <a:p>
            <a:pPr lvl="1"/>
            <a:r>
              <a:rPr lang="hu-HU" dirty="0"/>
              <a:t>After connecting the broker sends back the list of brokers and the stored partitions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C9E9CF0-5E69-0F1C-0F84-30BB50687302}"/>
              </a:ext>
            </a:extLst>
          </p:cNvPr>
          <p:cNvSpPr/>
          <p:nvPr/>
        </p:nvSpPr>
        <p:spPr>
          <a:xfrm>
            <a:off x="1101417" y="5273168"/>
            <a:ext cx="971238" cy="35412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 A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B2C6EC-E592-BB2D-6A04-434795DDD70E}"/>
              </a:ext>
            </a:extLst>
          </p:cNvPr>
          <p:cNvSpPr/>
          <p:nvPr/>
        </p:nvSpPr>
        <p:spPr>
          <a:xfrm>
            <a:off x="2980845" y="5203372"/>
            <a:ext cx="1446028" cy="473149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92ABB0A-9348-A76F-0753-B6720E01A47F}"/>
              </a:ext>
            </a:extLst>
          </p:cNvPr>
          <p:cNvSpPr/>
          <p:nvPr/>
        </p:nvSpPr>
        <p:spPr>
          <a:xfrm>
            <a:off x="2980845" y="5883329"/>
            <a:ext cx="1446028" cy="47314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A771FCF-7CF7-7D41-1FFF-08FC6F77A96F}"/>
              </a:ext>
            </a:extLst>
          </p:cNvPr>
          <p:cNvSpPr/>
          <p:nvPr/>
        </p:nvSpPr>
        <p:spPr>
          <a:xfrm>
            <a:off x="5606938" y="5203372"/>
            <a:ext cx="1446028" cy="473149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5CF811-9220-AF17-9A8A-614D2BFD7707}"/>
              </a:ext>
            </a:extLst>
          </p:cNvPr>
          <p:cNvSpPr/>
          <p:nvPr/>
        </p:nvSpPr>
        <p:spPr>
          <a:xfrm>
            <a:off x="8233031" y="5213658"/>
            <a:ext cx="1446028" cy="473149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0EE5126-B547-F652-A273-46BF1A6F6590}"/>
              </a:ext>
            </a:extLst>
          </p:cNvPr>
          <p:cNvSpPr/>
          <p:nvPr/>
        </p:nvSpPr>
        <p:spPr>
          <a:xfrm>
            <a:off x="8233031" y="5893615"/>
            <a:ext cx="1446028" cy="47314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C80D41E-DC6D-CEEA-A698-1B0025FE08A8}"/>
              </a:ext>
            </a:extLst>
          </p:cNvPr>
          <p:cNvSpPr/>
          <p:nvPr/>
        </p:nvSpPr>
        <p:spPr>
          <a:xfrm>
            <a:off x="1101417" y="5941785"/>
            <a:ext cx="971238" cy="35623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 B</a:t>
            </a:r>
            <a:endParaRPr lang="en-US" sz="16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3FB5373-0AF4-B735-3CCA-5F8DC64425AA}"/>
              </a:ext>
            </a:extLst>
          </p:cNvPr>
          <p:cNvGrpSpPr/>
          <p:nvPr/>
        </p:nvGrpSpPr>
        <p:grpSpPr>
          <a:xfrm>
            <a:off x="5144229" y="3330214"/>
            <a:ext cx="3883956" cy="1422678"/>
            <a:chOff x="5144229" y="3330214"/>
            <a:chExt cx="3883956" cy="142267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2F947B5-1BA3-798C-1EEF-280E55AC1A00}"/>
                </a:ext>
              </a:extLst>
            </p:cNvPr>
            <p:cNvSpPr/>
            <p:nvPr/>
          </p:nvSpPr>
          <p:spPr>
            <a:xfrm>
              <a:off x="5590222" y="3330214"/>
              <a:ext cx="1446028" cy="473149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Client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C3642B1-2386-EA31-F1FE-C471362FF55E}"/>
                </a:ext>
              </a:extLst>
            </p:cNvPr>
            <p:cNvCxnSpPr>
              <a:cxnSpLocks/>
            </p:cNvCxnSpPr>
            <p:nvPr/>
          </p:nvCxnSpPr>
          <p:spPr>
            <a:xfrm>
              <a:off x="6008436" y="3810189"/>
              <a:ext cx="1" cy="939243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2C1BBDEE-5AAF-83D2-826D-12E393F95BF0}"/>
                </a:ext>
              </a:extLst>
            </p:cNvPr>
            <p:cNvCxnSpPr/>
            <p:nvPr/>
          </p:nvCxnSpPr>
          <p:spPr>
            <a:xfrm>
              <a:off x="6745036" y="3803363"/>
              <a:ext cx="1" cy="939243"/>
            </a:xfrm>
            <a:prstGeom prst="straightConnector1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D0A0926-A2C6-F105-1C93-F471646E52C5}"/>
                </a:ext>
              </a:extLst>
            </p:cNvPr>
            <p:cNvSpPr txBox="1"/>
            <p:nvPr/>
          </p:nvSpPr>
          <p:spPr>
            <a:xfrm>
              <a:off x="5144229" y="3813756"/>
              <a:ext cx="831965" cy="9387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1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1. Connect to bootstrap server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523C064-3F01-6FE3-C917-748CD2588018}"/>
                </a:ext>
              </a:extLst>
            </p:cNvPr>
            <p:cNvSpPr txBox="1"/>
            <p:nvPr/>
          </p:nvSpPr>
          <p:spPr>
            <a:xfrm>
              <a:off x="6752846" y="3812776"/>
              <a:ext cx="744410" cy="9387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1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2. </a:t>
              </a:r>
            </a:p>
            <a:p>
              <a:pPr algn="ctr"/>
              <a:r>
                <a:rPr lang="hu-HU" sz="11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List of brokers and topics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3A88851-CB17-A00B-E805-4A2C5D20CF6B}"/>
                </a:ext>
              </a:extLst>
            </p:cNvPr>
            <p:cNvSpPr txBox="1"/>
            <p:nvPr/>
          </p:nvSpPr>
          <p:spPr>
            <a:xfrm>
              <a:off x="7812902" y="3566978"/>
              <a:ext cx="1215283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1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3. </a:t>
              </a:r>
            </a:p>
            <a:p>
              <a:pPr algn="ctr"/>
              <a:r>
                <a:rPr lang="hu-HU" sz="11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Connect to proper broker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3A69F822-04EE-76C4-6554-17BB507EAFF1}"/>
                </a:ext>
              </a:extLst>
            </p:cNvPr>
            <p:cNvCxnSpPr>
              <a:cxnSpLocks/>
              <a:stCxn id="30" idx="3"/>
              <a:endCxn id="25" idx="0"/>
            </p:cNvCxnSpPr>
            <p:nvPr/>
          </p:nvCxnSpPr>
          <p:spPr>
            <a:xfrm>
              <a:off x="7036250" y="3566789"/>
              <a:ext cx="1903080" cy="1186103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6622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5" grpId="0" animBg="1"/>
      <p:bldP spid="16" grpId="0" animBg="1"/>
      <p:bldP spid="19" grpId="0" animBg="1"/>
      <p:bldP spid="23" grpId="0" animBg="1"/>
      <p:bldP spid="24" grpId="0" animBg="1"/>
      <p:bldP spid="2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20C29B0-0664-09AF-E783-CE3D142E20AE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Topic Replication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1E2D3-A706-19A8-6BC5-CD16F319E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0"/>
            <a:ext cx="11877675" cy="3228623"/>
          </a:xfrm>
        </p:spPr>
        <p:txBody>
          <a:bodyPr/>
          <a:lstStyle/>
          <a:p>
            <a:r>
              <a:rPr lang="hu-HU" dirty="0"/>
              <a:t>We can configure replicaton number for a topic (ideally should be 2-3)</a:t>
            </a:r>
          </a:p>
          <a:p>
            <a:r>
              <a:rPr lang="hu-HU" dirty="0"/>
              <a:t>Each partition is replicated to another broker (or brokers)</a:t>
            </a:r>
          </a:p>
          <a:p>
            <a:r>
              <a:rPr lang="hu-HU" dirty="0"/>
              <a:t>For every partition there is </a:t>
            </a:r>
            <a:r>
              <a:rPr lang="hu-HU" b="1" dirty="0"/>
              <a:t>one leader </a:t>
            </a:r>
            <a:r>
              <a:rPr lang="hu-HU" dirty="0"/>
              <a:t>and </a:t>
            </a:r>
            <a:r>
              <a:rPr lang="hu-HU" b="1" dirty="0"/>
              <a:t>multiple ISR </a:t>
            </a:r>
            <a:r>
              <a:rPr lang="hu-HU" dirty="0"/>
              <a:t>(in-sync replica)</a:t>
            </a:r>
          </a:p>
          <a:p>
            <a:r>
              <a:rPr lang="hu-HU" dirty="0"/>
              <a:t>Producer can send data only to the partition leader broker</a:t>
            </a:r>
          </a:p>
          <a:p>
            <a:r>
              <a:rPr lang="hu-HU" dirty="0"/>
              <a:t>Consumer by default can pull data only from the partition leader:</a:t>
            </a:r>
          </a:p>
          <a:p>
            <a:pPr lvl="1"/>
            <a:r>
              <a:rPr lang="hu-HU" dirty="0"/>
              <a:t>This can be configured to be able to use the closest ISR for cost and latency optimization</a:t>
            </a:r>
          </a:p>
          <a:p>
            <a:r>
              <a:rPr lang="hu-HU" dirty="0"/>
              <a:t>When a leader broker fails another takes its place</a:t>
            </a:r>
          </a:p>
          <a:p>
            <a:r>
              <a:rPr lang="hu-HU" dirty="0"/>
              <a:t>So for a </a:t>
            </a:r>
            <a:r>
              <a:rPr lang="hu-HU" b="1" dirty="0"/>
              <a:t>replication factor of N </a:t>
            </a:r>
            <a:r>
              <a:rPr lang="hu-HU" dirty="0"/>
              <a:t>the topic can be recovered </a:t>
            </a:r>
            <a:r>
              <a:rPr lang="hu-HU" b="1" dirty="0"/>
              <a:t>until</a:t>
            </a:r>
            <a:r>
              <a:rPr lang="hu-HU" dirty="0"/>
              <a:t> </a:t>
            </a:r>
            <a:r>
              <a:rPr lang="hu-HU" b="1" dirty="0"/>
              <a:t>N-1 broker failures</a:t>
            </a:r>
            <a:endParaRPr lang="en-US"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EB459DC-A680-DA05-C766-6CC33128E843}"/>
              </a:ext>
            </a:extLst>
          </p:cNvPr>
          <p:cNvGrpSpPr/>
          <p:nvPr/>
        </p:nvGrpSpPr>
        <p:grpSpPr>
          <a:xfrm>
            <a:off x="8403886" y="4765973"/>
            <a:ext cx="2473693" cy="1825420"/>
            <a:chOff x="7611028" y="4292126"/>
            <a:chExt cx="2473693" cy="182542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D4E3920-2E8B-F779-97B3-F9FAFBF25DD2}"/>
                </a:ext>
              </a:extLst>
            </p:cNvPr>
            <p:cNvSpPr/>
            <p:nvPr/>
          </p:nvSpPr>
          <p:spPr>
            <a:xfrm>
              <a:off x="7611028" y="4301995"/>
              <a:ext cx="2473693" cy="181555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E3D3792-F046-3A17-E6ED-544CCF69EDC7}"/>
                </a:ext>
              </a:extLst>
            </p:cNvPr>
            <p:cNvSpPr txBox="1"/>
            <p:nvPr/>
          </p:nvSpPr>
          <p:spPr>
            <a:xfrm>
              <a:off x="7611029" y="4292126"/>
              <a:ext cx="2473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3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BEF6356-EAD8-AF68-4416-F272B95D206A}"/>
              </a:ext>
            </a:extLst>
          </p:cNvPr>
          <p:cNvGrpSpPr/>
          <p:nvPr/>
        </p:nvGrpSpPr>
        <p:grpSpPr>
          <a:xfrm>
            <a:off x="5076390" y="4742606"/>
            <a:ext cx="2473693" cy="1825420"/>
            <a:chOff x="4984935" y="4281840"/>
            <a:chExt cx="2473693" cy="182542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BE0880E-46D1-9E18-F47A-A40F0FB1FC90}"/>
                </a:ext>
              </a:extLst>
            </p:cNvPr>
            <p:cNvSpPr/>
            <p:nvPr/>
          </p:nvSpPr>
          <p:spPr>
            <a:xfrm>
              <a:off x="4984935" y="4291709"/>
              <a:ext cx="2473693" cy="181555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BA83C7F-A22D-C234-C2C6-84805BFE1B66}"/>
                </a:ext>
              </a:extLst>
            </p:cNvPr>
            <p:cNvSpPr txBox="1"/>
            <p:nvPr/>
          </p:nvSpPr>
          <p:spPr>
            <a:xfrm>
              <a:off x="4984936" y="4281840"/>
              <a:ext cx="2473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2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F98CA80-4CE4-B27C-A61A-EAF04D2C545C}"/>
              </a:ext>
            </a:extLst>
          </p:cNvPr>
          <p:cNvGrpSpPr/>
          <p:nvPr/>
        </p:nvGrpSpPr>
        <p:grpSpPr>
          <a:xfrm>
            <a:off x="1748894" y="4742606"/>
            <a:ext cx="2473693" cy="1825420"/>
            <a:chOff x="2358842" y="4281840"/>
            <a:chExt cx="2473693" cy="182542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F87B594-FF0B-92B4-35CC-E124200675CE}"/>
                </a:ext>
              </a:extLst>
            </p:cNvPr>
            <p:cNvSpPr/>
            <p:nvPr/>
          </p:nvSpPr>
          <p:spPr>
            <a:xfrm>
              <a:off x="2358842" y="4291709"/>
              <a:ext cx="2473693" cy="181555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BDC3170-B253-5E66-C941-299F2F4A9047}"/>
                </a:ext>
              </a:extLst>
            </p:cNvPr>
            <p:cNvSpPr txBox="1"/>
            <p:nvPr/>
          </p:nvSpPr>
          <p:spPr>
            <a:xfrm>
              <a:off x="2358843" y="4281840"/>
              <a:ext cx="2473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1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4BC23C74-4E41-8717-4783-DB87972CA544}"/>
              </a:ext>
            </a:extLst>
          </p:cNvPr>
          <p:cNvSpPr/>
          <p:nvPr/>
        </p:nvSpPr>
        <p:spPr>
          <a:xfrm>
            <a:off x="2279442" y="5203372"/>
            <a:ext cx="1446028" cy="473149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13AD01-3659-3440-EAAE-CE21622FE971}"/>
              </a:ext>
            </a:extLst>
          </p:cNvPr>
          <p:cNvSpPr/>
          <p:nvPr/>
        </p:nvSpPr>
        <p:spPr>
          <a:xfrm>
            <a:off x="5606938" y="5203372"/>
            <a:ext cx="1446028" cy="473149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EA5EFB-27B4-3336-8307-DD7DA265A21F}"/>
              </a:ext>
            </a:extLst>
          </p:cNvPr>
          <p:cNvSpPr/>
          <p:nvPr/>
        </p:nvSpPr>
        <p:spPr>
          <a:xfrm>
            <a:off x="5606938" y="5893559"/>
            <a:ext cx="1446028" cy="47314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719F799-00BB-CFC5-562B-6050D1441BFF}"/>
              </a:ext>
            </a:extLst>
          </p:cNvPr>
          <p:cNvSpPr/>
          <p:nvPr/>
        </p:nvSpPr>
        <p:spPr>
          <a:xfrm>
            <a:off x="8917718" y="5203372"/>
            <a:ext cx="1446028" cy="47314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05CA7847-DBE0-73C7-3126-AF5B634072A5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3725470" y="5439947"/>
            <a:ext cx="1881468" cy="690187"/>
          </a:xfrm>
          <a:prstGeom prst="bentConnector3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F6C843D-E5D2-59C0-9723-54DCB9996129}"/>
              </a:ext>
            </a:extLst>
          </p:cNvPr>
          <p:cNvCxnSpPr>
            <a:stCxn id="15" idx="3"/>
            <a:endCxn id="20" idx="1"/>
          </p:cNvCxnSpPr>
          <p:nvPr/>
        </p:nvCxnSpPr>
        <p:spPr>
          <a:xfrm>
            <a:off x="7052966" y="5439947"/>
            <a:ext cx="1864752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5802518-4FB3-978B-992B-DB6D2EE65BA4}"/>
              </a:ext>
            </a:extLst>
          </p:cNvPr>
          <p:cNvSpPr txBox="1"/>
          <p:nvPr/>
        </p:nvSpPr>
        <p:spPr>
          <a:xfrm>
            <a:off x="4160390" y="5138524"/>
            <a:ext cx="9781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replication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AB2C77-E310-4B6A-A7BF-FA0F4516C261}"/>
              </a:ext>
            </a:extLst>
          </p:cNvPr>
          <p:cNvSpPr txBox="1"/>
          <p:nvPr/>
        </p:nvSpPr>
        <p:spPr>
          <a:xfrm>
            <a:off x="7496243" y="5135629"/>
            <a:ext cx="9781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replication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FF6A811-9B83-95BC-80C1-BC771439BE9D}"/>
              </a:ext>
            </a:extLst>
          </p:cNvPr>
          <p:cNvSpPr/>
          <p:nvPr/>
        </p:nvSpPr>
        <p:spPr>
          <a:xfrm>
            <a:off x="400554" y="5291863"/>
            <a:ext cx="988692" cy="30777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Leader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AA51D44-567C-0D7B-FF4D-BB1722CEA95B}"/>
              </a:ext>
            </a:extLst>
          </p:cNvPr>
          <p:cNvSpPr/>
          <p:nvPr/>
        </p:nvSpPr>
        <p:spPr>
          <a:xfrm>
            <a:off x="400554" y="5739670"/>
            <a:ext cx="988692" cy="3077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9998108-5E93-60EC-D062-0712D54A7E32}"/>
              </a:ext>
            </a:extLst>
          </p:cNvPr>
          <p:cNvCxnSpPr/>
          <p:nvPr/>
        </p:nvCxnSpPr>
        <p:spPr>
          <a:xfrm>
            <a:off x="1748894" y="4742606"/>
            <a:ext cx="2473693" cy="182542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57E37C6-043F-FA83-9501-9A623754A142}"/>
              </a:ext>
            </a:extLst>
          </p:cNvPr>
          <p:cNvCxnSpPr>
            <a:cxnSpLocks/>
          </p:cNvCxnSpPr>
          <p:nvPr/>
        </p:nvCxnSpPr>
        <p:spPr>
          <a:xfrm flipV="1">
            <a:off x="1748895" y="4742606"/>
            <a:ext cx="2473692" cy="182542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9678443C-2479-48FF-A74A-F4DA7BDDAAFB}"/>
              </a:ext>
            </a:extLst>
          </p:cNvPr>
          <p:cNvSpPr/>
          <p:nvPr/>
        </p:nvSpPr>
        <p:spPr>
          <a:xfrm>
            <a:off x="8917718" y="5869935"/>
            <a:ext cx="1446028" cy="47314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48C175-8E90-85A4-782B-8EF2223AF8F6}"/>
              </a:ext>
            </a:extLst>
          </p:cNvPr>
          <p:cNvCxnSpPr>
            <a:endCxn id="23" idx="1"/>
          </p:cNvCxnSpPr>
          <p:nvPr/>
        </p:nvCxnSpPr>
        <p:spPr>
          <a:xfrm>
            <a:off x="7052966" y="6106510"/>
            <a:ext cx="1864752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5A3FB8E-7802-D33A-F88A-47A269BAD4B1}"/>
              </a:ext>
            </a:extLst>
          </p:cNvPr>
          <p:cNvSpPr txBox="1"/>
          <p:nvPr/>
        </p:nvSpPr>
        <p:spPr>
          <a:xfrm>
            <a:off x="7496243" y="5802192"/>
            <a:ext cx="9781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replication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9567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29" grpId="0"/>
      <p:bldP spid="23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06EB6A6D-30E8-44DC-6A4E-1FF88DE7319C}"/>
              </a:ext>
            </a:extLst>
          </p:cNvPr>
          <p:cNvGrpSpPr/>
          <p:nvPr/>
        </p:nvGrpSpPr>
        <p:grpSpPr>
          <a:xfrm>
            <a:off x="3953103" y="3757160"/>
            <a:ext cx="6410097" cy="2704584"/>
            <a:chOff x="2358842" y="4281840"/>
            <a:chExt cx="2473693" cy="1825420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09A0D62-FF0B-B380-A19D-DC2FD85EA270}"/>
                </a:ext>
              </a:extLst>
            </p:cNvPr>
            <p:cNvSpPr/>
            <p:nvPr/>
          </p:nvSpPr>
          <p:spPr>
            <a:xfrm>
              <a:off x="2358842" y="4291709"/>
              <a:ext cx="2473693" cy="181555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914B9AC-B6CA-E64E-7FE2-285C04996EFC}"/>
                </a:ext>
              </a:extLst>
            </p:cNvPr>
            <p:cNvSpPr txBox="1"/>
            <p:nvPr/>
          </p:nvSpPr>
          <p:spPr>
            <a:xfrm>
              <a:off x="2358843" y="4281840"/>
              <a:ext cx="2473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1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20C29B0-0664-09AF-E783-CE3D142E20AE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Core Concepts – Producer Acknowledgement Options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1E2D3-A706-19A8-6BC5-CD16F319E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2909738"/>
          </a:xfrm>
        </p:spPr>
        <p:txBody>
          <a:bodyPr/>
          <a:lstStyle/>
          <a:p>
            <a:r>
              <a:rPr lang="en-US" dirty="0"/>
              <a:t>acks=0</a:t>
            </a:r>
            <a:r>
              <a:rPr lang="hu-HU" dirty="0"/>
              <a:t> :</a:t>
            </a:r>
          </a:p>
          <a:p>
            <a:pPr lvl="1"/>
            <a:r>
              <a:rPr lang="en-US" b="1" dirty="0"/>
              <a:t>No Acknowledgement</a:t>
            </a:r>
            <a:r>
              <a:rPr lang="hu-HU" b="1" dirty="0"/>
              <a:t>: </a:t>
            </a:r>
            <a:r>
              <a:rPr lang="en-US" dirty="0"/>
              <a:t>Producer does not wait for any acknowledgment from the broker.</a:t>
            </a:r>
          </a:p>
          <a:p>
            <a:pPr lvl="1"/>
            <a:r>
              <a:rPr lang="en-US" b="1" dirty="0"/>
              <a:t>Use Case:</a:t>
            </a:r>
            <a:r>
              <a:rPr lang="en-US" dirty="0"/>
              <a:t> High throughput, low latency, but risk of data loss.</a:t>
            </a:r>
          </a:p>
          <a:p>
            <a:r>
              <a:rPr lang="en-US" dirty="0"/>
              <a:t>acks=1</a:t>
            </a:r>
          </a:p>
          <a:p>
            <a:pPr lvl="1"/>
            <a:r>
              <a:rPr lang="en-US" b="1" dirty="0"/>
              <a:t>Leader Acknowledgement:</a:t>
            </a:r>
            <a:r>
              <a:rPr lang="en-US" dirty="0"/>
              <a:t> Producer waits for the leader to write the record to its local log.</a:t>
            </a:r>
          </a:p>
          <a:p>
            <a:pPr lvl="1"/>
            <a:r>
              <a:rPr lang="en-US" b="1" dirty="0"/>
              <a:t>Use Case:</a:t>
            </a:r>
            <a:r>
              <a:rPr lang="en-US" dirty="0"/>
              <a:t> Balanced approach, moderate latency, and throughput.</a:t>
            </a:r>
          </a:p>
          <a:p>
            <a:r>
              <a:rPr lang="en-US" dirty="0"/>
              <a:t>acks=all</a:t>
            </a:r>
            <a:r>
              <a:rPr lang="hu-HU" dirty="0"/>
              <a:t> / -1</a:t>
            </a:r>
            <a:endParaRPr lang="en-US" dirty="0"/>
          </a:p>
          <a:p>
            <a:pPr lvl="1"/>
            <a:r>
              <a:rPr lang="en-US" b="1" dirty="0"/>
              <a:t>All Replicas Acknowledgement:</a:t>
            </a:r>
            <a:r>
              <a:rPr lang="en-US" dirty="0"/>
              <a:t> Producer waits for all in-sync replicas to acknowledge the record.</a:t>
            </a:r>
          </a:p>
          <a:p>
            <a:pPr lvl="1"/>
            <a:r>
              <a:rPr lang="en-US" b="1" dirty="0"/>
              <a:t>Use Case:</a:t>
            </a:r>
            <a:r>
              <a:rPr lang="en-US" dirty="0"/>
              <a:t> Highest reliability, ensures no data loss, but higher latency.</a:t>
            </a:r>
            <a:endParaRPr lang="hu-HU" dirty="0"/>
          </a:p>
          <a:p>
            <a:endParaRPr lang="hu-HU" dirty="0"/>
          </a:p>
          <a:p>
            <a:pPr marL="0" indent="0">
              <a:buNone/>
            </a:pPr>
            <a:endParaRPr lang="hu-HU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039E26F-E549-34AF-2F32-F0595F009F54}"/>
              </a:ext>
            </a:extLst>
          </p:cNvPr>
          <p:cNvGrpSpPr/>
          <p:nvPr/>
        </p:nvGrpSpPr>
        <p:grpSpPr>
          <a:xfrm>
            <a:off x="2056891" y="4142380"/>
            <a:ext cx="8212046" cy="2718529"/>
            <a:chOff x="2194565" y="2158203"/>
            <a:chExt cx="8212046" cy="2718529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EDF10E1-0941-FCA6-6948-354F65B7F1E7}"/>
                </a:ext>
              </a:extLst>
            </p:cNvPr>
            <p:cNvSpPr/>
            <p:nvPr/>
          </p:nvSpPr>
          <p:spPr>
            <a:xfrm>
              <a:off x="4436329" y="3062358"/>
              <a:ext cx="858871" cy="327448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topic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" name="Left Brace 5">
              <a:extLst>
                <a:ext uri="{FF2B5EF4-FFF2-40B4-BE49-F238E27FC236}">
                  <a16:creationId xmlns:a16="http://schemas.microsoft.com/office/drawing/2014/main" id="{3B4C79C2-89CC-D2C5-7053-7D9D0BC1356C}"/>
                </a:ext>
              </a:extLst>
            </p:cNvPr>
            <p:cNvSpPr/>
            <p:nvPr/>
          </p:nvSpPr>
          <p:spPr>
            <a:xfrm>
              <a:off x="5451017" y="2158203"/>
              <a:ext cx="491569" cy="213859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6ACA9B2-A835-B604-DBCB-E335AF1F610B}"/>
                </a:ext>
              </a:extLst>
            </p:cNvPr>
            <p:cNvSpPr txBox="1"/>
            <p:nvPr/>
          </p:nvSpPr>
          <p:spPr>
            <a:xfrm>
              <a:off x="5942586" y="2318289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182D4F7-AA01-A925-D7CB-7D9792D58929}"/>
                </a:ext>
              </a:extLst>
            </p:cNvPr>
            <p:cNvSpPr txBox="1"/>
            <p:nvPr/>
          </p:nvSpPr>
          <p:spPr>
            <a:xfrm>
              <a:off x="5942586" y="2888418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0E9C2D3-6EFE-E559-61BA-221DFC98EEFA}"/>
                </a:ext>
              </a:extLst>
            </p:cNvPr>
            <p:cNvSpPr txBox="1"/>
            <p:nvPr/>
          </p:nvSpPr>
          <p:spPr>
            <a:xfrm>
              <a:off x="5942586" y="3760590"/>
              <a:ext cx="12149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N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1A9E096-701C-952A-34E3-8CEE21D627C7}"/>
                </a:ext>
              </a:extLst>
            </p:cNvPr>
            <p:cNvSpPr txBox="1"/>
            <p:nvPr/>
          </p:nvSpPr>
          <p:spPr>
            <a:xfrm>
              <a:off x="6288206" y="3352309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5680703-F551-2EE7-A7AE-A13BDD79605E}"/>
                </a:ext>
              </a:extLst>
            </p:cNvPr>
            <p:cNvSpPr/>
            <p:nvPr/>
          </p:nvSpPr>
          <p:spPr>
            <a:xfrm>
              <a:off x="7186355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CB9B9B9-60DA-879D-60A4-A02DBA7F15C0}"/>
                </a:ext>
              </a:extLst>
            </p:cNvPr>
            <p:cNvSpPr/>
            <p:nvPr/>
          </p:nvSpPr>
          <p:spPr>
            <a:xfrm>
              <a:off x="7585553" y="2235602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E2303DC-F6F3-35DF-213C-8334304DE697}"/>
                </a:ext>
              </a:extLst>
            </p:cNvPr>
            <p:cNvSpPr/>
            <p:nvPr/>
          </p:nvSpPr>
          <p:spPr>
            <a:xfrm>
              <a:off x="7984751" y="2235604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C1C6243-57CB-F522-43F8-1F4D0EA68431}"/>
                </a:ext>
              </a:extLst>
            </p:cNvPr>
            <p:cNvSpPr/>
            <p:nvPr/>
          </p:nvSpPr>
          <p:spPr>
            <a:xfrm>
              <a:off x="8383949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F44CBD7-B57C-A08A-FD2F-098EBE8BB695}"/>
                </a:ext>
              </a:extLst>
            </p:cNvPr>
            <p:cNvSpPr/>
            <p:nvPr/>
          </p:nvSpPr>
          <p:spPr>
            <a:xfrm>
              <a:off x="7186355" y="2862317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79F6CEC-E884-8E79-A4FC-DA4C308BD694}"/>
                </a:ext>
              </a:extLst>
            </p:cNvPr>
            <p:cNvSpPr/>
            <p:nvPr/>
          </p:nvSpPr>
          <p:spPr>
            <a:xfrm>
              <a:off x="7585553" y="2862316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596F12-4BDD-028F-91DF-228D186DEC1D}"/>
                </a:ext>
              </a:extLst>
            </p:cNvPr>
            <p:cNvSpPr/>
            <p:nvPr/>
          </p:nvSpPr>
          <p:spPr>
            <a:xfrm>
              <a:off x="7984751" y="2862318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C70B338-E306-F705-39E7-E05D244CF5B4}"/>
                </a:ext>
              </a:extLst>
            </p:cNvPr>
            <p:cNvSpPr/>
            <p:nvPr/>
          </p:nvSpPr>
          <p:spPr>
            <a:xfrm>
              <a:off x="8383949" y="2862317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A3021FC-D5C1-C5E3-E43D-1FC31CD3BCDC}"/>
                </a:ext>
              </a:extLst>
            </p:cNvPr>
            <p:cNvSpPr/>
            <p:nvPr/>
          </p:nvSpPr>
          <p:spPr>
            <a:xfrm>
              <a:off x="8783147" y="2235603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4EC38FE-055D-9036-AE8D-F934E3B4BECF}"/>
                </a:ext>
              </a:extLst>
            </p:cNvPr>
            <p:cNvSpPr/>
            <p:nvPr/>
          </p:nvSpPr>
          <p:spPr>
            <a:xfrm>
              <a:off x="9182345" y="2235602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E05161C-08AA-88E3-9A28-01EB49219579}"/>
                </a:ext>
              </a:extLst>
            </p:cNvPr>
            <p:cNvSpPr/>
            <p:nvPr/>
          </p:nvSpPr>
          <p:spPr>
            <a:xfrm>
              <a:off x="7186355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79CF1AD-3ABB-FCF9-0929-ECEACD396685}"/>
                </a:ext>
              </a:extLst>
            </p:cNvPr>
            <p:cNvSpPr/>
            <p:nvPr/>
          </p:nvSpPr>
          <p:spPr>
            <a:xfrm>
              <a:off x="7585553" y="3667330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EC22408-4098-D32F-5EBC-C8188467EAC0}"/>
                </a:ext>
              </a:extLst>
            </p:cNvPr>
            <p:cNvSpPr/>
            <p:nvPr/>
          </p:nvSpPr>
          <p:spPr>
            <a:xfrm>
              <a:off x="7984751" y="3667332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E3CDD38-ABA2-1521-C39B-F33073A3F789}"/>
                </a:ext>
              </a:extLst>
            </p:cNvPr>
            <p:cNvSpPr/>
            <p:nvPr/>
          </p:nvSpPr>
          <p:spPr>
            <a:xfrm>
              <a:off x="8383949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649A857-B9BB-DF02-970E-CDEBF90C27CD}"/>
                </a:ext>
              </a:extLst>
            </p:cNvPr>
            <p:cNvSpPr/>
            <p:nvPr/>
          </p:nvSpPr>
          <p:spPr>
            <a:xfrm>
              <a:off x="8783147" y="3667331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C312FAC-9C05-BF9B-FA8E-094B600B31D3}"/>
                </a:ext>
              </a:extLst>
            </p:cNvPr>
            <p:cNvSpPr/>
            <p:nvPr/>
          </p:nvSpPr>
          <p:spPr>
            <a:xfrm>
              <a:off x="9182345" y="3667330"/>
              <a:ext cx="399198" cy="390463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9B94A54-B090-892D-E8CE-728AD67F4B1C}"/>
                </a:ext>
              </a:extLst>
            </p:cNvPr>
            <p:cNvSpPr/>
            <p:nvPr/>
          </p:nvSpPr>
          <p:spPr>
            <a:xfrm>
              <a:off x="9581543" y="3667332"/>
              <a:ext cx="399198" cy="390463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6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E78BF58-488B-1FFA-5012-B6698909E9A1}"/>
                </a:ext>
              </a:extLst>
            </p:cNvPr>
            <p:cNvSpPr/>
            <p:nvPr/>
          </p:nvSpPr>
          <p:spPr>
            <a:xfrm>
              <a:off x="2194565" y="2990924"/>
              <a:ext cx="1026854" cy="47314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Producer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F9A6D4D-2AE9-584A-6882-4557AA5CC495}"/>
                </a:ext>
              </a:extLst>
            </p:cNvPr>
            <p:cNvCxnSpPr>
              <a:cxnSpLocks/>
            </p:cNvCxnSpPr>
            <p:nvPr/>
          </p:nvCxnSpPr>
          <p:spPr>
            <a:xfrm>
              <a:off x="3459630" y="3221112"/>
              <a:ext cx="753914" cy="0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3A9F83C-D01B-10E6-3953-DA85A67A5444}"/>
                </a:ext>
              </a:extLst>
            </p:cNvPr>
            <p:cNvSpPr txBox="1"/>
            <p:nvPr/>
          </p:nvSpPr>
          <p:spPr>
            <a:xfrm>
              <a:off x="3305003" y="2923924"/>
              <a:ext cx="107053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write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7642E71-7E25-9638-CB6D-EAD44D90DF86}"/>
                </a:ext>
              </a:extLst>
            </p:cNvPr>
            <p:cNvSpPr txBox="1"/>
            <p:nvPr/>
          </p:nvSpPr>
          <p:spPr>
            <a:xfrm>
              <a:off x="8583548" y="4568955"/>
              <a:ext cx="1823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message offset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FCBA483-C01A-5106-9D4A-C7DBFCED28C9}"/>
                </a:ext>
              </a:extLst>
            </p:cNvPr>
            <p:cNvSpPr txBox="1"/>
            <p:nvPr/>
          </p:nvSpPr>
          <p:spPr>
            <a:xfrm rot="5400000">
              <a:off x="9724220" y="2267330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AA28436-29ED-C4DA-F6AA-670F5FBEF670}"/>
                </a:ext>
              </a:extLst>
            </p:cNvPr>
            <p:cNvSpPr txBox="1"/>
            <p:nvPr/>
          </p:nvSpPr>
          <p:spPr>
            <a:xfrm rot="5400000">
              <a:off x="8852904" y="2900036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51BB47B-BEF2-6D11-6E07-C0541F68E6C1}"/>
                </a:ext>
              </a:extLst>
            </p:cNvPr>
            <p:cNvSpPr txBox="1"/>
            <p:nvPr/>
          </p:nvSpPr>
          <p:spPr>
            <a:xfrm rot="5400000">
              <a:off x="10039243" y="3705050"/>
              <a:ext cx="339902" cy="315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  <a:p>
              <a:pPr algn="ctr">
                <a:lnSpc>
                  <a:spcPts val="500"/>
                </a:lnSpc>
              </a:pP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078EDB-EE12-DA5D-FAD2-AEB4CE9F8223}"/>
                </a:ext>
              </a:extLst>
            </p:cNvPr>
            <p:cNvCxnSpPr>
              <a:cxnSpLocks/>
              <a:stCxn id="31" idx="0"/>
              <a:endCxn id="24" idx="2"/>
            </p:cNvCxnSpPr>
            <p:nvPr/>
          </p:nvCxnSpPr>
          <p:spPr>
            <a:xfrm flipH="1" flipV="1">
              <a:off x="8583548" y="4057794"/>
              <a:ext cx="911532" cy="5111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0892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AF86C92-EC14-3C79-2812-3B2EF511E66F}"/>
              </a:ext>
            </a:extLst>
          </p:cNvPr>
          <p:cNvSpPr/>
          <p:nvPr/>
        </p:nvSpPr>
        <p:spPr>
          <a:xfrm>
            <a:off x="2357119" y="3689225"/>
            <a:ext cx="7477761" cy="1148155"/>
          </a:xfrm>
          <a:prstGeom prst="roundRect">
            <a:avLst/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DFF5B5ED-6568-151E-A603-FB9C62A0A35B}"/>
              </a:ext>
            </a:extLst>
          </p:cNvPr>
          <p:cNvSpPr/>
          <p:nvPr/>
        </p:nvSpPr>
        <p:spPr>
          <a:xfrm>
            <a:off x="289162" y="5488202"/>
            <a:ext cx="11613675" cy="1148155"/>
          </a:xfrm>
          <a:prstGeom prst="roundRect">
            <a:avLst/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16ED941-AC0D-6570-6AA0-DDCB626F7AD6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(Zookeeper – Brief Overview)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FDB94-CA7A-8DF7-64BD-9FFC1C9147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2396475"/>
          </a:xfrm>
        </p:spPr>
        <p:txBody>
          <a:bodyPr/>
          <a:lstStyle/>
          <a:p>
            <a:r>
              <a:rPr lang="hu-HU" dirty="0"/>
              <a:t>Zookeper tracks the status of brokers, topics and partitions.</a:t>
            </a:r>
          </a:p>
          <a:p>
            <a:r>
              <a:rPr lang="hu-HU" dirty="0"/>
              <a:t>Key functions:</a:t>
            </a:r>
          </a:p>
          <a:p>
            <a:pPr lvl="1"/>
            <a:r>
              <a:rPr lang="en-US" b="1" dirty="0"/>
              <a:t>Controller Election: </a:t>
            </a:r>
            <a:r>
              <a:rPr lang="en-US" dirty="0"/>
              <a:t>Ensures a single active controller for leader-follower management.</a:t>
            </a:r>
          </a:p>
          <a:p>
            <a:pPr lvl="1"/>
            <a:r>
              <a:rPr lang="en-US" b="1" dirty="0"/>
              <a:t>Metadata Storage: </a:t>
            </a:r>
            <a:r>
              <a:rPr lang="en-US" dirty="0"/>
              <a:t>Maintains information about brokers, topics, and partitions.</a:t>
            </a:r>
          </a:p>
          <a:p>
            <a:pPr lvl="1"/>
            <a:r>
              <a:rPr lang="en-US" b="1" dirty="0"/>
              <a:t>Failover Handling: </a:t>
            </a:r>
            <a:r>
              <a:rPr lang="en-US" dirty="0"/>
              <a:t>Automatically selects new leaders if nodes fail.</a:t>
            </a:r>
            <a:endParaRPr lang="hu-HU" dirty="0"/>
          </a:p>
          <a:p>
            <a:r>
              <a:rPr lang="hu-HU" dirty="0"/>
              <a:t>Zookeeper operates as a separate cluster:</a:t>
            </a:r>
          </a:p>
          <a:p>
            <a:pPr lvl="1"/>
            <a:r>
              <a:rPr lang="en-US" dirty="0"/>
              <a:t>It typically consists of an odd number of nodes (3, 5, or more)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7E82D4A-242A-3D48-73AE-21EA4E77E16B}"/>
              </a:ext>
            </a:extLst>
          </p:cNvPr>
          <p:cNvGrpSpPr/>
          <p:nvPr/>
        </p:nvGrpSpPr>
        <p:grpSpPr>
          <a:xfrm>
            <a:off x="2297145" y="5740990"/>
            <a:ext cx="1334570" cy="688856"/>
            <a:chOff x="4984935" y="4281840"/>
            <a:chExt cx="2473693" cy="7902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431254D-0E1D-55FA-9D48-FF8F26A64EC4}"/>
                </a:ext>
              </a:extLst>
            </p:cNvPr>
            <p:cNvSpPr/>
            <p:nvPr/>
          </p:nvSpPr>
          <p:spPr>
            <a:xfrm>
              <a:off x="4984935" y="4291709"/>
              <a:ext cx="2473693" cy="78033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F7BCBF0-B6CA-805F-7A6E-1051195E228D}"/>
                </a:ext>
              </a:extLst>
            </p:cNvPr>
            <p:cNvSpPr txBox="1"/>
            <p:nvPr/>
          </p:nvSpPr>
          <p:spPr>
            <a:xfrm>
              <a:off x="4984936" y="4281840"/>
              <a:ext cx="2473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1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0A98AAB-9D24-F0B7-46F1-1991E24FB89F}"/>
              </a:ext>
            </a:extLst>
          </p:cNvPr>
          <p:cNvGrpSpPr/>
          <p:nvPr/>
        </p:nvGrpSpPr>
        <p:grpSpPr>
          <a:xfrm>
            <a:off x="4249469" y="5749593"/>
            <a:ext cx="1334570" cy="688856"/>
            <a:chOff x="4984935" y="4281840"/>
            <a:chExt cx="2473693" cy="7902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2D295A2-D662-2E52-F4F0-52CD8DDC01E6}"/>
                </a:ext>
              </a:extLst>
            </p:cNvPr>
            <p:cNvSpPr/>
            <p:nvPr/>
          </p:nvSpPr>
          <p:spPr>
            <a:xfrm>
              <a:off x="4984935" y="4291709"/>
              <a:ext cx="2473693" cy="78033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115ABEF-B4EE-828B-0C05-1A15595948F5}"/>
                </a:ext>
              </a:extLst>
            </p:cNvPr>
            <p:cNvSpPr txBox="1"/>
            <p:nvPr/>
          </p:nvSpPr>
          <p:spPr>
            <a:xfrm>
              <a:off x="4984937" y="4281840"/>
              <a:ext cx="2473691" cy="353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2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E06ADF5-715C-C292-571E-ED83F6122794}"/>
              </a:ext>
            </a:extLst>
          </p:cNvPr>
          <p:cNvGrpSpPr/>
          <p:nvPr/>
        </p:nvGrpSpPr>
        <p:grpSpPr>
          <a:xfrm>
            <a:off x="6201794" y="5745291"/>
            <a:ext cx="1334570" cy="688856"/>
            <a:chOff x="4984935" y="4281840"/>
            <a:chExt cx="2473693" cy="7902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839B504-9987-216C-D623-4A7C111B373A}"/>
                </a:ext>
              </a:extLst>
            </p:cNvPr>
            <p:cNvSpPr/>
            <p:nvPr/>
          </p:nvSpPr>
          <p:spPr>
            <a:xfrm>
              <a:off x="4984935" y="4291709"/>
              <a:ext cx="2473693" cy="78033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4680C10-D093-CC60-7E7A-04F05CEE3604}"/>
                </a:ext>
              </a:extLst>
            </p:cNvPr>
            <p:cNvSpPr txBox="1"/>
            <p:nvPr/>
          </p:nvSpPr>
          <p:spPr>
            <a:xfrm>
              <a:off x="4984937" y="4281840"/>
              <a:ext cx="2473691" cy="353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3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378C523-62B8-09CA-1B91-35B24DC4E91B}"/>
              </a:ext>
            </a:extLst>
          </p:cNvPr>
          <p:cNvGrpSpPr/>
          <p:nvPr/>
        </p:nvGrpSpPr>
        <p:grpSpPr>
          <a:xfrm>
            <a:off x="8154119" y="5740986"/>
            <a:ext cx="1334570" cy="688856"/>
            <a:chOff x="4984935" y="4281840"/>
            <a:chExt cx="2473693" cy="7902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E650A3D-A567-8B28-E0FD-0778D2216C3D}"/>
                </a:ext>
              </a:extLst>
            </p:cNvPr>
            <p:cNvSpPr/>
            <p:nvPr/>
          </p:nvSpPr>
          <p:spPr>
            <a:xfrm>
              <a:off x="4984935" y="4291709"/>
              <a:ext cx="2473693" cy="78033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63D2517-F7EA-A2B8-0318-E8CB1152F75C}"/>
                </a:ext>
              </a:extLst>
            </p:cNvPr>
            <p:cNvSpPr txBox="1"/>
            <p:nvPr/>
          </p:nvSpPr>
          <p:spPr>
            <a:xfrm>
              <a:off x="4984937" y="4281840"/>
              <a:ext cx="2473691" cy="353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4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E051711-2DA8-E4F5-08E4-416525887CAA}"/>
              </a:ext>
            </a:extLst>
          </p:cNvPr>
          <p:cNvGrpSpPr/>
          <p:nvPr/>
        </p:nvGrpSpPr>
        <p:grpSpPr>
          <a:xfrm>
            <a:off x="10106444" y="5736684"/>
            <a:ext cx="1334570" cy="688856"/>
            <a:chOff x="4984935" y="4281840"/>
            <a:chExt cx="2473693" cy="7902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65470D-1563-7F06-19CE-F4CCC6D15A87}"/>
                </a:ext>
              </a:extLst>
            </p:cNvPr>
            <p:cNvSpPr/>
            <p:nvPr/>
          </p:nvSpPr>
          <p:spPr>
            <a:xfrm>
              <a:off x="4984935" y="4291709"/>
              <a:ext cx="2473693" cy="78033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F7BE607-4085-36CB-800A-0B4223A2CA42}"/>
                </a:ext>
              </a:extLst>
            </p:cNvPr>
            <p:cNvSpPr txBox="1"/>
            <p:nvPr/>
          </p:nvSpPr>
          <p:spPr>
            <a:xfrm>
              <a:off x="4984937" y="4281840"/>
              <a:ext cx="2473691" cy="353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5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B82FF86-0639-56EB-BCA4-33D2AC70381C}"/>
              </a:ext>
            </a:extLst>
          </p:cNvPr>
          <p:cNvGrpSpPr/>
          <p:nvPr/>
        </p:nvGrpSpPr>
        <p:grpSpPr>
          <a:xfrm>
            <a:off x="4231375" y="3907468"/>
            <a:ext cx="1334570" cy="688856"/>
            <a:chOff x="4984935" y="4281840"/>
            <a:chExt cx="2473693" cy="7902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F865D22-B9D3-B78B-C189-6DFDEBC4AF32}"/>
                </a:ext>
              </a:extLst>
            </p:cNvPr>
            <p:cNvSpPr/>
            <p:nvPr/>
          </p:nvSpPr>
          <p:spPr>
            <a:xfrm>
              <a:off x="4984935" y="4291709"/>
              <a:ext cx="2473693" cy="78033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27A9535-83BE-1904-1448-626D9BC68245}"/>
                </a:ext>
              </a:extLst>
            </p:cNvPr>
            <p:cNvSpPr txBox="1"/>
            <p:nvPr/>
          </p:nvSpPr>
          <p:spPr>
            <a:xfrm>
              <a:off x="4984937" y="4281840"/>
              <a:ext cx="2473691" cy="353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ZK 1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6E307E8-1A78-59E1-C67D-A7E25A56FED0}"/>
              </a:ext>
            </a:extLst>
          </p:cNvPr>
          <p:cNvGrpSpPr/>
          <p:nvPr/>
        </p:nvGrpSpPr>
        <p:grpSpPr>
          <a:xfrm>
            <a:off x="6183699" y="3916071"/>
            <a:ext cx="1334570" cy="688856"/>
            <a:chOff x="4984935" y="4281840"/>
            <a:chExt cx="2473693" cy="79020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F3E104CF-9C6D-5E1F-0917-627308D0C6D6}"/>
                </a:ext>
              </a:extLst>
            </p:cNvPr>
            <p:cNvSpPr/>
            <p:nvPr/>
          </p:nvSpPr>
          <p:spPr>
            <a:xfrm>
              <a:off x="4984935" y="4291709"/>
              <a:ext cx="2473693" cy="78033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250C19E-A934-A47E-3B57-C7FDF3CF4AC2}"/>
                </a:ext>
              </a:extLst>
            </p:cNvPr>
            <p:cNvSpPr txBox="1"/>
            <p:nvPr/>
          </p:nvSpPr>
          <p:spPr>
            <a:xfrm>
              <a:off x="4984937" y="4281840"/>
              <a:ext cx="2473691" cy="353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ZK 2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2FAC6DEF-8541-36B2-C71C-DB97BC44A23F}"/>
              </a:ext>
            </a:extLst>
          </p:cNvPr>
          <p:cNvGrpSpPr/>
          <p:nvPr/>
        </p:nvGrpSpPr>
        <p:grpSpPr>
          <a:xfrm>
            <a:off x="8136024" y="3911769"/>
            <a:ext cx="1334570" cy="688856"/>
            <a:chOff x="4984935" y="4281840"/>
            <a:chExt cx="2473693" cy="7902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CD63F4C1-67AC-5CDC-CCF4-AC30A5ADAAB9}"/>
                </a:ext>
              </a:extLst>
            </p:cNvPr>
            <p:cNvSpPr/>
            <p:nvPr/>
          </p:nvSpPr>
          <p:spPr>
            <a:xfrm>
              <a:off x="4984935" y="4291709"/>
              <a:ext cx="2473693" cy="78033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42A92F2-1B75-61BF-8EE5-AA9FE7CCB1A4}"/>
                </a:ext>
              </a:extLst>
            </p:cNvPr>
            <p:cNvSpPr txBox="1"/>
            <p:nvPr/>
          </p:nvSpPr>
          <p:spPr>
            <a:xfrm>
              <a:off x="4984937" y="4281840"/>
              <a:ext cx="2473691" cy="353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ZK 3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pic>
        <p:nvPicPr>
          <p:cNvPr id="44" name="Picture 2" descr="Apache Kafka">
            <a:extLst>
              <a:ext uri="{FF2B5EF4-FFF2-40B4-BE49-F238E27FC236}">
                <a16:creationId xmlns:a16="http://schemas.microsoft.com/office/drawing/2014/main" id="{D870A960-8136-0894-36F3-42BE018C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311" y="5740986"/>
            <a:ext cx="1291684" cy="588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ZooKeeper Monitoring | Opsview">
            <a:extLst>
              <a:ext uri="{FF2B5EF4-FFF2-40B4-BE49-F238E27FC236}">
                <a16:creationId xmlns:a16="http://schemas.microsoft.com/office/drawing/2014/main" id="{C9635ECA-77A9-422C-D4C3-D57DF3DFC2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27" t="26476" r="9256" b="25405"/>
          <a:stretch/>
        </p:blipFill>
        <p:spPr bwMode="auto">
          <a:xfrm>
            <a:off x="2610235" y="3918234"/>
            <a:ext cx="1206207" cy="706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CECA200-3DA6-22EC-0CB7-0ECB6F0E2DF0}"/>
              </a:ext>
            </a:extLst>
          </p:cNvPr>
          <p:cNvCxnSpPr>
            <a:stCxn id="45" idx="2"/>
            <a:endCxn id="43" idx="0"/>
          </p:cNvCxnSpPr>
          <p:nvPr/>
        </p:nvCxnSpPr>
        <p:spPr>
          <a:xfrm>
            <a:off x="6096000" y="4837380"/>
            <a:ext cx="0" cy="650822"/>
          </a:xfrm>
          <a:prstGeom prst="straightConnector1">
            <a:avLst/>
          </a:prstGeom>
          <a:ln w="28575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36601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16ED941-AC0D-6570-6AA0-DDCB626F7AD6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(Zookeeper – Depreciation)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FDB94-CA7A-8DF7-64BD-9FFC1C9147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5791123"/>
          </a:xfrm>
        </p:spPr>
        <p:txBody>
          <a:bodyPr/>
          <a:lstStyle/>
          <a:p>
            <a:r>
              <a:rPr lang="hu-HU" dirty="0"/>
              <a:t>Zookeeper is replaced with Kraft (Kafka Raft) from Kafka 4.0 </a:t>
            </a:r>
          </a:p>
          <a:p>
            <a:pPr lvl="1"/>
            <a:r>
              <a:rPr lang="hu-HU" dirty="0"/>
              <a:t>from Kafka 3.x KRaft is in preview mode, so Kafka can be started without Zookeper</a:t>
            </a:r>
          </a:p>
          <a:p>
            <a:pPr lvl="1"/>
            <a:r>
              <a:rPr lang="hu-HU" dirty="0"/>
              <a:t>from Kafka 3.3 KRaft becomes production ready</a:t>
            </a:r>
          </a:p>
          <a:p>
            <a:pPr lvl="1"/>
            <a:endParaRPr lang="hu-HU" dirty="0"/>
          </a:p>
          <a:p>
            <a:r>
              <a:rPr lang="hu-HU" dirty="0"/>
              <a:t>Reasons:</a:t>
            </a:r>
          </a:p>
          <a:p>
            <a:pPr lvl="1"/>
            <a:r>
              <a:rPr lang="en-US" dirty="0"/>
              <a:t>Simplifies architecture by consolidating metadata management within Kafka.</a:t>
            </a:r>
          </a:p>
          <a:p>
            <a:pPr lvl="1"/>
            <a:r>
              <a:rPr lang="en-US" dirty="0"/>
              <a:t>Improves scalability and resiliency</a:t>
            </a:r>
            <a:r>
              <a:rPr lang="hu-HU" dirty="0"/>
              <a:t> (from &lt; </a:t>
            </a:r>
            <a:r>
              <a:rPr lang="hu-HU" b="1" dirty="0"/>
              <a:t>100 000 partitions </a:t>
            </a:r>
            <a:r>
              <a:rPr lang="hu-HU" dirty="0"/>
              <a:t>to the </a:t>
            </a:r>
            <a:r>
              <a:rPr lang="hu-HU" b="1" dirty="0"/>
              <a:t>scale of millions</a:t>
            </a:r>
            <a:r>
              <a:rPr lang="hu-HU" dirty="0"/>
              <a:t>)</a:t>
            </a:r>
            <a:endParaRPr lang="en-US" dirty="0"/>
          </a:p>
          <a:p>
            <a:pPr lvl="1"/>
            <a:r>
              <a:rPr lang="en-US" dirty="0"/>
              <a:t>Enhances control plane performance and stability</a:t>
            </a:r>
            <a:endParaRPr lang="hu-HU" dirty="0"/>
          </a:p>
          <a:p>
            <a:pPr lvl="1"/>
            <a:endParaRPr lang="hu-HU" dirty="0"/>
          </a:p>
          <a:p>
            <a:r>
              <a:rPr lang="hu-HU" dirty="0"/>
              <a:t>Since Kafka 2.2, the </a:t>
            </a: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kafka-topic.sh</a:t>
            </a:r>
            <a:r>
              <a:rPr lang="hu-HU" dirty="0"/>
              <a:t> CLI references Kafka brokers instead of Zookeeper.</a:t>
            </a:r>
          </a:p>
          <a:p>
            <a:endParaRPr lang="hu-HU" dirty="0"/>
          </a:p>
          <a:p>
            <a:r>
              <a:rPr lang="hu-HU" dirty="0"/>
              <a:t>All APIs and command that were previously used Zookeeper are migrated to Kafka instead.</a:t>
            </a:r>
          </a:p>
          <a:p>
            <a:pPr lvl="1"/>
            <a:r>
              <a:rPr lang="hu-HU" dirty="0"/>
              <a:t>So any client should only use Kafka.</a:t>
            </a:r>
          </a:p>
          <a:p>
            <a:pPr lvl="1"/>
            <a:endParaRPr lang="hu-HU" dirty="0"/>
          </a:p>
          <a:p>
            <a:r>
              <a:rPr lang="hu-HU" dirty="0"/>
              <a:t>KRaft is integrated directly into the Kafka brokers</a:t>
            </a:r>
          </a:p>
          <a:p>
            <a:pPr lvl="1"/>
            <a:r>
              <a:rPr lang="en-US" dirty="0"/>
              <a:t>Kafka brokers themselves act as</a:t>
            </a:r>
            <a:r>
              <a:rPr lang="hu-HU" dirty="0"/>
              <a:t> Kraft</a:t>
            </a:r>
            <a:r>
              <a:rPr lang="en-US" dirty="0"/>
              <a:t> controllers.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955011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7E832-F88D-43EE-A683-EE68343C3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 helye 1">
            <a:extLst>
              <a:ext uri="{FF2B5EF4-FFF2-40B4-BE49-F238E27FC236}">
                <a16:creationId xmlns:a16="http://schemas.microsoft.com/office/drawing/2014/main" id="{3CAA275F-4DB8-FA88-C520-5F1FEFACB925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hu-HU" dirty="0"/>
              <a:t>Cloud Native Architecture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4FD9A7D-E95F-B798-7E3B-1BE46845173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 algn="ctr"/>
            <a:r>
              <a:rPr lang="hu-HU" sz="4000" dirty="0">
                <a:solidFill>
                  <a:srgbClr val="012863"/>
                </a:solidFill>
              </a:rPr>
              <a:t>Kafka CLI Tool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491613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0B6E25-1D51-FC14-2AFA-C07D546EEE01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CLI tool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6047F8-547A-EA2A-5244-84BDBF5262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rgbClr val="111111"/>
                </a:solidFill>
              </a:rPr>
              <a:t>A</a:t>
            </a:r>
            <a:r>
              <a:rPr lang="en-US" b="0" i="0" dirty="0">
                <a:solidFill>
                  <a:srgbClr val="111111"/>
                </a:solidFill>
                <a:effectLst/>
              </a:rPr>
              <a:t> suite of command-line tools for managing and interacting with </a:t>
            </a:r>
            <a:r>
              <a:rPr lang="en-US" b="0" i="0" dirty="0" err="1">
                <a:solidFill>
                  <a:srgbClr val="111111"/>
                </a:solidFill>
                <a:effectLst/>
              </a:rPr>
              <a:t>Kafk</a:t>
            </a:r>
            <a:r>
              <a:rPr lang="hu-HU" b="0" i="0" dirty="0">
                <a:solidFill>
                  <a:srgbClr val="111111"/>
                </a:solidFill>
                <a:effectLst/>
              </a:rPr>
              <a:t>a</a:t>
            </a:r>
          </a:p>
          <a:p>
            <a:r>
              <a:rPr lang="hu-HU" dirty="0">
                <a:solidFill>
                  <a:srgbClr val="111111"/>
                </a:solidFill>
              </a:rPr>
              <a:t>It is bundled with Kafka binaries</a:t>
            </a:r>
          </a:p>
          <a:p>
            <a:endParaRPr lang="hu-HU" dirty="0"/>
          </a:p>
          <a:p>
            <a:endParaRPr lang="hu-HU" dirty="0"/>
          </a:p>
          <a:p>
            <a:r>
              <a:rPr lang="en-US" dirty="0"/>
              <a:t>Key Features:</a:t>
            </a:r>
          </a:p>
          <a:p>
            <a:pPr lvl="1"/>
            <a:r>
              <a:rPr lang="en-US" dirty="0"/>
              <a:t>Start and </a:t>
            </a:r>
            <a:r>
              <a:rPr lang="hu-HU" dirty="0"/>
              <a:t>s</a:t>
            </a:r>
            <a:r>
              <a:rPr lang="en-US" dirty="0"/>
              <a:t>top Kafka</a:t>
            </a:r>
          </a:p>
          <a:p>
            <a:pPr lvl="1"/>
            <a:r>
              <a:rPr lang="en-US" dirty="0"/>
              <a:t>Manage </a:t>
            </a:r>
            <a:r>
              <a:rPr lang="hu-HU" dirty="0"/>
              <a:t>t</a:t>
            </a:r>
            <a:r>
              <a:rPr lang="en-US" dirty="0" err="1"/>
              <a:t>opics</a:t>
            </a:r>
            <a:r>
              <a:rPr lang="hu-HU" dirty="0"/>
              <a:t> (c</a:t>
            </a:r>
            <a:r>
              <a:rPr lang="en-US" dirty="0" err="1"/>
              <a:t>reate</a:t>
            </a:r>
            <a:r>
              <a:rPr lang="en-US" dirty="0"/>
              <a:t>, list, and delete</a:t>
            </a:r>
            <a:r>
              <a:rPr lang="hu-HU" dirty="0"/>
              <a:t>)</a:t>
            </a:r>
            <a:endParaRPr lang="en-US" dirty="0"/>
          </a:p>
          <a:p>
            <a:pPr lvl="1"/>
            <a:r>
              <a:rPr lang="hu-HU" dirty="0"/>
              <a:t>M</a:t>
            </a:r>
            <a:r>
              <a:rPr lang="en-US" dirty="0" err="1"/>
              <a:t>anage</a:t>
            </a:r>
            <a:r>
              <a:rPr lang="en-US" dirty="0"/>
              <a:t> partitions and replicas</a:t>
            </a:r>
            <a:r>
              <a:rPr lang="hu-HU" dirty="0"/>
              <a:t> </a:t>
            </a:r>
            <a:endParaRPr lang="en-US" dirty="0"/>
          </a:p>
          <a:p>
            <a:pPr lvl="1"/>
            <a:r>
              <a:rPr lang="en-US" dirty="0"/>
              <a:t>Monitor and Debug</a:t>
            </a:r>
            <a:r>
              <a:rPr lang="hu-HU" dirty="0"/>
              <a:t> Kafka clusters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95888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E638DCA-BAF5-BCB4-75AE-5EE22DE70D6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CLI tool – Kafka Topics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0DBF6-1ED9-F186-B109-8D4C55483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111111"/>
                </a:solidFill>
                <a:effectLst/>
              </a:rPr>
              <a:t>The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kafka-topics.sh </a:t>
            </a:r>
            <a:r>
              <a:rPr lang="hu-HU" b="0" i="0" dirty="0">
                <a:solidFill>
                  <a:srgbClr val="111111"/>
                </a:solidFill>
                <a:effectLst/>
              </a:rPr>
              <a:t>tool</a:t>
            </a:r>
            <a:r>
              <a:rPr lang="en-US" b="0" i="0" dirty="0">
                <a:solidFill>
                  <a:srgbClr val="111111"/>
                </a:solidFill>
                <a:effectLst/>
              </a:rPr>
              <a:t> is used to manage topics in Kafka.</a:t>
            </a:r>
            <a:endParaRPr lang="hu-HU" b="0" i="0" dirty="0">
              <a:solidFill>
                <a:srgbClr val="111111"/>
              </a:solidFill>
              <a:effectLst/>
            </a:endParaRPr>
          </a:p>
          <a:p>
            <a:endParaRPr lang="hu-HU" dirty="0"/>
          </a:p>
          <a:p>
            <a:r>
              <a:rPr lang="en-US" dirty="0"/>
              <a:t>Create, list, describe, and delete topics</a:t>
            </a:r>
          </a:p>
          <a:p>
            <a:r>
              <a:rPr lang="en-US" dirty="0"/>
              <a:t>Alter topic configurations</a:t>
            </a:r>
          </a:p>
          <a:p>
            <a:r>
              <a:rPr lang="en-US" dirty="0"/>
              <a:t>Add partitions to existing topics</a:t>
            </a:r>
            <a:endParaRPr lang="hu-HU" dirty="0"/>
          </a:p>
          <a:p>
            <a:endParaRPr lang="hu-HU" dirty="0"/>
          </a:p>
          <a:p>
            <a:r>
              <a:rPr lang="en-US" dirty="0"/>
              <a:t>Example: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kafka-topics.sh </a:t>
            </a: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--create </a:t>
            </a:r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		       	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--topic my-topic </a:t>
            </a:r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	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--bootstrap-server localhost:9092 </a:t>
            </a:r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--partitions 3 </a:t>
            </a:r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--replication-factor 1</a:t>
            </a:r>
          </a:p>
          <a:p>
            <a:pPr lvl="1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D9E0DCD-D51A-2AF9-0D1E-1A95FF9704EB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8" name="Flowchart: Connector 7">
              <a:extLst>
                <a:ext uri="{FF2B5EF4-FFF2-40B4-BE49-F238E27FC236}">
                  <a16:creationId xmlns:a16="http://schemas.microsoft.com/office/drawing/2014/main" id="{72123785-08D6-1D32-9082-12B2EE598FE8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C7CE0DC-53CB-04A1-6327-593F99235C45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04399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B040001-30CE-29D3-29A3-3A94CDA55CE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CLI tool – Kafka Topics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504426F8-75B5-FB0F-5079-B55C9D0BBFC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39921712"/>
              </p:ext>
            </p:extLst>
          </p:nvPr>
        </p:nvGraphicFramePr>
        <p:xfrm>
          <a:off x="473817" y="2316714"/>
          <a:ext cx="11467886" cy="1524000"/>
        </p:xfrm>
        <a:graphic>
          <a:graphicData uri="http://schemas.openxmlformats.org/drawingml/2006/table">
            <a:tbl>
              <a:tblPr bandRow="1">
                <a:tableStyleId>{5FD0F851-EC5A-4D38-B0AD-8093EC10F338}</a:tableStyleId>
              </a:tblPr>
              <a:tblGrid>
                <a:gridCol w="2036557">
                  <a:extLst>
                    <a:ext uri="{9D8B030D-6E8A-4147-A177-3AD203B41FA5}">
                      <a16:colId xmlns:a16="http://schemas.microsoft.com/office/drawing/2014/main" val="1908932410"/>
                    </a:ext>
                  </a:extLst>
                </a:gridCol>
                <a:gridCol w="9431329">
                  <a:extLst>
                    <a:ext uri="{9D8B030D-6E8A-4147-A177-3AD203B41FA5}">
                      <a16:colId xmlns:a16="http://schemas.microsoft.com/office/drawing/2014/main" val="10613329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Topic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The name of the Kafka topic (</a:t>
                      </a:r>
                      <a:r>
                        <a:rPr lang="en-US" sz="1400" dirty="0" err="1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test_topic</a:t>
                      </a:r>
                      <a:r>
                        <a:rPr lang="en-US" sz="14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)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383070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 err="1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TopicId</a:t>
                      </a:r>
                      <a:endParaRPr lang="en-US" sz="1400" b="1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Unique identifier for the topic (used internally by Kafka)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899198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 err="1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PartitionCount</a:t>
                      </a:r>
                      <a:endParaRPr lang="en-US" sz="1400" b="1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Number of partitions in the topic (here: 1)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533776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 err="1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ReplicationFactor</a:t>
                      </a:r>
                      <a:endParaRPr lang="en-US" sz="1400" b="1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Number of replicas per partition (here: 1, meaning no redundancy)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784618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Configs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Topic-level configuration; in this case, </a:t>
                      </a:r>
                      <a:r>
                        <a:rPr lang="en-US" sz="1400" dirty="0" err="1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segment.bytes</a:t>
                      </a:r>
                      <a:r>
                        <a:rPr lang="en-US" sz="14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=1073741824 means each log segment is 1 GB in size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4258289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4EB5D1E-63B5-AD03-CFD7-0310544759BF}"/>
              </a:ext>
            </a:extLst>
          </p:cNvPr>
          <p:cNvSpPr txBox="1">
            <a:spLocks/>
          </p:cNvSpPr>
          <p:nvPr/>
        </p:nvSpPr>
        <p:spPr>
          <a:xfrm>
            <a:off x="161924" y="847420"/>
            <a:ext cx="11877675" cy="579111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Wingdings" panose="05000000000000000000" pitchFamily="2" charset="2"/>
              <a:buChar char="q"/>
              <a:defRPr sz="16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dirty="0">
                <a:solidFill>
                  <a:srgbClr val="111111"/>
                </a:solidFill>
              </a:rPr>
              <a:t>Output example:</a:t>
            </a:r>
          </a:p>
          <a:p>
            <a:endParaRPr lang="hu-HU" sz="1600" dirty="0">
              <a:solidFill>
                <a:srgbClr val="111111"/>
              </a:solidFill>
            </a:endParaRPr>
          </a:p>
          <a:p>
            <a:endParaRPr lang="hu-HU" sz="1600" dirty="0">
              <a:solidFill>
                <a:srgbClr val="111111"/>
              </a:solidFill>
            </a:endParaRPr>
          </a:p>
          <a:p>
            <a:r>
              <a:rPr lang="hu-HU" sz="1600" dirty="0">
                <a:solidFill>
                  <a:srgbClr val="111111"/>
                </a:solidFill>
              </a:rPr>
              <a:t>Topic description:</a:t>
            </a:r>
          </a:p>
          <a:p>
            <a:endParaRPr lang="hu-HU" sz="1600" dirty="0">
              <a:solidFill>
                <a:srgbClr val="111111"/>
              </a:solidFill>
            </a:endParaRPr>
          </a:p>
          <a:p>
            <a:endParaRPr lang="hu-HU" sz="1600" dirty="0">
              <a:solidFill>
                <a:srgbClr val="111111"/>
              </a:solidFill>
            </a:endParaRPr>
          </a:p>
          <a:p>
            <a:endParaRPr lang="hu-HU" sz="1600" dirty="0">
              <a:solidFill>
                <a:srgbClr val="111111"/>
              </a:solidFill>
            </a:endParaRPr>
          </a:p>
          <a:p>
            <a:endParaRPr lang="hu-HU" sz="1600" dirty="0">
              <a:solidFill>
                <a:srgbClr val="111111"/>
              </a:solidFill>
            </a:endParaRPr>
          </a:p>
          <a:p>
            <a:endParaRPr lang="hu-HU" sz="1600" dirty="0">
              <a:solidFill>
                <a:srgbClr val="111111"/>
              </a:solidFill>
            </a:endParaRPr>
          </a:p>
          <a:p>
            <a:r>
              <a:rPr lang="hu-HU" sz="1600" dirty="0">
                <a:solidFill>
                  <a:srgbClr val="111111"/>
                </a:solidFill>
              </a:rPr>
              <a:t>Partition-level details: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C0034A-404C-3E11-2B5C-AA6ABE57F315}"/>
              </a:ext>
            </a:extLst>
          </p:cNvPr>
          <p:cNvSpPr txBox="1"/>
          <p:nvPr/>
        </p:nvSpPr>
        <p:spPr>
          <a:xfrm>
            <a:off x="161924" y="1253996"/>
            <a:ext cx="118681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hu-HU" sz="1400" b="1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r>
              <a:rPr lang="hu-HU" sz="1400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test_topic   </a:t>
            </a:r>
            <a:r>
              <a:rPr lang="hu-HU" sz="1400" b="1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TopicId</a:t>
            </a:r>
            <a:r>
              <a:rPr lang="hu-HU" sz="1400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JwOcC6OzTqSfzbf_57DJMw   </a:t>
            </a:r>
            <a:r>
              <a:rPr lang="hu-HU" sz="1400" b="1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PartitionCount</a:t>
            </a:r>
            <a:r>
              <a:rPr lang="hu-HU" sz="1400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1   </a:t>
            </a:r>
            <a:r>
              <a:rPr lang="hu-HU" sz="1400" b="1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ReplicationFactor</a:t>
            </a:r>
            <a:r>
              <a:rPr lang="hu-HU" sz="1400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1   </a:t>
            </a:r>
            <a:r>
              <a:rPr lang="hu-HU" sz="1400" b="1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Configs</a:t>
            </a:r>
            <a:r>
              <a:rPr lang="hu-HU" sz="1400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segment.bytes=1073741824</a:t>
            </a:r>
          </a:p>
          <a:p>
            <a:pPr lvl="1"/>
            <a:r>
              <a:rPr lang="hu-HU" sz="1400" b="1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r>
              <a:rPr lang="hu-HU" sz="1400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test_topic   </a:t>
            </a:r>
            <a:r>
              <a:rPr lang="hu-HU" sz="1400" b="1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</a:t>
            </a:r>
            <a:r>
              <a:rPr lang="hu-HU" sz="1400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0    </a:t>
            </a:r>
            <a:r>
              <a:rPr lang="hu-HU" sz="1400" b="1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Leader</a:t>
            </a:r>
            <a:r>
              <a:rPr lang="hu-HU" sz="1400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1    </a:t>
            </a:r>
            <a:r>
              <a:rPr lang="hu-HU" sz="1400" b="1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Replicas</a:t>
            </a:r>
            <a:r>
              <a:rPr lang="hu-HU" sz="1400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1    </a:t>
            </a:r>
            <a:r>
              <a:rPr lang="hu-HU" sz="1400" b="1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Isr</a:t>
            </a:r>
            <a:r>
              <a:rPr lang="hu-HU" sz="1400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1   </a:t>
            </a:r>
            <a:r>
              <a:rPr lang="hu-HU" sz="1400" b="1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Elr</a:t>
            </a:r>
            <a:r>
              <a:rPr lang="hu-HU" sz="1400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    </a:t>
            </a:r>
            <a:r>
              <a:rPr lang="hu-HU" sz="1400" b="1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LastKnownElr</a:t>
            </a:r>
            <a:r>
              <a:rPr lang="hu-HU" sz="1400" dirty="0">
                <a:solidFill>
                  <a:srgbClr val="11111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5DFB9BA-932C-03B3-2C48-5CF54992D2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7848315"/>
              </p:ext>
            </p:extLst>
          </p:nvPr>
        </p:nvGraphicFramePr>
        <p:xfrm>
          <a:off x="473817" y="4441767"/>
          <a:ext cx="11467886" cy="1828800"/>
        </p:xfrm>
        <a:graphic>
          <a:graphicData uri="http://schemas.openxmlformats.org/drawingml/2006/table">
            <a:tbl>
              <a:tblPr bandRow="1">
                <a:tableStyleId>{5FD0F851-EC5A-4D38-B0AD-8093EC10F338}</a:tableStyleId>
              </a:tblPr>
              <a:tblGrid>
                <a:gridCol w="3172933">
                  <a:extLst>
                    <a:ext uri="{9D8B030D-6E8A-4147-A177-3AD203B41FA5}">
                      <a16:colId xmlns:a16="http://schemas.microsoft.com/office/drawing/2014/main" val="4149833925"/>
                    </a:ext>
                  </a:extLst>
                </a:gridCol>
                <a:gridCol w="8294953">
                  <a:extLst>
                    <a:ext uri="{9D8B030D-6E8A-4147-A177-3AD203B41FA5}">
                      <a16:colId xmlns:a16="http://schemas.microsoft.com/office/drawing/2014/main" val="11463183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Partition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Partition number (here: 0)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9466037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Leader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Broker ID that is currently the leader for this partition (here: broker 1)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7341037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Replicas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List of broker IDs that hold a copy of this partition (here: only broker 1)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275345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 err="1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Isr</a:t>
                      </a:r>
                      <a:r>
                        <a:rPr lang="en-US" sz="1400" b="1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(In-Sync Replicas)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hu-HU" sz="14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List of broder IDs </a:t>
                      </a:r>
                      <a:r>
                        <a:rPr lang="en-US" sz="14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that are fully caught up with the leader (here: broker 1)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284215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 err="1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Elr</a:t>
                      </a:r>
                      <a:r>
                        <a:rPr lang="en-US" sz="1400" b="1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(Eligible Leader Replicas)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Replicas eligible to become leader </a:t>
                      </a:r>
                      <a:r>
                        <a:rPr lang="hu-HU" sz="14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in case of failure</a:t>
                      </a:r>
                      <a:r>
                        <a:rPr lang="en-US" sz="14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(empty here, since there's only one replica)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824885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kern="1200" dirty="0" err="1">
                          <a:solidFill>
                            <a:schemeClr val="tx1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LastKnownElr</a:t>
                      </a:r>
                      <a:endParaRPr lang="en-US" sz="1400" b="1" kern="1200" dirty="0">
                        <a:solidFill>
                          <a:schemeClr val="tx1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Last known eligible leader replicas (also empty here)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4093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35782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244053B-47BA-C0B2-B7BD-11A79527DDA8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* Brief Note on Log Segments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70790-103B-8873-FC73-D2F6C3C517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Kafka stores messages in </a:t>
            </a:r>
            <a:r>
              <a:rPr lang="en-US" b="1" dirty="0"/>
              <a:t>append-only log files</a:t>
            </a:r>
            <a:r>
              <a:rPr lang="en-US" dirty="0"/>
              <a:t> per partition. </a:t>
            </a:r>
            <a:endParaRPr lang="hu-HU" dirty="0"/>
          </a:p>
          <a:p>
            <a:r>
              <a:rPr lang="en-US" dirty="0"/>
              <a:t>These logs are broken into </a:t>
            </a:r>
            <a:r>
              <a:rPr lang="en-US" b="1" dirty="0"/>
              <a:t>segments</a:t>
            </a:r>
            <a:r>
              <a:rPr lang="en-US" dirty="0"/>
              <a:t> to make storage and deletion more manageable</a:t>
            </a:r>
            <a:endParaRPr lang="hu-HU" dirty="0"/>
          </a:p>
          <a:p>
            <a:endParaRPr lang="hu-HU" dirty="0"/>
          </a:p>
          <a:p>
            <a:r>
              <a:rPr lang="hu-HU" dirty="0"/>
              <a:t>A</a:t>
            </a:r>
            <a:r>
              <a:rPr lang="en-US" dirty="0"/>
              <a:t> </a:t>
            </a:r>
            <a:r>
              <a:rPr lang="en-US" b="1" dirty="0"/>
              <a:t>log segment</a:t>
            </a:r>
            <a:r>
              <a:rPr lang="en-US" dirty="0"/>
              <a:t> is a chunk of data stored on disk for a given partition. </a:t>
            </a:r>
            <a:endParaRPr lang="hu-HU" dirty="0"/>
          </a:p>
          <a:p>
            <a:pPr>
              <a:lnSpc>
                <a:spcPct val="100000"/>
              </a:lnSpc>
            </a:pPr>
            <a:r>
              <a:rPr lang="hu-HU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segment.bytes=1073741824</a:t>
            </a: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each segment file will grow up to 1 GB before Kafka rolls over and starts a new segment.</a:t>
            </a:r>
          </a:p>
          <a:p>
            <a:pPr marL="0" indent="0">
              <a:buNone/>
            </a:pPr>
            <a:endParaRPr lang="hu-HU" dirty="0"/>
          </a:p>
          <a:p>
            <a:r>
              <a:rPr lang="en-US" dirty="0"/>
              <a:t>Each segment: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Contains a sequence of messages with increasing offsets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Is stored as a </a:t>
            </a:r>
            <a:r>
              <a:rPr lang="en-US" b="1" dirty="0"/>
              <a:t>.log </a:t>
            </a:r>
            <a:r>
              <a:rPr lang="en-US" dirty="0"/>
              <a:t>file (plus an </a:t>
            </a:r>
            <a:r>
              <a:rPr lang="en-US" b="1" dirty="0"/>
              <a:t>.index </a:t>
            </a:r>
            <a:r>
              <a:rPr lang="en-US" dirty="0"/>
              <a:t>file for fast lookup)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Is written to until it reaches the configured size (</a:t>
            </a:r>
            <a:r>
              <a:rPr lang="en-US" b="1" dirty="0" err="1"/>
              <a:t>log.segment.bytes</a:t>
            </a:r>
            <a:r>
              <a:rPr lang="en-US" dirty="0"/>
              <a:t>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Is then </a:t>
            </a:r>
            <a:r>
              <a:rPr lang="en-US" b="1" dirty="0"/>
              <a:t>closed</a:t>
            </a:r>
            <a:r>
              <a:rPr lang="en-US" dirty="0"/>
              <a:t> and a new segment is created</a:t>
            </a:r>
          </a:p>
          <a:p>
            <a:endParaRPr lang="hu-HU" dirty="0"/>
          </a:p>
          <a:p>
            <a:r>
              <a:rPr lang="hu-HU" dirty="0"/>
              <a:t>The optimization is a tradeoff: </a:t>
            </a:r>
            <a:r>
              <a:rPr lang="hu-HU" b="1" dirty="0"/>
              <a:t>fewer files </a:t>
            </a:r>
            <a:r>
              <a:rPr lang="hu-HU" b="1" dirty="0">
                <a:sym typeface="Wingdings" panose="05000000000000000000" pitchFamily="2" charset="2"/>
              </a:rPr>
              <a:t></a:t>
            </a:r>
            <a:r>
              <a:rPr lang="hu-HU" b="1" dirty="0"/>
              <a:t> less overhead, less frequent cleanup</a:t>
            </a:r>
            <a:endParaRPr lang="hu-HU" dirty="0"/>
          </a:p>
          <a:p>
            <a:endParaRPr lang="hu-HU" dirty="0"/>
          </a:p>
          <a:p>
            <a:r>
              <a:rPr lang="hu-HU" dirty="0"/>
              <a:t>Log directory is configured by </a:t>
            </a:r>
            <a:r>
              <a:rPr lang="hu-HU" b="1" dirty="0"/>
              <a:t>log.dirs</a:t>
            </a:r>
            <a:r>
              <a:rPr lang="hu-HU" dirty="0"/>
              <a:t> parameter.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474F969-8433-617D-9738-8DD16DA9C8CC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8" name="Flowchart: Connector 7">
              <a:extLst>
                <a:ext uri="{FF2B5EF4-FFF2-40B4-BE49-F238E27FC236}">
                  <a16:creationId xmlns:a16="http://schemas.microsoft.com/office/drawing/2014/main" id="{6C326A3C-6A7D-12C3-45F0-A8BB67E4CAE5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11F8F4-C5D9-4828-A9A4-163005EF799F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49913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E638DCA-BAF5-BCB4-75AE-5EE22DE70D6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CLI tool – Kafka Console Producer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0DBF6-1ED9-F186-B109-8D4C55483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111111"/>
                </a:solidFill>
                <a:effectLst/>
              </a:rPr>
              <a:t>The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kafka-console-producer.sh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r>
              <a:rPr lang="hu-HU" b="0" i="0" dirty="0">
                <a:solidFill>
                  <a:srgbClr val="111111"/>
                </a:solidFill>
                <a:effectLst/>
              </a:rPr>
              <a:t>tool is</a:t>
            </a:r>
            <a:r>
              <a:rPr lang="en-US" b="0" i="0" dirty="0">
                <a:solidFill>
                  <a:srgbClr val="111111"/>
                </a:solidFill>
                <a:effectLst/>
              </a:rPr>
              <a:t> used to send messages to a Kafka topic from the command line. </a:t>
            </a:r>
            <a:endParaRPr lang="hu-HU" b="0" i="0" dirty="0">
              <a:solidFill>
                <a:srgbClr val="111111"/>
              </a:solidFill>
              <a:effectLst/>
            </a:endParaRPr>
          </a:p>
          <a:p>
            <a:endParaRPr lang="hu-HU" dirty="0"/>
          </a:p>
          <a:p>
            <a:r>
              <a:rPr lang="en-US" dirty="0"/>
              <a:t>Produce messages to a specified topic.</a:t>
            </a:r>
            <a:endParaRPr lang="hu-HU" dirty="0"/>
          </a:p>
          <a:p>
            <a:pPr lvl="1"/>
            <a:r>
              <a:rPr lang="hu-HU" dirty="0"/>
              <a:t>With key</a:t>
            </a:r>
          </a:p>
          <a:p>
            <a:pPr lvl="1"/>
            <a:r>
              <a:rPr lang="hu-HU" dirty="0"/>
              <a:t>Without key</a:t>
            </a:r>
          </a:p>
          <a:p>
            <a:pPr lvl="1"/>
            <a:endParaRPr lang="en-US" dirty="0"/>
          </a:p>
          <a:p>
            <a:r>
              <a:rPr lang="en-US" dirty="0"/>
              <a:t>Read input from standard input (stdin). </a:t>
            </a:r>
            <a:endParaRPr lang="hu-HU" dirty="0"/>
          </a:p>
          <a:p>
            <a:endParaRPr lang="hu-HU" dirty="0"/>
          </a:p>
          <a:p>
            <a:r>
              <a:rPr lang="hu-HU" dirty="0"/>
              <a:t>Example:</a:t>
            </a:r>
          </a:p>
          <a:p>
            <a:pPr lvl="1"/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kafka-console-producer.sh --topic my-topic </a:t>
            </a:r>
          </a:p>
          <a:p>
            <a:pPr marL="457200" lvl="1" indent="0">
              <a:buNone/>
            </a:pP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--bootstrap-server localhost:9092</a:t>
            </a:r>
          </a:p>
          <a:p>
            <a:pPr lvl="1"/>
            <a:endParaRPr lang="hu-HU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D9592D5-0D45-9D6A-418F-E9C16F7B5955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8" name="Flowchart: Connector 7">
              <a:extLst>
                <a:ext uri="{FF2B5EF4-FFF2-40B4-BE49-F238E27FC236}">
                  <a16:creationId xmlns:a16="http://schemas.microsoft.com/office/drawing/2014/main" id="{C105E1F9-9D34-1489-8E9A-C701AF5C2724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C9AC588-95EF-D0F9-D94F-256DA33BCC71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43262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E638DCA-BAF5-BCB4-75AE-5EE22DE70D6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CLI tool – Kafka Console Consumer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0DBF6-1ED9-F186-B109-8D4C55483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111111"/>
                </a:solidFill>
                <a:effectLst/>
              </a:rPr>
              <a:t>The 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kafka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-console-</a:t>
            </a:r>
            <a:r>
              <a:rPr lang="hu-HU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consumer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.sh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r>
              <a:rPr lang="hu-HU" b="0" i="0" dirty="0">
                <a:solidFill>
                  <a:srgbClr val="111111"/>
                </a:solidFill>
                <a:effectLst/>
              </a:rPr>
              <a:t>tool is</a:t>
            </a:r>
            <a:r>
              <a:rPr lang="en-US" b="0" i="0" dirty="0">
                <a:solidFill>
                  <a:srgbClr val="111111"/>
                </a:solidFill>
                <a:effectLst/>
              </a:rPr>
              <a:t> used to read messages from a Kafka topic from the command line</a:t>
            </a:r>
            <a:endParaRPr lang="hu-HU" b="0" i="0" dirty="0">
              <a:solidFill>
                <a:srgbClr val="111111"/>
              </a:solidFill>
              <a:effectLst/>
            </a:endParaRPr>
          </a:p>
          <a:p>
            <a:endParaRPr lang="hu-HU" dirty="0"/>
          </a:p>
          <a:p>
            <a:r>
              <a:rPr lang="en-US" dirty="0"/>
              <a:t>Consume messages from a specified </a:t>
            </a:r>
            <a:r>
              <a:rPr lang="en-US" dirty="0" err="1"/>
              <a:t>topi</a:t>
            </a:r>
            <a:r>
              <a:rPr lang="hu-HU" dirty="0"/>
              <a:t>c:</a:t>
            </a:r>
          </a:p>
          <a:p>
            <a:pPr lvl="1"/>
            <a:r>
              <a:rPr lang="hu-HU" dirty="0"/>
              <a:t>From tail of the topic</a:t>
            </a:r>
          </a:p>
          <a:p>
            <a:pPr lvl="1"/>
            <a:r>
              <a:rPr lang="hu-HU" dirty="0"/>
              <a:t>From the beginning of the topic</a:t>
            </a:r>
          </a:p>
          <a:p>
            <a:pPr lvl="1"/>
            <a:endParaRPr lang="en-US" dirty="0"/>
          </a:p>
          <a:p>
            <a:r>
              <a:rPr lang="hu-HU" dirty="0"/>
              <a:t>Can display key and value as well</a:t>
            </a:r>
          </a:p>
          <a:p>
            <a:endParaRPr lang="hu-HU" dirty="0"/>
          </a:p>
          <a:p>
            <a:r>
              <a:rPr lang="hu-HU" dirty="0"/>
              <a:t>Example: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kafka-console-consumer.sh --topic my-topic </a:t>
            </a:r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--bootstrap-server localhost:9092 </a:t>
            </a:r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--from-beginning</a:t>
            </a:r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hu-HU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9BE1E33-0BF0-679D-2701-170F265A4DC4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9" name="Flowchart: Connector 8">
              <a:extLst>
                <a:ext uri="{FF2B5EF4-FFF2-40B4-BE49-F238E27FC236}">
                  <a16:creationId xmlns:a16="http://schemas.microsoft.com/office/drawing/2014/main" id="{605038CA-7803-BEA7-3175-478B5224BEFA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2DF31C4-2B2E-9866-A5C2-30D987427FB3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43369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E638DCA-BAF5-BCB4-75AE-5EE22DE70D6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CLI tool – Kafka Consumer Groups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0DBF6-1ED9-F186-B109-8D4C55483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111111"/>
                </a:solidFill>
                <a:effectLst/>
              </a:rPr>
              <a:t>The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kafka-consumer-groups.sh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r>
              <a:rPr lang="hu-HU" b="0" i="0" dirty="0">
                <a:solidFill>
                  <a:srgbClr val="111111"/>
                </a:solidFill>
                <a:effectLst/>
              </a:rPr>
              <a:t>tool is</a:t>
            </a:r>
            <a:r>
              <a:rPr lang="en-US" b="0" i="0" dirty="0">
                <a:solidFill>
                  <a:srgbClr val="111111"/>
                </a:solidFill>
                <a:effectLst/>
              </a:rPr>
              <a:t> used to manage consumer groups</a:t>
            </a:r>
            <a:endParaRPr lang="hu-HU" b="0" i="0" dirty="0">
              <a:solidFill>
                <a:srgbClr val="111111"/>
              </a:solidFill>
              <a:effectLst/>
            </a:endParaRPr>
          </a:p>
          <a:p>
            <a:endParaRPr lang="hu-HU" dirty="0"/>
          </a:p>
          <a:p>
            <a:r>
              <a:rPr lang="en-US" dirty="0"/>
              <a:t>Describe consumer groups</a:t>
            </a:r>
          </a:p>
          <a:p>
            <a:r>
              <a:rPr lang="en-US" dirty="0"/>
              <a:t>List consumer groups</a:t>
            </a:r>
          </a:p>
          <a:p>
            <a:r>
              <a:rPr lang="en-US" dirty="0"/>
              <a:t>Delete consumer groups</a:t>
            </a:r>
            <a:endParaRPr lang="hu-HU" dirty="0"/>
          </a:p>
          <a:p>
            <a:endParaRPr lang="hu-HU" dirty="0"/>
          </a:p>
          <a:p>
            <a:r>
              <a:rPr lang="hu-HU" dirty="0"/>
              <a:t>Example: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kafka-consumer-groups.sh --bootstrap-server localhost:9092 </a:t>
            </a:r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--describe </a:t>
            </a:r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--group my-group</a:t>
            </a:r>
          </a:p>
          <a:p>
            <a:pPr lvl="1"/>
            <a:endParaRPr lang="hu-HU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736C912-4011-E3B4-4D17-63ACEBA3AE22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943DEEE1-94B2-6F46-E437-8FB82137090C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FC4E8E0-0E70-9C50-98B7-EAD9D7928BF3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391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E638DCA-BAF5-BCB4-75AE-5EE22DE70D6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CLI tool – Kafka Server Start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0DBF6-1ED9-F186-B109-8D4C55483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111111"/>
                </a:solidFill>
                <a:effectLst/>
              </a:rPr>
              <a:t>The 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kafka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hu-HU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server-start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.sh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r>
              <a:rPr lang="hu-HU" b="0" i="0" dirty="0">
                <a:solidFill>
                  <a:srgbClr val="111111"/>
                </a:solidFill>
                <a:effectLst/>
              </a:rPr>
              <a:t>tool is</a:t>
            </a:r>
            <a:r>
              <a:rPr lang="en-US" b="0" i="0" dirty="0">
                <a:solidFill>
                  <a:srgbClr val="111111"/>
                </a:solidFill>
                <a:effectLst/>
              </a:rPr>
              <a:t> used</a:t>
            </a:r>
            <a:r>
              <a:rPr lang="hu-HU" b="0" i="0" dirty="0">
                <a:solidFill>
                  <a:srgbClr val="111111"/>
                </a:solidFill>
                <a:effectLst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</a:rPr>
              <a:t>to start a Kafka broker. </a:t>
            </a:r>
            <a:endParaRPr lang="hu-HU" b="0" i="0" dirty="0">
              <a:solidFill>
                <a:srgbClr val="111111"/>
              </a:solidFill>
              <a:effectLst/>
            </a:endParaRPr>
          </a:p>
          <a:p>
            <a:endParaRPr lang="hu-HU" dirty="0"/>
          </a:p>
          <a:p>
            <a:r>
              <a:rPr lang="en-US" dirty="0"/>
              <a:t>Start a Kafka broker using a specified properties file.</a:t>
            </a:r>
            <a:endParaRPr lang="hu-HU" dirty="0"/>
          </a:p>
          <a:p>
            <a:endParaRPr lang="hu-HU" dirty="0"/>
          </a:p>
          <a:p>
            <a:r>
              <a:rPr lang="hu-HU" dirty="0"/>
              <a:t>Example: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kafka-server-start.sh config/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server.properties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hu-HU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126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E638DCA-BAF5-BCB4-75AE-5EE22DE70D6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CLI tool – Kafka Server Stop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0DBF6-1ED9-F186-B109-8D4C55483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111111"/>
                </a:solidFill>
                <a:effectLst/>
              </a:rPr>
              <a:t>The 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kafka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hu-HU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server-stop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.sh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r>
              <a:rPr lang="hu-HU" b="0" i="0" dirty="0">
                <a:solidFill>
                  <a:srgbClr val="111111"/>
                </a:solidFill>
                <a:effectLst/>
              </a:rPr>
              <a:t>tool is</a:t>
            </a:r>
            <a:r>
              <a:rPr lang="en-US" b="0" i="0" dirty="0">
                <a:solidFill>
                  <a:srgbClr val="111111"/>
                </a:solidFill>
                <a:effectLst/>
              </a:rPr>
              <a:t> used</a:t>
            </a:r>
            <a:r>
              <a:rPr lang="hu-HU" b="0" i="0" dirty="0">
                <a:solidFill>
                  <a:srgbClr val="111111"/>
                </a:solidFill>
                <a:effectLst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</a:rPr>
              <a:t>to </a:t>
            </a:r>
            <a:r>
              <a:rPr lang="hu-HU" b="0" i="0" dirty="0">
                <a:solidFill>
                  <a:srgbClr val="111111"/>
                </a:solidFill>
                <a:effectLst/>
              </a:rPr>
              <a:t>stop a running </a:t>
            </a:r>
            <a:r>
              <a:rPr lang="en-US" b="0" i="0" dirty="0">
                <a:solidFill>
                  <a:srgbClr val="111111"/>
                </a:solidFill>
                <a:effectLst/>
              </a:rPr>
              <a:t>Kafka broker. </a:t>
            </a:r>
            <a:endParaRPr lang="hu-HU" b="0" i="0" dirty="0">
              <a:solidFill>
                <a:srgbClr val="111111"/>
              </a:solidFill>
              <a:effectLst/>
            </a:endParaRPr>
          </a:p>
          <a:p>
            <a:endParaRPr lang="hu-HU" dirty="0"/>
          </a:p>
          <a:p>
            <a:r>
              <a:rPr lang="en-US" dirty="0"/>
              <a:t>Stop a Kafka broker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Example: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kafka-server-stop.sh</a:t>
            </a:r>
          </a:p>
          <a:p>
            <a:pPr lvl="1"/>
            <a:endParaRPr lang="hu-HU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1045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0E459-4A5F-A2A7-9F9D-0301C552C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 helye 1">
            <a:extLst>
              <a:ext uri="{FF2B5EF4-FFF2-40B4-BE49-F238E27FC236}">
                <a16:creationId xmlns:a16="http://schemas.microsoft.com/office/drawing/2014/main" id="{ADA0D1A5-69BE-FF10-E782-BF39055933B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hu-HU" dirty="0"/>
              <a:t>Cloud Native Architecture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3A93F3F-58BC-55F0-4AA9-8869B6D2B3E2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 algn="ctr"/>
            <a:r>
              <a:rPr lang="hu-HU" sz="4000" dirty="0">
                <a:solidFill>
                  <a:srgbClr val="012863"/>
                </a:solidFill>
              </a:rPr>
              <a:t>Kafka Clients</a:t>
            </a:r>
            <a:endParaRPr lang="en-US" sz="4000" dirty="0">
              <a:solidFill>
                <a:srgbClr val="012863"/>
              </a:solidFill>
            </a:endParaRPr>
          </a:p>
          <a:p>
            <a:pPr algn="ctr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960408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3403897-9F56-C538-29C8-1F2385BA0243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Creating Kafka Clients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C3728-9BF3-1F48-72ED-B912B429C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Apache Kafka officially provides an SDK</a:t>
            </a:r>
            <a:r>
              <a:rPr lang="hu-HU" dirty="0"/>
              <a:t> </a:t>
            </a:r>
            <a:r>
              <a:rPr lang="hu-HU" b="1" dirty="0"/>
              <a:t>only</a:t>
            </a:r>
            <a:r>
              <a:rPr lang="en-US" dirty="0"/>
              <a:t> for the Java language.</a:t>
            </a:r>
          </a:p>
          <a:p>
            <a:endParaRPr lang="en-US" dirty="0"/>
          </a:p>
          <a:p>
            <a:r>
              <a:rPr lang="en-US" b="1" dirty="0"/>
              <a:t>For the other languages</a:t>
            </a:r>
            <a:r>
              <a:rPr lang="en-US" dirty="0"/>
              <a:t>, </a:t>
            </a:r>
            <a:r>
              <a:rPr lang="hu-HU" dirty="0"/>
              <a:t>there</a:t>
            </a:r>
            <a:r>
              <a:rPr lang="en-US" dirty="0"/>
              <a:t> are community based implementations. </a:t>
            </a:r>
            <a:endParaRPr lang="hu-HU" dirty="0"/>
          </a:p>
          <a:p>
            <a:r>
              <a:rPr lang="en-US" dirty="0"/>
              <a:t>A list of recommended SD</a:t>
            </a:r>
            <a:r>
              <a:rPr lang="hu-HU" dirty="0"/>
              <a:t>Ks: </a:t>
            </a:r>
          </a:p>
          <a:p>
            <a:pPr lvl="1"/>
            <a:r>
              <a:rPr lang="hu-HU" dirty="0"/>
              <a:t>Scala, C/C++, Golang, Python, Javascript / Node.js, .NET / C#, Rust, Kotlin, Haskell, Ruby</a:t>
            </a:r>
          </a:p>
          <a:p>
            <a:pPr lvl="1"/>
            <a:r>
              <a:rPr lang="en-US" dirty="0">
                <a:hlinkClick r:id="rId2"/>
              </a:rPr>
              <a:t>https://learn.conduktor.io/kafka/kafka-sdk-list/</a:t>
            </a:r>
            <a:endParaRPr lang="hu-HU" dirty="0"/>
          </a:p>
          <a:p>
            <a:endParaRPr lang="hu-HU" dirty="0"/>
          </a:p>
          <a:p>
            <a:r>
              <a:rPr lang="en-US" dirty="0"/>
              <a:t>How to choose a Kafka client library?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Pure implementation 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librdkafka</a:t>
            </a:r>
            <a:r>
              <a:rPr lang="en-US" dirty="0"/>
              <a:t> based</a:t>
            </a:r>
            <a:r>
              <a:rPr lang="hu-HU" dirty="0"/>
              <a:t>?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Does it support your security mechanism? </a:t>
            </a:r>
            <a:endParaRPr lang="hu-HU" dirty="0"/>
          </a:p>
          <a:p>
            <a:pPr lvl="1">
              <a:lnSpc>
                <a:spcPct val="150000"/>
              </a:lnSpc>
            </a:pPr>
            <a:r>
              <a:rPr lang="en-US" dirty="0"/>
              <a:t>Does it support the Confluent Schema Registry</a:t>
            </a:r>
            <a:r>
              <a:rPr lang="hu-HU" dirty="0"/>
              <a:t>?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Does it support the performance you need?</a:t>
            </a:r>
            <a:endParaRPr lang="hu-HU" dirty="0"/>
          </a:p>
          <a:p>
            <a:pPr marL="457200" lvl="1" indent="0">
              <a:buNone/>
            </a:pPr>
            <a:r>
              <a:rPr lang="hu-HU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4160188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D445D52-CA59-AB1F-5AFB-3BA303424651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Creating Kafka Clients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32BF5-27EC-6E47-6192-8BC9EE808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1. Pure Implementation vs. </a:t>
            </a:r>
            <a:r>
              <a:rPr lang="en-US" b="1" dirty="0" err="1"/>
              <a:t>librdkafka</a:t>
            </a:r>
            <a:r>
              <a:rPr lang="en-US" b="1" dirty="0"/>
              <a:t>-based</a:t>
            </a:r>
            <a:endParaRPr lang="hu-HU" b="1" dirty="0"/>
          </a:p>
          <a:p>
            <a:pPr marL="457200"/>
            <a:r>
              <a:rPr lang="en-US" b="1" dirty="0"/>
              <a:t>Pure implementation</a:t>
            </a:r>
            <a:r>
              <a:rPr lang="en-US" dirty="0"/>
              <a:t>: </a:t>
            </a:r>
            <a:endParaRPr lang="hu-HU" dirty="0"/>
          </a:p>
          <a:p>
            <a:pPr marL="914400" lvl="1">
              <a:lnSpc>
                <a:spcPct val="150000"/>
              </a:lnSpc>
            </a:pPr>
            <a:r>
              <a:rPr lang="en-US" dirty="0"/>
              <a:t>The client is written entirely in the target language (e.g., </a:t>
            </a:r>
            <a:r>
              <a:rPr lang="en-US" dirty="0" err="1"/>
              <a:t>kafka</a:t>
            </a:r>
            <a:r>
              <a:rPr lang="en-US" dirty="0"/>
              <a:t>-python is pure Python).</a:t>
            </a:r>
          </a:p>
          <a:p>
            <a:pPr marL="457200"/>
            <a:endParaRPr lang="hu-HU" b="1" dirty="0"/>
          </a:p>
          <a:p>
            <a:pPr marL="457200"/>
            <a:r>
              <a:rPr lang="en-US" b="1" dirty="0" err="1"/>
              <a:t>librdkafka</a:t>
            </a:r>
            <a:r>
              <a:rPr lang="en-US" b="1" dirty="0"/>
              <a:t>-based</a:t>
            </a:r>
            <a:r>
              <a:rPr lang="en-US" dirty="0"/>
              <a:t>: </a:t>
            </a:r>
            <a:endParaRPr lang="hu-HU" dirty="0"/>
          </a:p>
          <a:p>
            <a:pPr marL="914400" lvl="1">
              <a:lnSpc>
                <a:spcPct val="150000"/>
              </a:lnSpc>
            </a:pPr>
            <a:r>
              <a:rPr lang="en-US" dirty="0"/>
              <a:t>The client wraps around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librdkafka</a:t>
            </a:r>
            <a:r>
              <a:rPr lang="en-US" dirty="0"/>
              <a:t>, a high-performance C/C++ Kafka client developed by Confluent.</a:t>
            </a:r>
          </a:p>
          <a:p>
            <a:pPr marL="457200"/>
            <a:endParaRPr lang="hu-HU" b="1" dirty="0"/>
          </a:p>
          <a:p>
            <a:pPr marL="457200"/>
            <a:r>
              <a:rPr lang="en-US" b="1" dirty="0"/>
              <a:t>Why it matters:</a:t>
            </a:r>
          </a:p>
          <a:p>
            <a:pPr marL="914400" lvl="1">
              <a:lnSpc>
                <a:spcPct val="150000"/>
              </a:lnSpc>
            </a:pPr>
            <a:r>
              <a:rPr lang="en-US" b="1" dirty="0"/>
              <a:t>Performance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librdkafka</a:t>
            </a:r>
            <a:r>
              <a:rPr lang="en-US" dirty="0"/>
              <a:t> is highly optimized and often faster than pure implementations.</a:t>
            </a:r>
          </a:p>
          <a:p>
            <a:pPr marL="914400" lvl="1">
              <a:lnSpc>
                <a:spcPct val="150000"/>
              </a:lnSpc>
            </a:pPr>
            <a:r>
              <a:rPr lang="en-US" b="1" dirty="0"/>
              <a:t>Features</a:t>
            </a:r>
            <a:r>
              <a:rPr lang="en-US" dirty="0"/>
              <a:t>: It tends to support more Kafka features (e.g., compression, retries, batching).</a:t>
            </a:r>
          </a:p>
          <a:p>
            <a:pPr marL="914400" lvl="1">
              <a:lnSpc>
                <a:spcPct val="150000"/>
              </a:lnSpc>
            </a:pPr>
            <a:r>
              <a:rPr lang="en-US" b="1" dirty="0"/>
              <a:t>Portability</a:t>
            </a:r>
            <a:r>
              <a:rPr lang="en-US" dirty="0"/>
              <a:t>: Pure implementations are easier to install and debug, but may lag behind in features.</a:t>
            </a:r>
          </a:p>
          <a:p>
            <a:pPr marL="914400" lvl="1">
              <a:lnSpc>
                <a:spcPct val="150000"/>
              </a:lnSpc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7672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82A7E-7E46-B733-53E7-47B92D9E7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FA1DD6-CB6D-16DA-F302-069C81665467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Creating Kafka Clients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1B5C2-D2C8-A919-2628-E0524B6BA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b="1" dirty="0"/>
              <a:t>2</a:t>
            </a:r>
            <a:r>
              <a:rPr lang="en-US" b="1" dirty="0"/>
              <a:t>. Security Mechanism Support</a:t>
            </a:r>
            <a:endParaRPr lang="hu-HU" b="1" dirty="0"/>
          </a:p>
          <a:p>
            <a:pPr marL="457200"/>
            <a:r>
              <a:rPr lang="en-US" dirty="0"/>
              <a:t>Kafka supports multiple security protocols: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PLAINTEXT: No encryption or authentication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SSL: Encrypted communication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SASL: Authentication mechanisms like Kerberos, SCRAM, OAUTHBEARER</a:t>
            </a:r>
          </a:p>
          <a:p>
            <a:endParaRPr lang="hu-HU" b="1" dirty="0"/>
          </a:p>
          <a:p>
            <a:pPr marL="457200"/>
            <a:r>
              <a:rPr lang="en-US" b="1" dirty="0"/>
              <a:t>Why it matters:</a:t>
            </a:r>
          </a:p>
          <a:p>
            <a:pPr marL="914400" lvl="1"/>
            <a:r>
              <a:rPr lang="en-US" dirty="0"/>
              <a:t>If your Kafka cluster uses SSL or SASL, your client </a:t>
            </a:r>
            <a:r>
              <a:rPr lang="en-US" b="1" dirty="0"/>
              <a:t>must support</a:t>
            </a:r>
            <a:r>
              <a:rPr lang="en-US" dirty="0"/>
              <a:t> those protocols.</a:t>
            </a:r>
          </a:p>
          <a:p>
            <a:endParaRPr lang="hu-HU" b="1" dirty="0"/>
          </a:p>
          <a:p>
            <a:pPr marL="457200"/>
            <a:r>
              <a:rPr lang="en-US" b="1" dirty="0"/>
              <a:t>What to check: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Does the client support configuring SSL certificates?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Can it handle SASL authentication?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Is it compatible with your Kafka broker’s security setup?</a:t>
            </a:r>
          </a:p>
          <a:p>
            <a:pPr marL="914400" lvl="1">
              <a:lnSpc>
                <a:spcPct val="150000"/>
              </a:lnSpc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7265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9011E-81E0-DCC7-ED61-A63FD7530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32C5B65-856E-8683-9E76-E8DB378D5631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Creating Kafka Clients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AE894-17DA-A1AB-C6B8-07AAA69F3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b="1" dirty="0"/>
              <a:t>3</a:t>
            </a:r>
            <a:r>
              <a:rPr lang="en-US" b="1" dirty="0"/>
              <a:t>. Schema Registry Support</a:t>
            </a:r>
            <a:endParaRPr lang="hu-HU" b="1" dirty="0"/>
          </a:p>
          <a:p>
            <a:pPr marL="457200"/>
            <a:r>
              <a:rPr lang="en-US" dirty="0"/>
              <a:t>Confluent’s Schema Registry allows Kafka producers and consumers to use structured data formats like: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Avro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JSON Schema</a:t>
            </a:r>
          </a:p>
          <a:p>
            <a:pPr marL="914400" lvl="1">
              <a:lnSpc>
                <a:spcPct val="150000"/>
              </a:lnSpc>
            </a:pPr>
            <a:r>
              <a:rPr lang="en-US" dirty="0" err="1"/>
              <a:t>Protobuf</a:t>
            </a:r>
            <a:endParaRPr lang="en-US" dirty="0"/>
          </a:p>
          <a:p>
            <a:pPr marL="457200"/>
            <a:r>
              <a:rPr lang="en-US" b="1" dirty="0"/>
              <a:t>Why it matters: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Ensures data compatibility and evolution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Enables schema validation and versioning</a:t>
            </a:r>
          </a:p>
          <a:p>
            <a:pPr marL="457200"/>
            <a:r>
              <a:rPr lang="en-US" b="1" dirty="0"/>
              <a:t>What to check: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Does the client support integration with Schema Registry?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Can it serialize/deserialize Avro, JSON Schema, or </a:t>
            </a:r>
            <a:r>
              <a:rPr lang="en-US" dirty="0" err="1"/>
              <a:t>Protobuf</a:t>
            </a:r>
            <a:r>
              <a:rPr lang="en-US" dirty="0"/>
              <a:t>?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Does it handle schema evolution gracefully?</a:t>
            </a:r>
          </a:p>
          <a:p>
            <a:pPr marL="914400" lvl="1">
              <a:lnSpc>
                <a:spcPct val="150000"/>
              </a:lnSpc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581958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36713-6BCE-BB6C-3321-C338DBC26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2EB072A-163D-555D-4EC5-1E35844044F9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Creating Kafka Clients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ADE4B-8F38-2F17-8774-48A8B46EB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b="1" dirty="0"/>
              <a:t>4</a:t>
            </a:r>
            <a:r>
              <a:rPr lang="en-US" b="1" dirty="0"/>
              <a:t>. </a:t>
            </a:r>
            <a:r>
              <a:rPr lang="hu-HU" b="1" dirty="0"/>
              <a:t>Performance Requirements</a:t>
            </a:r>
          </a:p>
          <a:p>
            <a:pPr marL="457200"/>
            <a:r>
              <a:rPr lang="en-US" dirty="0"/>
              <a:t>Kafka is built for high throughput and low latency — but your client needs to keep up.</a:t>
            </a:r>
          </a:p>
          <a:p>
            <a:pPr marL="457200"/>
            <a:endParaRPr lang="hu-HU" b="1" dirty="0"/>
          </a:p>
          <a:p>
            <a:pPr marL="457200"/>
            <a:r>
              <a:rPr lang="en-US" b="1" dirty="0"/>
              <a:t>Why it matters: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Some clients may be slower due to language limitations or lack of batching.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You might need to test throughput, latency, and memory usage under load.</a:t>
            </a:r>
            <a:endParaRPr lang="hu-HU" dirty="0"/>
          </a:p>
          <a:p>
            <a:pPr marL="914400" lvl="1">
              <a:lnSpc>
                <a:spcPct val="150000"/>
              </a:lnSpc>
            </a:pPr>
            <a:endParaRPr lang="en-US" dirty="0"/>
          </a:p>
          <a:p>
            <a:pPr marL="457200"/>
            <a:r>
              <a:rPr lang="en-US" b="1" dirty="0"/>
              <a:t>What to test: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Message throughput (messages/sec)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Latency (time to produce/consume)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Resource usage (CPU, memory)</a:t>
            </a:r>
          </a:p>
          <a:p>
            <a:pPr marL="914400" lvl="1">
              <a:lnSpc>
                <a:spcPct val="150000"/>
              </a:lnSpc>
            </a:pPr>
            <a:r>
              <a:rPr lang="en-US" dirty="0"/>
              <a:t>Reliability under stress (e.g., retries, error handling)</a:t>
            </a:r>
          </a:p>
          <a:p>
            <a:pPr marL="914400" lvl="1">
              <a:lnSpc>
                <a:spcPct val="150000"/>
              </a:lnSpc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5461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68123-C177-7832-19E0-D58C2AE69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 helye 1">
            <a:extLst>
              <a:ext uri="{FF2B5EF4-FFF2-40B4-BE49-F238E27FC236}">
                <a16:creationId xmlns:a16="http://schemas.microsoft.com/office/drawing/2014/main" id="{E71153B8-E5F7-7F7B-0D46-7017BF952C6A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hu-HU" dirty="0"/>
              <a:t>Cloud Native Architecture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49703F5-B54D-2BF9-26A7-A905B14CF4C9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 algn="ctr"/>
            <a:r>
              <a:rPr lang="hu-HU" sz="4000" dirty="0">
                <a:solidFill>
                  <a:srgbClr val="012863"/>
                </a:solidFill>
              </a:rPr>
              <a:t>Kafka Producer Implementation</a:t>
            </a:r>
            <a:endParaRPr lang="en-US" sz="4000" dirty="0">
              <a:solidFill>
                <a:srgbClr val="012863"/>
              </a:solidFill>
            </a:endParaRPr>
          </a:p>
          <a:p>
            <a:pPr algn="ctr"/>
            <a:endParaRPr lang="hu-HU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7BB37C9-66A1-2F9B-4863-A06053CEAC59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979949FF-E6B1-900A-5C02-2B2C8E38E018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BAD27-F8B1-AF6E-0FAD-F2467EE16433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6121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3403897-9F56-C538-29C8-1F2385BA0243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sz="2800" dirty="0"/>
              <a:t>Producer Config – Round Robin vs. Sticky Partitioner (if key = null)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C3728-9BF3-1F48-72ED-B912B429CE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0"/>
            <a:ext cx="11877675" cy="5591480"/>
          </a:xfrm>
        </p:spPr>
        <p:txBody>
          <a:bodyPr/>
          <a:lstStyle/>
          <a:p>
            <a:r>
              <a:rPr lang="hu-HU" dirty="0"/>
              <a:t>Round robin: </a:t>
            </a:r>
          </a:p>
          <a:p>
            <a:pPr lvl="1"/>
            <a:r>
              <a:rPr lang="en-US" dirty="0"/>
              <a:t>Distributes records evenly across all partition</a:t>
            </a:r>
            <a:r>
              <a:rPr lang="hu-HU" dirty="0"/>
              <a:t>s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marL="457200" lvl="1" indent="0">
              <a:buNone/>
            </a:pPr>
            <a:endParaRPr lang="hu-HU" dirty="0"/>
          </a:p>
          <a:p>
            <a:r>
              <a:rPr lang="hu-HU" dirty="0"/>
              <a:t>Sticky partitioner:</a:t>
            </a:r>
          </a:p>
          <a:p>
            <a:pPr lvl="1"/>
            <a:r>
              <a:rPr lang="en-US" dirty="0"/>
              <a:t>Assigns records to the same partition until the batch is full</a:t>
            </a:r>
            <a:endParaRPr lang="hu-HU" dirty="0"/>
          </a:p>
          <a:p>
            <a:pPr lvl="1"/>
            <a:r>
              <a:rPr lang="hu-HU" dirty="0"/>
              <a:t>Batching: g</a:t>
            </a:r>
            <a:r>
              <a:rPr lang="en-US" dirty="0" err="1"/>
              <a:t>roups</a:t>
            </a:r>
            <a:r>
              <a:rPr lang="en-US" dirty="0"/>
              <a:t> multiple records into a single batch before sending</a:t>
            </a:r>
            <a:endParaRPr lang="hu-HU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DE97FDB-A959-3B11-52C0-ED5BFF878B11}"/>
              </a:ext>
            </a:extLst>
          </p:cNvPr>
          <p:cNvSpPr/>
          <p:nvPr/>
        </p:nvSpPr>
        <p:spPr>
          <a:xfrm>
            <a:off x="3237340" y="2439470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7EAB973-D742-801A-367B-2D31629E4B89}"/>
              </a:ext>
            </a:extLst>
          </p:cNvPr>
          <p:cNvSpPr/>
          <p:nvPr/>
        </p:nvSpPr>
        <p:spPr>
          <a:xfrm>
            <a:off x="3761667" y="2439469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5058906-1F11-C02A-0B70-9EDC71AC3FE5}"/>
              </a:ext>
            </a:extLst>
          </p:cNvPr>
          <p:cNvSpPr/>
          <p:nvPr/>
        </p:nvSpPr>
        <p:spPr>
          <a:xfrm>
            <a:off x="4292359" y="2439468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920A39-8A67-D1AA-05E6-167C4BCCD5B5}"/>
              </a:ext>
            </a:extLst>
          </p:cNvPr>
          <p:cNvSpPr/>
          <p:nvPr/>
        </p:nvSpPr>
        <p:spPr>
          <a:xfrm>
            <a:off x="4816686" y="2433643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BAF886A-08A7-330B-BEB9-76A54AE1D503}"/>
              </a:ext>
            </a:extLst>
          </p:cNvPr>
          <p:cNvSpPr txBox="1"/>
          <p:nvPr/>
        </p:nvSpPr>
        <p:spPr>
          <a:xfrm>
            <a:off x="7252786" y="1869340"/>
            <a:ext cx="10705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BB30886-344B-970A-423C-FEDC96698508}"/>
              </a:ext>
            </a:extLst>
          </p:cNvPr>
          <p:cNvSpPr txBox="1"/>
          <p:nvPr/>
        </p:nvSpPr>
        <p:spPr>
          <a:xfrm>
            <a:off x="7252786" y="2480811"/>
            <a:ext cx="10705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F88BA47-50FF-4FA1-C2DF-F07304857289}"/>
              </a:ext>
            </a:extLst>
          </p:cNvPr>
          <p:cNvSpPr txBox="1"/>
          <p:nvPr/>
        </p:nvSpPr>
        <p:spPr>
          <a:xfrm>
            <a:off x="7252786" y="3124102"/>
            <a:ext cx="12149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69F21AD-FBD2-0B17-E2D4-69E5C5417DB5}"/>
              </a:ext>
            </a:extLst>
          </p:cNvPr>
          <p:cNvSpPr/>
          <p:nvPr/>
        </p:nvSpPr>
        <p:spPr>
          <a:xfrm>
            <a:off x="8496555" y="1786654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D77B0F5-450D-C7D6-7632-B502FA532FB2}"/>
              </a:ext>
            </a:extLst>
          </p:cNvPr>
          <p:cNvSpPr/>
          <p:nvPr/>
        </p:nvSpPr>
        <p:spPr>
          <a:xfrm>
            <a:off x="8895753" y="1786653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AFACA8A-CE06-6930-81D6-C8107F88B044}"/>
              </a:ext>
            </a:extLst>
          </p:cNvPr>
          <p:cNvSpPr/>
          <p:nvPr/>
        </p:nvSpPr>
        <p:spPr>
          <a:xfrm>
            <a:off x="8496555" y="2413368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B779BAB-2BD5-50CA-EE72-5FC2BB98DE6A}"/>
              </a:ext>
            </a:extLst>
          </p:cNvPr>
          <p:cNvSpPr/>
          <p:nvPr/>
        </p:nvSpPr>
        <p:spPr>
          <a:xfrm>
            <a:off x="8496555" y="3030843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7EA766B-7BC8-D86C-9903-2F191FFF1F08}"/>
              </a:ext>
            </a:extLst>
          </p:cNvPr>
          <p:cNvSpPr/>
          <p:nvPr/>
        </p:nvSpPr>
        <p:spPr>
          <a:xfrm>
            <a:off x="8895753" y="2413367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solidFill>
                <a:schemeClr val="l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9FDC476-6A95-3A50-34A4-7A8D96403AA4}"/>
              </a:ext>
            </a:extLst>
          </p:cNvPr>
          <p:cNvSpPr/>
          <p:nvPr/>
        </p:nvSpPr>
        <p:spPr>
          <a:xfrm>
            <a:off x="8895753" y="3030842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endParaRPr lang="en-US" sz="1400" dirty="0">
              <a:solidFill>
                <a:schemeClr val="l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BC6A7C2-C93A-BA2E-691A-B08DD9FCADB6}"/>
              </a:ext>
            </a:extLst>
          </p:cNvPr>
          <p:cNvCxnSpPr>
            <a:cxnSpLocks/>
            <a:endCxn id="51" idx="1"/>
          </p:cNvCxnSpPr>
          <p:nvPr/>
        </p:nvCxnSpPr>
        <p:spPr>
          <a:xfrm flipV="1">
            <a:off x="6478203" y="2023229"/>
            <a:ext cx="774583" cy="611471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AD4D2C0-1F1A-288A-A1F9-A59C041A0FEC}"/>
              </a:ext>
            </a:extLst>
          </p:cNvPr>
          <p:cNvCxnSpPr>
            <a:cxnSpLocks/>
            <a:endCxn id="52" idx="1"/>
          </p:cNvCxnSpPr>
          <p:nvPr/>
        </p:nvCxnSpPr>
        <p:spPr>
          <a:xfrm>
            <a:off x="6465949" y="2634700"/>
            <a:ext cx="786837" cy="0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39A1D68-2E94-0432-1DE7-093359129620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6478203" y="2634700"/>
            <a:ext cx="774583" cy="643291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7C4A1A13-B8E1-F30A-45DC-C5B10B0FDF21}"/>
              </a:ext>
            </a:extLst>
          </p:cNvPr>
          <p:cNvSpPr txBox="1"/>
          <p:nvPr/>
        </p:nvSpPr>
        <p:spPr>
          <a:xfrm>
            <a:off x="7252786" y="4805484"/>
            <a:ext cx="10705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C5BEB73-5372-46CB-C794-7AE370DCD5FE}"/>
              </a:ext>
            </a:extLst>
          </p:cNvPr>
          <p:cNvSpPr txBox="1"/>
          <p:nvPr/>
        </p:nvSpPr>
        <p:spPr>
          <a:xfrm>
            <a:off x="7252786" y="5416955"/>
            <a:ext cx="10705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EF00BBD-341E-E260-321E-8886B0DB25B8}"/>
              </a:ext>
            </a:extLst>
          </p:cNvPr>
          <p:cNvSpPr txBox="1"/>
          <p:nvPr/>
        </p:nvSpPr>
        <p:spPr>
          <a:xfrm>
            <a:off x="7252786" y="6060246"/>
            <a:ext cx="12149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3694D49C-3ABB-6F7D-07C6-13956F20A51E}"/>
              </a:ext>
            </a:extLst>
          </p:cNvPr>
          <p:cNvSpPr/>
          <p:nvPr/>
        </p:nvSpPr>
        <p:spPr>
          <a:xfrm>
            <a:off x="8496555" y="4722798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564066BF-E1FD-1FF7-B003-560B6651EE2D}"/>
              </a:ext>
            </a:extLst>
          </p:cNvPr>
          <p:cNvSpPr/>
          <p:nvPr/>
        </p:nvSpPr>
        <p:spPr>
          <a:xfrm>
            <a:off x="8895753" y="4722797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3AD3544-E240-929F-C9ED-AEF77FDFEBBA}"/>
              </a:ext>
            </a:extLst>
          </p:cNvPr>
          <p:cNvSpPr/>
          <p:nvPr/>
        </p:nvSpPr>
        <p:spPr>
          <a:xfrm>
            <a:off x="8895753" y="5966986"/>
            <a:ext cx="399198" cy="3904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57627AFD-ECB2-83FF-027B-28A1B7F03E43}"/>
              </a:ext>
            </a:extLst>
          </p:cNvPr>
          <p:cNvCxnSpPr>
            <a:cxnSpLocks/>
            <a:endCxn id="80" idx="1"/>
          </p:cNvCxnSpPr>
          <p:nvPr/>
        </p:nvCxnSpPr>
        <p:spPr>
          <a:xfrm flipV="1">
            <a:off x="6478203" y="4959373"/>
            <a:ext cx="774583" cy="611471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23C49B35-DCCE-8842-6319-AC6A99E61ECE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6465949" y="5570844"/>
            <a:ext cx="786837" cy="0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8BFEECA3-3484-5260-E364-439FBA30D6F7}"/>
              </a:ext>
            </a:extLst>
          </p:cNvPr>
          <p:cNvCxnSpPr>
            <a:cxnSpLocks/>
            <a:endCxn id="82" idx="1"/>
          </p:cNvCxnSpPr>
          <p:nvPr/>
        </p:nvCxnSpPr>
        <p:spPr>
          <a:xfrm>
            <a:off x="6478203" y="5570844"/>
            <a:ext cx="774583" cy="643291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9A97E40E-67BD-1DBA-83E2-8C0AA926FFF8}"/>
              </a:ext>
            </a:extLst>
          </p:cNvPr>
          <p:cNvSpPr/>
          <p:nvPr/>
        </p:nvSpPr>
        <p:spPr>
          <a:xfrm>
            <a:off x="9294951" y="4722796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9B290BC1-2210-0E5B-BCD7-479441C870F0}"/>
              </a:ext>
            </a:extLst>
          </p:cNvPr>
          <p:cNvSpPr/>
          <p:nvPr/>
        </p:nvSpPr>
        <p:spPr>
          <a:xfrm>
            <a:off x="8496555" y="5966985"/>
            <a:ext cx="399198" cy="3904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51B4B83-8EF9-D0B4-395B-DF9FC55737C7}"/>
              </a:ext>
            </a:extLst>
          </p:cNvPr>
          <p:cNvSpPr/>
          <p:nvPr/>
        </p:nvSpPr>
        <p:spPr>
          <a:xfrm>
            <a:off x="5341013" y="2439468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03A16EB2-DB0E-EEDE-0514-86DDB407C552}"/>
              </a:ext>
            </a:extLst>
          </p:cNvPr>
          <p:cNvSpPr/>
          <p:nvPr/>
        </p:nvSpPr>
        <p:spPr>
          <a:xfrm>
            <a:off x="5865340" y="2433643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3499406-ACA1-F0A1-AD26-EE09DAFD08BC}"/>
              </a:ext>
            </a:extLst>
          </p:cNvPr>
          <p:cNvSpPr/>
          <p:nvPr/>
        </p:nvSpPr>
        <p:spPr>
          <a:xfrm>
            <a:off x="3237340" y="5393583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70EB3D5-2A6C-1A2A-ACA4-033522124140}"/>
              </a:ext>
            </a:extLst>
          </p:cNvPr>
          <p:cNvSpPr/>
          <p:nvPr/>
        </p:nvSpPr>
        <p:spPr>
          <a:xfrm>
            <a:off x="3761667" y="5393582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1A5AAEFF-2BE5-586B-760E-8F96208D25EF}"/>
              </a:ext>
            </a:extLst>
          </p:cNvPr>
          <p:cNvSpPr/>
          <p:nvPr/>
        </p:nvSpPr>
        <p:spPr>
          <a:xfrm>
            <a:off x="4292359" y="5393581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24DAD8D3-B16E-2777-87D7-1CE29B6E03E3}"/>
              </a:ext>
            </a:extLst>
          </p:cNvPr>
          <p:cNvSpPr/>
          <p:nvPr/>
        </p:nvSpPr>
        <p:spPr>
          <a:xfrm>
            <a:off x="4816686" y="5387756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6129240-6B18-BAAD-6522-5B572D50A05D}"/>
              </a:ext>
            </a:extLst>
          </p:cNvPr>
          <p:cNvSpPr/>
          <p:nvPr/>
        </p:nvSpPr>
        <p:spPr>
          <a:xfrm>
            <a:off x="5341013" y="5393581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8720954B-6932-21E9-5D64-125426AD0507}"/>
              </a:ext>
            </a:extLst>
          </p:cNvPr>
          <p:cNvSpPr/>
          <p:nvPr/>
        </p:nvSpPr>
        <p:spPr>
          <a:xfrm>
            <a:off x="5865340" y="5387756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D1A5CFAA-8F54-9DAF-0778-ACEAB80F00B8}"/>
              </a:ext>
            </a:extLst>
          </p:cNvPr>
          <p:cNvSpPr/>
          <p:nvPr/>
        </p:nvSpPr>
        <p:spPr>
          <a:xfrm>
            <a:off x="8496555" y="5375612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65F56AC2-67BE-FE8A-84E2-2A14C7591E93}"/>
              </a:ext>
            </a:extLst>
          </p:cNvPr>
          <p:cNvSpPr/>
          <p:nvPr/>
        </p:nvSpPr>
        <p:spPr>
          <a:xfrm>
            <a:off x="8895753" y="5375611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AEEC5121-206F-55D1-9D55-C289FD8004E8}"/>
              </a:ext>
            </a:extLst>
          </p:cNvPr>
          <p:cNvSpPr/>
          <p:nvPr/>
        </p:nvSpPr>
        <p:spPr>
          <a:xfrm>
            <a:off x="9294951" y="5375610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1D2CE34E-E550-8642-A9D5-FA23D6D43D72}"/>
              </a:ext>
            </a:extLst>
          </p:cNvPr>
          <p:cNvSpPr/>
          <p:nvPr/>
        </p:nvSpPr>
        <p:spPr>
          <a:xfrm>
            <a:off x="9294951" y="5966986"/>
            <a:ext cx="399198" cy="3904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53337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3403897-9F56-C538-29C8-1F2385BA0243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sz="2800" dirty="0"/>
              <a:t>Producer Config – Round Robin vs. Sticky Partitioner (if key = null)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C3728-9BF3-1F48-72ED-B912B429CE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0"/>
            <a:ext cx="11877675" cy="5591480"/>
          </a:xfrm>
        </p:spPr>
        <p:txBody>
          <a:bodyPr/>
          <a:lstStyle/>
          <a:p>
            <a:r>
              <a:rPr lang="hu-HU" dirty="0"/>
              <a:t>Round robin: </a:t>
            </a:r>
          </a:p>
          <a:p>
            <a:pPr lvl="1"/>
            <a:r>
              <a:rPr lang="en-US" dirty="0"/>
              <a:t>Advantages:</a:t>
            </a:r>
          </a:p>
          <a:p>
            <a:pPr lvl="2"/>
            <a:r>
              <a:rPr lang="en-US" sz="1600" dirty="0"/>
              <a:t>Load Balancing: Ensures even distribution of records.</a:t>
            </a:r>
          </a:p>
          <a:p>
            <a:pPr lvl="2"/>
            <a:r>
              <a:rPr lang="en-US" sz="1600" dirty="0"/>
              <a:t>Simplicity: Easy to implement and understand.</a:t>
            </a:r>
          </a:p>
          <a:p>
            <a:pPr lvl="1"/>
            <a:r>
              <a:rPr lang="en-US" dirty="0"/>
              <a:t>Disadvantages:</a:t>
            </a:r>
          </a:p>
          <a:p>
            <a:pPr lvl="2"/>
            <a:r>
              <a:rPr lang="en-US" sz="1600" dirty="0"/>
              <a:t>Smaller Batches: Can lead to higher latency due to smaller batch sizes.</a:t>
            </a:r>
          </a:p>
          <a:p>
            <a:pPr lvl="2"/>
            <a:r>
              <a:rPr lang="en-US" sz="1600" dirty="0"/>
              <a:t>Increased Overhead: More frequent requests and queuing.</a:t>
            </a:r>
            <a:endParaRPr lang="hu-HU" sz="1600" dirty="0"/>
          </a:p>
          <a:p>
            <a:pPr lvl="1"/>
            <a:r>
              <a:rPr lang="hu-HU" b="1" dirty="0"/>
              <a:t>Try not to use it!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Sticky partitioner: </a:t>
            </a:r>
          </a:p>
          <a:p>
            <a:pPr lvl="1"/>
            <a:r>
              <a:rPr lang="hu-HU" dirty="0"/>
              <a:t>Advantages:</a:t>
            </a:r>
          </a:p>
          <a:p>
            <a:pPr lvl="2"/>
            <a:r>
              <a:rPr lang="en-US" sz="1600" dirty="0"/>
              <a:t>Improved Batching: Larger batches reduce the overhead per record.</a:t>
            </a:r>
          </a:p>
          <a:p>
            <a:pPr lvl="2"/>
            <a:r>
              <a:rPr lang="en-US" sz="1600" dirty="0"/>
              <a:t>Lower Latency: More efficient processing and reduced queuing.</a:t>
            </a:r>
          </a:p>
          <a:p>
            <a:pPr lvl="2"/>
            <a:r>
              <a:rPr lang="en-US" sz="1600" dirty="0"/>
              <a:t>Consistency: Ensures records are sent to the same partition, improving batch formation</a:t>
            </a:r>
            <a:endParaRPr lang="hu-HU" sz="1600" dirty="0"/>
          </a:p>
          <a:p>
            <a:pPr lvl="1"/>
            <a:r>
              <a:rPr lang="hu-HU" b="1" dirty="0"/>
              <a:t>Use it!</a:t>
            </a:r>
          </a:p>
          <a:p>
            <a:endParaRPr lang="hu-HU" dirty="0"/>
          </a:p>
          <a:p>
            <a:pPr marL="457200" lvl="1" indent="0">
              <a:buNone/>
            </a:pPr>
            <a:endParaRPr lang="hu-HU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78D84EE-9262-0D45-199E-BB548310FA26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E8B730F4-7933-8F5A-1CD8-2F83BDF6AE7B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C26E796-68B7-9E6E-9C96-90F040D9A675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004181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Producer Config – Message Keys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1427217"/>
          </a:xfrm>
        </p:spPr>
        <p:txBody>
          <a:bodyPr/>
          <a:lstStyle/>
          <a:p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Producer can send key with the message (number, string, ...)</a:t>
            </a:r>
          </a:p>
          <a:p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Based on the key the </a:t>
            </a:r>
            <a:r>
              <a:rPr lang="hu-HU" b="1" dirty="0">
                <a:solidFill>
                  <a:srgbClr val="1A1523"/>
                </a:solidFill>
                <a:highlight>
                  <a:srgbClr val="FFFFFF"/>
                </a:highlight>
              </a:rPr>
              <a:t>producer decides to which partition 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it sends inside the topic: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If 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key == null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 partition is selected at random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If 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key != null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 same partition is assigned to the same key</a:t>
            </a: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754382A-ADD6-35C1-ECB4-FA2B9BAF4210}"/>
              </a:ext>
            </a:extLst>
          </p:cNvPr>
          <p:cNvSpPr txBox="1"/>
          <p:nvPr/>
        </p:nvSpPr>
        <p:spPr>
          <a:xfrm>
            <a:off x="4266676" y="2638473"/>
            <a:ext cx="14093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Courier New" panose="02070309020205020404" pitchFamily="49" charset="0"/>
                <a:ea typeface="Open Sans" panose="020B0606030504020204" pitchFamily="34" charset="0"/>
                <a:cs typeface="Courier New" panose="02070309020205020404" pitchFamily="49" charset="0"/>
              </a:rPr>
              <a:t>person_id_1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2272014-E0F8-6236-2524-5E75F0FC2300}"/>
              </a:ext>
            </a:extLst>
          </p:cNvPr>
          <p:cNvSpPr txBox="1"/>
          <p:nvPr/>
        </p:nvSpPr>
        <p:spPr>
          <a:xfrm>
            <a:off x="4292359" y="4715452"/>
            <a:ext cx="14093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Courier New" panose="02070309020205020404" pitchFamily="49" charset="0"/>
                <a:ea typeface="Open Sans" panose="020B0606030504020204" pitchFamily="34" charset="0"/>
                <a:cs typeface="Courier New" panose="02070309020205020404" pitchFamily="49" charset="0"/>
              </a:rPr>
              <a:t>person_id_2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2732246-EEEC-3D2F-0FFA-B32AB4D50A81}"/>
              </a:ext>
            </a:extLst>
          </p:cNvPr>
          <p:cNvSpPr txBox="1"/>
          <p:nvPr/>
        </p:nvSpPr>
        <p:spPr>
          <a:xfrm>
            <a:off x="7433137" y="3000616"/>
            <a:ext cx="10705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B8F8E6-ADE4-9216-13EA-CA3D46F1B1FF}"/>
              </a:ext>
            </a:extLst>
          </p:cNvPr>
          <p:cNvSpPr txBox="1"/>
          <p:nvPr/>
        </p:nvSpPr>
        <p:spPr>
          <a:xfrm>
            <a:off x="7433137" y="3612087"/>
            <a:ext cx="10705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ABE5055-B7E6-A12F-B4F2-FBBBE001B694}"/>
              </a:ext>
            </a:extLst>
          </p:cNvPr>
          <p:cNvSpPr txBox="1"/>
          <p:nvPr/>
        </p:nvSpPr>
        <p:spPr>
          <a:xfrm>
            <a:off x="7433137" y="4255378"/>
            <a:ext cx="12149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6355818-7F91-510A-F53E-7314C045693D}"/>
              </a:ext>
            </a:extLst>
          </p:cNvPr>
          <p:cNvSpPr/>
          <p:nvPr/>
        </p:nvSpPr>
        <p:spPr>
          <a:xfrm>
            <a:off x="8676906" y="2917930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2C1F22E-0455-3133-CCD4-14A267DD8213}"/>
              </a:ext>
            </a:extLst>
          </p:cNvPr>
          <p:cNvSpPr/>
          <p:nvPr/>
        </p:nvSpPr>
        <p:spPr>
          <a:xfrm>
            <a:off x="9076104" y="2917929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84D71D3-B3AD-52B8-F167-E6F128AFFEF4}"/>
              </a:ext>
            </a:extLst>
          </p:cNvPr>
          <p:cNvSpPr/>
          <p:nvPr/>
        </p:nvSpPr>
        <p:spPr>
          <a:xfrm>
            <a:off x="9076104" y="4162118"/>
            <a:ext cx="399198" cy="3904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DC58C531-F603-A38F-4F93-FDA814CDD32E}"/>
              </a:ext>
            </a:extLst>
          </p:cNvPr>
          <p:cNvCxnSpPr>
            <a:cxnSpLocks/>
            <a:endCxn id="50" idx="1"/>
          </p:cNvCxnSpPr>
          <p:nvPr/>
        </p:nvCxnSpPr>
        <p:spPr>
          <a:xfrm flipV="1">
            <a:off x="6658554" y="3154505"/>
            <a:ext cx="774583" cy="611471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F454FBB5-DE57-90F9-7E15-6CF354281D24}"/>
              </a:ext>
            </a:extLst>
          </p:cNvPr>
          <p:cNvCxnSpPr>
            <a:cxnSpLocks/>
            <a:endCxn id="52" idx="1"/>
          </p:cNvCxnSpPr>
          <p:nvPr/>
        </p:nvCxnSpPr>
        <p:spPr>
          <a:xfrm>
            <a:off x="6646300" y="3765976"/>
            <a:ext cx="786837" cy="0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BD2ABD6-0D13-BE96-BCB1-AFE96B88C62D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6658554" y="3765976"/>
            <a:ext cx="774583" cy="643291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05BEC863-95E1-94F5-343E-207BFA6ACECC}"/>
              </a:ext>
            </a:extLst>
          </p:cNvPr>
          <p:cNvSpPr/>
          <p:nvPr/>
        </p:nvSpPr>
        <p:spPr>
          <a:xfrm>
            <a:off x="9475302" y="2917928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C061FB1-E306-A40A-2EAA-41ADACEE651E}"/>
              </a:ext>
            </a:extLst>
          </p:cNvPr>
          <p:cNvSpPr/>
          <p:nvPr/>
        </p:nvSpPr>
        <p:spPr>
          <a:xfrm>
            <a:off x="8676906" y="4162117"/>
            <a:ext cx="399198" cy="3904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3D4153D-C3BF-C838-7368-263502B4F501}"/>
              </a:ext>
            </a:extLst>
          </p:cNvPr>
          <p:cNvSpPr/>
          <p:nvPr/>
        </p:nvSpPr>
        <p:spPr>
          <a:xfrm>
            <a:off x="3417691" y="3588715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190D0EF-3457-6269-40A7-D4B1C583DED5}"/>
              </a:ext>
            </a:extLst>
          </p:cNvPr>
          <p:cNvSpPr/>
          <p:nvPr/>
        </p:nvSpPr>
        <p:spPr>
          <a:xfrm>
            <a:off x="3942018" y="3588714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ED5D656-0631-9C6A-84DE-FBB25DA58338}"/>
              </a:ext>
            </a:extLst>
          </p:cNvPr>
          <p:cNvSpPr/>
          <p:nvPr/>
        </p:nvSpPr>
        <p:spPr>
          <a:xfrm>
            <a:off x="4472710" y="3588713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AD8A4A2-9B23-D2D6-7F64-649C63327D19}"/>
              </a:ext>
            </a:extLst>
          </p:cNvPr>
          <p:cNvSpPr/>
          <p:nvPr/>
        </p:nvSpPr>
        <p:spPr>
          <a:xfrm>
            <a:off x="4997037" y="3582888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64C2042-EE60-3269-ABAE-E4954E688AE8}"/>
              </a:ext>
            </a:extLst>
          </p:cNvPr>
          <p:cNvSpPr/>
          <p:nvPr/>
        </p:nvSpPr>
        <p:spPr>
          <a:xfrm>
            <a:off x="5521364" y="3588713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2B7DE92-ED35-BE2C-8528-22E573BCD022}"/>
              </a:ext>
            </a:extLst>
          </p:cNvPr>
          <p:cNvSpPr/>
          <p:nvPr/>
        </p:nvSpPr>
        <p:spPr>
          <a:xfrm>
            <a:off x="6045691" y="3582888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5E69C88-8B0A-2119-8CBE-68D2C5AB61FD}"/>
              </a:ext>
            </a:extLst>
          </p:cNvPr>
          <p:cNvSpPr/>
          <p:nvPr/>
        </p:nvSpPr>
        <p:spPr>
          <a:xfrm>
            <a:off x="8676906" y="3570744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0FD5B9E3-5C0E-6C4A-1235-BA9E22C71ED5}"/>
              </a:ext>
            </a:extLst>
          </p:cNvPr>
          <p:cNvSpPr/>
          <p:nvPr/>
        </p:nvSpPr>
        <p:spPr>
          <a:xfrm>
            <a:off x="9076104" y="3570743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3D47FB6E-CD10-77C0-9463-3A1E88D853C2}"/>
              </a:ext>
            </a:extLst>
          </p:cNvPr>
          <p:cNvSpPr/>
          <p:nvPr/>
        </p:nvSpPr>
        <p:spPr>
          <a:xfrm>
            <a:off x="9475302" y="3570742"/>
            <a:ext cx="3991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B2CE20D-6C66-BF96-9DE8-6AED8CBC6DF6}"/>
              </a:ext>
            </a:extLst>
          </p:cNvPr>
          <p:cNvSpPr/>
          <p:nvPr/>
        </p:nvSpPr>
        <p:spPr>
          <a:xfrm>
            <a:off x="9475302" y="4162118"/>
            <a:ext cx="399198" cy="3904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AE07B8E-B68B-83D5-B030-2D71FA3CD5EA}"/>
              </a:ext>
            </a:extLst>
          </p:cNvPr>
          <p:cNvCxnSpPr>
            <a:stCxn id="68" idx="0"/>
          </p:cNvCxnSpPr>
          <p:nvPr/>
        </p:nvCxnSpPr>
        <p:spPr>
          <a:xfrm flipV="1">
            <a:off x="3617290" y="2946250"/>
            <a:ext cx="1354063" cy="6424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95F8F4EF-118E-FFCE-6694-39DE12F6A79F}"/>
              </a:ext>
            </a:extLst>
          </p:cNvPr>
          <p:cNvCxnSpPr>
            <a:cxnSpLocks/>
            <a:stCxn id="69" idx="0"/>
            <a:endCxn id="48" idx="2"/>
          </p:cNvCxnSpPr>
          <p:nvPr/>
        </p:nvCxnSpPr>
        <p:spPr>
          <a:xfrm flipV="1">
            <a:off x="4141617" y="2946250"/>
            <a:ext cx="829737" cy="6424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B61714A1-8318-41AA-0855-62E491742844}"/>
              </a:ext>
            </a:extLst>
          </p:cNvPr>
          <p:cNvCxnSpPr>
            <a:cxnSpLocks/>
            <a:stCxn id="73" idx="0"/>
            <a:endCxn id="48" idx="2"/>
          </p:cNvCxnSpPr>
          <p:nvPr/>
        </p:nvCxnSpPr>
        <p:spPr>
          <a:xfrm flipH="1" flipV="1">
            <a:off x="4971354" y="2946250"/>
            <a:ext cx="1273936" cy="6366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6198EFA-1C16-7951-0081-E1A4124F3208}"/>
              </a:ext>
            </a:extLst>
          </p:cNvPr>
          <p:cNvCxnSpPr>
            <a:cxnSpLocks/>
            <a:endCxn id="70" idx="2"/>
          </p:cNvCxnSpPr>
          <p:nvPr/>
        </p:nvCxnSpPr>
        <p:spPr>
          <a:xfrm flipH="1" flipV="1">
            <a:off x="4672309" y="3979176"/>
            <a:ext cx="331093" cy="7304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8359161-054E-0CFA-0061-5A08FF919F98}"/>
              </a:ext>
            </a:extLst>
          </p:cNvPr>
          <p:cNvCxnSpPr>
            <a:cxnSpLocks/>
            <a:stCxn id="49" idx="0"/>
            <a:endCxn id="71" idx="2"/>
          </p:cNvCxnSpPr>
          <p:nvPr/>
        </p:nvCxnSpPr>
        <p:spPr>
          <a:xfrm flipV="1">
            <a:off x="4997037" y="3973351"/>
            <a:ext cx="199599" cy="7421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DA8B1BF-A72D-A6A3-0643-00F8921F802D}"/>
              </a:ext>
            </a:extLst>
          </p:cNvPr>
          <p:cNvCxnSpPr>
            <a:cxnSpLocks/>
            <a:stCxn id="49" idx="0"/>
            <a:endCxn id="72" idx="2"/>
          </p:cNvCxnSpPr>
          <p:nvPr/>
        </p:nvCxnSpPr>
        <p:spPr>
          <a:xfrm flipV="1">
            <a:off x="4997037" y="3979176"/>
            <a:ext cx="723926" cy="7362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F98F61A8-9585-BCA4-0258-1BEDB1C00D14}"/>
              </a:ext>
            </a:extLst>
          </p:cNvPr>
          <p:cNvSpPr txBox="1"/>
          <p:nvPr/>
        </p:nvSpPr>
        <p:spPr>
          <a:xfrm>
            <a:off x="814153" y="3653428"/>
            <a:ext cx="19129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Key is:  </a:t>
            </a:r>
            <a:r>
              <a:rPr lang="hu-HU" sz="1600" dirty="0">
                <a:latin typeface="Courier New" panose="02070309020205020404" pitchFamily="49" charset="0"/>
                <a:ea typeface="Open Sans" panose="020B0606030504020204" pitchFamily="34" charset="0"/>
                <a:cs typeface="Courier New" panose="02070309020205020404" pitchFamily="49" charset="0"/>
              </a:rPr>
              <a:t>person_id</a:t>
            </a:r>
            <a:endParaRPr lang="hu-HU" sz="1400" dirty="0">
              <a:latin typeface="Courier New" panose="02070309020205020404" pitchFamily="49" charset="0"/>
              <a:ea typeface="Open Sans" panose="020B0606030504020204" pitchFamily="34" charset="0"/>
              <a:cs typeface="Courier New" panose="02070309020205020404" pitchFamily="49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15A87D49-120E-7AFE-D28F-9C239B7B66F3}"/>
              </a:ext>
            </a:extLst>
          </p:cNvPr>
          <p:cNvSpPr/>
          <p:nvPr/>
        </p:nvSpPr>
        <p:spPr>
          <a:xfrm>
            <a:off x="9874500" y="3570741"/>
            <a:ext cx="399198" cy="3904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13192619-3DEB-8034-A968-886B7FDD0FD1}"/>
              </a:ext>
            </a:extLst>
          </p:cNvPr>
          <p:cNvSpPr/>
          <p:nvPr/>
        </p:nvSpPr>
        <p:spPr>
          <a:xfrm>
            <a:off x="9874500" y="2917927"/>
            <a:ext cx="399198" cy="3904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71AC015-A368-7F6F-A348-85EC926D92F7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4" name="Flowchart: Connector 3">
              <a:extLst>
                <a:ext uri="{FF2B5EF4-FFF2-40B4-BE49-F238E27FC236}">
                  <a16:creationId xmlns:a16="http://schemas.microsoft.com/office/drawing/2014/main" id="{D2276CA2-BC86-0F43-2D8E-A17F1736F874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4561C37-6C2E-9FA1-3572-12B6D2473291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67026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28148-B1EA-E068-C380-85ED3FFA9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zöveg helye 2">
            <a:extLst>
              <a:ext uri="{FF2B5EF4-FFF2-40B4-BE49-F238E27FC236}">
                <a16:creationId xmlns:a16="http://schemas.microsoft.com/office/drawing/2014/main" id="{74430875-7EB0-8D00-BBF0-C3142B0B3120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 algn="ctr"/>
            <a:r>
              <a:rPr lang="hu-HU" sz="4000" dirty="0">
                <a:solidFill>
                  <a:srgbClr val="012863"/>
                </a:solidFill>
              </a:rPr>
              <a:t>Kafka Consumer Implementation</a:t>
            </a:r>
            <a:endParaRPr lang="en-US" sz="4000" dirty="0">
              <a:solidFill>
                <a:srgbClr val="012863"/>
              </a:solidFill>
            </a:endParaRPr>
          </a:p>
          <a:p>
            <a:pPr algn="ctr"/>
            <a:endParaRPr lang="hu-HU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77CDA5A-0434-5305-C3C7-978E5D02DA8F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178ACAC-27CB-F420-C9C0-816B98A8EE66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603326F-CD11-B702-F353-9843042CDD10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14020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F4DC89-7412-50EB-6570-3AF2B2CEE562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Consumer Config – Partition Rebalance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0FEEF-389F-8268-4BAC-FD64F5654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Moving partitions between consumers is called a rebalance</a:t>
            </a:r>
          </a:p>
          <a:p>
            <a:r>
              <a:rPr lang="hu-HU" dirty="0"/>
              <a:t>It happens when a consumer leaves or joins a consumer group</a:t>
            </a:r>
          </a:p>
          <a:p>
            <a:r>
              <a:rPr lang="hu-HU" dirty="0"/>
              <a:t>It also happens if an administrator add new partition to a topic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What happens it depends on the strategy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377338-F98D-8C68-2DE8-63ECE5C2AA99}"/>
              </a:ext>
            </a:extLst>
          </p:cNvPr>
          <p:cNvSpPr/>
          <p:nvPr/>
        </p:nvSpPr>
        <p:spPr>
          <a:xfrm>
            <a:off x="1273672" y="2668845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7AA63B-FDBC-8CF5-96A0-F3E27C8F5AAA}"/>
              </a:ext>
            </a:extLst>
          </p:cNvPr>
          <p:cNvSpPr/>
          <p:nvPr/>
        </p:nvSpPr>
        <p:spPr>
          <a:xfrm>
            <a:off x="1273672" y="3276271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A88D86-610A-DA1B-43CA-25B0689AE17A}"/>
              </a:ext>
            </a:extLst>
          </p:cNvPr>
          <p:cNvSpPr/>
          <p:nvPr/>
        </p:nvSpPr>
        <p:spPr>
          <a:xfrm>
            <a:off x="1273672" y="3883697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DA518D-A1D4-1408-A13B-70A81D255AE0}"/>
              </a:ext>
            </a:extLst>
          </p:cNvPr>
          <p:cNvSpPr/>
          <p:nvPr/>
        </p:nvSpPr>
        <p:spPr>
          <a:xfrm>
            <a:off x="3202346" y="2373829"/>
            <a:ext cx="1959860" cy="2467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8D2DAD-901B-8AD3-0B74-DCA727DDA433}"/>
              </a:ext>
            </a:extLst>
          </p:cNvPr>
          <p:cNvSpPr/>
          <p:nvPr/>
        </p:nvSpPr>
        <p:spPr>
          <a:xfrm>
            <a:off x="3505870" y="2621560"/>
            <a:ext cx="1355970" cy="47314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033DC40-E4ED-635C-FED2-6A807CB86C58}"/>
              </a:ext>
            </a:extLst>
          </p:cNvPr>
          <p:cNvSpPr/>
          <p:nvPr/>
        </p:nvSpPr>
        <p:spPr>
          <a:xfrm>
            <a:off x="3505870" y="3238874"/>
            <a:ext cx="1355969" cy="46525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ED4AA7-B5A3-A799-2F1B-8CAABA0E3D18}"/>
              </a:ext>
            </a:extLst>
          </p:cNvPr>
          <p:cNvSpPr txBox="1"/>
          <p:nvPr/>
        </p:nvSpPr>
        <p:spPr>
          <a:xfrm>
            <a:off x="3202346" y="4459487"/>
            <a:ext cx="19598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group-1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C412964-A9E8-5F30-EBCE-9DCDAF680C20}"/>
              </a:ext>
            </a:extLst>
          </p:cNvPr>
          <p:cNvCxnSpPr>
            <a:cxnSpLocks/>
            <a:stCxn id="6" idx="3"/>
            <a:endCxn id="17" idx="1"/>
          </p:cNvCxnSpPr>
          <p:nvPr/>
        </p:nvCxnSpPr>
        <p:spPr>
          <a:xfrm flipV="1">
            <a:off x="2430270" y="2858135"/>
            <a:ext cx="1075600" cy="5942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333F864-7698-4465-1097-6C9C0B8D6EA5}"/>
              </a:ext>
            </a:extLst>
          </p:cNvPr>
          <p:cNvCxnSpPr>
            <a:cxnSpLocks/>
            <a:stCxn id="10" idx="3"/>
            <a:endCxn id="18" idx="1"/>
          </p:cNvCxnSpPr>
          <p:nvPr/>
        </p:nvCxnSpPr>
        <p:spPr>
          <a:xfrm>
            <a:off x="2430270" y="3471503"/>
            <a:ext cx="1075600" cy="0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493DCEB-68D0-B19C-F1EF-FBCEC7BF55B7}"/>
              </a:ext>
            </a:extLst>
          </p:cNvPr>
          <p:cNvCxnSpPr>
            <a:cxnSpLocks/>
            <a:stCxn id="11" idx="3"/>
            <a:endCxn id="18" idx="1"/>
          </p:cNvCxnSpPr>
          <p:nvPr/>
        </p:nvCxnSpPr>
        <p:spPr>
          <a:xfrm flipV="1">
            <a:off x="2430270" y="3471503"/>
            <a:ext cx="1075600" cy="607426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D75052B-39BE-646F-AFF1-BF634CF0C647}"/>
              </a:ext>
            </a:extLst>
          </p:cNvPr>
          <p:cNvSpPr/>
          <p:nvPr/>
        </p:nvSpPr>
        <p:spPr>
          <a:xfrm>
            <a:off x="7043985" y="2667356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07C2180-E0B6-1DAB-E5D5-314A06B4EFF9}"/>
              </a:ext>
            </a:extLst>
          </p:cNvPr>
          <p:cNvSpPr/>
          <p:nvPr/>
        </p:nvSpPr>
        <p:spPr>
          <a:xfrm>
            <a:off x="7043985" y="3274782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B3CAE53-1192-13C7-6177-B1A355910734}"/>
              </a:ext>
            </a:extLst>
          </p:cNvPr>
          <p:cNvSpPr/>
          <p:nvPr/>
        </p:nvSpPr>
        <p:spPr>
          <a:xfrm>
            <a:off x="7043985" y="3882208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03E438-C991-18F8-6902-BD325B0390D5}"/>
              </a:ext>
            </a:extLst>
          </p:cNvPr>
          <p:cNvSpPr/>
          <p:nvPr/>
        </p:nvSpPr>
        <p:spPr>
          <a:xfrm>
            <a:off x="8972659" y="2372340"/>
            <a:ext cx="1959860" cy="2467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4FBBB47-30A9-F159-1FD9-608AB6051805}"/>
              </a:ext>
            </a:extLst>
          </p:cNvPr>
          <p:cNvSpPr/>
          <p:nvPr/>
        </p:nvSpPr>
        <p:spPr>
          <a:xfrm>
            <a:off x="9276183" y="2620071"/>
            <a:ext cx="1355970" cy="47314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2DD66CF-A01C-D261-2ABB-FFFE703E12CD}"/>
              </a:ext>
            </a:extLst>
          </p:cNvPr>
          <p:cNvSpPr/>
          <p:nvPr/>
        </p:nvSpPr>
        <p:spPr>
          <a:xfrm>
            <a:off x="9276183" y="3237385"/>
            <a:ext cx="1355969" cy="46525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3370176-15EA-05DC-3EA8-01B79A20ADEB}"/>
              </a:ext>
            </a:extLst>
          </p:cNvPr>
          <p:cNvSpPr txBox="1"/>
          <p:nvPr/>
        </p:nvSpPr>
        <p:spPr>
          <a:xfrm>
            <a:off x="8972659" y="4457998"/>
            <a:ext cx="19598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group-1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F9EBC67-EA1D-921A-7DCA-FA7975209FE2}"/>
              </a:ext>
            </a:extLst>
          </p:cNvPr>
          <p:cNvSpPr/>
          <p:nvPr/>
        </p:nvSpPr>
        <p:spPr>
          <a:xfrm>
            <a:off x="9276183" y="3846808"/>
            <a:ext cx="1355969" cy="46525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79524065-881C-D7A7-006B-BDD6AEEC2435}"/>
              </a:ext>
            </a:extLst>
          </p:cNvPr>
          <p:cNvSpPr/>
          <p:nvPr/>
        </p:nvSpPr>
        <p:spPr>
          <a:xfrm>
            <a:off x="5465730" y="3339259"/>
            <a:ext cx="1218703" cy="2624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28EC188-9325-FB50-3CE7-D841173300FD}"/>
              </a:ext>
            </a:extLst>
          </p:cNvPr>
          <p:cNvSpPr txBox="1"/>
          <p:nvPr/>
        </p:nvSpPr>
        <p:spPr>
          <a:xfrm>
            <a:off x="5392672" y="3045631"/>
            <a:ext cx="13559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rebalance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F6711F-AD81-2C84-57BE-8F63456C302D}"/>
              </a:ext>
            </a:extLst>
          </p:cNvPr>
          <p:cNvSpPr txBox="1"/>
          <p:nvPr/>
        </p:nvSpPr>
        <p:spPr>
          <a:xfrm>
            <a:off x="8218138" y="3220879"/>
            <a:ext cx="824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?</a:t>
            </a:r>
            <a:endParaRPr lang="en-US" sz="3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70196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F4DC89-7412-50EB-6570-3AF2B2CEE562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Consumer Config – Partition Rebalance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0FEEF-389F-8268-4BAC-FD64F5654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Eager Rebalance:</a:t>
            </a:r>
          </a:p>
          <a:p>
            <a:pPr lvl="1"/>
            <a:r>
              <a:rPr lang="hu-HU" dirty="0"/>
              <a:t>All consumers stop, give up their membership of partitions</a:t>
            </a:r>
          </a:p>
          <a:p>
            <a:pPr lvl="1"/>
            <a:r>
              <a:rPr lang="hu-HU" dirty="0"/>
              <a:t>They rejoin the consumer group and get new assignments at random(!)</a:t>
            </a:r>
          </a:p>
          <a:p>
            <a:pPr lvl="1"/>
            <a:r>
              <a:rPr lang="hu-HU" dirty="0"/>
              <a:t>During a short period of time the entire group stops processing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377338-F98D-8C68-2DE8-63ECE5C2AA99}"/>
              </a:ext>
            </a:extLst>
          </p:cNvPr>
          <p:cNvSpPr/>
          <p:nvPr/>
        </p:nvSpPr>
        <p:spPr>
          <a:xfrm>
            <a:off x="1273672" y="2663481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7AA63B-FDBC-8CF5-96A0-F3E27C8F5AAA}"/>
              </a:ext>
            </a:extLst>
          </p:cNvPr>
          <p:cNvSpPr/>
          <p:nvPr/>
        </p:nvSpPr>
        <p:spPr>
          <a:xfrm>
            <a:off x="1273672" y="3270907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A88D86-610A-DA1B-43CA-25B0689AE17A}"/>
              </a:ext>
            </a:extLst>
          </p:cNvPr>
          <p:cNvSpPr/>
          <p:nvPr/>
        </p:nvSpPr>
        <p:spPr>
          <a:xfrm>
            <a:off x="1273672" y="3878333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DA518D-A1D4-1408-A13B-70A81D255AE0}"/>
              </a:ext>
            </a:extLst>
          </p:cNvPr>
          <p:cNvSpPr/>
          <p:nvPr/>
        </p:nvSpPr>
        <p:spPr>
          <a:xfrm>
            <a:off x="3202346" y="2368465"/>
            <a:ext cx="1959860" cy="2467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8D2DAD-901B-8AD3-0B74-DCA727DDA433}"/>
              </a:ext>
            </a:extLst>
          </p:cNvPr>
          <p:cNvSpPr/>
          <p:nvPr/>
        </p:nvSpPr>
        <p:spPr>
          <a:xfrm>
            <a:off x="3505870" y="2616196"/>
            <a:ext cx="1355970" cy="47314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033DC40-E4ED-635C-FED2-6A807CB86C58}"/>
              </a:ext>
            </a:extLst>
          </p:cNvPr>
          <p:cNvSpPr/>
          <p:nvPr/>
        </p:nvSpPr>
        <p:spPr>
          <a:xfrm>
            <a:off x="3505870" y="3233510"/>
            <a:ext cx="1355969" cy="46525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ED4AA7-B5A3-A799-2F1B-8CAABA0E3D18}"/>
              </a:ext>
            </a:extLst>
          </p:cNvPr>
          <p:cNvSpPr txBox="1"/>
          <p:nvPr/>
        </p:nvSpPr>
        <p:spPr>
          <a:xfrm>
            <a:off x="3202346" y="4454123"/>
            <a:ext cx="19598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group-1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C412964-A9E8-5F30-EBCE-9DCDAF680C20}"/>
              </a:ext>
            </a:extLst>
          </p:cNvPr>
          <p:cNvCxnSpPr>
            <a:cxnSpLocks/>
            <a:stCxn id="6" idx="3"/>
            <a:endCxn id="17" idx="1"/>
          </p:cNvCxnSpPr>
          <p:nvPr/>
        </p:nvCxnSpPr>
        <p:spPr>
          <a:xfrm flipV="1">
            <a:off x="2430270" y="2852771"/>
            <a:ext cx="1075600" cy="5942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333F864-7698-4465-1097-6C9C0B8D6EA5}"/>
              </a:ext>
            </a:extLst>
          </p:cNvPr>
          <p:cNvCxnSpPr>
            <a:cxnSpLocks/>
            <a:stCxn id="10" idx="3"/>
            <a:endCxn id="18" idx="1"/>
          </p:cNvCxnSpPr>
          <p:nvPr/>
        </p:nvCxnSpPr>
        <p:spPr>
          <a:xfrm>
            <a:off x="2430270" y="3466139"/>
            <a:ext cx="1075600" cy="0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493DCEB-68D0-B19C-F1EF-FBCEC7BF55B7}"/>
              </a:ext>
            </a:extLst>
          </p:cNvPr>
          <p:cNvCxnSpPr>
            <a:cxnSpLocks/>
            <a:stCxn id="11" idx="3"/>
            <a:endCxn id="18" idx="1"/>
          </p:cNvCxnSpPr>
          <p:nvPr/>
        </p:nvCxnSpPr>
        <p:spPr>
          <a:xfrm flipV="1">
            <a:off x="2430270" y="3466139"/>
            <a:ext cx="1075600" cy="607426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D75052B-39BE-646F-AFF1-BF634CF0C647}"/>
              </a:ext>
            </a:extLst>
          </p:cNvPr>
          <p:cNvSpPr/>
          <p:nvPr/>
        </p:nvSpPr>
        <p:spPr>
          <a:xfrm>
            <a:off x="7043985" y="2661992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07C2180-E0B6-1DAB-E5D5-314A06B4EFF9}"/>
              </a:ext>
            </a:extLst>
          </p:cNvPr>
          <p:cNvSpPr/>
          <p:nvPr/>
        </p:nvSpPr>
        <p:spPr>
          <a:xfrm>
            <a:off x="7043985" y="3269418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B3CAE53-1192-13C7-6177-B1A355910734}"/>
              </a:ext>
            </a:extLst>
          </p:cNvPr>
          <p:cNvSpPr/>
          <p:nvPr/>
        </p:nvSpPr>
        <p:spPr>
          <a:xfrm>
            <a:off x="7043985" y="3876844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03E438-C991-18F8-6902-BD325B0390D5}"/>
              </a:ext>
            </a:extLst>
          </p:cNvPr>
          <p:cNvSpPr/>
          <p:nvPr/>
        </p:nvSpPr>
        <p:spPr>
          <a:xfrm>
            <a:off x="8972659" y="2366976"/>
            <a:ext cx="1959860" cy="2467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4FBBB47-30A9-F159-1FD9-608AB6051805}"/>
              </a:ext>
            </a:extLst>
          </p:cNvPr>
          <p:cNvSpPr/>
          <p:nvPr/>
        </p:nvSpPr>
        <p:spPr>
          <a:xfrm>
            <a:off x="9276183" y="2614707"/>
            <a:ext cx="1355970" cy="47314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2DD66CF-A01C-D261-2ABB-FFFE703E12CD}"/>
              </a:ext>
            </a:extLst>
          </p:cNvPr>
          <p:cNvSpPr/>
          <p:nvPr/>
        </p:nvSpPr>
        <p:spPr>
          <a:xfrm>
            <a:off x="9276183" y="3232021"/>
            <a:ext cx="1355969" cy="46525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3370176-15EA-05DC-3EA8-01B79A20ADEB}"/>
              </a:ext>
            </a:extLst>
          </p:cNvPr>
          <p:cNvSpPr txBox="1"/>
          <p:nvPr/>
        </p:nvSpPr>
        <p:spPr>
          <a:xfrm>
            <a:off x="8972659" y="4452634"/>
            <a:ext cx="19598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group-1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F9EBC67-EA1D-921A-7DCA-FA7975209FE2}"/>
              </a:ext>
            </a:extLst>
          </p:cNvPr>
          <p:cNvSpPr/>
          <p:nvPr/>
        </p:nvSpPr>
        <p:spPr>
          <a:xfrm>
            <a:off x="9276183" y="3841444"/>
            <a:ext cx="1355969" cy="46525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79524065-881C-D7A7-006B-BDD6AEEC2435}"/>
              </a:ext>
            </a:extLst>
          </p:cNvPr>
          <p:cNvSpPr/>
          <p:nvPr/>
        </p:nvSpPr>
        <p:spPr>
          <a:xfrm>
            <a:off x="5465730" y="3333895"/>
            <a:ext cx="1218703" cy="2624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28EC188-9325-FB50-3CE7-D841173300FD}"/>
              </a:ext>
            </a:extLst>
          </p:cNvPr>
          <p:cNvSpPr txBox="1"/>
          <p:nvPr/>
        </p:nvSpPr>
        <p:spPr>
          <a:xfrm>
            <a:off x="5392672" y="3040267"/>
            <a:ext cx="13559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rebalance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24E646-C482-676B-D3C5-CFDB4D2548E1}"/>
              </a:ext>
            </a:extLst>
          </p:cNvPr>
          <p:cNvCxnSpPr>
            <a:cxnSpLocks/>
            <a:stCxn id="51" idx="3"/>
          </p:cNvCxnSpPr>
          <p:nvPr/>
        </p:nvCxnSpPr>
        <p:spPr>
          <a:xfrm>
            <a:off x="8200583" y="2857224"/>
            <a:ext cx="1075600" cy="662938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B607B46-FCFB-636D-0675-24E1BAC6AD5B}"/>
              </a:ext>
            </a:extLst>
          </p:cNvPr>
          <p:cNvCxnSpPr>
            <a:cxnSpLocks/>
            <a:stCxn id="53" idx="3"/>
            <a:endCxn id="55" idx="1"/>
          </p:cNvCxnSpPr>
          <p:nvPr/>
        </p:nvCxnSpPr>
        <p:spPr>
          <a:xfrm flipV="1">
            <a:off x="8200583" y="2851282"/>
            <a:ext cx="1075600" cy="1220794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C81C657-B337-3EA4-A61E-B6BA2F61D6E1}"/>
              </a:ext>
            </a:extLst>
          </p:cNvPr>
          <p:cNvCxnSpPr>
            <a:cxnSpLocks/>
            <a:stCxn id="52" idx="3"/>
            <a:endCxn id="61" idx="1"/>
          </p:cNvCxnSpPr>
          <p:nvPr/>
        </p:nvCxnSpPr>
        <p:spPr>
          <a:xfrm>
            <a:off x="8200583" y="3464650"/>
            <a:ext cx="1075600" cy="609423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238442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F4DC89-7412-50EB-6570-3AF2B2CEE562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Consumer Config – Partition Rebalance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0FEEF-389F-8268-4BAC-FD64F5654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Cooperative Rebalance (Incremental Rebalance):</a:t>
            </a:r>
          </a:p>
          <a:p>
            <a:pPr lvl="1"/>
            <a:r>
              <a:rPr lang="hu-HU" dirty="0"/>
              <a:t>Reassigning a small subset of the partitions</a:t>
            </a:r>
          </a:p>
          <a:p>
            <a:pPr lvl="1"/>
            <a:r>
              <a:rPr lang="hu-HU" dirty="0"/>
              <a:t>Other consumers that don’t have reassigned partitions can continue to process messages</a:t>
            </a:r>
          </a:p>
          <a:p>
            <a:pPr lvl="1"/>
            <a:r>
              <a:rPr lang="hu-HU" dirty="0"/>
              <a:t>Can take multiple steps to reach a stable state, hence the name „incremental”</a:t>
            </a:r>
          </a:p>
          <a:p>
            <a:pPr marL="457200" lvl="1" indent="0">
              <a:buNone/>
            </a:pPr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377338-F98D-8C68-2DE8-63ECE5C2AA99}"/>
              </a:ext>
            </a:extLst>
          </p:cNvPr>
          <p:cNvSpPr/>
          <p:nvPr/>
        </p:nvSpPr>
        <p:spPr>
          <a:xfrm>
            <a:off x="1273672" y="2663481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7AA63B-FDBC-8CF5-96A0-F3E27C8F5AAA}"/>
              </a:ext>
            </a:extLst>
          </p:cNvPr>
          <p:cNvSpPr/>
          <p:nvPr/>
        </p:nvSpPr>
        <p:spPr>
          <a:xfrm>
            <a:off x="1273672" y="3270907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A88D86-610A-DA1B-43CA-25B0689AE17A}"/>
              </a:ext>
            </a:extLst>
          </p:cNvPr>
          <p:cNvSpPr/>
          <p:nvPr/>
        </p:nvSpPr>
        <p:spPr>
          <a:xfrm>
            <a:off x="1273672" y="3878333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DA518D-A1D4-1408-A13B-70A81D255AE0}"/>
              </a:ext>
            </a:extLst>
          </p:cNvPr>
          <p:cNvSpPr/>
          <p:nvPr/>
        </p:nvSpPr>
        <p:spPr>
          <a:xfrm>
            <a:off x="3202346" y="2368465"/>
            <a:ext cx="1959860" cy="2467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8D2DAD-901B-8AD3-0B74-DCA727DDA433}"/>
              </a:ext>
            </a:extLst>
          </p:cNvPr>
          <p:cNvSpPr/>
          <p:nvPr/>
        </p:nvSpPr>
        <p:spPr>
          <a:xfrm>
            <a:off x="3505870" y="2616196"/>
            <a:ext cx="1355970" cy="47314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033DC40-E4ED-635C-FED2-6A807CB86C58}"/>
              </a:ext>
            </a:extLst>
          </p:cNvPr>
          <p:cNvSpPr/>
          <p:nvPr/>
        </p:nvSpPr>
        <p:spPr>
          <a:xfrm>
            <a:off x="3505870" y="3233510"/>
            <a:ext cx="1355969" cy="46525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ED4AA7-B5A3-A799-2F1B-8CAABA0E3D18}"/>
              </a:ext>
            </a:extLst>
          </p:cNvPr>
          <p:cNvSpPr txBox="1"/>
          <p:nvPr/>
        </p:nvSpPr>
        <p:spPr>
          <a:xfrm>
            <a:off x="3202346" y="4454123"/>
            <a:ext cx="19598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group-1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C412964-A9E8-5F30-EBCE-9DCDAF680C20}"/>
              </a:ext>
            </a:extLst>
          </p:cNvPr>
          <p:cNvCxnSpPr>
            <a:cxnSpLocks/>
            <a:stCxn id="6" idx="3"/>
            <a:endCxn id="17" idx="1"/>
          </p:cNvCxnSpPr>
          <p:nvPr/>
        </p:nvCxnSpPr>
        <p:spPr>
          <a:xfrm flipV="1">
            <a:off x="2430270" y="2852771"/>
            <a:ext cx="1075600" cy="5942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333F864-7698-4465-1097-6C9C0B8D6EA5}"/>
              </a:ext>
            </a:extLst>
          </p:cNvPr>
          <p:cNvCxnSpPr>
            <a:cxnSpLocks/>
            <a:stCxn id="10" idx="3"/>
            <a:endCxn id="18" idx="1"/>
          </p:cNvCxnSpPr>
          <p:nvPr/>
        </p:nvCxnSpPr>
        <p:spPr>
          <a:xfrm>
            <a:off x="2430270" y="3466139"/>
            <a:ext cx="1075600" cy="0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493DCEB-68D0-B19C-F1EF-FBCEC7BF55B7}"/>
              </a:ext>
            </a:extLst>
          </p:cNvPr>
          <p:cNvCxnSpPr>
            <a:cxnSpLocks/>
            <a:stCxn id="11" idx="3"/>
            <a:endCxn id="18" idx="1"/>
          </p:cNvCxnSpPr>
          <p:nvPr/>
        </p:nvCxnSpPr>
        <p:spPr>
          <a:xfrm flipV="1">
            <a:off x="2430270" y="3466139"/>
            <a:ext cx="1075600" cy="607426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D75052B-39BE-646F-AFF1-BF634CF0C647}"/>
              </a:ext>
            </a:extLst>
          </p:cNvPr>
          <p:cNvSpPr/>
          <p:nvPr/>
        </p:nvSpPr>
        <p:spPr>
          <a:xfrm>
            <a:off x="7043985" y="2661992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07C2180-E0B6-1DAB-E5D5-314A06B4EFF9}"/>
              </a:ext>
            </a:extLst>
          </p:cNvPr>
          <p:cNvSpPr/>
          <p:nvPr/>
        </p:nvSpPr>
        <p:spPr>
          <a:xfrm>
            <a:off x="7043985" y="3269418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B3CAE53-1192-13C7-6177-B1A355910734}"/>
              </a:ext>
            </a:extLst>
          </p:cNvPr>
          <p:cNvSpPr/>
          <p:nvPr/>
        </p:nvSpPr>
        <p:spPr>
          <a:xfrm>
            <a:off x="7043985" y="3876844"/>
            <a:ext cx="1156598" cy="3904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03E438-C991-18F8-6902-BD325B0390D5}"/>
              </a:ext>
            </a:extLst>
          </p:cNvPr>
          <p:cNvSpPr/>
          <p:nvPr/>
        </p:nvSpPr>
        <p:spPr>
          <a:xfrm>
            <a:off x="8972659" y="2366976"/>
            <a:ext cx="1959860" cy="2467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4FBBB47-30A9-F159-1FD9-608AB6051805}"/>
              </a:ext>
            </a:extLst>
          </p:cNvPr>
          <p:cNvSpPr/>
          <p:nvPr/>
        </p:nvSpPr>
        <p:spPr>
          <a:xfrm>
            <a:off x="9276183" y="2614707"/>
            <a:ext cx="1355970" cy="47314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2DD66CF-A01C-D261-2ABB-FFFE703E12CD}"/>
              </a:ext>
            </a:extLst>
          </p:cNvPr>
          <p:cNvSpPr/>
          <p:nvPr/>
        </p:nvSpPr>
        <p:spPr>
          <a:xfrm>
            <a:off x="9276183" y="3232021"/>
            <a:ext cx="1355969" cy="46525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3370176-15EA-05DC-3EA8-01B79A20ADEB}"/>
              </a:ext>
            </a:extLst>
          </p:cNvPr>
          <p:cNvSpPr txBox="1"/>
          <p:nvPr/>
        </p:nvSpPr>
        <p:spPr>
          <a:xfrm>
            <a:off x="8972659" y="4452634"/>
            <a:ext cx="19598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group-1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F9EBC67-EA1D-921A-7DCA-FA7975209FE2}"/>
              </a:ext>
            </a:extLst>
          </p:cNvPr>
          <p:cNvSpPr/>
          <p:nvPr/>
        </p:nvSpPr>
        <p:spPr>
          <a:xfrm>
            <a:off x="9276183" y="3841444"/>
            <a:ext cx="1355969" cy="46525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79524065-881C-D7A7-006B-BDD6AEEC2435}"/>
              </a:ext>
            </a:extLst>
          </p:cNvPr>
          <p:cNvSpPr/>
          <p:nvPr/>
        </p:nvSpPr>
        <p:spPr>
          <a:xfrm>
            <a:off x="5465730" y="3333895"/>
            <a:ext cx="1218703" cy="2624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28EC188-9325-FB50-3CE7-D841173300FD}"/>
              </a:ext>
            </a:extLst>
          </p:cNvPr>
          <p:cNvSpPr txBox="1"/>
          <p:nvPr/>
        </p:nvSpPr>
        <p:spPr>
          <a:xfrm>
            <a:off x="5392672" y="3040267"/>
            <a:ext cx="13559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rebalance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24E646-C482-676B-D3C5-CFDB4D2548E1}"/>
              </a:ext>
            </a:extLst>
          </p:cNvPr>
          <p:cNvCxnSpPr>
            <a:cxnSpLocks/>
            <a:stCxn id="51" idx="3"/>
            <a:endCxn id="55" idx="1"/>
          </p:cNvCxnSpPr>
          <p:nvPr/>
        </p:nvCxnSpPr>
        <p:spPr>
          <a:xfrm flipV="1">
            <a:off x="8200583" y="2851282"/>
            <a:ext cx="1075600" cy="5942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B607B46-FCFB-636D-0675-24E1BAC6AD5B}"/>
              </a:ext>
            </a:extLst>
          </p:cNvPr>
          <p:cNvCxnSpPr>
            <a:cxnSpLocks/>
            <a:stCxn id="53" idx="3"/>
            <a:endCxn id="61" idx="1"/>
          </p:cNvCxnSpPr>
          <p:nvPr/>
        </p:nvCxnSpPr>
        <p:spPr>
          <a:xfrm>
            <a:off x="8200583" y="4072076"/>
            <a:ext cx="1075600" cy="1997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C81C657-B337-3EA4-A61E-B6BA2F61D6E1}"/>
              </a:ext>
            </a:extLst>
          </p:cNvPr>
          <p:cNvCxnSpPr>
            <a:cxnSpLocks/>
            <a:stCxn id="52" idx="3"/>
            <a:endCxn id="56" idx="1"/>
          </p:cNvCxnSpPr>
          <p:nvPr/>
        </p:nvCxnSpPr>
        <p:spPr>
          <a:xfrm>
            <a:off x="8200583" y="3464650"/>
            <a:ext cx="1075600" cy="0"/>
          </a:xfrm>
          <a:prstGeom prst="straightConnector1">
            <a:avLst/>
          </a:prstGeom>
          <a:ln w="19050">
            <a:solidFill>
              <a:srgbClr val="01285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34434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F4DC89-7412-50EB-6570-3AF2B2CEE562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Consumer Config – Partition Rebalance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0FEEF-389F-8268-4BAC-FD64F5654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How to set: </a:t>
            </a:r>
          </a:p>
          <a:p>
            <a:pPr lvl="1"/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partition.assignment.strategy</a:t>
            </a:r>
          </a:p>
          <a:p>
            <a:pPr lvl="1"/>
            <a:r>
              <a:rPr lang="hu-HU" dirty="0"/>
              <a:t>RangeAssignor:</a:t>
            </a:r>
          </a:p>
          <a:p>
            <a:pPr lvl="2"/>
            <a:r>
              <a:rPr lang="hu-HU" dirty="0"/>
              <a:t>Works in a per-topic basis (assign equal partitions to consumer per topic)</a:t>
            </a:r>
          </a:p>
          <a:p>
            <a:pPr lvl="2"/>
            <a:r>
              <a:rPr lang="hu-HU" dirty="0"/>
              <a:t>Can lead to imbalances</a:t>
            </a:r>
          </a:p>
          <a:p>
            <a:pPr lvl="1"/>
            <a:r>
              <a:rPr lang="hu-HU" dirty="0"/>
              <a:t>RoundRobin:</a:t>
            </a:r>
          </a:p>
          <a:p>
            <a:pPr lvl="2"/>
            <a:r>
              <a:rPr lang="hu-HU" dirty="0"/>
              <a:t>Assign partitions accross all topics in round-robin fashion, optimal balance</a:t>
            </a:r>
          </a:p>
          <a:p>
            <a:pPr lvl="1"/>
            <a:r>
              <a:rPr lang="hu-HU" dirty="0"/>
              <a:t>StickyAssignor:</a:t>
            </a:r>
          </a:p>
          <a:p>
            <a:pPr lvl="2"/>
            <a:r>
              <a:rPr lang="hu-HU" dirty="0"/>
              <a:t>Balanced like RoundRobin, and then minimizes partition movements</a:t>
            </a:r>
          </a:p>
          <a:p>
            <a:pPr lvl="1"/>
            <a:r>
              <a:rPr lang="hu-HU" dirty="0"/>
              <a:t>CooperativeStickyAssignor:</a:t>
            </a:r>
          </a:p>
          <a:p>
            <a:pPr lvl="2"/>
            <a:r>
              <a:rPr lang="hu-HU" dirty="0"/>
              <a:t>The same as StickyAssignor but supports cooperative rebalances and therefore consumers can keep on consuming.</a:t>
            </a:r>
          </a:p>
          <a:p>
            <a:pPr marL="457200" lvl="1" indent="0">
              <a:buNone/>
            </a:pPr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DC705945-6453-B68F-074B-7BC1DF4EA829}"/>
              </a:ext>
            </a:extLst>
          </p:cNvPr>
          <p:cNvSpPr/>
          <p:nvPr/>
        </p:nvSpPr>
        <p:spPr>
          <a:xfrm>
            <a:off x="7708900" y="1447800"/>
            <a:ext cx="469900" cy="18542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E484DE-E3D1-EB77-FE97-EF5EB11BEA1E}"/>
              </a:ext>
            </a:extLst>
          </p:cNvPr>
          <p:cNvSpPr txBox="1"/>
          <p:nvPr/>
        </p:nvSpPr>
        <p:spPr>
          <a:xfrm>
            <a:off x="8178800" y="2222499"/>
            <a:ext cx="19598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Eager Rebalance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5FDB1DF-FFE3-B4D0-8A7A-51C98A0AC2B7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BA0211EC-BA9A-A7F6-AA5F-C75503E2EF0C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E656DBF-360B-63F1-D4CA-F022CFA81E14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709038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5DDB9-121D-FAFA-CDA4-ECBDF4606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zöveg helye 2">
            <a:extLst>
              <a:ext uri="{FF2B5EF4-FFF2-40B4-BE49-F238E27FC236}">
                <a16:creationId xmlns:a16="http://schemas.microsoft.com/office/drawing/2014/main" id="{0C6C7085-DEAF-BE3C-3FE0-AB5276B92633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 algn="ctr"/>
            <a:r>
              <a:rPr lang="hu-HU" sz="4000" dirty="0">
                <a:solidFill>
                  <a:srgbClr val="012863"/>
                </a:solidFill>
              </a:rPr>
              <a:t>Kafka Clients – Advanced Use-Cases</a:t>
            </a:r>
            <a:endParaRPr lang="en-US" sz="4000" dirty="0">
              <a:solidFill>
                <a:srgbClr val="012863"/>
              </a:solidFill>
            </a:endParaRPr>
          </a:p>
          <a:p>
            <a:pPr algn="ctr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19574289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4C35A3-E625-A8DA-9436-4D0F7B76C9AA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A Realistic Scenario Architecture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25A315-3182-D4A1-0183-C42CA2A9C4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6065" y="1331192"/>
            <a:ext cx="2486372" cy="48584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7B13EC2-DF13-ADC1-C8F1-F2001FF38B96}"/>
              </a:ext>
            </a:extLst>
          </p:cNvPr>
          <p:cNvSpPr/>
          <p:nvPr/>
        </p:nvSpPr>
        <p:spPr>
          <a:xfrm>
            <a:off x="9356237" y="2305494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2FF4E1-9F36-81AD-FC12-3C26984AD256}"/>
              </a:ext>
            </a:extLst>
          </p:cNvPr>
          <p:cNvSpPr/>
          <p:nvPr/>
        </p:nvSpPr>
        <p:spPr>
          <a:xfrm>
            <a:off x="9356237" y="4928706"/>
            <a:ext cx="1446028" cy="47314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E4E799D-8855-4943-5519-3864C23855C5}"/>
              </a:ext>
            </a:extLst>
          </p:cNvPr>
          <p:cNvSpPr/>
          <p:nvPr/>
        </p:nvSpPr>
        <p:spPr>
          <a:xfrm>
            <a:off x="9122516" y="3275217"/>
            <a:ext cx="1913470" cy="1179503"/>
          </a:xfrm>
          <a:prstGeom prst="roundRect">
            <a:avLst/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BB5373F-FE51-0BC3-B717-65399CD3097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079251" y="1817035"/>
            <a:ext cx="2937" cy="488459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AB70DCE-4222-0B94-888A-76782ED02D3D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10079251" y="4454720"/>
            <a:ext cx="0" cy="47398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" descr="Apache Kafka">
            <a:extLst>
              <a:ext uri="{FF2B5EF4-FFF2-40B4-BE49-F238E27FC236}">
                <a16:creationId xmlns:a16="http://schemas.microsoft.com/office/drawing/2014/main" id="{CEC30A93-9809-89CE-E807-E38D8C645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9471" y="3894186"/>
            <a:ext cx="899556" cy="410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F5A71668-3E76-02C0-0D02-69EED4BD6073}"/>
              </a:ext>
            </a:extLst>
          </p:cNvPr>
          <p:cNvSpPr/>
          <p:nvPr/>
        </p:nvSpPr>
        <p:spPr>
          <a:xfrm>
            <a:off x="9239375" y="3472778"/>
            <a:ext cx="1679749" cy="27092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blockchain.tr.json</a:t>
            </a:r>
            <a:endParaRPr lang="en-US" sz="1400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4CF1A5-66C2-FE6D-C6EE-018ADF9A2CFA}"/>
              </a:ext>
            </a:extLst>
          </p:cNvPr>
          <p:cNvCxnSpPr>
            <a:cxnSpLocks/>
          </p:cNvCxnSpPr>
          <p:nvPr/>
        </p:nvCxnSpPr>
        <p:spPr>
          <a:xfrm flipH="1">
            <a:off x="10079249" y="2788196"/>
            <a:ext cx="2" cy="48262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Trademark and Brand Policy · OpenSearch">
            <a:extLst>
              <a:ext uri="{FF2B5EF4-FFF2-40B4-BE49-F238E27FC236}">
                <a16:creationId xmlns:a16="http://schemas.microsoft.com/office/drawing/2014/main" id="{FB823B50-F3B0-A54D-2FD7-7E15F19A66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8045" y="5875841"/>
            <a:ext cx="2242411" cy="434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913FE03-BF83-CFA1-9563-88EA0D5B1D27}"/>
              </a:ext>
            </a:extLst>
          </p:cNvPr>
          <p:cNvCxnSpPr>
            <a:cxnSpLocks/>
          </p:cNvCxnSpPr>
          <p:nvPr/>
        </p:nvCxnSpPr>
        <p:spPr>
          <a:xfrm>
            <a:off x="10082188" y="5401855"/>
            <a:ext cx="0" cy="47398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A324CED-E213-8720-B44A-FDE5635284B3}"/>
              </a:ext>
            </a:extLst>
          </p:cNvPr>
          <p:cNvSpPr txBox="1"/>
          <p:nvPr/>
        </p:nvSpPr>
        <p:spPr>
          <a:xfrm>
            <a:off x="10099676" y="1897784"/>
            <a:ext cx="1446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Websocket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F54BE4-E019-D610-84FD-72D69FEE1FA9}"/>
              </a:ext>
            </a:extLst>
          </p:cNvPr>
          <p:cNvSpPr txBox="1"/>
          <p:nvPr/>
        </p:nvSpPr>
        <p:spPr>
          <a:xfrm>
            <a:off x="10101921" y="5484959"/>
            <a:ext cx="1446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REST API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026B2E19-2706-C6B7-41A7-4BC53B5EAA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2162183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Blockchain.com:</a:t>
            </a:r>
          </a:p>
          <a:p>
            <a:pPr lvl="1"/>
            <a:r>
              <a:rPr lang="en-US" sz="1400" b="0" i="0" dirty="0">
                <a:solidFill>
                  <a:srgbClr val="000000"/>
                </a:solidFill>
                <a:effectLst/>
              </a:rPr>
              <a:t>Real-Time blockchain data</a:t>
            </a:r>
            <a:endParaRPr lang="hu-HU" sz="1400" b="0" i="0" dirty="0">
              <a:solidFill>
                <a:srgbClr val="000000"/>
              </a:solidFill>
              <a:effectLst/>
            </a:endParaRPr>
          </a:p>
          <a:p>
            <a:pPr lvl="1"/>
            <a:r>
              <a:rPr lang="en-US" sz="1400" b="0" i="0" dirty="0">
                <a:solidFill>
                  <a:srgbClr val="000000"/>
                </a:solidFill>
                <a:effectLst/>
              </a:rPr>
              <a:t>WebSocket API about new transactions and blocks</a:t>
            </a:r>
            <a:endParaRPr lang="hu-HU" sz="1400" b="0" i="0" dirty="0">
              <a:solidFill>
                <a:srgbClr val="000000"/>
              </a:solidFill>
              <a:effectLst/>
            </a:endParaRPr>
          </a:p>
          <a:p>
            <a:endParaRPr lang="hu-HU" sz="14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hu-HU" sz="1400" dirty="0">
                <a:solidFill>
                  <a:srgbClr val="000000"/>
                </a:solidFill>
                <a:highlight>
                  <a:srgbClr val="FFFFFF"/>
                </a:highlight>
              </a:rPr>
              <a:t>OpenSearch: 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O</a:t>
            </a:r>
            <a:r>
              <a:rPr lang="en-US" sz="1400" dirty="0">
                <a:solidFill>
                  <a:srgbClr val="1A1523"/>
                </a:solidFill>
                <a:highlight>
                  <a:srgbClr val="FFFFFF"/>
                </a:highlight>
              </a:rPr>
              <a:t>pen source search and analytics 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system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REST API available for most operations</a:t>
            </a:r>
          </a:p>
          <a:p>
            <a:pPr lvl="1"/>
            <a:endParaRPr lang="hu-HU" sz="14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marL="457200" lvl="1" indent="0">
              <a:buNone/>
            </a:pPr>
            <a:endParaRPr lang="hu-HU" sz="14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45644861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0B3D8-B157-D9FD-EBF3-166DCED97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9B38A6-147F-8A9D-1826-ACDB5B3C8472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A Realistic Scenario Architecture 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EBC99F0-E31A-26E8-970D-67AFDD43070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67798" y="1085677"/>
            <a:ext cx="5928202" cy="57912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Wingdings" panose="05000000000000000000" pitchFamily="2" charset="2"/>
              <a:buChar char="q"/>
              <a:defRPr sz="16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dirty="0"/>
              <a:t>op: Indicates the type of operation. Here, "</a:t>
            </a:r>
            <a:r>
              <a:rPr lang="en-US" sz="1000" dirty="0" err="1"/>
              <a:t>utx</a:t>
            </a:r>
            <a:r>
              <a:rPr lang="en-US" sz="1000" dirty="0"/>
              <a:t>" stands for unconfirmed transaction.</a:t>
            </a:r>
          </a:p>
          <a:p>
            <a:pPr>
              <a:spcBef>
                <a:spcPts val="600"/>
              </a:spcBef>
            </a:pPr>
            <a:r>
              <a:rPr lang="en-US" sz="1000" dirty="0"/>
              <a:t>x: The main object containing transaction details.</a:t>
            </a:r>
          </a:p>
          <a:p>
            <a:pPr lvl="1"/>
            <a:r>
              <a:rPr lang="en-US" sz="900" dirty="0" err="1"/>
              <a:t>lock_time</a:t>
            </a:r>
            <a:r>
              <a:rPr lang="en-US" sz="900" dirty="0"/>
              <a:t>: The earliest time or block the transaction is allowed to be added to the blockchain.</a:t>
            </a:r>
          </a:p>
          <a:p>
            <a:pPr lvl="1"/>
            <a:r>
              <a:rPr lang="en-US" sz="900" dirty="0" err="1"/>
              <a:t>ver</a:t>
            </a:r>
            <a:r>
              <a:rPr lang="en-US" sz="900" dirty="0"/>
              <a:t>: Version number of the transaction format.</a:t>
            </a:r>
          </a:p>
          <a:p>
            <a:pPr lvl="1"/>
            <a:r>
              <a:rPr lang="en-US" sz="900" dirty="0"/>
              <a:t>size: The size of the transaction in bytes.</a:t>
            </a:r>
          </a:p>
          <a:p>
            <a:pPr lvl="1"/>
            <a:r>
              <a:rPr lang="en-US" sz="900" dirty="0"/>
              <a:t>inputs: List of input details for the transaction.</a:t>
            </a:r>
          </a:p>
          <a:p>
            <a:pPr lvl="2"/>
            <a:r>
              <a:rPr lang="en-US" sz="800" dirty="0"/>
              <a:t>sequence: A sequence number, often used for signaling updates.</a:t>
            </a:r>
          </a:p>
          <a:p>
            <a:pPr lvl="2"/>
            <a:r>
              <a:rPr lang="en-US" sz="800" dirty="0" err="1"/>
              <a:t>prev_out</a:t>
            </a:r>
            <a:r>
              <a:rPr lang="en-US" sz="800" dirty="0"/>
              <a:t>: Details of the previous output being used as input.</a:t>
            </a:r>
          </a:p>
          <a:p>
            <a:pPr lvl="3"/>
            <a:r>
              <a:rPr lang="en-US" sz="800" dirty="0"/>
              <a:t>spent: Indicates whether the previous output has been spent.</a:t>
            </a:r>
          </a:p>
          <a:p>
            <a:pPr lvl="3"/>
            <a:r>
              <a:rPr lang="en-US" sz="800" dirty="0" err="1"/>
              <a:t>tx_index</a:t>
            </a:r>
            <a:r>
              <a:rPr lang="en-US" sz="800" dirty="0"/>
              <a:t>: The transaction index.</a:t>
            </a:r>
          </a:p>
          <a:p>
            <a:pPr lvl="3"/>
            <a:r>
              <a:rPr lang="en-US" sz="800" dirty="0"/>
              <a:t>type: The type of transaction.</a:t>
            </a:r>
          </a:p>
          <a:p>
            <a:pPr lvl="3"/>
            <a:r>
              <a:rPr lang="en-US" sz="800" dirty="0" err="1"/>
              <a:t>addr</a:t>
            </a:r>
            <a:r>
              <a:rPr lang="en-US" sz="800" dirty="0"/>
              <a:t>: The Bitcoin address of the previous output.</a:t>
            </a:r>
          </a:p>
          <a:p>
            <a:pPr lvl="3"/>
            <a:r>
              <a:rPr lang="en-US" sz="800" dirty="0"/>
              <a:t>value: The value of the </a:t>
            </a:r>
            <a:r>
              <a:rPr lang="en-US" sz="800" dirty="0" err="1"/>
              <a:t>the</a:t>
            </a:r>
            <a:r>
              <a:rPr lang="en-US" sz="800" dirty="0"/>
              <a:t> </a:t>
            </a:r>
            <a:r>
              <a:rPr lang="en-US" sz="800" dirty="0" err="1"/>
              <a:t>inpprevious</a:t>
            </a:r>
            <a:r>
              <a:rPr lang="en-US" sz="800" dirty="0"/>
              <a:t> output in </a:t>
            </a:r>
            <a:r>
              <a:rPr lang="en-US" sz="800" dirty="0" err="1"/>
              <a:t>satoshis</a:t>
            </a:r>
            <a:r>
              <a:rPr lang="en-US" sz="800" dirty="0"/>
              <a:t> (smallest Bitcoin unit).</a:t>
            </a:r>
          </a:p>
          <a:p>
            <a:pPr lvl="3"/>
            <a:r>
              <a:rPr lang="en-US" sz="800" dirty="0"/>
              <a:t>n: The index number of the previous output.</a:t>
            </a:r>
          </a:p>
          <a:p>
            <a:pPr lvl="3"/>
            <a:r>
              <a:rPr lang="en-US" sz="800" dirty="0"/>
              <a:t>script: The script of the previous output, often used for validation.</a:t>
            </a:r>
          </a:p>
          <a:p>
            <a:pPr lvl="2"/>
            <a:r>
              <a:rPr lang="en-US" sz="800" dirty="0"/>
              <a:t>script: The script that will unlock the funds of </a:t>
            </a:r>
            <a:r>
              <a:rPr lang="en-US" sz="800" dirty="0" err="1"/>
              <a:t>ut.</a:t>
            </a:r>
            <a:endParaRPr lang="en-US" sz="800" dirty="0"/>
          </a:p>
          <a:p>
            <a:pPr lvl="1"/>
            <a:r>
              <a:rPr lang="en-US" sz="900" dirty="0"/>
              <a:t>time: The Unix timestamp of the transaction.</a:t>
            </a:r>
          </a:p>
          <a:p>
            <a:pPr lvl="1"/>
            <a:r>
              <a:rPr lang="en-US" sz="900" dirty="0" err="1"/>
              <a:t>tx_index</a:t>
            </a:r>
            <a:r>
              <a:rPr lang="en-US" sz="900" dirty="0"/>
              <a:t>: The transaction index in the blockchain.</a:t>
            </a:r>
          </a:p>
          <a:p>
            <a:pPr lvl="1"/>
            <a:r>
              <a:rPr lang="en-US" sz="900" dirty="0" err="1"/>
              <a:t>vin_sz</a:t>
            </a:r>
            <a:r>
              <a:rPr lang="en-US" sz="900" dirty="0"/>
              <a:t>: Number of inputs in the transaction.</a:t>
            </a:r>
          </a:p>
          <a:p>
            <a:pPr lvl="1"/>
            <a:r>
              <a:rPr lang="en-US" sz="900" dirty="0"/>
              <a:t>hash: The hash identifier of the transaction.</a:t>
            </a:r>
          </a:p>
          <a:p>
            <a:pPr lvl="1"/>
            <a:r>
              <a:rPr lang="en-US" sz="900" dirty="0" err="1"/>
              <a:t>vout_sz</a:t>
            </a:r>
            <a:r>
              <a:rPr lang="en-US" sz="900" dirty="0"/>
              <a:t>: Number of outputs in the transaction.</a:t>
            </a:r>
          </a:p>
          <a:p>
            <a:pPr lvl="1"/>
            <a:r>
              <a:rPr lang="en-US" sz="900" dirty="0" err="1"/>
              <a:t>relayed_by</a:t>
            </a:r>
            <a:r>
              <a:rPr lang="en-US" sz="900" dirty="0"/>
              <a:t>: The IP address of the node that relayed the transaction.</a:t>
            </a:r>
          </a:p>
          <a:p>
            <a:pPr lvl="1"/>
            <a:r>
              <a:rPr lang="en-US" sz="900" dirty="0"/>
              <a:t>out: List of output details for the transaction.</a:t>
            </a:r>
          </a:p>
          <a:p>
            <a:pPr lvl="2"/>
            <a:r>
              <a:rPr lang="en-US" sz="800" dirty="0"/>
              <a:t>spent: Indicates whether the output has been spent.</a:t>
            </a:r>
          </a:p>
          <a:p>
            <a:pPr lvl="2"/>
            <a:r>
              <a:rPr lang="en-US" sz="800" dirty="0" err="1"/>
              <a:t>tx_index</a:t>
            </a:r>
            <a:r>
              <a:rPr lang="en-US" sz="800" dirty="0"/>
              <a:t>: The transaction index.</a:t>
            </a:r>
          </a:p>
          <a:p>
            <a:pPr lvl="2"/>
            <a:r>
              <a:rPr lang="en-US" sz="800" dirty="0"/>
              <a:t>type: The type of transaction.</a:t>
            </a:r>
          </a:p>
          <a:p>
            <a:pPr lvl="2"/>
            <a:r>
              <a:rPr lang="en-US" sz="800" dirty="0" err="1"/>
              <a:t>addr</a:t>
            </a:r>
            <a:r>
              <a:rPr lang="en-US" sz="800" dirty="0"/>
              <a:t>: The Bitcoin address of the output.</a:t>
            </a:r>
          </a:p>
          <a:p>
            <a:pPr lvl="2"/>
            <a:r>
              <a:rPr lang="en-US" sz="800" dirty="0"/>
              <a:t>value: The value of the output in </a:t>
            </a:r>
            <a:r>
              <a:rPr lang="en-US" sz="800" dirty="0" err="1"/>
              <a:t>satoshis</a:t>
            </a:r>
            <a:r>
              <a:rPr lang="en-US" sz="800" dirty="0"/>
              <a:t>.</a:t>
            </a:r>
          </a:p>
          <a:p>
            <a:pPr lvl="2"/>
            <a:r>
              <a:rPr lang="en-US" sz="800" dirty="0"/>
              <a:t>n: The index number of the output.</a:t>
            </a:r>
          </a:p>
          <a:p>
            <a:pPr lvl="2"/>
            <a:r>
              <a:rPr lang="en-US" sz="800" dirty="0"/>
              <a:t>script: The script of the output, often used for validation.</a:t>
            </a:r>
          </a:p>
          <a:p>
            <a:endParaRPr 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111B0A-EE1D-D1EE-EB1A-4E5CFEB03353}"/>
              </a:ext>
            </a:extLst>
          </p:cNvPr>
          <p:cNvSpPr txBox="1"/>
          <p:nvPr/>
        </p:nvSpPr>
        <p:spPr>
          <a:xfrm>
            <a:off x="7300224" y="1085677"/>
            <a:ext cx="4526549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"op": "</a:t>
            </a:r>
            <a:r>
              <a:rPr lang="en-US" sz="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utx</a:t>
            </a:r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"x": {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lock_time</a:t>
            </a:r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": 0,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</a:t>
            </a:r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": 1,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"size": 192,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"inputs": [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"sequence": 4294967295,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</a:t>
            </a:r>
            <a:r>
              <a:rPr lang="en-US" sz="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prev_out</a:t>
            </a:r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"spent": true,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"</a:t>
            </a:r>
            <a:r>
              <a:rPr lang="en-US" sz="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tx_index</a:t>
            </a:r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": 99005468,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"type": 0,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"</a:t>
            </a:r>
            <a:r>
              <a:rPr lang="en-US" sz="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addr</a:t>
            </a:r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": "1BwGf3z7n2fHk6NoVJNkV32qwyAYsMhkWf",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"value": 65574000,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"n": 0,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"script": "76a91477f4c9ee75e..."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},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"script": "483045022100e4ff...."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}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],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"time": 1440086763,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tx_index</a:t>
            </a:r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": 99006637,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vin_sz</a:t>
            </a:r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": 1,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"hash": "0857b9de1884eec...",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vout_sz</a:t>
            </a:r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": 1,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relayed_by</a:t>
            </a:r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": "127.0.0.1",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"out": [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"spent": false,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</a:t>
            </a:r>
            <a:r>
              <a:rPr lang="en-US" sz="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tx_index</a:t>
            </a:r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": 99006637,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"type": 0,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</a:t>
            </a:r>
            <a:r>
              <a:rPr lang="en-US" sz="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addr</a:t>
            </a:r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": "1A828tTnkVFJfSvLCqF42ohZ51ksS3jJgX",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"value": 65564000,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"n": 0,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"script": "76a914640cfd..."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  }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  ]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 sz="9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AA8DAD5-BC1A-B047-3EA2-DD725AA8E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0880" y="764606"/>
            <a:ext cx="2486372" cy="48584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C7E1F90-5ACB-F9CE-6B36-A7EAA15FFE29}"/>
              </a:ext>
            </a:extLst>
          </p:cNvPr>
          <p:cNvSpPr txBox="1"/>
          <p:nvPr/>
        </p:nvSpPr>
        <p:spPr>
          <a:xfrm>
            <a:off x="167798" y="766325"/>
            <a:ext cx="60976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/>
              </a:rPr>
              <a:t>https://www.blockchain.com/explorer/api/api_websocket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354685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41AAA-E9B3-EFB5-71A4-D2C5E3AAC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ABD5E-8509-34B9-8006-BF86537F11C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A Realistic Scenario Architecture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3A6C9E-649F-178D-3F38-7E3D72E36B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6065" y="1331192"/>
            <a:ext cx="2486372" cy="48584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58E0979-232B-443F-61ED-E2F0278102B3}"/>
              </a:ext>
            </a:extLst>
          </p:cNvPr>
          <p:cNvSpPr/>
          <p:nvPr/>
        </p:nvSpPr>
        <p:spPr>
          <a:xfrm>
            <a:off x="9356237" y="2305494"/>
            <a:ext cx="1446028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5CF9533-6D40-3C47-BC00-A6A6EBB077F1}"/>
              </a:ext>
            </a:extLst>
          </p:cNvPr>
          <p:cNvSpPr/>
          <p:nvPr/>
        </p:nvSpPr>
        <p:spPr>
          <a:xfrm>
            <a:off x="9122516" y="3275217"/>
            <a:ext cx="1913470" cy="1179503"/>
          </a:xfrm>
          <a:prstGeom prst="roundRect">
            <a:avLst/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F8AE88E-CD7E-B101-FCAF-3072B76CCD8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079251" y="1817035"/>
            <a:ext cx="2937" cy="488459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" descr="Apache Kafka">
            <a:extLst>
              <a:ext uri="{FF2B5EF4-FFF2-40B4-BE49-F238E27FC236}">
                <a16:creationId xmlns:a16="http://schemas.microsoft.com/office/drawing/2014/main" id="{B7027907-72FE-1BCD-F476-AAF94624D6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9471" y="3894186"/>
            <a:ext cx="899556" cy="410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19C959D0-7925-2D3A-6FC5-D50C3BA04404}"/>
              </a:ext>
            </a:extLst>
          </p:cNvPr>
          <p:cNvSpPr/>
          <p:nvPr/>
        </p:nvSpPr>
        <p:spPr>
          <a:xfrm>
            <a:off x="9239375" y="3472778"/>
            <a:ext cx="1679749" cy="27092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blockchain.tr.json</a:t>
            </a:r>
            <a:endParaRPr lang="en-US" sz="1400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9DA1437-179C-8CC1-1A29-B81A238AEBEA}"/>
              </a:ext>
            </a:extLst>
          </p:cNvPr>
          <p:cNvCxnSpPr>
            <a:cxnSpLocks/>
          </p:cNvCxnSpPr>
          <p:nvPr/>
        </p:nvCxnSpPr>
        <p:spPr>
          <a:xfrm flipH="1">
            <a:off x="10079249" y="2788196"/>
            <a:ext cx="2" cy="48262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79929E5-094E-8D6A-6B2D-39B21B4C92BD}"/>
              </a:ext>
            </a:extLst>
          </p:cNvPr>
          <p:cNvSpPr txBox="1"/>
          <p:nvPr/>
        </p:nvSpPr>
        <p:spPr>
          <a:xfrm>
            <a:off x="10099676" y="1897784"/>
            <a:ext cx="1446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Websocket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21361793-476D-1568-C569-42E311C6E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2162183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Blockchain.com:</a:t>
            </a:r>
          </a:p>
          <a:p>
            <a:pPr lvl="1"/>
            <a:r>
              <a:rPr lang="en-US" sz="1400" b="0" i="0" dirty="0">
                <a:solidFill>
                  <a:srgbClr val="000000"/>
                </a:solidFill>
                <a:effectLst/>
              </a:rPr>
              <a:t>Real-Time blockchain data</a:t>
            </a:r>
            <a:endParaRPr lang="hu-HU" sz="1400" b="0" i="0" dirty="0">
              <a:solidFill>
                <a:srgbClr val="000000"/>
              </a:solidFill>
              <a:effectLst/>
            </a:endParaRPr>
          </a:p>
          <a:p>
            <a:pPr lvl="1"/>
            <a:r>
              <a:rPr lang="en-US" sz="1400" b="0" i="0" dirty="0">
                <a:solidFill>
                  <a:srgbClr val="000000"/>
                </a:solidFill>
                <a:effectLst/>
              </a:rPr>
              <a:t>WebSocket API about new transactions and blocks</a:t>
            </a:r>
            <a:endParaRPr lang="hu-HU" sz="1400" b="0" i="0" dirty="0">
              <a:solidFill>
                <a:srgbClr val="000000"/>
              </a:solidFill>
              <a:effectLst/>
            </a:endParaRPr>
          </a:p>
          <a:p>
            <a:pPr marL="457200" lvl="1" indent="0">
              <a:buNone/>
            </a:pPr>
            <a:endParaRPr lang="hu-HU" sz="14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C2C1014-DB41-685B-D864-6737486B2147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4" name="Flowchart: Connector 3">
              <a:extLst>
                <a:ext uri="{FF2B5EF4-FFF2-40B4-BE49-F238E27FC236}">
                  <a16:creationId xmlns:a16="http://schemas.microsoft.com/office/drawing/2014/main" id="{B5751F2C-7702-0AAB-F219-86FA4EDECD6E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21E0FBD-D601-A16E-8251-38B8397E1655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2950439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Producer Config – Acknowledgment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4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Producer can get acknowledgment from broker to data writes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Options: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acks=0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: producer won’t wait for acknowledgment (possible data loss)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acks=1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: producer will wait for leader acknowledgment (limited data loss)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acks=all / acks=-1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: leader + replicas acknowledgment (no data loss)</a:t>
            </a:r>
            <a:endParaRPr lang="hu-HU" dirty="0">
              <a:solidFill>
                <a:srgbClr val="1A1523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0063E5D-24EF-9860-82A7-AA2309685892}"/>
              </a:ext>
            </a:extLst>
          </p:cNvPr>
          <p:cNvGrpSpPr/>
          <p:nvPr/>
        </p:nvGrpSpPr>
        <p:grpSpPr>
          <a:xfrm>
            <a:off x="5493858" y="3311019"/>
            <a:ext cx="4267517" cy="873127"/>
            <a:chOff x="3886189" y="3043780"/>
            <a:chExt cx="6410097" cy="132403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F180547-8312-28D4-C909-C42E9107715E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F93E631-5C09-77ED-2D81-E219041A0CA2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4560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1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A386190-2DEE-ACB3-BDF9-D52ED68CFB9D}"/>
              </a:ext>
            </a:extLst>
          </p:cNvPr>
          <p:cNvSpPr/>
          <p:nvPr/>
        </p:nvSpPr>
        <p:spPr>
          <a:xfrm>
            <a:off x="3595003" y="4523624"/>
            <a:ext cx="858871" cy="327448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DFD33B-2A76-C3C6-A234-E029B7672BE3}"/>
              </a:ext>
            </a:extLst>
          </p:cNvPr>
          <p:cNvSpPr txBox="1"/>
          <p:nvPr/>
        </p:nvSpPr>
        <p:spPr>
          <a:xfrm>
            <a:off x="5832403" y="3707737"/>
            <a:ext cx="1070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CFB87F-8BD3-0456-7705-C3573BD07189}"/>
              </a:ext>
            </a:extLst>
          </p:cNvPr>
          <p:cNvSpPr/>
          <p:nvPr/>
        </p:nvSpPr>
        <p:spPr>
          <a:xfrm>
            <a:off x="6996574" y="369091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0A4EA4-9586-03A0-1213-20A67107C369}"/>
              </a:ext>
            </a:extLst>
          </p:cNvPr>
          <p:cNvSpPr/>
          <p:nvPr/>
        </p:nvSpPr>
        <p:spPr>
          <a:xfrm>
            <a:off x="7395772" y="3690918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1BF5D7-36DD-DE49-058D-01373123906B}"/>
              </a:ext>
            </a:extLst>
          </p:cNvPr>
          <p:cNvSpPr/>
          <p:nvPr/>
        </p:nvSpPr>
        <p:spPr>
          <a:xfrm>
            <a:off x="7794970" y="3690920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168E848-38FF-6E34-513F-1BBC644798DD}"/>
              </a:ext>
            </a:extLst>
          </p:cNvPr>
          <p:cNvSpPr/>
          <p:nvPr/>
        </p:nvSpPr>
        <p:spPr>
          <a:xfrm>
            <a:off x="8194168" y="369091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BD2167-1F9C-BD82-D5E7-2FFE76061B2F}"/>
              </a:ext>
            </a:extLst>
          </p:cNvPr>
          <p:cNvSpPr/>
          <p:nvPr/>
        </p:nvSpPr>
        <p:spPr>
          <a:xfrm>
            <a:off x="8593366" y="369091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F82825-7AAA-A0E0-6013-24FDE506BF39}"/>
              </a:ext>
            </a:extLst>
          </p:cNvPr>
          <p:cNvSpPr/>
          <p:nvPr/>
        </p:nvSpPr>
        <p:spPr>
          <a:xfrm>
            <a:off x="8992564" y="3690918"/>
            <a:ext cx="399013" cy="32459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5DE610B-B2B4-97FB-A627-24F72974DB2E}"/>
              </a:ext>
            </a:extLst>
          </p:cNvPr>
          <p:cNvSpPr/>
          <p:nvPr/>
        </p:nvSpPr>
        <p:spPr>
          <a:xfrm>
            <a:off x="1353239" y="4452190"/>
            <a:ext cx="1026854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D58F8FE-7B94-87F9-A528-15A9A3E3AD04}"/>
              </a:ext>
            </a:extLst>
          </p:cNvPr>
          <p:cNvCxnSpPr>
            <a:cxnSpLocks/>
          </p:cNvCxnSpPr>
          <p:nvPr/>
        </p:nvCxnSpPr>
        <p:spPr>
          <a:xfrm>
            <a:off x="2618304" y="4682378"/>
            <a:ext cx="75391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7A41C5FE-3216-5B4D-EDC3-76AD1486EC83}"/>
              </a:ext>
            </a:extLst>
          </p:cNvPr>
          <p:cNvSpPr txBox="1"/>
          <p:nvPr/>
        </p:nvSpPr>
        <p:spPr>
          <a:xfrm>
            <a:off x="2463677" y="4335454"/>
            <a:ext cx="10705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5346CF3-8D50-E6B3-C3D2-9B7602A6E102}"/>
              </a:ext>
            </a:extLst>
          </p:cNvPr>
          <p:cNvGrpSpPr/>
          <p:nvPr/>
        </p:nvGrpSpPr>
        <p:grpSpPr>
          <a:xfrm>
            <a:off x="5491880" y="4263333"/>
            <a:ext cx="4267517" cy="873127"/>
            <a:chOff x="3886189" y="3043780"/>
            <a:chExt cx="6410097" cy="1324039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5D44026-C12E-4001-4AA8-42EF81B5BC29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D1F7033-41FF-CB53-A507-4DA6D9CE905C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3879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2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624BEAAC-F19B-22A4-BDB8-C7D26175C4BC}"/>
              </a:ext>
            </a:extLst>
          </p:cNvPr>
          <p:cNvSpPr txBox="1"/>
          <p:nvPr/>
        </p:nvSpPr>
        <p:spPr>
          <a:xfrm>
            <a:off x="5826402" y="4656240"/>
            <a:ext cx="1070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D5EBE66-6A7B-AAA4-75F4-19E4DF141272}"/>
              </a:ext>
            </a:extLst>
          </p:cNvPr>
          <p:cNvSpPr/>
          <p:nvPr/>
        </p:nvSpPr>
        <p:spPr>
          <a:xfrm>
            <a:off x="6994596" y="4643233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CDE5A9F-C3E7-22B8-CC06-A9444DD0887E}"/>
              </a:ext>
            </a:extLst>
          </p:cNvPr>
          <p:cNvSpPr/>
          <p:nvPr/>
        </p:nvSpPr>
        <p:spPr>
          <a:xfrm>
            <a:off x="7393794" y="4643232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20FF87B-D1F3-F93B-A701-B4DF842F78D9}"/>
              </a:ext>
            </a:extLst>
          </p:cNvPr>
          <p:cNvSpPr/>
          <p:nvPr/>
        </p:nvSpPr>
        <p:spPr>
          <a:xfrm>
            <a:off x="7792992" y="4643234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DFE4304-56C3-E84D-A484-D6C283E73ABF}"/>
              </a:ext>
            </a:extLst>
          </p:cNvPr>
          <p:cNvSpPr/>
          <p:nvPr/>
        </p:nvSpPr>
        <p:spPr>
          <a:xfrm>
            <a:off x="8194168" y="4643231"/>
            <a:ext cx="399013" cy="32459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D1AE62F-BFF6-C122-65E5-A9121CF96D02}"/>
              </a:ext>
            </a:extLst>
          </p:cNvPr>
          <p:cNvGrpSpPr/>
          <p:nvPr/>
        </p:nvGrpSpPr>
        <p:grpSpPr>
          <a:xfrm>
            <a:off x="5491880" y="5225289"/>
            <a:ext cx="4267517" cy="873127"/>
            <a:chOff x="3886189" y="3043780"/>
            <a:chExt cx="6410097" cy="1324039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E17907BD-9FF3-EADD-C765-37357DBF0476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D7F1128-F748-9AE0-2F92-BD528B846AE9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3879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3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5D5346EC-AB51-2396-4ADC-78EA2EFDA564}"/>
              </a:ext>
            </a:extLst>
          </p:cNvPr>
          <p:cNvSpPr txBox="1"/>
          <p:nvPr/>
        </p:nvSpPr>
        <p:spPr>
          <a:xfrm>
            <a:off x="5830423" y="5629034"/>
            <a:ext cx="1070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87064FB-7342-A6A1-0350-14AB0242622B}"/>
              </a:ext>
            </a:extLst>
          </p:cNvPr>
          <p:cNvSpPr/>
          <p:nvPr/>
        </p:nvSpPr>
        <p:spPr>
          <a:xfrm>
            <a:off x="6994596" y="560518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D1840F8-DBD9-A8BD-F8E0-F24868603F41}"/>
              </a:ext>
            </a:extLst>
          </p:cNvPr>
          <p:cNvSpPr/>
          <p:nvPr/>
        </p:nvSpPr>
        <p:spPr>
          <a:xfrm>
            <a:off x="7393794" y="5605188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E824362-83E1-2542-D397-BC4A31ADBB62}"/>
              </a:ext>
            </a:extLst>
          </p:cNvPr>
          <p:cNvSpPr/>
          <p:nvPr/>
        </p:nvSpPr>
        <p:spPr>
          <a:xfrm>
            <a:off x="7792992" y="5605190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1E0A87F-105D-3E1A-E58A-9238F73D76A2}"/>
              </a:ext>
            </a:extLst>
          </p:cNvPr>
          <p:cNvSpPr/>
          <p:nvPr/>
        </p:nvSpPr>
        <p:spPr>
          <a:xfrm>
            <a:off x="8183693" y="5604617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2B565FE-E653-8732-3FCD-CD4B71D2AB17}"/>
              </a:ext>
            </a:extLst>
          </p:cNvPr>
          <p:cNvSpPr/>
          <p:nvPr/>
        </p:nvSpPr>
        <p:spPr>
          <a:xfrm>
            <a:off x="8582891" y="5604619"/>
            <a:ext cx="399013" cy="32459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860DDBCE-7387-F9E8-594F-91522453E085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111681" y="3941520"/>
            <a:ext cx="804299" cy="625143"/>
          </a:xfrm>
          <a:prstGeom prst="bentConnector3">
            <a:avLst>
              <a:gd name="adj1" fmla="val 100133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485BBBF-AE71-8E63-E4A3-F175C715A26A}"/>
              </a:ext>
            </a:extLst>
          </p:cNvPr>
          <p:cNvCxnSpPr>
            <a:cxnSpLocks/>
          </p:cNvCxnSpPr>
          <p:nvPr/>
        </p:nvCxnSpPr>
        <p:spPr>
          <a:xfrm rot="16200000" flipH="1">
            <a:off x="5032866" y="4994976"/>
            <a:ext cx="956339" cy="619552"/>
          </a:xfrm>
          <a:prstGeom prst="bentConnector3">
            <a:avLst>
              <a:gd name="adj1" fmla="val 99799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25172B3F-2E4E-5E86-CE52-2D214B536FBB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4514669" y="4677303"/>
            <a:ext cx="1311733" cy="132826"/>
          </a:xfrm>
          <a:prstGeom prst="bentConnector3">
            <a:avLst>
              <a:gd name="adj1" fmla="val 52542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383160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Producer Config – Acknowledgment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4"/>
          </a:xfrm>
        </p:spPr>
        <p:txBody>
          <a:bodyPr/>
          <a:lstStyle/>
          <a:p>
            <a:r>
              <a:rPr lang="hu-HU" b="1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acks=0</a:t>
            </a:r>
            <a:r>
              <a:rPr lang="hu-HU" b="1" dirty="0">
                <a:solidFill>
                  <a:srgbClr val="1A1523"/>
                </a:solidFill>
                <a:highlight>
                  <a:srgbClr val="FFFFFF"/>
                </a:highlight>
              </a:rPr>
              <a:t>: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 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Producer consider message written successfully the moment it sends them, without any broker confirmation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If broker goes does or any exception happens, we won’t know and will lose data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Useful where this is not really a problem and throughput is the priority (e.g. metrics collection)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0063E5D-24EF-9860-82A7-AA2309685892}"/>
              </a:ext>
            </a:extLst>
          </p:cNvPr>
          <p:cNvGrpSpPr/>
          <p:nvPr/>
        </p:nvGrpSpPr>
        <p:grpSpPr>
          <a:xfrm>
            <a:off x="5493858" y="3311019"/>
            <a:ext cx="4267517" cy="873127"/>
            <a:chOff x="3886189" y="3043780"/>
            <a:chExt cx="6410097" cy="132403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F180547-8312-28D4-C909-C42E9107715E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F93E631-5C09-77ED-2D81-E219041A0CA2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4560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1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A386190-2DEE-ACB3-BDF9-D52ED68CFB9D}"/>
              </a:ext>
            </a:extLst>
          </p:cNvPr>
          <p:cNvSpPr/>
          <p:nvPr/>
        </p:nvSpPr>
        <p:spPr>
          <a:xfrm>
            <a:off x="3595003" y="4523624"/>
            <a:ext cx="858871" cy="327448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DFD33B-2A76-C3C6-A234-E029B7672BE3}"/>
              </a:ext>
            </a:extLst>
          </p:cNvPr>
          <p:cNvSpPr txBox="1"/>
          <p:nvPr/>
        </p:nvSpPr>
        <p:spPr>
          <a:xfrm>
            <a:off x="5832403" y="3707737"/>
            <a:ext cx="1070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CFB87F-8BD3-0456-7705-C3573BD07189}"/>
              </a:ext>
            </a:extLst>
          </p:cNvPr>
          <p:cNvSpPr/>
          <p:nvPr/>
        </p:nvSpPr>
        <p:spPr>
          <a:xfrm>
            <a:off x="6996574" y="369091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0A4EA4-9586-03A0-1213-20A67107C369}"/>
              </a:ext>
            </a:extLst>
          </p:cNvPr>
          <p:cNvSpPr/>
          <p:nvPr/>
        </p:nvSpPr>
        <p:spPr>
          <a:xfrm>
            <a:off x="7395772" y="3690918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1BF5D7-36DD-DE49-058D-01373123906B}"/>
              </a:ext>
            </a:extLst>
          </p:cNvPr>
          <p:cNvSpPr/>
          <p:nvPr/>
        </p:nvSpPr>
        <p:spPr>
          <a:xfrm>
            <a:off x="7794970" y="3690920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168E848-38FF-6E34-513F-1BBC644798DD}"/>
              </a:ext>
            </a:extLst>
          </p:cNvPr>
          <p:cNvSpPr/>
          <p:nvPr/>
        </p:nvSpPr>
        <p:spPr>
          <a:xfrm>
            <a:off x="8194168" y="369091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BD2167-1F9C-BD82-D5E7-2FFE76061B2F}"/>
              </a:ext>
            </a:extLst>
          </p:cNvPr>
          <p:cNvSpPr/>
          <p:nvPr/>
        </p:nvSpPr>
        <p:spPr>
          <a:xfrm>
            <a:off x="8593366" y="369091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F82825-7AAA-A0E0-6013-24FDE506BF39}"/>
              </a:ext>
            </a:extLst>
          </p:cNvPr>
          <p:cNvSpPr/>
          <p:nvPr/>
        </p:nvSpPr>
        <p:spPr>
          <a:xfrm>
            <a:off x="8992564" y="3690918"/>
            <a:ext cx="399013" cy="32459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5DE610B-B2B4-97FB-A627-24F72974DB2E}"/>
              </a:ext>
            </a:extLst>
          </p:cNvPr>
          <p:cNvSpPr/>
          <p:nvPr/>
        </p:nvSpPr>
        <p:spPr>
          <a:xfrm>
            <a:off x="1353239" y="4452190"/>
            <a:ext cx="1026854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D58F8FE-7B94-87F9-A528-15A9A3E3AD04}"/>
              </a:ext>
            </a:extLst>
          </p:cNvPr>
          <p:cNvCxnSpPr>
            <a:cxnSpLocks/>
          </p:cNvCxnSpPr>
          <p:nvPr/>
        </p:nvCxnSpPr>
        <p:spPr>
          <a:xfrm>
            <a:off x="2618304" y="4682378"/>
            <a:ext cx="75391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7A41C5FE-3216-5B4D-EDC3-76AD1486EC83}"/>
              </a:ext>
            </a:extLst>
          </p:cNvPr>
          <p:cNvSpPr txBox="1"/>
          <p:nvPr/>
        </p:nvSpPr>
        <p:spPr>
          <a:xfrm>
            <a:off x="2463677" y="4335454"/>
            <a:ext cx="10705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5346CF3-8D50-E6B3-C3D2-9B7602A6E102}"/>
              </a:ext>
            </a:extLst>
          </p:cNvPr>
          <p:cNvGrpSpPr/>
          <p:nvPr/>
        </p:nvGrpSpPr>
        <p:grpSpPr>
          <a:xfrm>
            <a:off x="5491880" y="4263333"/>
            <a:ext cx="4267517" cy="873127"/>
            <a:chOff x="3886189" y="3043780"/>
            <a:chExt cx="6410097" cy="1324039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5D44026-C12E-4001-4AA8-42EF81B5BC29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D1F7033-41FF-CB53-A507-4DA6D9CE905C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3879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2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624BEAAC-F19B-22A4-BDB8-C7D26175C4BC}"/>
              </a:ext>
            </a:extLst>
          </p:cNvPr>
          <p:cNvSpPr txBox="1"/>
          <p:nvPr/>
        </p:nvSpPr>
        <p:spPr>
          <a:xfrm>
            <a:off x="5826402" y="4656240"/>
            <a:ext cx="1070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D5EBE66-6A7B-AAA4-75F4-19E4DF141272}"/>
              </a:ext>
            </a:extLst>
          </p:cNvPr>
          <p:cNvSpPr/>
          <p:nvPr/>
        </p:nvSpPr>
        <p:spPr>
          <a:xfrm>
            <a:off x="6994596" y="4643233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CDE5A9F-C3E7-22B8-CC06-A9444DD0887E}"/>
              </a:ext>
            </a:extLst>
          </p:cNvPr>
          <p:cNvSpPr/>
          <p:nvPr/>
        </p:nvSpPr>
        <p:spPr>
          <a:xfrm>
            <a:off x="7393794" y="4643232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20FF87B-D1F3-F93B-A701-B4DF842F78D9}"/>
              </a:ext>
            </a:extLst>
          </p:cNvPr>
          <p:cNvSpPr/>
          <p:nvPr/>
        </p:nvSpPr>
        <p:spPr>
          <a:xfrm>
            <a:off x="7792992" y="4643234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DFE4304-56C3-E84D-A484-D6C283E73ABF}"/>
              </a:ext>
            </a:extLst>
          </p:cNvPr>
          <p:cNvSpPr/>
          <p:nvPr/>
        </p:nvSpPr>
        <p:spPr>
          <a:xfrm>
            <a:off x="8194168" y="4643231"/>
            <a:ext cx="399013" cy="32459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D1AE62F-BFF6-C122-65E5-A9121CF96D02}"/>
              </a:ext>
            </a:extLst>
          </p:cNvPr>
          <p:cNvGrpSpPr/>
          <p:nvPr/>
        </p:nvGrpSpPr>
        <p:grpSpPr>
          <a:xfrm>
            <a:off x="5491880" y="5225289"/>
            <a:ext cx="4267517" cy="873127"/>
            <a:chOff x="3886189" y="3043780"/>
            <a:chExt cx="6410097" cy="1324039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E17907BD-9FF3-EADD-C765-37357DBF0476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D7F1128-F748-9AE0-2F92-BD528B846AE9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3879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3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5D5346EC-AB51-2396-4ADC-78EA2EFDA564}"/>
              </a:ext>
            </a:extLst>
          </p:cNvPr>
          <p:cNvSpPr txBox="1"/>
          <p:nvPr/>
        </p:nvSpPr>
        <p:spPr>
          <a:xfrm>
            <a:off x="5830423" y="5629034"/>
            <a:ext cx="1070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87064FB-7342-A6A1-0350-14AB0242622B}"/>
              </a:ext>
            </a:extLst>
          </p:cNvPr>
          <p:cNvSpPr/>
          <p:nvPr/>
        </p:nvSpPr>
        <p:spPr>
          <a:xfrm>
            <a:off x="6994596" y="560518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D1840F8-DBD9-A8BD-F8E0-F24868603F41}"/>
              </a:ext>
            </a:extLst>
          </p:cNvPr>
          <p:cNvSpPr/>
          <p:nvPr/>
        </p:nvSpPr>
        <p:spPr>
          <a:xfrm>
            <a:off x="7393794" y="5605188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E824362-83E1-2542-D397-BC4A31ADBB62}"/>
              </a:ext>
            </a:extLst>
          </p:cNvPr>
          <p:cNvSpPr/>
          <p:nvPr/>
        </p:nvSpPr>
        <p:spPr>
          <a:xfrm>
            <a:off x="7792992" y="5605190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1E0A87F-105D-3E1A-E58A-9238F73D76A2}"/>
              </a:ext>
            </a:extLst>
          </p:cNvPr>
          <p:cNvSpPr/>
          <p:nvPr/>
        </p:nvSpPr>
        <p:spPr>
          <a:xfrm>
            <a:off x="8183693" y="5604617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2B565FE-E653-8732-3FCD-CD4B71D2AB17}"/>
              </a:ext>
            </a:extLst>
          </p:cNvPr>
          <p:cNvSpPr/>
          <p:nvPr/>
        </p:nvSpPr>
        <p:spPr>
          <a:xfrm>
            <a:off x="8582891" y="5604619"/>
            <a:ext cx="399013" cy="32459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860DDBCE-7387-F9E8-594F-91522453E085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111681" y="3941520"/>
            <a:ext cx="804299" cy="625143"/>
          </a:xfrm>
          <a:prstGeom prst="bentConnector3">
            <a:avLst>
              <a:gd name="adj1" fmla="val 100133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485BBBF-AE71-8E63-E4A3-F175C715A26A}"/>
              </a:ext>
            </a:extLst>
          </p:cNvPr>
          <p:cNvCxnSpPr>
            <a:cxnSpLocks/>
          </p:cNvCxnSpPr>
          <p:nvPr/>
        </p:nvCxnSpPr>
        <p:spPr>
          <a:xfrm rot="16200000" flipH="1">
            <a:off x="5032866" y="4994976"/>
            <a:ext cx="956339" cy="619552"/>
          </a:xfrm>
          <a:prstGeom prst="bentConnector3">
            <a:avLst>
              <a:gd name="adj1" fmla="val 99799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25172B3F-2E4E-5E86-CE52-2D214B536FBB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4514669" y="4677303"/>
            <a:ext cx="1311733" cy="132826"/>
          </a:xfrm>
          <a:prstGeom prst="bentConnector3">
            <a:avLst>
              <a:gd name="adj1" fmla="val 52542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46980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Producer Config – Acknowledgment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4"/>
          </a:xfrm>
        </p:spPr>
        <p:txBody>
          <a:bodyPr/>
          <a:lstStyle/>
          <a:p>
            <a:r>
              <a:rPr lang="hu-HU" b="1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acks=1</a:t>
            </a:r>
            <a:r>
              <a:rPr lang="hu-HU" b="1" dirty="0">
                <a:solidFill>
                  <a:srgbClr val="1A1523"/>
                </a:solidFill>
                <a:highlight>
                  <a:srgbClr val="FFFFFF"/>
                </a:highlight>
              </a:rPr>
              <a:t>: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 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Producer consider message written successfully when only the leader confirms it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Replication is not guaranteed as it happens in the background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If leader goes offline before replication is carried out will lose data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If broker confirmation is not received the producer might retries</a:t>
            </a:r>
          </a:p>
          <a:p>
            <a:pPr lvl="1"/>
            <a:endParaRPr lang="hu-HU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0063E5D-24EF-9860-82A7-AA2309685892}"/>
              </a:ext>
            </a:extLst>
          </p:cNvPr>
          <p:cNvGrpSpPr/>
          <p:nvPr/>
        </p:nvGrpSpPr>
        <p:grpSpPr>
          <a:xfrm>
            <a:off x="5493858" y="3311019"/>
            <a:ext cx="4267517" cy="873127"/>
            <a:chOff x="3886189" y="3043780"/>
            <a:chExt cx="6410097" cy="132403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F180547-8312-28D4-C909-C42E9107715E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F93E631-5C09-77ED-2D81-E219041A0CA2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4560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1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A386190-2DEE-ACB3-BDF9-D52ED68CFB9D}"/>
              </a:ext>
            </a:extLst>
          </p:cNvPr>
          <p:cNvSpPr/>
          <p:nvPr/>
        </p:nvSpPr>
        <p:spPr>
          <a:xfrm>
            <a:off x="3595003" y="4523624"/>
            <a:ext cx="858871" cy="327448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DFD33B-2A76-C3C6-A234-E029B7672BE3}"/>
              </a:ext>
            </a:extLst>
          </p:cNvPr>
          <p:cNvSpPr txBox="1"/>
          <p:nvPr/>
        </p:nvSpPr>
        <p:spPr>
          <a:xfrm>
            <a:off x="5832403" y="3707737"/>
            <a:ext cx="1070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CFB87F-8BD3-0456-7705-C3573BD07189}"/>
              </a:ext>
            </a:extLst>
          </p:cNvPr>
          <p:cNvSpPr/>
          <p:nvPr/>
        </p:nvSpPr>
        <p:spPr>
          <a:xfrm>
            <a:off x="6996574" y="369091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0A4EA4-9586-03A0-1213-20A67107C369}"/>
              </a:ext>
            </a:extLst>
          </p:cNvPr>
          <p:cNvSpPr/>
          <p:nvPr/>
        </p:nvSpPr>
        <p:spPr>
          <a:xfrm>
            <a:off x="7395772" y="3690918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1BF5D7-36DD-DE49-058D-01373123906B}"/>
              </a:ext>
            </a:extLst>
          </p:cNvPr>
          <p:cNvSpPr/>
          <p:nvPr/>
        </p:nvSpPr>
        <p:spPr>
          <a:xfrm>
            <a:off x="7794970" y="3690920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168E848-38FF-6E34-513F-1BBC644798DD}"/>
              </a:ext>
            </a:extLst>
          </p:cNvPr>
          <p:cNvSpPr/>
          <p:nvPr/>
        </p:nvSpPr>
        <p:spPr>
          <a:xfrm>
            <a:off x="8194168" y="369091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BD2167-1F9C-BD82-D5E7-2FFE76061B2F}"/>
              </a:ext>
            </a:extLst>
          </p:cNvPr>
          <p:cNvSpPr/>
          <p:nvPr/>
        </p:nvSpPr>
        <p:spPr>
          <a:xfrm>
            <a:off x="8593366" y="369091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F82825-7AAA-A0E0-6013-24FDE506BF39}"/>
              </a:ext>
            </a:extLst>
          </p:cNvPr>
          <p:cNvSpPr/>
          <p:nvPr/>
        </p:nvSpPr>
        <p:spPr>
          <a:xfrm>
            <a:off x="8992564" y="3690918"/>
            <a:ext cx="399013" cy="32459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5DE610B-B2B4-97FB-A627-24F72974DB2E}"/>
              </a:ext>
            </a:extLst>
          </p:cNvPr>
          <p:cNvSpPr/>
          <p:nvPr/>
        </p:nvSpPr>
        <p:spPr>
          <a:xfrm>
            <a:off x="1353239" y="4452190"/>
            <a:ext cx="1026854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D58F8FE-7B94-87F9-A528-15A9A3E3AD04}"/>
              </a:ext>
            </a:extLst>
          </p:cNvPr>
          <p:cNvCxnSpPr>
            <a:cxnSpLocks/>
          </p:cNvCxnSpPr>
          <p:nvPr/>
        </p:nvCxnSpPr>
        <p:spPr>
          <a:xfrm>
            <a:off x="2618304" y="4682378"/>
            <a:ext cx="75391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7A41C5FE-3216-5B4D-EDC3-76AD1486EC83}"/>
              </a:ext>
            </a:extLst>
          </p:cNvPr>
          <p:cNvSpPr txBox="1"/>
          <p:nvPr/>
        </p:nvSpPr>
        <p:spPr>
          <a:xfrm>
            <a:off x="2463677" y="4335454"/>
            <a:ext cx="10705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5346CF3-8D50-E6B3-C3D2-9B7602A6E102}"/>
              </a:ext>
            </a:extLst>
          </p:cNvPr>
          <p:cNvGrpSpPr/>
          <p:nvPr/>
        </p:nvGrpSpPr>
        <p:grpSpPr>
          <a:xfrm>
            <a:off x="5491880" y="4263333"/>
            <a:ext cx="4267517" cy="873127"/>
            <a:chOff x="3886189" y="3043780"/>
            <a:chExt cx="6410097" cy="1324039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5D44026-C12E-4001-4AA8-42EF81B5BC29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D1F7033-41FF-CB53-A507-4DA6D9CE905C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3879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2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624BEAAC-F19B-22A4-BDB8-C7D26175C4BC}"/>
              </a:ext>
            </a:extLst>
          </p:cNvPr>
          <p:cNvSpPr txBox="1"/>
          <p:nvPr/>
        </p:nvSpPr>
        <p:spPr>
          <a:xfrm>
            <a:off x="5826402" y="4656240"/>
            <a:ext cx="1070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D5EBE66-6A7B-AAA4-75F4-19E4DF141272}"/>
              </a:ext>
            </a:extLst>
          </p:cNvPr>
          <p:cNvSpPr/>
          <p:nvPr/>
        </p:nvSpPr>
        <p:spPr>
          <a:xfrm>
            <a:off x="6994596" y="4643233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CDE5A9F-C3E7-22B8-CC06-A9444DD0887E}"/>
              </a:ext>
            </a:extLst>
          </p:cNvPr>
          <p:cNvSpPr/>
          <p:nvPr/>
        </p:nvSpPr>
        <p:spPr>
          <a:xfrm>
            <a:off x="7393794" y="4643232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20FF87B-D1F3-F93B-A701-B4DF842F78D9}"/>
              </a:ext>
            </a:extLst>
          </p:cNvPr>
          <p:cNvSpPr/>
          <p:nvPr/>
        </p:nvSpPr>
        <p:spPr>
          <a:xfrm>
            <a:off x="7792992" y="4643234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DFE4304-56C3-E84D-A484-D6C283E73ABF}"/>
              </a:ext>
            </a:extLst>
          </p:cNvPr>
          <p:cNvSpPr/>
          <p:nvPr/>
        </p:nvSpPr>
        <p:spPr>
          <a:xfrm>
            <a:off x="8194168" y="4643231"/>
            <a:ext cx="399013" cy="32459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D1AE62F-BFF6-C122-65E5-A9121CF96D02}"/>
              </a:ext>
            </a:extLst>
          </p:cNvPr>
          <p:cNvGrpSpPr/>
          <p:nvPr/>
        </p:nvGrpSpPr>
        <p:grpSpPr>
          <a:xfrm>
            <a:off x="5491880" y="5225289"/>
            <a:ext cx="4267517" cy="873127"/>
            <a:chOff x="3886189" y="3043780"/>
            <a:chExt cx="6410097" cy="1324039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E17907BD-9FF3-EADD-C765-37357DBF0476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D7F1128-F748-9AE0-2F92-BD528B846AE9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3879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3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5D5346EC-AB51-2396-4ADC-78EA2EFDA564}"/>
              </a:ext>
            </a:extLst>
          </p:cNvPr>
          <p:cNvSpPr txBox="1"/>
          <p:nvPr/>
        </p:nvSpPr>
        <p:spPr>
          <a:xfrm>
            <a:off x="5830423" y="5629034"/>
            <a:ext cx="1070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87064FB-7342-A6A1-0350-14AB0242622B}"/>
              </a:ext>
            </a:extLst>
          </p:cNvPr>
          <p:cNvSpPr/>
          <p:nvPr/>
        </p:nvSpPr>
        <p:spPr>
          <a:xfrm>
            <a:off x="6994596" y="560518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D1840F8-DBD9-A8BD-F8E0-F24868603F41}"/>
              </a:ext>
            </a:extLst>
          </p:cNvPr>
          <p:cNvSpPr/>
          <p:nvPr/>
        </p:nvSpPr>
        <p:spPr>
          <a:xfrm>
            <a:off x="7393794" y="5605188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E824362-83E1-2542-D397-BC4A31ADBB62}"/>
              </a:ext>
            </a:extLst>
          </p:cNvPr>
          <p:cNvSpPr/>
          <p:nvPr/>
        </p:nvSpPr>
        <p:spPr>
          <a:xfrm>
            <a:off x="7792992" y="5605190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1E0A87F-105D-3E1A-E58A-9238F73D76A2}"/>
              </a:ext>
            </a:extLst>
          </p:cNvPr>
          <p:cNvSpPr/>
          <p:nvPr/>
        </p:nvSpPr>
        <p:spPr>
          <a:xfrm>
            <a:off x="8183693" y="5604617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2B565FE-E653-8732-3FCD-CD4B71D2AB17}"/>
              </a:ext>
            </a:extLst>
          </p:cNvPr>
          <p:cNvSpPr/>
          <p:nvPr/>
        </p:nvSpPr>
        <p:spPr>
          <a:xfrm>
            <a:off x="8582891" y="5604619"/>
            <a:ext cx="399013" cy="32459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860DDBCE-7387-F9E8-594F-91522453E085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111681" y="3941520"/>
            <a:ext cx="804299" cy="625143"/>
          </a:xfrm>
          <a:prstGeom prst="bentConnector3">
            <a:avLst>
              <a:gd name="adj1" fmla="val 100133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485BBBF-AE71-8E63-E4A3-F175C715A26A}"/>
              </a:ext>
            </a:extLst>
          </p:cNvPr>
          <p:cNvCxnSpPr>
            <a:cxnSpLocks/>
          </p:cNvCxnSpPr>
          <p:nvPr/>
        </p:nvCxnSpPr>
        <p:spPr>
          <a:xfrm rot="16200000" flipH="1">
            <a:off x="5032866" y="4994976"/>
            <a:ext cx="956339" cy="619552"/>
          </a:xfrm>
          <a:prstGeom prst="bentConnector3">
            <a:avLst>
              <a:gd name="adj1" fmla="val 99799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25172B3F-2E4E-5E86-CE52-2D214B536FBB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4514669" y="4677303"/>
            <a:ext cx="1311733" cy="132826"/>
          </a:xfrm>
          <a:prstGeom prst="bentConnector3">
            <a:avLst>
              <a:gd name="adj1" fmla="val 52542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23313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FA24E8-D51D-010F-6C33-385CE94CC41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Producer Config – Acknowledgment</a:t>
            </a:r>
            <a:endParaRPr lang="en-US" dirty="0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53C3BA8-989D-3C51-7C87-2E5C22FA4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4"/>
          </a:xfrm>
        </p:spPr>
        <p:txBody>
          <a:bodyPr/>
          <a:lstStyle/>
          <a:p>
            <a:r>
              <a:rPr lang="hu-HU" b="1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acks=all (acks=-1)</a:t>
            </a:r>
            <a:r>
              <a:rPr lang="hu-HU" b="1" dirty="0">
                <a:solidFill>
                  <a:srgbClr val="1A1523"/>
                </a:solidFill>
                <a:highlight>
                  <a:srgbClr val="FFFFFF"/>
                </a:highlight>
              </a:rPr>
              <a:t>: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 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This config actually goes hand-in-hand with the </a:t>
            </a:r>
            <a:r>
              <a:rPr lang="hu-HU" sz="18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min.insync.replicas</a:t>
            </a:r>
            <a:r>
              <a:rPr lang="hu-HU" sz="1800" dirty="0">
                <a:solidFill>
                  <a:srgbClr val="1A1523"/>
                </a:solidFill>
                <a:highlight>
                  <a:srgbClr val="FFFFFF"/>
                </a:highlight>
              </a:rPr>
              <a:t> </a:t>
            </a:r>
            <a:r>
              <a:rPr lang="hu-HU" b="1" dirty="0">
                <a:solidFill>
                  <a:srgbClr val="1A1523"/>
                </a:solidFill>
                <a:highlight>
                  <a:srgbClr val="FFFFFF"/>
                </a:highlight>
              </a:rPr>
              <a:t>broker 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setting, e.g.:</a:t>
            </a:r>
          </a:p>
          <a:p>
            <a:pPr lvl="2"/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min.insync.replicas=1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: only the leader needs to confirm</a:t>
            </a:r>
          </a:p>
          <a:p>
            <a:pPr lvl="2"/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min.insync.replicas=2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: at least the leader and an ISR needs to confirm</a:t>
            </a:r>
          </a:p>
          <a:p>
            <a:pPr lvl="1"/>
            <a:endParaRPr lang="hu-HU" sz="20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marL="1371600" lvl="3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endParaRPr lang="hu-HU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lvl="1"/>
            <a:endParaRPr lang="hu-HU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0063E5D-24EF-9860-82A7-AA2309685892}"/>
              </a:ext>
            </a:extLst>
          </p:cNvPr>
          <p:cNvGrpSpPr/>
          <p:nvPr/>
        </p:nvGrpSpPr>
        <p:grpSpPr>
          <a:xfrm>
            <a:off x="5493858" y="3311019"/>
            <a:ext cx="4267517" cy="873127"/>
            <a:chOff x="3886189" y="3043780"/>
            <a:chExt cx="6410097" cy="132403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F180547-8312-28D4-C909-C42E9107715E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F93E631-5C09-77ED-2D81-E219041A0CA2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4560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1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A386190-2DEE-ACB3-BDF9-D52ED68CFB9D}"/>
              </a:ext>
            </a:extLst>
          </p:cNvPr>
          <p:cNvSpPr/>
          <p:nvPr/>
        </p:nvSpPr>
        <p:spPr>
          <a:xfrm>
            <a:off x="3595003" y="4523624"/>
            <a:ext cx="858871" cy="327448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DFD33B-2A76-C3C6-A234-E029B7672BE3}"/>
              </a:ext>
            </a:extLst>
          </p:cNvPr>
          <p:cNvSpPr txBox="1"/>
          <p:nvPr/>
        </p:nvSpPr>
        <p:spPr>
          <a:xfrm>
            <a:off x="5832403" y="3707737"/>
            <a:ext cx="1070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CFB87F-8BD3-0456-7705-C3573BD07189}"/>
              </a:ext>
            </a:extLst>
          </p:cNvPr>
          <p:cNvSpPr/>
          <p:nvPr/>
        </p:nvSpPr>
        <p:spPr>
          <a:xfrm>
            <a:off x="6996574" y="369091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0A4EA4-9586-03A0-1213-20A67107C369}"/>
              </a:ext>
            </a:extLst>
          </p:cNvPr>
          <p:cNvSpPr/>
          <p:nvPr/>
        </p:nvSpPr>
        <p:spPr>
          <a:xfrm>
            <a:off x="7395772" y="3690918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1BF5D7-36DD-DE49-058D-01373123906B}"/>
              </a:ext>
            </a:extLst>
          </p:cNvPr>
          <p:cNvSpPr/>
          <p:nvPr/>
        </p:nvSpPr>
        <p:spPr>
          <a:xfrm>
            <a:off x="7794970" y="3690920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168E848-38FF-6E34-513F-1BBC644798DD}"/>
              </a:ext>
            </a:extLst>
          </p:cNvPr>
          <p:cNvSpPr/>
          <p:nvPr/>
        </p:nvSpPr>
        <p:spPr>
          <a:xfrm>
            <a:off x="8194168" y="369091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BD2167-1F9C-BD82-D5E7-2FFE76061B2F}"/>
              </a:ext>
            </a:extLst>
          </p:cNvPr>
          <p:cNvSpPr/>
          <p:nvPr/>
        </p:nvSpPr>
        <p:spPr>
          <a:xfrm>
            <a:off x="8593366" y="369091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F82825-7AAA-A0E0-6013-24FDE506BF39}"/>
              </a:ext>
            </a:extLst>
          </p:cNvPr>
          <p:cNvSpPr/>
          <p:nvPr/>
        </p:nvSpPr>
        <p:spPr>
          <a:xfrm>
            <a:off x="8992564" y="3690918"/>
            <a:ext cx="399013" cy="32459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5DE610B-B2B4-97FB-A627-24F72974DB2E}"/>
              </a:ext>
            </a:extLst>
          </p:cNvPr>
          <p:cNvSpPr/>
          <p:nvPr/>
        </p:nvSpPr>
        <p:spPr>
          <a:xfrm>
            <a:off x="1353239" y="4452190"/>
            <a:ext cx="1026854" cy="473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D58F8FE-7B94-87F9-A528-15A9A3E3AD04}"/>
              </a:ext>
            </a:extLst>
          </p:cNvPr>
          <p:cNvCxnSpPr>
            <a:cxnSpLocks/>
          </p:cNvCxnSpPr>
          <p:nvPr/>
        </p:nvCxnSpPr>
        <p:spPr>
          <a:xfrm>
            <a:off x="2618304" y="4682378"/>
            <a:ext cx="75391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7A41C5FE-3216-5B4D-EDC3-76AD1486EC83}"/>
              </a:ext>
            </a:extLst>
          </p:cNvPr>
          <p:cNvSpPr txBox="1"/>
          <p:nvPr/>
        </p:nvSpPr>
        <p:spPr>
          <a:xfrm>
            <a:off x="2463677" y="4335454"/>
            <a:ext cx="10705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5346CF3-8D50-E6B3-C3D2-9B7602A6E102}"/>
              </a:ext>
            </a:extLst>
          </p:cNvPr>
          <p:cNvGrpSpPr/>
          <p:nvPr/>
        </p:nvGrpSpPr>
        <p:grpSpPr>
          <a:xfrm>
            <a:off x="5491880" y="4263333"/>
            <a:ext cx="4267517" cy="873127"/>
            <a:chOff x="3886189" y="3043780"/>
            <a:chExt cx="6410097" cy="1324039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5D44026-C12E-4001-4AA8-42EF81B5BC29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D1F7033-41FF-CB53-A507-4DA6D9CE905C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3879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2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624BEAAC-F19B-22A4-BDB8-C7D26175C4BC}"/>
              </a:ext>
            </a:extLst>
          </p:cNvPr>
          <p:cNvSpPr txBox="1"/>
          <p:nvPr/>
        </p:nvSpPr>
        <p:spPr>
          <a:xfrm>
            <a:off x="5826402" y="4656240"/>
            <a:ext cx="1070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D5EBE66-6A7B-AAA4-75F4-19E4DF141272}"/>
              </a:ext>
            </a:extLst>
          </p:cNvPr>
          <p:cNvSpPr/>
          <p:nvPr/>
        </p:nvSpPr>
        <p:spPr>
          <a:xfrm>
            <a:off x="6994596" y="4643233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CDE5A9F-C3E7-22B8-CC06-A9444DD0887E}"/>
              </a:ext>
            </a:extLst>
          </p:cNvPr>
          <p:cNvSpPr/>
          <p:nvPr/>
        </p:nvSpPr>
        <p:spPr>
          <a:xfrm>
            <a:off x="7393794" y="4643232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20FF87B-D1F3-F93B-A701-B4DF842F78D9}"/>
              </a:ext>
            </a:extLst>
          </p:cNvPr>
          <p:cNvSpPr/>
          <p:nvPr/>
        </p:nvSpPr>
        <p:spPr>
          <a:xfrm>
            <a:off x="7792992" y="4643234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DFE4304-56C3-E84D-A484-D6C283E73ABF}"/>
              </a:ext>
            </a:extLst>
          </p:cNvPr>
          <p:cNvSpPr/>
          <p:nvPr/>
        </p:nvSpPr>
        <p:spPr>
          <a:xfrm>
            <a:off x="8194168" y="4643231"/>
            <a:ext cx="399013" cy="32459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D1AE62F-BFF6-C122-65E5-A9121CF96D02}"/>
              </a:ext>
            </a:extLst>
          </p:cNvPr>
          <p:cNvGrpSpPr/>
          <p:nvPr/>
        </p:nvGrpSpPr>
        <p:grpSpPr>
          <a:xfrm>
            <a:off x="5491880" y="5225289"/>
            <a:ext cx="4267517" cy="873127"/>
            <a:chOff x="3886189" y="3043780"/>
            <a:chExt cx="6410097" cy="1324039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E17907BD-9FF3-EADD-C765-37357DBF0476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D7F1128-F748-9AE0-2F92-BD528B846AE9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3879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3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5D5346EC-AB51-2396-4ADC-78EA2EFDA564}"/>
              </a:ext>
            </a:extLst>
          </p:cNvPr>
          <p:cNvSpPr txBox="1"/>
          <p:nvPr/>
        </p:nvSpPr>
        <p:spPr>
          <a:xfrm>
            <a:off x="5830423" y="5629034"/>
            <a:ext cx="1070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87064FB-7342-A6A1-0350-14AB0242622B}"/>
              </a:ext>
            </a:extLst>
          </p:cNvPr>
          <p:cNvSpPr/>
          <p:nvPr/>
        </p:nvSpPr>
        <p:spPr>
          <a:xfrm>
            <a:off x="6994596" y="560518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D1840F8-DBD9-A8BD-F8E0-F24868603F41}"/>
              </a:ext>
            </a:extLst>
          </p:cNvPr>
          <p:cNvSpPr/>
          <p:nvPr/>
        </p:nvSpPr>
        <p:spPr>
          <a:xfrm>
            <a:off x="7393794" y="5605188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E824362-83E1-2542-D397-BC4A31ADBB62}"/>
              </a:ext>
            </a:extLst>
          </p:cNvPr>
          <p:cNvSpPr/>
          <p:nvPr/>
        </p:nvSpPr>
        <p:spPr>
          <a:xfrm>
            <a:off x="7792992" y="5605190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1E0A87F-105D-3E1A-E58A-9238F73D76A2}"/>
              </a:ext>
            </a:extLst>
          </p:cNvPr>
          <p:cNvSpPr/>
          <p:nvPr/>
        </p:nvSpPr>
        <p:spPr>
          <a:xfrm>
            <a:off x="8183693" y="5604617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2B565FE-E653-8732-3FCD-CD4B71D2AB17}"/>
              </a:ext>
            </a:extLst>
          </p:cNvPr>
          <p:cNvSpPr/>
          <p:nvPr/>
        </p:nvSpPr>
        <p:spPr>
          <a:xfrm>
            <a:off x="8582891" y="5604619"/>
            <a:ext cx="399013" cy="32459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860DDBCE-7387-F9E8-594F-91522453E085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111681" y="3941520"/>
            <a:ext cx="804299" cy="625143"/>
          </a:xfrm>
          <a:prstGeom prst="bentConnector3">
            <a:avLst>
              <a:gd name="adj1" fmla="val 100133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485BBBF-AE71-8E63-E4A3-F175C715A26A}"/>
              </a:ext>
            </a:extLst>
          </p:cNvPr>
          <p:cNvCxnSpPr>
            <a:cxnSpLocks/>
          </p:cNvCxnSpPr>
          <p:nvPr/>
        </p:nvCxnSpPr>
        <p:spPr>
          <a:xfrm rot="16200000" flipH="1">
            <a:off x="5032866" y="4994976"/>
            <a:ext cx="956339" cy="619552"/>
          </a:xfrm>
          <a:prstGeom prst="bentConnector3">
            <a:avLst>
              <a:gd name="adj1" fmla="val 99799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25172B3F-2E4E-5E86-CE52-2D214B536FBB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4514669" y="4677303"/>
            <a:ext cx="1311733" cy="132826"/>
          </a:xfrm>
          <a:prstGeom prst="bentConnector3">
            <a:avLst>
              <a:gd name="adj1" fmla="val 52542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913966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7B6B4F-C5DC-B920-A39A-C5F8953644C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Producer Config – Acknowledgment</a:t>
            </a:r>
            <a:endParaRPr lang="en-US" dirty="0"/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3F23587-2217-561D-5F9B-3906C3859E26}"/>
              </a:ext>
            </a:extLst>
          </p:cNvPr>
          <p:cNvGrpSpPr/>
          <p:nvPr/>
        </p:nvGrpSpPr>
        <p:grpSpPr>
          <a:xfrm>
            <a:off x="8403886" y="4765973"/>
            <a:ext cx="2473693" cy="1825420"/>
            <a:chOff x="7611028" y="4292126"/>
            <a:chExt cx="2473693" cy="182542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4380C07-9511-A19C-62B6-E063B03EF9B1}"/>
                </a:ext>
              </a:extLst>
            </p:cNvPr>
            <p:cNvSpPr/>
            <p:nvPr/>
          </p:nvSpPr>
          <p:spPr>
            <a:xfrm>
              <a:off x="7611028" y="4301995"/>
              <a:ext cx="2473693" cy="181555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C5DBDF6-49D5-A603-C471-CCE36CF9DA2C}"/>
                </a:ext>
              </a:extLst>
            </p:cNvPr>
            <p:cNvSpPr txBox="1"/>
            <p:nvPr/>
          </p:nvSpPr>
          <p:spPr>
            <a:xfrm>
              <a:off x="7611029" y="4292126"/>
              <a:ext cx="2473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M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BBC4898-8BD8-48E6-54C7-B8CA4C251C58}"/>
              </a:ext>
            </a:extLst>
          </p:cNvPr>
          <p:cNvGrpSpPr/>
          <p:nvPr/>
        </p:nvGrpSpPr>
        <p:grpSpPr>
          <a:xfrm>
            <a:off x="5076390" y="4742606"/>
            <a:ext cx="2473693" cy="1825420"/>
            <a:chOff x="4984935" y="4281840"/>
            <a:chExt cx="2473693" cy="182542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2671E1C-89F6-2342-6274-2F9AC90434D6}"/>
                </a:ext>
              </a:extLst>
            </p:cNvPr>
            <p:cNvSpPr/>
            <p:nvPr/>
          </p:nvSpPr>
          <p:spPr>
            <a:xfrm>
              <a:off x="4984935" y="4291709"/>
              <a:ext cx="2473693" cy="181555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6FD6C34-86A6-7584-E1B5-11E460F00178}"/>
                </a:ext>
              </a:extLst>
            </p:cNvPr>
            <p:cNvSpPr txBox="1"/>
            <p:nvPr/>
          </p:nvSpPr>
          <p:spPr>
            <a:xfrm>
              <a:off x="4984936" y="4281840"/>
              <a:ext cx="2473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2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2FE2C65-A98F-FF8C-64CE-E0302BF09892}"/>
              </a:ext>
            </a:extLst>
          </p:cNvPr>
          <p:cNvGrpSpPr/>
          <p:nvPr/>
        </p:nvGrpSpPr>
        <p:grpSpPr>
          <a:xfrm>
            <a:off x="1748894" y="4742606"/>
            <a:ext cx="2473693" cy="1825420"/>
            <a:chOff x="2358842" y="4281840"/>
            <a:chExt cx="2473693" cy="182542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F5C367D-F853-9463-9056-3346B006EE6E}"/>
                </a:ext>
              </a:extLst>
            </p:cNvPr>
            <p:cNvSpPr/>
            <p:nvPr/>
          </p:nvSpPr>
          <p:spPr>
            <a:xfrm>
              <a:off x="2358842" y="4291709"/>
              <a:ext cx="2473693" cy="181555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2EB5845-0BF6-5003-46B3-9C0BC06DBFE7}"/>
                </a:ext>
              </a:extLst>
            </p:cNvPr>
            <p:cNvSpPr txBox="1"/>
            <p:nvPr/>
          </p:nvSpPr>
          <p:spPr>
            <a:xfrm>
              <a:off x="2358843" y="4281840"/>
              <a:ext cx="2473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1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DDF96F5A-D6B8-120D-CB94-664252BDFA06}"/>
              </a:ext>
            </a:extLst>
          </p:cNvPr>
          <p:cNvSpPr/>
          <p:nvPr/>
        </p:nvSpPr>
        <p:spPr>
          <a:xfrm>
            <a:off x="2279442" y="5224879"/>
            <a:ext cx="1446028" cy="430135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A2719E-D64B-3E9B-0AA1-B2E210903FAA}"/>
              </a:ext>
            </a:extLst>
          </p:cNvPr>
          <p:cNvSpPr/>
          <p:nvPr/>
        </p:nvSpPr>
        <p:spPr>
          <a:xfrm>
            <a:off x="5606938" y="5203372"/>
            <a:ext cx="1446028" cy="47314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</a:t>
            </a: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4AEAA3-52F6-CEC1-3849-6424BBCD2704}"/>
              </a:ext>
            </a:extLst>
          </p:cNvPr>
          <p:cNvSpPr/>
          <p:nvPr/>
        </p:nvSpPr>
        <p:spPr>
          <a:xfrm>
            <a:off x="8917718" y="5203372"/>
            <a:ext cx="1446028" cy="47314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4FB25B5-5F62-6135-B149-AF2D9A12B6DF}"/>
              </a:ext>
            </a:extLst>
          </p:cNvPr>
          <p:cNvCxnSpPr>
            <a:stCxn id="14" idx="3"/>
            <a:endCxn id="16" idx="1"/>
          </p:cNvCxnSpPr>
          <p:nvPr/>
        </p:nvCxnSpPr>
        <p:spPr>
          <a:xfrm>
            <a:off x="7052966" y="5439947"/>
            <a:ext cx="1864752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01B0F13-51D5-4A12-F409-3FA231256A68}"/>
              </a:ext>
            </a:extLst>
          </p:cNvPr>
          <p:cNvSpPr txBox="1"/>
          <p:nvPr/>
        </p:nvSpPr>
        <p:spPr>
          <a:xfrm>
            <a:off x="4160390" y="5138524"/>
            <a:ext cx="9781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replication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68BF92-2767-B203-5122-36DB64CE29EB}"/>
              </a:ext>
            </a:extLst>
          </p:cNvPr>
          <p:cNvSpPr txBox="1"/>
          <p:nvPr/>
        </p:nvSpPr>
        <p:spPr>
          <a:xfrm>
            <a:off x="7496243" y="5135629"/>
            <a:ext cx="9781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replication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980A7AB-2FC4-1025-5C16-95E30FCA8DFD}"/>
              </a:ext>
            </a:extLst>
          </p:cNvPr>
          <p:cNvSpPr/>
          <p:nvPr/>
        </p:nvSpPr>
        <p:spPr>
          <a:xfrm>
            <a:off x="400554" y="5291863"/>
            <a:ext cx="988692" cy="30777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Leader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808F606-F162-879B-6FD9-600F7BFC6E3D}"/>
              </a:ext>
            </a:extLst>
          </p:cNvPr>
          <p:cNvSpPr/>
          <p:nvPr/>
        </p:nvSpPr>
        <p:spPr>
          <a:xfrm>
            <a:off x="400554" y="5739670"/>
            <a:ext cx="988692" cy="3077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ISR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5945EC4-146F-6C60-AD0A-8FDBB9EAA806}"/>
              </a:ext>
            </a:extLst>
          </p:cNvPr>
          <p:cNvCxnSpPr/>
          <p:nvPr/>
        </p:nvCxnSpPr>
        <p:spPr>
          <a:xfrm>
            <a:off x="3742186" y="5439947"/>
            <a:ext cx="1864752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8313D3D-6D4E-3C17-E376-7FDBCDD83C95}"/>
              </a:ext>
            </a:extLst>
          </p:cNvPr>
          <p:cNvSpPr txBox="1"/>
          <p:nvPr/>
        </p:nvSpPr>
        <p:spPr>
          <a:xfrm>
            <a:off x="1808198" y="3107512"/>
            <a:ext cx="291498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replication.factor=M</a:t>
            </a:r>
            <a:endParaRPr lang="en-US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57A481-EBC1-1A2B-CAF1-D0DAFFE2A1EF}"/>
              </a:ext>
            </a:extLst>
          </p:cNvPr>
          <p:cNvSpPr txBox="1"/>
          <p:nvPr/>
        </p:nvSpPr>
        <p:spPr>
          <a:xfrm>
            <a:off x="5184362" y="3802837"/>
            <a:ext cx="2823857" cy="342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min.insync.replicas=N</a:t>
            </a:r>
            <a:endParaRPr lang="en-US" sz="1600" dirty="0"/>
          </a:p>
        </p:txBody>
      </p:sp>
      <p:sp>
        <p:nvSpPr>
          <p:cNvPr id="33" name="Left Brace 32">
            <a:extLst>
              <a:ext uri="{FF2B5EF4-FFF2-40B4-BE49-F238E27FC236}">
                <a16:creationId xmlns:a16="http://schemas.microsoft.com/office/drawing/2014/main" id="{0699A9EA-6D8C-A5D5-507F-6A286DEC7FDC}"/>
              </a:ext>
            </a:extLst>
          </p:cNvPr>
          <p:cNvSpPr/>
          <p:nvPr/>
        </p:nvSpPr>
        <p:spPr>
          <a:xfrm rot="5400000">
            <a:off x="6084680" y="-888085"/>
            <a:ext cx="457117" cy="9128686"/>
          </a:xfrm>
          <a:prstGeom prst="leftBrace">
            <a:avLst>
              <a:gd name="adj1" fmla="val 8333"/>
              <a:gd name="adj2" fmla="val 8419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Left Brace 33">
            <a:extLst>
              <a:ext uri="{FF2B5EF4-FFF2-40B4-BE49-F238E27FC236}">
                <a16:creationId xmlns:a16="http://schemas.microsoft.com/office/drawing/2014/main" id="{E68ED16F-3BCD-DDF5-3F76-854FEC7B7F22}"/>
              </a:ext>
            </a:extLst>
          </p:cNvPr>
          <p:cNvSpPr/>
          <p:nvPr/>
        </p:nvSpPr>
        <p:spPr>
          <a:xfrm rot="5400000">
            <a:off x="7748425" y="1473624"/>
            <a:ext cx="457119" cy="5801190"/>
          </a:xfrm>
          <a:prstGeom prst="leftBrace">
            <a:avLst>
              <a:gd name="adj1" fmla="val 8333"/>
              <a:gd name="adj2" fmla="val 74401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7EB1BF5-7C68-502B-2D03-1A8895004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1982309"/>
          </a:xfrm>
        </p:spPr>
        <p:txBody>
          <a:bodyPr/>
          <a:lstStyle/>
          <a:p>
            <a:r>
              <a:rPr lang="hu-HU" b="1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acks=all (acks=-1)</a:t>
            </a:r>
            <a:r>
              <a:rPr lang="hu-HU" b="1" dirty="0">
                <a:solidFill>
                  <a:srgbClr val="1A1523"/>
                </a:solidFill>
                <a:highlight>
                  <a:srgbClr val="FFFFFF"/>
                </a:highlight>
              </a:rPr>
              <a:t>: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 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This config actually goes hand-in-hand with the </a:t>
            </a:r>
            <a:r>
              <a:rPr lang="hu-HU" sz="18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min.insync.replicas</a:t>
            </a:r>
            <a:r>
              <a:rPr lang="hu-HU" sz="1800" dirty="0">
                <a:solidFill>
                  <a:srgbClr val="1A1523"/>
                </a:solidFill>
                <a:highlight>
                  <a:srgbClr val="FFFFFF"/>
                </a:highlight>
              </a:rPr>
              <a:t> </a:t>
            </a:r>
            <a:r>
              <a:rPr lang="hu-HU" b="1" dirty="0">
                <a:solidFill>
                  <a:srgbClr val="1A1523"/>
                </a:solidFill>
                <a:highlight>
                  <a:srgbClr val="FFFFFF"/>
                </a:highlight>
              </a:rPr>
              <a:t>broker 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setting, e.g.:</a:t>
            </a:r>
          </a:p>
          <a:p>
            <a:pPr lvl="2"/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min.insync.replicas=1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: only the leader needs to confirm</a:t>
            </a:r>
          </a:p>
          <a:p>
            <a:pPr lvl="2"/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min.insync.replicas=2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: at least the leader and an ISR needs to confirm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If 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replication.factor=M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 and 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min.insync.replicas=N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 we can tolerate M-N brokers going down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68965061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F5C367D-F853-9463-9056-3346B006EE6E}"/>
              </a:ext>
            </a:extLst>
          </p:cNvPr>
          <p:cNvSpPr/>
          <p:nvPr/>
        </p:nvSpPr>
        <p:spPr>
          <a:xfrm>
            <a:off x="1004442" y="3051065"/>
            <a:ext cx="2015868" cy="326656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AD393C-06E6-9528-09BD-11E8AEDCD4F3}"/>
              </a:ext>
            </a:extLst>
          </p:cNvPr>
          <p:cNvSpPr/>
          <p:nvPr/>
        </p:nvSpPr>
        <p:spPr>
          <a:xfrm>
            <a:off x="3020383" y="3051061"/>
            <a:ext cx="2015868" cy="32665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5DA8BD-9A4D-B46C-EB16-E8FB8A8A6299}"/>
              </a:ext>
            </a:extLst>
          </p:cNvPr>
          <p:cNvSpPr/>
          <p:nvPr/>
        </p:nvSpPr>
        <p:spPr>
          <a:xfrm>
            <a:off x="5036251" y="3051057"/>
            <a:ext cx="2015868" cy="326656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4CFD3E-25B6-9E49-D03D-BAE265648ED0}"/>
              </a:ext>
            </a:extLst>
          </p:cNvPr>
          <p:cNvSpPr/>
          <p:nvPr/>
        </p:nvSpPr>
        <p:spPr>
          <a:xfrm>
            <a:off x="7052119" y="3051053"/>
            <a:ext cx="2015868" cy="32665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57E96C-4529-5F33-A71D-42C33ED0DA70}"/>
              </a:ext>
            </a:extLst>
          </p:cNvPr>
          <p:cNvSpPr/>
          <p:nvPr/>
        </p:nvSpPr>
        <p:spPr>
          <a:xfrm>
            <a:off x="9057222" y="3051049"/>
            <a:ext cx="2015868" cy="326656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7B6B4F-C5DC-B920-A39A-C5F8953644C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Producer Config – Retries and Timeouts</a:t>
            </a:r>
            <a:endParaRPr lang="en-US" dirty="0"/>
          </a:p>
          <a:p>
            <a:endParaRPr lang="en-US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5945EC4-146F-6C60-AD0A-8FDBB9EAA806}"/>
              </a:ext>
            </a:extLst>
          </p:cNvPr>
          <p:cNvCxnSpPr>
            <a:cxnSpLocks/>
          </p:cNvCxnSpPr>
          <p:nvPr/>
        </p:nvCxnSpPr>
        <p:spPr>
          <a:xfrm>
            <a:off x="1004516" y="3741645"/>
            <a:ext cx="2015867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8313D3D-6D4E-3C17-E376-7FDBCDD83C95}"/>
              </a:ext>
            </a:extLst>
          </p:cNvPr>
          <p:cNvSpPr txBox="1"/>
          <p:nvPr/>
        </p:nvSpPr>
        <p:spPr>
          <a:xfrm>
            <a:off x="1303245" y="3433110"/>
            <a:ext cx="18355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400" dirty="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max.block.ms</a:t>
            </a:r>
            <a:endParaRPr lang="en-US" sz="1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57A481-EBC1-1A2B-CAF1-D0DAFFE2A1EF}"/>
              </a:ext>
            </a:extLst>
          </p:cNvPr>
          <p:cNvSpPr txBox="1"/>
          <p:nvPr/>
        </p:nvSpPr>
        <p:spPr>
          <a:xfrm>
            <a:off x="8991721" y="5484346"/>
            <a:ext cx="21942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400" dirty="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request.timeout.ms</a:t>
            </a:r>
            <a:endParaRPr lang="en-US" sz="1400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7EB1BF5-7C68-502B-2D03-1A8895004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629579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In case of transient failures (i.e. network or „not enough replicas”) retry is rational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Several settings influences it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max.block.ms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: amount of time the producer </a:t>
            </a:r>
            <a:r>
              <a:rPr lang="hu-HU" sz="1400" b="1" dirty="0">
                <a:solidFill>
                  <a:srgbClr val="1A1523"/>
                </a:solidFill>
                <a:highlight>
                  <a:srgbClr val="FFFFFF"/>
                </a:highlight>
              </a:rPr>
              <a:t>block in order to wait for the broker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 to be able to receive messages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linger.ms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: amount of time the producer </a:t>
            </a:r>
            <a:r>
              <a:rPr lang="hu-HU" sz="1400" b="1" dirty="0">
                <a:solidFill>
                  <a:srgbClr val="1A1523"/>
                </a:solidFill>
                <a:highlight>
                  <a:srgbClr val="FFFFFF"/>
                </a:highlight>
              </a:rPr>
              <a:t>wait before sending a batch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retry.backoff.ms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: amount of time the producer </a:t>
            </a:r>
            <a:r>
              <a:rPr lang="hu-HU" sz="1400" b="1" dirty="0">
                <a:solidFill>
                  <a:srgbClr val="1A1523"/>
                </a:solidFill>
                <a:highlight>
                  <a:srgbClr val="FFFFFF"/>
                </a:highlight>
              </a:rPr>
              <a:t>wait before a retry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request.timeout.ms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: amount of time the producer </a:t>
            </a:r>
            <a:r>
              <a:rPr lang="hu-HU" sz="1400" b="1" dirty="0">
                <a:solidFill>
                  <a:srgbClr val="1A1523"/>
                </a:solidFill>
                <a:highlight>
                  <a:srgbClr val="FFFFFF"/>
                </a:highlight>
              </a:rPr>
              <a:t>wait for a response from the broker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delivery.timeout.ms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: amount of time to </a:t>
            </a:r>
            <a:r>
              <a:rPr lang="hu-HU" sz="1400" b="1" dirty="0">
                <a:solidFill>
                  <a:srgbClr val="1A1523"/>
                </a:solidFill>
                <a:highlight>
                  <a:srgbClr val="FFFFFF"/>
                </a:highlight>
              </a:rPr>
              <a:t>wait for a record to be sent successfully (default is 2 mins)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59552-06A6-C543-DDBF-FC05ED11EA42}"/>
              </a:ext>
            </a:extLst>
          </p:cNvPr>
          <p:cNvSpPr txBox="1"/>
          <p:nvPr/>
        </p:nvSpPr>
        <p:spPr>
          <a:xfrm>
            <a:off x="3453199" y="3931318"/>
            <a:ext cx="15263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hu-HU" sz="1400" dirty="0"/>
              <a:t>linger.ms</a:t>
            </a:r>
            <a:endParaRPr 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5107F7-0F44-4F03-2652-BC01955C6B6F}"/>
              </a:ext>
            </a:extLst>
          </p:cNvPr>
          <p:cNvSpPr txBox="1"/>
          <p:nvPr/>
        </p:nvSpPr>
        <p:spPr>
          <a:xfrm>
            <a:off x="7097985" y="4940296"/>
            <a:ext cx="23721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400" dirty="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retry.backoff.ms</a:t>
            </a:r>
            <a:endParaRPr lang="en-US" sz="14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50E753B-D12C-35B8-3594-360536E489AD}"/>
              </a:ext>
            </a:extLst>
          </p:cNvPr>
          <p:cNvCxnSpPr>
            <a:cxnSpLocks/>
          </p:cNvCxnSpPr>
          <p:nvPr/>
        </p:nvCxnSpPr>
        <p:spPr>
          <a:xfrm>
            <a:off x="3020384" y="4240610"/>
            <a:ext cx="2015867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8011253-DD21-733B-7C9E-748646F52817}"/>
              </a:ext>
            </a:extLst>
          </p:cNvPr>
          <p:cNvCxnSpPr>
            <a:cxnSpLocks/>
          </p:cNvCxnSpPr>
          <p:nvPr/>
        </p:nvCxnSpPr>
        <p:spPr>
          <a:xfrm flipV="1">
            <a:off x="5036251" y="4739575"/>
            <a:ext cx="4020971" cy="8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A929E3D-FC68-957E-A2B3-2D0D6D517F4A}"/>
              </a:ext>
            </a:extLst>
          </p:cNvPr>
          <p:cNvCxnSpPr>
            <a:cxnSpLocks/>
          </p:cNvCxnSpPr>
          <p:nvPr/>
        </p:nvCxnSpPr>
        <p:spPr>
          <a:xfrm>
            <a:off x="7057199" y="5241573"/>
            <a:ext cx="2015867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209A29B-7D59-C20E-9E6B-623E75488ED4}"/>
              </a:ext>
            </a:extLst>
          </p:cNvPr>
          <p:cNvCxnSpPr>
            <a:cxnSpLocks/>
          </p:cNvCxnSpPr>
          <p:nvPr/>
        </p:nvCxnSpPr>
        <p:spPr>
          <a:xfrm>
            <a:off x="9073066" y="5792123"/>
            <a:ext cx="2015867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88835B6-B72F-8A87-BA66-3EE75B280D57}"/>
              </a:ext>
            </a:extLst>
          </p:cNvPr>
          <p:cNvSpPr txBox="1"/>
          <p:nvPr/>
        </p:nvSpPr>
        <p:spPr>
          <a:xfrm>
            <a:off x="1004516" y="6330768"/>
            <a:ext cx="20157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400" b="1" dirty="0">
                <a:solidFill>
                  <a:srgbClr val="1A1523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Send()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F529D7-A077-9342-FDFB-AADDF7C0E74A}"/>
              </a:ext>
            </a:extLst>
          </p:cNvPr>
          <p:cNvSpPr txBox="1"/>
          <p:nvPr/>
        </p:nvSpPr>
        <p:spPr>
          <a:xfrm>
            <a:off x="3020457" y="6330768"/>
            <a:ext cx="20157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400" b="1" dirty="0">
                <a:solidFill>
                  <a:srgbClr val="1A1523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Batching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762D9FF-96A6-6746-A0E1-2E9FC44CABEE}"/>
              </a:ext>
            </a:extLst>
          </p:cNvPr>
          <p:cNvSpPr txBox="1"/>
          <p:nvPr/>
        </p:nvSpPr>
        <p:spPr>
          <a:xfrm>
            <a:off x="5059258" y="6317610"/>
            <a:ext cx="20157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400" b="1" dirty="0">
                <a:solidFill>
                  <a:srgbClr val="1A1523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Await send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58C5E08-B260-08FF-29EB-FF6E14DD140E}"/>
              </a:ext>
            </a:extLst>
          </p:cNvPr>
          <p:cNvSpPr txBox="1"/>
          <p:nvPr/>
        </p:nvSpPr>
        <p:spPr>
          <a:xfrm>
            <a:off x="7075052" y="6330767"/>
            <a:ext cx="20157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400" b="1" dirty="0">
                <a:solidFill>
                  <a:srgbClr val="1A1523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Retries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72A468-42F2-F62A-81D5-611EC2F4DBD4}"/>
              </a:ext>
            </a:extLst>
          </p:cNvPr>
          <p:cNvSpPr txBox="1"/>
          <p:nvPr/>
        </p:nvSpPr>
        <p:spPr>
          <a:xfrm>
            <a:off x="9067987" y="6340635"/>
            <a:ext cx="20157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Inflight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40EE110-3FB1-40B3-752C-6AD85839702A}"/>
              </a:ext>
            </a:extLst>
          </p:cNvPr>
          <p:cNvSpPr txBox="1"/>
          <p:nvPr/>
        </p:nvSpPr>
        <p:spPr>
          <a:xfrm>
            <a:off x="3026807" y="5937829"/>
            <a:ext cx="8046283" cy="3077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hu-HU" sz="1400" dirty="0"/>
              <a:t>delivery.timeout.ms &gt;= linger.ms + retry.backoff.ms + request.timeout.ms</a:t>
            </a:r>
            <a:endParaRPr lang="en-US" sz="14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C8C98DC-C54C-CF59-54C0-72FA4C2028EB}"/>
              </a:ext>
            </a:extLst>
          </p:cNvPr>
          <p:cNvSpPr txBox="1"/>
          <p:nvPr/>
        </p:nvSpPr>
        <p:spPr>
          <a:xfrm>
            <a:off x="2974516" y="5663924"/>
            <a:ext cx="15263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New Timeout: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6979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7B6B4F-C5DC-B920-A39A-C5F8953644C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Producer Config – Message Compression</a:t>
            </a:r>
            <a:endParaRPr lang="en-US" dirty="0"/>
          </a:p>
          <a:p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7EB1BF5-7C68-502B-2D03-1A8895004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3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It’s common that producer sends text-based data, e.g. JSON format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For greater efficiency you can enable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compression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Compression can be enabled on the Producer side and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does not require any change at the Broker or Consumer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It’s set by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compression.type = [none | gzip | lz4 | snappy | zstd]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Bigger batch size leads to better compression efficiency.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Advantages: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Much smaller producer request (compression ratio = 4x)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Faster to transfer the data =&gt; less latency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Better throughput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Better disk utilization in Kafka (stored messages on disk are smaller)</a:t>
            </a:r>
          </a:p>
          <a:p>
            <a:pPr lvl="1"/>
            <a:endParaRPr lang="hu-HU" sz="14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Disadvantages: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Producers and Consumers must sacrifies CPU cycles to compression/decompression</a:t>
            </a:r>
          </a:p>
          <a:p>
            <a:pPr lvl="1"/>
            <a:endParaRPr lang="hu-HU" sz="14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137931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7B6B4F-C5DC-B920-A39A-C5F8953644C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Producer Config – Message Compression</a:t>
            </a:r>
            <a:endParaRPr lang="en-US" dirty="0"/>
          </a:p>
          <a:p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7EB1BF5-7C68-502B-2D03-1A8895004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3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It’s common that producer sends text-based data, e.g. JSON format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For greater efficiency you can enable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compression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Compression can be enabled on the Producer side and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does not require any change at the Broker or Consumer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It’s set by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compression.type = [none | gzip | lz4 | snappy | zstd]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Bigger batch size leads to better compression efficiency.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Consider testing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linger.ms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 and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batch.size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 for optimal compression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linger.ms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: </a:t>
            </a:r>
          </a:p>
          <a:p>
            <a:pPr lvl="2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how long to wait until producer send the batch</a:t>
            </a:r>
          </a:p>
          <a:p>
            <a:pPr lvl="2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Increases latency but also throughput (adding 5-10-20 ms or so is a rational number)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batch.size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: </a:t>
            </a:r>
          </a:p>
          <a:p>
            <a:pPr lvl="2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if batch is filled before linger.ms you can increase it</a:t>
            </a:r>
          </a:p>
          <a:p>
            <a:pPr lvl="2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default is 16 KB but 32 KB or 64 KB are common as well</a:t>
            </a: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20A7DA4-A83C-238B-A0C0-3BD232DB3C4F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8745E8DC-E9D2-4D9B-1C30-56DF52599AD6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7B6762A-DFBC-BD0B-1A9D-4298C0DD406C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9115200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7B6B4F-C5DC-B920-A39A-C5F8953644C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Broker Config – Message Compression</a:t>
            </a:r>
            <a:endParaRPr lang="en-US" dirty="0"/>
          </a:p>
          <a:p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7EB1BF5-7C68-502B-2D03-1A8895004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3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You can set compression at the Broker level as well: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for all topic or specific topic</a:t>
            </a:r>
          </a:p>
          <a:p>
            <a:pPr lvl="1"/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It’s set by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compression.type = [producer | none | specific-compression-algorithm]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producer: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 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Default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Broker takes the compressed batch and writes it to the topic’s log file without recompressing it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none: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All batches are decompressed by the Broker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lz4: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 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If it’s matching the Producer setting, data is stored on the disk as is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If it’s different batches are decompressed and then recompressed using the specified algorithm</a:t>
            </a: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519343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7B6B4F-C5DC-B920-A39A-C5F8953644C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Producer Config – Idempotent Producer</a:t>
            </a:r>
            <a:endParaRPr lang="en-US" dirty="0"/>
          </a:p>
          <a:p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7EB1BF5-7C68-502B-2D03-1A8895004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1"/>
            <a:ext cx="11877674" cy="762506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In case of older Kafka a non-idempotent producer can introduce duplicate commits.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1FFFF77-B8AF-045A-A390-ADDC37406AB6}"/>
              </a:ext>
            </a:extLst>
          </p:cNvPr>
          <p:cNvSpPr txBox="1"/>
          <p:nvPr/>
        </p:nvSpPr>
        <p:spPr>
          <a:xfrm>
            <a:off x="9066247" y="4423484"/>
            <a:ext cx="22180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hu-HU" sz="1400" b="1" dirty="0">
                <a:solidFill>
                  <a:srgbClr val="FF0000"/>
                </a:solidFill>
              </a:rPr>
              <a:t>5. Commit duplicate</a:t>
            </a:r>
            <a:endParaRPr lang="en-US" sz="1400" b="1" dirty="0">
              <a:solidFill>
                <a:srgbClr val="FF0000"/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3CE32A8-17B0-5132-C070-130B243DFA4E}"/>
              </a:ext>
            </a:extLst>
          </p:cNvPr>
          <p:cNvSpPr txBox="1"/>
          <p:nvPr/>
        </p:nvSpPr>
        <p:spPr>
          <a:xfrm>
            <a:off x="3530920" y="1669110"/>
            <a:ext cx="2672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algn="ctr"/>
            <a:r>
              <a:rPr lang="hu-HU" sz="1400" b="1" dirty="0">
                <a:solidFill>
                  <a:schemeClr val="accent5"/>
                </a:solidFill>
              </a:rPr>
              <a:t>1. send message</a:t>
            </a:r>
            <a:endParaRPr lang="en-US" sz="1400" b="1" dirty="0">
              <a:solidFill>
                <a:schemeClr val="accent5"/>
              </a:solidFill>
            </a:endParaRP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9B82E81A-3948-7026-8856-3C04359EE682}"/>
              </a:ext>
            </a:extLst>
          </p:cNvPr>
          <p:cNvCxnSpPr>
            <a:cxnSpLocks/>
          </p:cNvCxnSpPr>
          <p:nvPr/>
        </p:nvCxnSpPr>
        <p:spPr>
          <a:xfrm>
            <a:off x="3522698" y="1976887"/>
            <a:ext cx="2680582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BD2985E-6087-D791-6215-3624C1FB111C}"/>
              </a:ext>
            </a:extLst>
          </p:cNvPr>
          <p:cNvSpPr/>
          <p:nvPr/>
        </p:nvSpPr>
        <p:spPr>
          <a:xfrm>
            <a:off x="1516225" y="1262906"/>
            <a:ext cx="2006472" cy="3953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01914DE1-49CB-37D2-DAA2-7BDC32C190A8}"/>
              </a:ext>
            </a:extLst>
          </p:cNvPr>
          <p:cNvSpPr/>
          <p:nvPr/>
        </p:nvSpPr>
        <p:spPr>
          <a:xfrm>
            <a:off x="6203280" y="1262914"/>
            <a:ext cx="2031711" cy="3953655"/>
          </a:xfrm>
          <a:prstGeom prst="roundRect">
            <a:avLst/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3" name="Picture 2" descr="Apache Kafka">
            <a:extLst>
              <a:ext uri="{FF2B5EF4-FFF2-40B4-BE49-F238E27FC236}">
                <a16:creationId xmlns:a16="http://schemas.microsoft.com/office/drawing/2014/main" id="{DEDC4362-0BC5-2168-752D-86770998FD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2626" y="3031608"/>
            <a:ext cx="899556" cy="410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6107DF0A-1FC3-DBDD-E763-58015C56B5D3}"/>
              </a:ext>
            </a:extLst>
          </p:cNvPr>
          <p:cNvCxnSpPr>
            <a:cxnSpLocks/>
          </p:cNvCxnSpPr>
          <p:nvPr/>
        </p:nvCxnSpPr>
        <p:spPr>
          <a:xfrm>
            <a:off x="8267087" y="1970768"/>
            <a:ext cx="767064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2C324DFE-DCBD-B3B7-CC3A-2D41F601B84B}"/>
              </a:ext>
            </a:extLst>
          </p:cNvPr>
          <p:cNvCxnSpPr>
            <a:cxnSpLocks/>
          </p:cNvCxnSpPr>
          <p:nvPr/>
        </p:nvCxnSpPr>
        <p:spPr>
          <a:xfrm>
            <a:off x="9034151" y="1976387"/>
            <a:ext cx="0" cy="293562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EBDBCAC-346D-7D6A-A724-EDCBC545E6E7}"/>
              </a:ext>
            </a:extLst>
          </p:cNvPr>
          <p:cNvCxnSpPr>
            <a:cxnSpLocks/>
          </p:cNvCxnSpPr>
          <p:nvPr/>
        </p:nvCxnSpPr>
        <p:spPr>
          <a:xfrm>
            <a:off x="8267087" y="2269949"/>
            <a:ext cx="767064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1D67A8C-ECB4-F91A-7360-05874B5CDDF5}"/>
              </a:ext>
            </a:extLst>
          </p:cNvPr>
          <p:cNvSpPr txBox="1"/>
          <p:nvPr/>
        </p:nvSpPr>
        <p:spPr>
          <a:xfrm>
            <a:off x="9025929" y="1956235"/>
            <a:ext cx="20064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hu-HU" sz="1400" dirty="0"/>
              <a:t>2. commit</a:t>
            </a:r>
            <a:endParaRPr lang="en-US" sz="1400" dirty="0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E02C2DF-A724-08FF-6CB7-FA340D204041}"/>
              </a:ext>
            </a:extLst>
          </p:cNvPr>
          <p:cNvCxnSpPr>
            <a:cxnSpLocks/>
          </p:cNvCxnSpPr>
          <p:nvPr/>
        </p:nvCxnSpPr>
        <p:spPr>
          <a:xfrm>
            <a:off x="3514475" y="2283982"/>
            <a:ext cx="2680582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10B8934-1C0F-2100-8FAF-D85BE73CC914}"/>
              </a:ext>
            </a:extLst>
          </p:cNvPr>
          <p:cNvSpPr txBox="1"/>
          <p:nvPr/>
        </p:nvSpPr>
        <p:spPr>
          <a:xfrm>
            <a:off x="3522697" y="2014942"/>
            <a:ext cx="2672360" cy="30776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algn="ctr"/>
            <a:r>
              <a:rPr lang="hu-HU" sz="1400" dirty="0"/>
              <a:t>3. ack</a:t>
            </a:r>
            <a:endParaRPr lang="en-US" sz="14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8DF6DF1-506A-3AA1-2F45-4F3A58170388}"/>
              </a:ext>
            </a:extLst>
          </p:cNvPr>
          <p:cNvSpPr txBox="1"/>
          <p:nvPr/>
        </p:nvSpPr>
        <p:spPr>
          <a:xfrm>
            <a:off x="3530921" y="3091980"/>
            <a:ext cx="2672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algn="ctr"/>
            <a:r>
              <a:rPr lang="hu-HU" sz="1400" b="1" dirty="0">
                <a:solidFill>
                  <a:schemeClr val="accent5"/>
                </a:solidFill>
              </a:rPr>
              <a:t>1. send message</a:t>
            </a:r>
            <a:endParaRPr lang="en-US" sz="1400" b="1" dirty="0">
              <a:solidFill>
                <a:schemeClr val="accent5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BA3C97A-C065-9E0A-51BD-BF0D7163563F}"/>
              </a:ext>
            </a:extLst>
          </p:cNvPr>
          <p:cNvCxnSpPr>
            <a:cxnSpLocks/>
          </p:cNvCxnSpPr>
          <p:nvPr/>
        </p:nvCxnSpPr>
        <p:spPr>
          <a:xfrm>
            <a:off x="3522699" y="3399757"/>
            <a:ext cx="2680582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C917A02A-517F-7089-A9A1-4ACB41438399}"/>
              </a:ext>
            </a:extLst>
          </p:cNvPr>
          <p:cNvCxnSpPr>
            <a:cxnSpLocks/>
          </p:cNvCxnSpPr>
          <p:nvPr/>
        </p:nvCxnSpPr>
        <p:spPr>
          <a:xfrm>
            <a:off x="3937218" y="3728098"/>
            <a:ext cx="2266062" cy="0"/>
          </a:xfrm>
          <a:prstGeom prst="straightConnector1">
            <a:avLst/>
          </a:prstGeom>
          <a:ln w="12700">
            <a:solidFill>
              <a:srgbClr val="FF000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C994B723-71A5-1268-9683-A5A3682C16CD}"/>
              </a:ext>
            </a:extLst>
          </p:cNvPr>
          <p:cNvSpPr txBox="1"/>
          <p:nvPr/>
        </p:nvSpPr>
        <p:spPr>
          <a:xfrm>
            <a:off x="3530919" y="3435432"/>
            <a:ext cx="2672360" cy="30776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algn="ctr"/>
            <a:r>
              <a:rPr lang="hu-HU" sz="1400" dirty="0"/>
              <a:t>3. ack is lost</a:t>
            </a:r>
            <a:endParaRPr lang="en-US" sz="1400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B852597-4DC0-E1A2-9A8D-42779D9183D9}"/>
              </a:ext>
            </a:extLst>
          </p:cNvPr>
          <p:cNvCxnSpPr>
            <a:cxnSpLocks/>
          </p:cNvCxnSpPr>
          <p:nvPr/>
        </p:nvCxnSpPr>
        <p:spPr>
          <a:xfrm>
            <a:off x="8275309" y="3415751"/>
            <a:ext cx="767064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A75E57D9-2571-E704-F494-618E177C0201}"/>
              </a:ext>
            </a:extLst>
          </p:cNvPr>
          <p:cNvCxnSpPr>
            <a:cxnSpLocks/>
          </p:cNvCxnSpPr>
          <p:nvPr/>
        </p:nvCxnSpPr>
        <p:spPr>
          <a:xfrm>
            <a:off x="9042373" y="3421370"/>
            <a:ext cx="0" cy="293562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4DC2833C-E5A6-8355-85A2-42AC191D0A31}"/>
              </a:ext>
            </a:extLst>
          </p:cNvPr>
          <p:cNvCxnSpPr>
            <a:cxnSpLocks/>
          </p:cNvCxnSpPr>
          <p:nvPr/>
        </p:nvCxnSpPr>
        <p:spPr>
          <a:xfrm>
            <a:off x="8275309" y="3714932"/>
            <a:ext cx="767064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C8573E0A-CCE8-5212-8A2E-148E0748AEE1}"/>
              </a:ext>
            </a:extLst>
          </p:cNvPr>
          <p:cNvSpPr txBox="1"/>
          <p:nvPr/>
        </p:nvSpPr>
        <p:spPr>
          <a:xfrm>
            <a:off x="9034151" y="3401218"/>
            <a:ext cx="20064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hu-HU" sz="1400" dirty="0"/>
              <a:t>2. commit</a:t>
            </a:r>
            <a:endParaRPr lang="en-US" sz="1400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F5C816FD-0A4B-2D51-508F-D57E78F6436D}"/>
              </a:ext>
            </a:extLst>
          </p:cNvPr>
          <p:cNvSpPr txBox="1"/>
          <p:nvPr/>
        </p:nvSpPr>
        <p:spPr>
          <a:xfrm>
            <a:off x="3522697" y="3927003"/>
            <a:ext cx="2672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algn="ctr"/>
            <a:r>
              <a:rPr lang="hu-HU" sz="1400" b="1" dirty="0">
                <a:solidFill>
                  <a:schemeClr val="accent5"/>
                </a:solidFill>
              </a:rPr>
              <a:t>4. retry</a:t>
            </a:r>
            <a:endParaRPr lang="en-US" sz="1400" b="1" dirty="0">
              <a:solidFill>
                <a:schemeClr val="accent5"/>
              </a:solidFill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AD25A77C-D14D-540A-F2D6-D5D6B3DC6886}"/>
              </a:ext>
            </a:extLst>
          </p:cNvPr>
          <p:cNvCxnSpPr>
            <a:cxnSpLocks/>
          </p:cNvCxnSpPr>
          <p:nvPr/>
        </p:nvCxnSpPr>
        <p:spPr>
          <a:xfrm>
            <a:off x="3514475" y="4234780"/>
            <a:ext cx="2680582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85F08A96-E520-FAE1-82BC-F906508D6CF9}"/>
              </a:ext>
            </a:extLst>
          </p:cNvPr>
          <p:cNvCxnSpPr>
            <a:cxnSpLocks/>
          </p:cNvCxnSpPr>
          <p:nvPr/>
        </p:nvCxnSpPr>
        <p:spPr>
          <a:xfrm>
            <a:off x="8267087" y="4417865"/>
            <a:ext cx="767064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81D026E6-3335-8E36-349D-9257618E4783}"/>
              </a:ext>
            </a:extLst>
          </p:cNvPr>
          <p:cNvCxnSpPr>
            <a:cxnSpLocks/>
          </p:cNvCxnSpPr>
          <p:nvPr/>
        </p:nvCxnSpPr>
        <p:spPr>
          <a:xfrm>
            <a:off x="9034151" y="4423484"/>
            <a:ext cx="0" cy="293562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A88F817-208C-EAA8-F524-D0A068393E27}"/>
              </a:ext>
            </a:extLst>
          </p:cNvPr>
          <p:cNvCxnSpPr>
            <a:cxnSpLocks/>
          </p:cNvCxnSpPr>
          <p:nvPr/>
        </p:nvCxnSpPr>
        <p:spPr>
          <a:xfrm>
            <a:off x="8267087" y="4717046"/>
            <a:ext cx="767064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07592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7B6B4F-C5DC-B920-A39A-C5F8953644C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Producer Config – Idempotent Producer</a:t>
            </a:r>
            <a:endParaRPr lang="en-US" dirty="0"/>
          </a:p>
          <a:p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7EB1BF5-7C68-502B-2D03-1A8895004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6010580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By defining an idempotent producer we can avoid duplicates that could caused by network error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59552-06A6-C543-DDBF-FC05ED11EA42}"/>
              </a:ext>
            </a:extLst>
          </p:cNvPr>
          <p:cNvSpPr txBox="1"/>
          <p:nvPr/>
        </p:nvSpPr>
        <p:spPr>
          <a:xfrm>
            <a:off x="3530920" y="1669110"/>
            <a:ext cx="2672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algn="ctr"/>
            <a:r>
              <a:rPr lang="hu-HU" sz="1400" b="1" dirty="0">
                <a:solidFill>
                  <a:schemeClr val="accent5"/>
                </a:solidFill>
              </a:rPr>
              <a:t>1. send message</a:t>
            </a:r>
            <a:endParaRPr lang="en-US" sz="1400" b="1" dirty="0">
              <a:solidFill>
                <a:schemeClr val="accent5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50E753B-D12C-35B8-3594-360536E489AD}"/>
              </a:ext>
            </a:extLst>
          </p:cNvPr>
          <p:cNvCxnSpPr>
            <a:cxnSpLocks/>
          </p:cNvCxnSpPr>
          <p:nvPr/>
        </p:nvCxnSpPr>
        <p:spPr>
          <a:xfrm>
            <a:off x="3522698" y="1976887"/>
            <a:ext cx="2680582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250C494-3CDD-E0D0-7EE1-3C00EAF2E6DB}"/>
              </a:ext>
            </a:extLst>
          </p:cNvPr>
          <p:cNvSpPr/>
          <p:nvPr/>
        </p:nvSpPr>
        <p:spPr>
          <a:xfrm>
            <a:off x="1516225" y="1262906"/>
            <a:ext cx="2006472" cy="3953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C991B9C-D14D-B79B-A891-851A6B81EB71}"/>
              </a:ext>
            </a:extLst>
          </p:cNvPr>
          <p:cNvSpPr/>
          <p:nvPr/>
        </p:nvSpPr>
        <p:spPr>
          <a:xfrm>
            <a:off x="6203280" y="1262914"/>
            <a:ext cx="2031711" cy="3953655"/>
          </a:xfrm>
          <a:prstGeom prst="roundRect">
            <a:avLst/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8" name="Picture 2" descr="Apache Kafka">
            <a:extLst>
              <a:ext uri="{FF2B5EF4-FFF2-40B4-BE49-F238E27FC236}">
                <a16:creationId xmlns:a16="http://schemas.microsoft.com/office/drawing/2014/main" id="{168F10D9-2F1F-F82C-2EF2-E7FCFAD764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2626" y="3031608"/>
            <a:ext cx="899556" cy="410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4A2C4D1-32AF-0ADD-00C6-C2B926DF7071}"/>
              </a:ext>
            </a:extLst>
          </p:cNvPr>
          <p:cNvCxnSpPr>
            <a:cxnSpLocks/>
          </p:cNvCxnSpPr>
          <p:nvPr/>
        </p:nvCxnSpPr>
        <p:spPr>
          <a:xfrm>
            <a:off x="8267087" y="1970768"/>
            <a:ext cx="767064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3E14572-8D0F-B621-0885-D998EB58A3FB}"/>
              </a:ext>
            </a:extLst>
          </p:cNvPr>
          <p:cNvCxnSpPr>
            <a:cxnSpLocks/>
          </p:cNvCxnSpPr>
          <p:nvPr/>
        </p:nvCxnSpPr>
        <p:spPr>
          <a:xfrm>
            <a:off x="9034151" y="1976387"/>
            <a:ext cx="0" cy="293562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9D621B1-8B60-79A3-1B78-66F4EDFCA15A}"/>
              </a:ext>
            </a:extLst>
          </p:cNvPr>
          <p:cNvCxnSpPr>
            <a:cxnSpLocks/>
          </p:cNvCxnSpPr>
          <p:nvPr/>
        </p:nvCxnSpPr>
        <p:spPr>
          <a:xfrm>
            <a:off x="8267087" y="2269949"/>
            <a:ext cx="767064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34B9FFBB-66A2-457D-C7E7-D56594573F1D}"/>
              </a:ext>
            </a:extLst>
          </p:cNvPr>
          <p:cNvSpPr txBox="1"/>
          <p:nvPr/>
        </p:nvSpPr>
        <p:spPr>
          <a:xfrm>
            <a:off x="9025929" y="1956235"/>
            <a:ext cx="20064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hu-HU" sz="1400" dirty="0"/>
              <a:t>2. commit</a:t>
            </a:r>
            <a:endParaRPr lang="en-US" sz="1400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5090C82-7F20-BA03-57C6-404F524795B5}"/>
              </a:ext>
            </a:extLst>
          </p:cNvPr>
          <p:cNvCxnSpPr>
            <a:cxnSpLocks/>
          </p:cNvCxnSpPr>
          <p:nvPr/>
        </p:nvCxnSpPr>
        <p:spPr>
          <a:xfrm>
            <a:off x="3514475" y="2283982"/>
            <a:ext cx="2680582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5AAA27C-ABC0-85E8-0368-153994138C7B}"/>
              </a:ext>
            </a:extLst>
          </p:cNvPr>
          <p:cNvSpPr txBox="1"/>
          <p:nvPr/>
        </p:nvSpPr>
        <p:spPr>
          <a:xfrm>
            <a:off x="3522697" y="2014942"/>
            <a:ext cx="2672360" cy="30776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algn="ctr"/>
            <a:r>
              <a:rPr lang="hu-HU" sz="1400" dirty="0"/>
              <a:t>3. ack</a:t>
            </a:r>
            <a:endParaRPr lang="en-US" sz="14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491D04F-274F-78A6-F97A-C962FA36779F}"/>
              </a:ext>
            </a:extLst>
          </p:cNvPr>
          <p:cNvSpPr txBox="1"/>
          <p:nvPr/>
        </p:nvSpPr>
        <p:spPr>
          <a:xfrm>
            <a:off x="3530921" y="3091980"/>
            <a:ext cx="2672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algn="ctr"/>
            <a:r>
              <a:rPr lang="hu-HU" sz="1400" b="1" dirty="0">
                <a:solidFill>
                  <a:schemeClr val="accent5"/>
                </a:solidFill>
              </a:rPr>
              <a:t>1. send message</a:t>
            </a:r>
            <a:endParaRPr lang="en-US" sz="1400" b="1" dirty="0">
              <a:solidFill>
                <a:schemeClr val="accent5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07C6158-40F9-D873-D55D-15B3DD6A12CA}"/>
              </a:ext>
            </a:extLst>
          </p:cNvPr>
          <p:cNvCxnSpPr>
            <a:cxnSpLocks/>
          </p:cNvCxnSpPr>
          <p:nvPr/>
        </p:nvCxnSpPr>
        <p:spPr>
          <a:xfrm>
            <a:off x="3522699" y="3399757"/>
            <a:ext cx="2680582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26649EF-35D2-92E2-B45F-54862F0B1055}"/>
              </a:ext>
            </a:extLst>
          </p:cNvPr>
          <p:cNvCxnSpPr>
            <a:cxnSpLocks/>
          </p:cNvCxnSpPr>
          <p:nvPr/>
        </p:nvCxnSpPr>
        <p:spPr>
          <a:xfrm>
            <a:off x="3937218" y="3728098"/>
            <a:ext cx="2266062" cy="0"/>
          </a:xfrm>
          <a:prstGeom prst="straightConnector1">
            <a:avLst/>
          </a:prstGeom>
          <a:ln w="12700">
            <a:solidFill>
              <a:srgbClr val="FF000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E8076EC9-3698-FBE1-39B1-0B166E578226}"/>
              </a:ext>
            </a:extLst>
          </p:cNvPr>
          <p:cNvSpPr txBox="1"/>
          <p:nvPr/>
        </p:nvSpPr>
        <p:spPr>
          <a:xfrm>
            <a:off x="3530919" y="3435432"/>
            <a:ext cx="2672360" cy="30776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algn="ctr"/>
            <a:r>
              <a:rPr lang="hu-HU" sz="1400" dirty="0"/>
              <a:t>3. ack is lost</a:t>
            </a:r>
            <a:endParaRPr lang="en-US" sz="1400" dirty="0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E7DCC67-C579-940E-FC09-581B08365464}"/>
              </a:ext>
            </a:extLst>
          </p:cNvPr>
          <p:cNvCxnSpPr>
            <a:cxnSpLocks/>
          </p:cNvCxnSpPr>
          <p:nvPr/>
        </p:nvCxnSpPr>
        <p:spPr>
          <a:xfrm>
            <a:off x="8275309" y="3415751"/>
            <a:ext cx="767064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339461C-37F4-2BE5-E7F6-6787BA42656D}"/>
              </a:ext>
            </a:extLst>
          </p:cNvPr>
          <p:cNvCxnSpPr>
            <a:cxnSpLocks/>
          </p:cNvCxnSpPr>
          <p:nvPr/>
        </p:nvCxnSpPr>
        <p:spPr>
          <a:xfrm>
            <a:off x="9042373" y="3421370"/>
            <a:ext cx="0" cy="293562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F1A9F6D-2264-1019-F1CD-A31B2053BF00}"/>
              </a:ext>
            </a:extLst>
          </p:cNvPr>
          <p:cNvCxnSpPr>
            <a:cxnSpLocks/>
          </p:cNvCxnSpPr>
          <p:nvPr/>
        </p:nvCxnSpPr>
        <p:spPr>
          <a:xfrm>
            <a:off x="8275309" y="3714932"/>
            <a:ext cx="767064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EAFD22D6-0FB5-6E0E-3704-7B17537DD067}"/>
              </a:ext>
            </a:extLst>
          </p:cNvPr>
          <p:cNvSpPr txBox="1"/>
          <p:nvPr/>
        </p:nvSpPr>
        <p:spPr>
          <a:xfrm>
            <a:off x="9034151" y="3401218"/>
            <a:ext cx="20064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hu-HU" sz="1400" dirty="0"/>
              <a:t>2. commit</a:t>
            </a:r>
            <a:endParaRPr lang="en-US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F5B2EE9-E0EB-F9A9-F04D-4532DE74C5EF}"/>
              </a:ext>
            </a:extLst>
          </p:cNvPr>
          <p:cNvSpPr txBox="1"/>
          <p:nvPr/>
        </p:nvSpPr>
        <p:spPr>
          <a:xfrm>
            <a:off x="3522697" y="3927003"/>
            <a:ext cx="2672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algn="ctr"/>
            <a:r>
              <a:rPr lang="hu-HU" sz="1400" b="1" dirty="0">
                <a:solidFill>
                  <a:schemeClr val="accent5"/>
                </a:solidFill>
              </a:rPr>
              <a:t>4. retry</a:t>
            </a:r>
            <a:endParaRPr lang="en-US" sz="1400" b="1" dirty="0">
              <a:solidFill>
                <a:schemeClr val="accent5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19D4D77-9CE2-C781-B09D-EBDDE1395ED5}"/>
              </a:ext>
            </a:extLst>
          </p:cNvPr>
          <p:cNvCxnSpPr>
            <a:cxnSpLocks/>
          </p:cNvCxnSpPr>
          <p:nvPr/>
        </p:nvCxnSpPr>
        <p:spPr>
          <a:xfrm>
            <a:off x="3514475" y="4234780"/>
            <a:ext cx="2680582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41C60CA-CEC8-2E47-6C91-5E4D9E96EC09}"/>
              </a:ext>
            </a:extLst>
          </p:cNvPr>
          <p:cNvCxnSpPr>
            <a:cxnSpLocks/>
          </p:cNvCxnSpPr>
          <p:nvPr/>
        </p:nvCxnSpPr>
        <p:spPr>
          <a:xfrm>
            <a:off x="8267087" y="4417865"/>
            <a:ext cx="767064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E610E39-5361-9110-6DC6-3C0D4ECC152C}"/>
              </a:ext>
            </a:extLst>
          </p:cNvPr>
          <p:cNvCxnSpPr>
            <a:cxnSpLocks/>
          </p:cNvCxnSpPr>
          <p:nvPr/>
        </p:nvCxnSpPr>
        <p:spPr>
          <a:xfrm>
            <a:off x="9034151" y="4423484"/>
            <a:ext cx="0" cy="293562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616E7AB-4764-6537-A2E3-E83A28820B38}"/>
              </a:ext>
            </a:extLst>
          </p:cNvPr>
          <p:cNvCxnSpPr>
            <a:cxnSpLocks/>
          </p:cNvCxnSpPr>
          <p:nvPr/>
        </p:nvCxnSpPr>
        <p:spPr>
          <a:xfrm>
            <a:off x="8267087" y="4717046"/>
            <a:ext cx="767064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61FFFF77-B8AF-045A-A390-ADDC37406AB6}"/>
              </a:ext>
            </a:extLst>
          </p:cNvPr>
          <p:cNvSpPr txBox="1"/>
          <p:nvPr/>
        </p:nvSpPr>
        <p:spPr>
          <a:xfrm>
            <a:off x="9025928" y="4403332"/>
            <a:ext cx="25642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hu-HU"/>
            </a:defPPr>
            <a:lvl1pPr>
              <a:defRPr sz="160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hu-HU" sz="1400" b="1" dirty="0">
                <a:solidFill>
                  <a:srgbClr val="00B050"/>
                </a:solidFill>
              </a:rPr>
              <a:t>5. Detect duplicate, </a:t>
            </a:r>
          </a:p>
          <a:p>
            <a:r>
              <a:rPr lang="hu-HU" sz="1400" b="1" dirty="0">
                <a:solidFill>
                  <a:srgbClr val="00B050"/>
                </a:solidFill>
              </a:rPr>
              <a:t>   won’t commit twice</a:t>
            </a:r>
            <a:endParaRPr lang="en-US" sz="14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67449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7B6B4F-C5DC-B920-A39A-C5F8953644C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Producer Config – Idempotent Producer</a:t>
            </a:r>
            <a:endParaRPr lang="en-US" dirty="0"/>
          </a:p>
          <a:p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7EB1BF5-7C68-502B-2D03-1A8895004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6010580"/>
          </a:xfrm>
        </p:spPr>
        <p:txBody>
          <a:bodyPr/>
          <a:lstStyle/>
          <a:p>
            <a:pPr marL="0" indent="0">
              <a:buNone/>
            </a:pPr>
            <a:r>
              <a:rPr lang="hu-HU" sz="1600" dirty="0"/>
              <a:t>How it works: </a:t>
            </a:r>
          </a:p>
          <a:p>
            <a:r>
              <a:rPr lang="en-US" sz="1600" dirty="0"/>
              <a:t>1. Producer ID and Sequence Numbers: </a:t>
            </a:r>
            <a:endParaRPr lang="hu-HU" sz="1600" dirty="0"/>
          </a:p>
          <a:p>
            <a:pPr lvl="1"/>
            <a:r>
              <a:rPr lang="en-US" sz="1500" dirty="0"/>
              <a:t>When idempotence is enabled, each producer is assigned a unique Producer ID (PID)</a:t>
            </a:r>
            <a:endParaRPr lang="hu-HU" sz="1500" dirty="0"/>
          </a:p>
          <a:p>
            <a:pPr lvl="1"/>
            <a:r>
              <a:rPr lang="en-US" sz="1500" dirty="0"/>
              <a:t>Every message sent by the producer is tagged with a monotonically increasing sequence number</a:t>
            </a:r>
          </a:p>
          <a:p>
            <a:r>
              <a:rPr lang="en-US" sz="1600" dirty="0"/>
              <a:t>2. Deduplication: </a:t>
            </a:r>
            <a:endParaRPr lang="hu-HU" sz="1600" dirty="0"/>
          </a:p>
          <a:p>
            <a:pPr lvl="1"/>
            <a:r>
              <a:rPr lang="en-US" sz="1500" dirty="0"/>
              <a:t>The Kafka broker keeps track of the highest sequence number it has received from each producer for each partition </a:t>
            </a:r>
            <a:endParaRPr lang="hu-HU" sz="1500" dirty="0"/>
          </a:p>
          <a:p>
            <a:pPr lvl="1"/>
            <a:r>
              <a:rPr lang="en-US" sz="1500" dirty="0"/>
              <a:t>If a message with a lower or duplicate sequence number is received, the broker discards it</a:t>
            </a:r>
          </a:p>
          <a:p>
            <a:r>
              <a:rPr lang="en-US" sz="1600" dirty="0"/>
              <a:t>3. Configuration: </a:t>
            </a:r>
            <a:endParaRPr lang="hu-HU" sz="1600" dirty="0"/>
          </a:p>
          <a:p>
            <a:pPr lvl="1"/>
            <a:r>
              <a:rPr lang="en-US" sz="1500" dirty="0"/>
              <a:t>To enable idempotence, you set the `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enable.idempotence</a:t>
            </a:r>
            <a:r>
              <a:rPr lang="en-US" sz="1500" dirty="0"/>
              <a:t>` configuration to `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sz="1500" dirty="0"/>
              <a:t>`</a:t>
            </a:r>
            <a:endParaRPr lang="hu-HU" sz="1500" dirty="0"/>
          </a:p>
          <a:p>
            <a:pPr lvl="1"/>
            <a:r>
              <a:rPr lang="en-US" sz="1500" dirty="0"/>
              <a:t>This </a:t>
            </a:r>
            <a:r>
              <a:rPr lang="en-US" sz="1500" b="1" dirty="0"/>
              <a:t>feature is enabled by default starting from Kafka 3.0</a:t>
            </a:r>
            <a:r>
              <a:rPr lang="hu-HU" sz="1500" b="1" dirty="0"/>
              <a:t> and comes with the following settings</a:t>
            </a:r>
            <a:r>
              <a:rPr lang="hu-HU" sz="1500" dirty="0"/>
              <a:t>:</a:t>
            </a:r>
          </a:p>
          <a:p>
            <a:pPr lvl="2"/>
            <a:r>
              <a:rPr lang="hu-HU" sz="15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retries=Integer.MAX_VALUE</a:t>
            </a:r>
          </a:p>
          <a:p>
            <a:pPr lvl="2"/>
            <a:r>
              <a:rPr lang="hu-HU" sz="15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max.in.flight.requests=5</a:t>
            </a:r>
          </a:p>
          <a:p>
            <a:pPr lvl="2"/>
            <a:r>
              <a:rPr lang="hu-HU" sz="15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acks=all (acks=-1)</a:t>
            </a:r>
            <a:endParaRPr lang="en-US" sz="1500" dirty="0"/>
          </a:p>
          <a:p>
            <a:r>
              <a:rPr lang="en-US" sz="1600" dirty="0"/>
              <a:t>4. Handling Retries: </a:t>
            </a:r>
            <a:endParaRPr lang="hu-HU" sz="1600" dirty="0"/>
          </a:p>
          <a:p>
            <a:pPr lvl="1"/>
            <a:r>
              <a:rPr lang="en-US" sz="1500" dirty="0"/>
              <a:t>If a message is sent but the acknowledgment is lost due to a network issue, the producer will retry sending the message</a:t>
            </a:r>
            <a:endParaRPr lang="hu-HU" sz="1500" dirty="0"/>
          </a:p>
          <a:p>
            <a:pPr lvl="1"/>
            <a:r>
              <a:rPr lang="en-US" sz="1500" dirty="0"/>
              <a:t>The broker, using the sequence number, will recognize this as a duplicate and will not commit it again</a:t>
            </a:r>
          </a:p>
          <a:p>
            <a:pPr marL="0" indent="0">
              <a:buNone/>
            </a:pPr>
            <a:endParaRPr lang="hu-HU" sz="1600" dirty="0"/>
          </a:p>
          <a:p>
            <a:pPr marL="0" indent="0">
              <a:buNone/>
            </a:pPr>
            <a:r>
              <a:rPr lang="en-US" sz="1600" dirty="0"/>
              <a:t>This mechanism ensures </a:t>
            </a:r>
            <a:r>
              <a:rPr lang="en-US" sz="1600" b="1" dirty="0"/>
              <a:t>exactly-once delivery per partition</a:t>
            </a:r>
            <a:endParaRPr lang="hu-HU" sz="1600" dirty="0"/>
          </a:p>
          <a:p>
            <a:pPr lvl="1"/>
            <a:r>
              <a:rPr lang="hu-HU" sz="1400" dirty="0"/>
              <a:t>(</a:t>
            </a:r>
            <a:r>
              <a:rPr lang="en-US" sz="1400" dirty="0"/>
              <a:t>but </a:t>
            </a:r>
            <a:r>
              <a:rPr lang="en-US" sz="1400" b="1" dirty="0"/>
              <a:t>not full end-to-end exactly-once semantics</a:t>
            </a:r>
            <a:r>
              <a:rPr lang="en-US" sz="1400" dirty="0"/>
              <a:t> unless combined with </a:t>
            </a:r>
            <a:r>
              <a:rPr lang="en-US" sz="1400" b="1" dirty="0"/>
              <a:t>Kafka Transactions</a:t>
            </a:r>
            <a:r>
              <a:rPr lang="hu-HU" sz="1400" b="1" dirty="0"/>
              <a:t> or using Kafka Streams)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76313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7B6B4F-C5DC-B920-A39A-C5F8953644C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Producer Config – Managing Backpressure</a:t>
            </a:r>
            <a:endParaRPr lang="en-US" dirty="0"/>
          </a:p>
          <a:p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7EB1BF5-7C68-502B-2D03-1A8895004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3"/>
          </a:xfrm>
        </p:spPr>
        <p:txBody>
          <a:bodyPr/>
          <a:lstStyle/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If the Producer produces faster than the broker can take, the records will be buffered in the Producer’s memory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Setting for it is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buffer.memory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 (default 32 KB)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In this case, however, the </a:t>
            </a:r>
            <a:r>
              <a:rPr lang="hu-HU" sz="1600" b="1" dirty="0">
                <a:solidFill>
                  <a:srgbClr val="1A1523"/>
                </a:solidFill>
                <a:highlight>
                  <a:srgbClr val="FFFFFF"/>
                </a:highlight>
              </a:rPr>
              <a:t>buffer will fill over time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If the buffer is full, the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.send()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 method will start to block and it throws exception after 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max.block.ms</a:t>
            </a: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 (default 60 sec)</a:t>
            </a: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Exception is thrown when: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The buffer is full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The broker does not accept any data (so the buffer cannot empty back)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60 sec has elapsed</a:t>
            </a:r>
          </a:p>
          <a:p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This usually means that the brokers are down</a:t>
            </a: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437694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A3575-EBDC-BE0D-9CCE-170A906A0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9FAEAA2-0F38-CE7D-78CC-4FD67577F27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A Realistic Scenario Architecture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F9A5622-0DB7-12CF-01F1-E631BE8D60AE}"/>
              </a:ext>
            </a:extLst>
          </p:cNvPr>
          <p:cNvSpPr/>
          <p:nvPr/>
        </p:nvSpPr>
        <p:spPr>
          <a:xfrm>
            <a:off x="9356237" y="4928706"/>
            <a:ext cx="1446028" cy="47314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15725A3-91E3-2ECC-0343-F7E44F5EBF42}"/>
              </a:ext>
            </a:extLst>
          </p:cNvPr>
          <p:cNvSpPr/>
          <p:nvPr/>
        </p:nvSpPr>
        <p:spPr>
          <a:xfrm>
            <a:off x="9122516" y="3275217"/>
            <a:ext cx="1913470" cy="1179503"/>
          </a:xfrm>
          <a:prstGeom prst="roundRect">
            <a:avLst/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DBB3744-AD33-BA36-F8E1-265AB9CD0AF9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10079251" y="4454720"/>
            <a:ext cx="0" cy="47398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" descr="Apache Kafka">
            <a:extLst>
              <a:ext uri="{FF2B5EF4-FFF2-40B4-BE49-F238E27FC236}">
                <a16:creationId xmlns:a16="http://schemas.microsoft.com/office/drawing/2014/main" id="{73CD4AEC-B3A7-C3E1-755C-B0F17DC75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9471" y="3894186"/>
            <a:ext cx="899556" cy="410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1E7D9701-8A93-69E7-66A1-40F269602524}"/>
              </a:ext>
            </a:extLst>
          </p:cNvPr>
          <p:cNvSpPr/>
          <p:nvPr/>
        </p:nvSpPr>
        <p:spPr>
          <a:xfrm>
            <a:off x="9239375" y="3472778"/>
            <a:ext cx="1679749" cy="27092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blockchain.tr.json</a:t>
            </a:r>
            <a:endParaRPr lang="en-US" sz="1400" dirty="0"/>
          </a:p>
        </p:txBody>
      </p:sp>
      <p:pic>
        <p:nvPicPr>
          <p:cNvPr id="1026" name="Picture 2" descr="Trademark and Brand Policy · OpenSearch">
            <a:extLst>
              <a:ext uri="{FF2B5EF4-FFF2-40B4-BE49-F238E27FC236}">
                <a16:creationId xmlns:a16="http://schemas.microsoft.com/office/drawing/2014/main" id="{1DDD8EAE-6AB6-8120-F253-BEF38A495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8045" y="5875841"/>
            <a:ext cx="2242411" cy="434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5DEB8EA-C07E-0F25-3896-0746F3858557}"/>
              </a:ext>
            </a:extLst>
          </p:cNvPr>
          <p:cNvCxnSpPr>
            <a:cxnSpLocks/>
          </p:cNvCxnSpPr>
          <p:nvPr/>
        </p:nvCxnSpPr>
        <p:spPr>
          <a:xfrm>
            <a:off x="10082188" y="5401855"/>
            <a:ext cx="0" cy="47398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21143ACF-B76B-5B49-1265-C66AD849EC77}"/>
              </a:ext>
            </a:extLst>
          </p:cNvPr>
          <p:cNvSpPr txBox="1"/>
          <p:nvPr/>
        </p:nvSpPr>
        <p:spPr>
          <a:xfrm>
            <a:off x="10101921" y="5484959"/>
            <a:ext cx="1446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REST API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5FF0F078-5787-87D2-C960-2700A50A4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2162183"/>
          </a:xfrm>
        </p:spPr>
        <p:txBody>
          <a:bodyPr/>
          <a:lstStyle/>
          <a:p>
            <a:r>
              <a:rPr lang="hu-HU" sz="1400" dirty="0">
                <a:solidFill>
                  <a:srgbClr val="000000"/>
                </a:solidFill>
                <a:highlight>
                  <a:srgbClr val="FFFFFF"/>
                </a:highlight>
              </a:rPr>
              <a:t>OpenSearch: 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O</a:t>
            </a:r>
            <a:r>
              <a:rPr lang="en-US" sz="1400" dirty="0">
                <a:solidFill>
                  <a:srgbClr val="1A1523"/>
                </a:solidFill>
                <a:highlight>
                  <a:srgbClr val="FFFFFF"/>
                </a:highlight>
              </a:rPr>
              <a:t>pen source search and analytics </a:t>
            </a:r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system</a:t>
            </a:r>
          </a:p>
          <a:p>
            <a:pPr lvl="1"/>
            <a:r>
              <a:rPr lang="hu-HU" sz="1400" dirty="0">
                <a:solidFill>
                  <a:srgbClr val="1A1523"/>
                </a:solidFill>
                <a:highlight>
                  <a:srgbClr val="FFFFFF"/>
                </a:highlight>
              </a:rPr>
              <a:t>REST API available for most operations</a:t>
            </a:r>
          </a:p>
          <a:p>
            <a:pPr lvl="1"/>
            <a:endParaRPr lang="hu-HU" sz="14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pPr marL="457200" lvl="1" indent="0">
              <a:buNone/>
            </a:pPr>
            <a:endParaRPr lang="hu-HU" sz="1400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0680E6E-014D-A445-C452-074AF6F78BCB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9" name="Flowchart: Connector 8">
              <a:extLst>
                <a:ext uri="{FF2B5EF4-FFF2-40B4-BE49-F238E27FC236}">
                  <a16:creationId xmlns:a16="http://schemas.microsoft.com/office/drawing/2014/main" id="{2E074D65-C62C-096E-5FC5-E2BE536A217C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2D66434-7B9A-BA85-A5BF-5B2B22DBE0A4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9364761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7B6B4F-C5DC-B920-A39A-C5F8953644C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Consumer Implementation – Delivery Semantics</a:t>
            </a:r>
            <a:endParaRPr lang="en-US" dirty="0"/>
          </a:p>
          <a:p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7EB1BF5-7C68-502B-2D03-1A8895004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3"/>
          </a:xfrm>
        </p:spPr>
        <p:txBody>
          <a:bodyPr/>
          <a:lstStyle/>
          <a:p>
            <a:pPr marL="0" indent="0">
              <a:buNone/>
            </a:pP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G</a:t>
            </a:r>
            <a:r>
              <a:rPr lang="en-US" sz="1600" dirty="0" err="1">
                <a:solidFill>
                  <a:srgbClr val="1A1523"/>
                </a:solidFill>
                <a:highlight>
                  <a:srgbClr val="FFFFFF"/>
                </a:highlight>
              </a:rPr>
              <a:t>uarantees</a:t>
            </a:r>
            <a:r>
              <a:rPr lang="en-US" sz="1600" dirty="0">
                <a:solidFill>
                  <a:srgbClr val="1A1523"/>
                </a:solidFill>
                <a:highlight>
                  <a:srgbClr val="FFFFFF"/>
                </a:highlight>
              </a:rPr>
              <a:t> provided regarding the delivery of messages from producers to consumers.</a:t>
            </a: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At most once: 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Offsets are commited as soon as the batch is received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If</a:t>
            </a:r>
            <a:r>
              <a:rPr lang="en-US" dirty="0">
                <a:solidFill>
                  <a:srgbClr val="1A1523"/>
                </a:solidFill>
                <a:highlight>
                  <a:srgbClr val="FFFFFF"/>
                </a:highlight>
              </a:rPr>
              <a:t> there is a failure, messages may be lost and are not redelivered</a:t>
            </a:r>
            <a:endParaRPr lang="hu-HU" dirty="0">
              <a:solidFill>
                <a:srgbClr val="1A1523"/>
              </a:solidFill>
              <a:highlight>
                <a:srgbClr val="FFFFFF"/>
              </a:highlight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F43C2F-ECB5-7441-48E3-D4326A32D6BE}"/>
              </a:ext>
            </a:extLst>
          </p:cNvPr>
          <p:cNvSpPr/>
          <p:nvPr/>
        </p:nvSpPr>
        <p:spPr>
          <a:xfrm>
            <a:off x="2389949" y="3862290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B641A2-286B-1677-33D3-FACCF2F0B041}"/>
              </a:ext>
            </a:extLst>
          </p:cNvPr>
          <p:cNvSpPr/>
          <p:nvPr/>
        </p:nvSpPr>
        <p:spPr>
          <a:xfrm>
            <a:off x="2789147" y="386228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1D47E3-3186-291A-2272-D7BFFFFCB2B3}"/>
              </a:ext>
            </a:extLst>
          </p:cNvPr>
          <p:cNvSpPr/>
          <p:nvPr/>
        </p:nvSpPr>
        <p:spPr>
          <a:xfrm>
            <a:off x="3188345" y="3862291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85452A-02B3-54ED-E690-3488502B6507}"/>
              </a:ext>
            </a:extLst>
          </p:cNvPr>
          <p:cNvSpPr/>
          <p:nvPr/>
        </p:nvSpPr>
        <p:spPr>
          <a:xfrm>
            <a:off x="3587543" y="3862290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31F4FD-A9CB-97CF-56F9-B45F4D85F5F7}"/>
              </a:ext>
            </a:extLst>
          </p:cNvPr>
          <p:cNvSpPr/>
          <p:nvPr/>
        </p:nvSpPr>
        <p:spPr>
          <a:xfrm>
            <a:off x="3986741" y="3862290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3459D5-9EB1-EB65-CEC2-242D01389605}"/>
              </a:ext>
            </a:extLst>
          </p:cNvPr>
          <p:cNvSpPr/>
          <p:nvPr/>
        </p:nvSpPr>
        <p:spPr>
          <a:xfrm>
            <a:off x="4385939" y="386228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5D2841-5501-B298-90C2-7E03FFD380F8}"/>
              </a:ext>
            </a:extLst>
          </p:cNvPr>
          <p:cNvSpPr txBox="1"/>
          <p:nvPr/>
        </p:nvSpPr>
        <p:spPr>
          <a:xfrm>
            <a:off x="2449582" y="4285443"/>
            <a:ext cx="1472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read batch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1D0D0B3-115A-E0D6-87FD-4AFB5F12D349}"/>
              </a:ext>
            </a:extLst>
          </p:cNvPr>
          <p:cNvSpPr/>
          <p:nvPr/>
        </p:nvSpPr>
        <p:spPr>
          <a:xfrm>
            <a:off x="4784952" y="3862292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6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21B3BC-E0A0-7837-8346-607FCAA163A0}"/>
              </a:ext>
            </a:extLst>
          </p:cNvPr>
          <p:cNvSpPr/>
          <p:nvPr/>
        </p:nvSpPr>
        <p:spPr>
          <a:xfrm>
            <a:off x="5184150" y="3862292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7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CB3FF1-5336-3F96-3A1D-9436A7470E35}"/>
              </a:ext>
            </a:extLst>
          </p:cNvPr>
          <p:cNvSpPr/>
          <p:nvPr/>
        </p:nvSpPr>
        <p:spPr>
          <a:xfrm>
            <a:off x="5583348" y="3862291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8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2583B86-E7F0-B221-4015-F6505CA426D9}"/>
              </a:ext>
            </a:extLst>
          </p:cNvPr>
          <p:cNvSpPr/>
          <p:nvPr/>
        </p:nvSpPr>
        <p:spPr>
          <a:xfrm>
            <a:off x="2473301" y="3536117"/>
            <a:ext cx="232308" cy="227613"/>
          </a:xfrm>
          <a:prstGeom prst="ellipse">
            <a:avLst/>
          </a:prstGeom>
          <a:solidFill>
            <a:srgbClr val="00B05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1BB5182-68AD-0C46-E393-15F2DA5C99A8}"/>
              </a:ext>
            </a:extLst>
          </p:cNvPr>
          <p:cNvSpPr/>
          <p:nvPr/>
        </p:nvSpPr>
        <p:spPr>
          <a:xfrm>
            <a:off x="2872499" y="3536117"/>
            <a:ext cx="232308" cy="227613"/>
          </a:xfrm>
          <a:prstGeom prst="ellipse">
            <a:avLst/>
          </a:prstGeom>
          <a:solidFill>
            <a:srgbClr val="00B05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E50205C-B3D4-52F0-B731-571185B0210F}"/>
              </a:ext>
            </a:extLst>
          </p:cNvPr>
          <p:cNvSpPr/>
          <p:nvPr/>
        </p:nvSpPr>
        <p:spPr>
          <a:xfrm>
            <a:off x="3271697" y="3536117"/>
            <a:ext cx="232308" cy="227613"/>
          </a:xfrm>
          <a:prstGeom prst="ellipse">
            <a:avLst/>
          </a:prstGeom>
          <a:solidFill>
            <a:srgbClr val="FF000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2B5BF2F-1CEF-DD0C-75BE-CFC1A24C9C80}"/>
              </a:ext>
            </a:extLst>
          </p:cNvPr>
          <p:cNvSpPr/>
          <p:nvPr/>
        </p:nvSpPr>
        <p:spPr>
          <a:xfrm>
            <a:off x="3670895" y="3527023"/>
            <a:ext cx="232308" cy="227613"/>
          </a:xfrm>
          <a:prstGeom prst="ellipse">
            <a:avLst/>
          </a:prstGeom>
          <a:solidFill>
            <a:srgbClr val="FF000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F21DD45-9FB7-6A1E-7332-07AE41B87528}"/>
              </a:ext>
            </a:extLst>
          </p:cNvPr>
          <p:cNvCxnSpPr/>
          <p:nvPr/>
        </p:nvCxnSpPr>
        <p:spPr>
          <a:xfrm flipH="1">
            <a:off x="3977218" y="3309201"/>
            <a:ext cx="19045" cy="1439333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8876C41-BC0F-6633-C8BC-51958F378AA6}"/>
              </a:ext>
            </a:extLst>
          </p:cNvPr>
          <p:cNvSpPr/>
          <p:nvPr/>
        </p:nvSpPr>
        <p:spPr>
          <a:xfrm>
            <a:off x="7314458" y="3763730"/>
            <a:ext cx="1446028" cy="47314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8CDEA1-3271-7BDC-2938-347A49389F6D}"/>
              </a:ext>
            </a:extLst>
          </p:cNvPr>
          <p:cNvGrpSpPr/>
          <p:nvPr/>
        </p:nvGrpSpPr>
        <p:grpSpPr>
          <a:xfrm>
            <a:off x="8927475" y="3649923"/>
            <a:ext cx="1244052" cy="341688"/>
            <a:chOff x="8927475" y="3649923"/>
            <a:chExt cx="1244052" cy="34168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35C3C75-09E8-ABE2-FC28-23BF4E83D20A}"/>
                </a:ext>
              </a:extLst>
            </p:cNvPr>
            <p:cNvCxnSpPr>
              <a:cxnSpLocks/>
            </p:cNvCxnSpPr>
            <p:nvPr/>
          </p:nvCxnSpPr>
          <p:spPr>
            <a:xfrm>
              <a:off x="8927475" y="3991611"/>
              <a:ext cx="1244052" cy="0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939118-3B79-2CEE-87B1-9E6DF75F37A6}"/>
                </a:ext>
              </a:extLst>
            </p:cNvPr>
            <p:cNvSpPr txBox="1"/>
            <p:nvPr/>
          </p:nvSpPr>
          <p:spPr>
            <a:xfrm>
              <a:off x="8930060" y="3649923"/>
              <a:ext cx="11488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process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3B9E9B1-E486-FA8F-70F0-E4F31C541B66}"/>
              </a:ext>
            </a:extLst>
          </p:cNvPr>
          <p:cNvGrpSpPr/>
          <p:nvPr/>
        </p:nvGrpSpPr>
        <p:grpSpPr>
          <a:xfrm>
            <a:off x="3977218" y="3103957"/>
            <a:ext cx="4055135" cy="512437"/>
            <a:chOff x="3977218" y="3103957"/>
            <a:chExt cx="4055135" cy="512437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5A93E3C-88EF-85C3-FCC3-531446E493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2353" y="3103957"/>
              <a:ext cx="0" cy="512437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929B073-1FBB-DB8B-E8A7-60848FA5FB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7218" y="3103957"/>
              <a:ext cx="4055135" cy="0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2566B0AA-5038-93BF-2F92-F3876493B339}"/>
              </a:ext>
            </a:extLst>
          </p:cNvPr>
          <p:cNvSpPr txBox="1"/>
          <p:nvPr/>
        </p:nvSpPr>
        <p:spPr>
          <a:xfrm>
            <a:off x="5183965" y="2832754"/>
            <a:ext cx="17438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commit offset #3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E9CE405-B635-16C3-E65F-59B870FA118D}"/>
              </a:ext>
            </a:extLst>
          </p:cNvPr>
          <p:cNvGrpSpPr/>
          <p:nvPr/>
        </p:nvGrpSpPr>
        <p:grpSpPr>
          <a:xfrm>
            <a:off x="7309591" y="3457748"/>
            <a:ext cx="2861936" cy="1162512"/>
            <a:chOff x="7309591" y="3457748"/>
            <a:chExt cx="2861936" cy="1162512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C365AE9D-C5F4-22EA-CFC0-81E66901CAC9}"/>
                </a:ext>
              </a:extLst>
            </p:cNvPr>
            <p:cNvGrpSpPr/>
            <p:nvPr/>
          </p:nvGrpSpPr>
          <p:grpSpPr>
            <a:xfrm>
              <a:off x="7309591" y="3457748"/>
              <a:ext cx="2861936" cy="1046875"/>
              <a:chOff x="7309591" y="3457748"/>
              <a:chExt cx="2861936" cy="1046875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09C20A31-B789-CB7F-1444-82D5CCD9E3DB}"/>
                  </a:ext>
                </a:extLst>
              </p:cNvPr>
              <p:cNvCxnSpPr/>
              <p:nvPr/>
            </p:nvCxnSpPr>
            <p:spPr>
              <a:xfrm>
                <a:off x="7314458" y="3520868"/>
                <a:ext cx="2857069" cy="983755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D073DD1A-4F2E-5B24-DF6A-C36D0AA0B5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9591" y="3457748"/>
                <a:ext cx="2861936" cy="1046875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736DF18-A314-CB22-D2AB-5C11583F0003}"/>
                </a:ext>
              </a:extLst>
            </p:cNvPr>
            <p:cNvSpPr txBox="1"/>
            <p:nvPr/>
          </p:nvSpPr>
          <p:spPr>
            <a:xfrm>
              <a:off x="7662505" y="4312483"/>
              <a:ext cx="230261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Consumer goes offline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CE86FDF-B29B-F219-0645-B8A5D873DCF9}"/>
              </a:ext>
            </a:extLst>
          </p:cNvPr>
          <p:cNvGrpSpPr/>
          <p:nvPr/>
        </p:nvGrpSpPr>
        <p:grpSpPr>
          <a:xfrm>
            <a:off x="4070093" y="3520868"/>
            <a:ext cx="1429902" cy="233768"/>
            <a:chOff x="4070093" y="3520868"/>
            <a:chExt cx="1429902" cy="233768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7EF646F-CFF8-1471-6286-C9D22591C4EC}"/>
                </a:ext>
              </a:extLst>
            </p:cNvPr>
            <p:cNvSpPr/>
            <p:nvPr/>
          </p:nvSpPr>
          <p:spPr>
            <a:xfrm>
              <a:off x="4070093" y="3527023"/>
              <a:ext cx="232308" cy="227613"/>
            </a:xfrm>
            <a:prstGeom prst="ellipse">
              <a:avLst/>
            </a:prstGeom>
            <a:solidFill>
              <a:srgbClr val="00B050"/>
            </a:solidFill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575C4C6-5646-718A-7738-DD23E2072268}"/>
                </a:ext>
              </a:extLst>
            </p:cNvPr>
            <p:cNvSpPr/>
            <p:nvPr/>
          </p:nvSpPr>
          <p:spPr>
            <a:xfrm>
              <a:off x="4469291" y="3520868"/>
              <a:ext cx="232308" cy="227613"/>
            </a:xfrm>
            <a:prstGeom prst="ellipse">
              <a:avLst/>
            </a:prstGeom>
            <a:solidFill>
              <a:srgbClr val="00B050"/>
            </a:solidFill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3AE8D35-AC4A-624A-5F19-70A624C94ED3}"/>
                </a:ext>
              </a:extLst>
            </p:cNvPr>
            <p:cNvSpPr/>
            <p:nvPr/>
          </p:nvSpPr>
          <p:spPr>
            <a:xfrm>
              <a:off x="4868489" y="3520868"/>
              <a:ext cx="232308" cy="227613"/>
            </a:xfrm>
            <a:prstGeom prst="ellipse">
              <a:avLst/>
            </a:prstGeom>
            <a:solidFill>
              <a:srgbClr val="00B050"/>
            </a:solidFill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100248D8-8B46-A935-A3D0-CE692DAD3B8B}"/>
                </a:ext>
              </a:extLst>
            </p:cNvPr>
            <p:cNvSpPr/>
            <p:nvPr/>
          </p:nvSpPr>
          <p:spPr>
            <a:xfrm>
              <a:off x="5267687" y="3520868"/>
              <a:ext cx="232308" cy="227613"/>
            </a:xfrm>
            <a:prstGeom prst="ellipse">
              <a:avLst/>
            </a:prstGeom>
            <a:solidFill>
              <a:srgbClr val="00B050"/>
            </a:solidFill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35CC988-63E9-A59B-6E80-659AC2EDF6EB}"/>
              </a:ext>
            </a:extLst>
          </p:cNvPr>
          <p:cNvCxnSpPr/>
          <p:nvPr/>
        </p:nvCxnSpPr>
        <p:spPr>
          <a:xfrm flipH="1">
            <a:off x="5568985" y="3304919"/>
            <a:ext cx="19045" cy="1439333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BBAB573-B7B5-7FA5-BFDD-0794128DAC64}"/>
              </a:ext>
            </a:extLst>
          </p:cNvPr>
          <p:cNvSpPr txBox="1"/>
          <p:nvPr/>
        </p:nvSpPr>
        <p:spPr>
          <a:xfrm>
            <a:off x="4053301" y="4276106"/>
            <a:ext cx="1472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read batch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CEE1D3-E35E-7309-E9AD-D9FA5ED47152}"/>
              </a:ext>
            </a:extLst>
          </p:cNvPr>
          <p:cNvSpPr txBox="1"/>
          <p:nvPr/>
        </p:nvSpPr>
        <p:spPr>
          <a:xfrm>
            <a:off x="7662506" y="4318617"/>
            <a:ext cx="23026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Continues processing from last offset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CCCDE1-36A8-325B-CDE4-88A28987776E}"/>
              </a:ext>
            </a:extLst>
          </p:cNvPr>
          <p:cNvSpPr txBox="1"/>
          <p:nvPr/>
        </p:nvSpPr>
        <p:spPr>
          <a:xfrm>
            <a:off x="5184150" y="2833391"/>
            <a:ext cx="17438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commit offset #7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65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 animBg="1"/>
      <p:bldP spid="14" grpId="0" animBg="1"/>
      <p:bldP spid="15" grpId="0" animBg="1"/>
      <p:bldP spid="16" grpId="0" animBg="1"/>
      <p:bldP spid="39" grpId="0"/>
      <p:bldP spid="39" grpId="1"/>
      <p:bldP spid="26" grpId="0"/>
      <p:bldP spid="44" grpId="0"/>
      <p:bldP spid="46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7B6B4F-C5DC-B920-A39A-C5F8953644C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Consumer Implementation – Delivery Semantics</a:t>
            </a:r>
            <a:endParaRPr lang="en-US" dirty="0"/>
          </a:p>
          <a:p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7EB1BF5-7C68-502B-2D03-1A8895004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3"/>
          </a:xfrm>
        </p:spPr>
        <p:txBody>
          <a:bodyPr/>
          <a:lstStyle/>
          <a:p>
            <a:pPr marL="0" indent="0">
              <a:buNone/>
            </a:pP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Gu</a:t>
            </a:r>
            <a:r>
              <a:rPr lang="en-US" sz="1600" dirty="0" err="1">
                <a:solidFill>
                  <a:srgbClr val="1A1523"/>
                </a:solidFill>
                <a:highlight>
                  <a:srgbClr val="FFFFFF"/>
                </a:highlight>
              </a:rPr>
              <a:t>arantees</a:t>
            </a:r>
            <a:r>
              <a:rPr lang="en-US" sz="1600" dirty="0">
                <a:solidFill>
                  <a:srgbClr val="1A1523"/>
                </a:solidFill>
                <a:highlight>
                  <a:srgbClr val="FFFFFF"/>
                </a:highlight>
              </a:rPr>
              <a:t> provided regarding the delivery of messages from producers to consumers.</a:t>
            </a: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At least once: 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Offsets are commited after the message is processed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If</a:t>
            </a:r>
            <a:r>
              <a:rPr lang="en-US" dirty="0">
                <a:solidFill>
                  <a:srgbClr val="1A1523"/>
                </a:solidFill>
                <a:highlight>
                  <a:srgbClr val="FFFFFF"/>
                </a:highlight>
              </a:rPr>
              <a:t> there is a failure, messages </a:t>
            </a:r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are read again</a:t>
            </a:r>
          </a:p>
          <a:p>
            <a:pPr lvl="1"/>
            <a:r>
              <a:rPr lang="hu-HU" dirty="0">
                <a:solidFill>
                  <a:srgbClr val="1A1523"/>
                </a:solidFill>
                <a:highlight>
                  <a:srgbClr val="FFFFFF"/>
                </a:highlight>
              </a:rPr>
              <a:t>This can result is duplicate processing =&gt; </a:t>
            </a:r>
            <a:r>
              <a:rPr lang="hu-HU" b="1" dirty="0">
                <a:solidFill>
                  <a:srgbClr val="1A1523"/>
                </a:solidFill>
                <a:highlight>
                  <a:srgbClr val="FFFFFF"/>
                </a:highlight>
              </a:rPr>
              <a:t>Make sure the processing is idempotent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7061E3C-283D-DED6-2ADA-50DF7E2FB1A9}"/>
              </a:ext>
            </a:extLst>
          </p:cNvPr>
          <p:cNvSpPr/>
          <p:nvPr/>
        </p:nvSpPr>
        <p:spPr>
          <a:xfrm>
            <a:off x="2389949" y="3862290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3907E7-3E20-7D37-9169-246E019F2123}"/>
              </a:ext>
            </a:extLst>
          </p:cNvPr>
          <p:cNvSpPr/>
          <p:nvPr/>
        </p:nvSpPr>
        <p:spPr>
          <a:xfrm>
            <a:off x="2789147" y="386228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FE035F0-20CF-8BA9-4E19-613221E08B6F}"/>
              </a:ext>
            </a:extLst>
          </p:cNvPr>
          <p:cNvSpPr/>
          <p:nvPr/>
        </p:nvSpPr>
        <p:spPr>
          <a:xfrm>
            <a:off x="3188345" y="3862291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350B9F0-50B0-B7F5-C99D-CFA5FAB22647}"/>
              </a:ext>
            </a:extLst>
          </p:cNvPr>
          <p:cNvSpPr/>
          <p:nvPr/>
        </p:nvSpPr>
        <p:spPr>
          <a:xfrm>
            <a:off x="3587543" y="3862290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2B3B41F-48F6-9E12-2640-E93993ACB689}"/>
              </a:ext>
            </a:extLst>
          </p:cNvPr>
          <p:cNvSpPr/>
          <p:nvPr/>
        </p:nvSpPr>
        <p:spPr>
          <a:xfrm>
            <a:off x="3986741" y="3862290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93914CF-2861-5BEE-4277-E2305F904913}"/>
              </a:ext>
            </a:extLst>
          </p:cNvPr>
          <p:cNvSpPr/>
          <p:nvPr/>
        </p:nvSpPr>
        <p:spPr>
          <a:xfrm>
            <a:off x="4385939" y="3862289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39852E-3DDE-C614-7E1F-866F9B9C3ED9}"/>
              </a:ext>
            </a:extLst>
          </p:cNvPr>
          <p:cNvSpPr txBox="1"/>
          <p:nvPr/>
        </p:nvSpPr>
        <p:spPr>
          <a:xfrm>
            <a:off x="2449582" y="4285443"/>
            <a:ext cx="1472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read batch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A87B14D-AD66-F2B3-417B-35002C4B9166}"/>
              </a:ext>
            </a:extLst>
          </p:cNvPr>
          <p:cNvSpPr/>
          <p:nvPr/>
        </p:nvSpPr>
        <p:spPr>
          <a:xfrm>
            <a:off x="4784952" y="3862292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6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492AA90-5EE8-EA34-1D5E-7F97D9153C6B}"/>
              </a:ext>
            </a:extLst>
          </p:cNvPr>
          <p:cNvSpPr/>
          <p:nvPr/>
        </p:nvSpPr>
        <p:spPr>
          <a:xfrm>
            <a:off x="5184150" y="3862292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7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3CA175D-ECA8-0554-593F-5303E6233CD9}"/>
              </a:ext>
            </a:extLst>
          </p:cNvPr>
          <p:cNvSpPr/>
          <p:nvPr/>
        </p:nvSpPr>
        <p:spPr>
          <a:xfrm>
            <a:off x="5583348" y="3862291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8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E1E0D340-B990-279A-2157-77828FF1EAD1}"/>
              </a:ext>
            </a:extLst>
          </p:cNvPr>
          <p:cNvSpPr/>
          <p:nvPr/>
        </p:nvSpPr>
        <p:spPr>
          <a:xfrm>
            <a:off x="2473301" y="3536117"/>
            <a:ext cx="232308" cy="227613"/>
          </a:xfrm>
          <a:prstGeom prst="ellipse">
            <a:avLst/>
          </a:prstGeom>
          <a:solidFill>
            <a:srgbClr val="00B05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313AEE4-D033-E9B8-D0C7-DB55EDFEC38E}"/>
              </a:ext>
            </a:extLst>
          </p:cNvPr>
          <p:cNvSpPr/>
          <p:nvPr/>
        </p:nvSpPr>
        <p:spPr>
          <a:xfrm>
            <a:off x="2872499" y="3536117"/>
            <a:ext cx="232308" cy="227613"/>
          </a:xfrm>
          <a:prstGeom prst="ellipse">
            <a:avLst/>
          </a:prstGeom>
          <a:solidFill>
            <a:srgbClr val="00B05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ADBE75F8-8FB7-44C8-953D-61285005A60B}"/>
              </a:ext>
            </a:extLst>
          </p:cNvPr>
          <p:cNvSpPr/>
          <p:nvPr/>
        </p:nvSpPr>
        <p:spPr>
          <a:xfrm>
            <a:off x="3271697" y="3536117"/>
            <a:ext cx="232308" cy="227613"/>
          </a:xfrm>
          <a:prstGeom prst="ellipse">
            <a:avLst/>
          </a:prstGeom>
          <a:solidFill>
            <a:srgbClr val="00B05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89745004-1CF7-603E-3851-4F3C690B88CD}"/>
              </a:ext>
            </a:extLst>
          </p:cNvPr>
          <p:cNvSpPr/>
          <p:nvPr/>
        </p:nvSpPr>
        <p:spPr>
          <a:xfrm>
            <a:off x="3670895" y="3527023"/>
            <a:ext cx="232308" cy="227613"/>
          </a:xfrm>
          <a:prstGeom prst="ellipse">
            <a:avLst/>
          </a:prstGeom>
          <a:solidFill>
            <a:srgbClr val="00B05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7270999A-7834-3987-62F7-434984C0A7E0}"/>
              </a:ext>
            </a:extLst>
          </p:cNvPr>
          <p:cNvCxnSpPr/>
          <p:nvPr/>
        </p:nvCxnSpPr>
        <p:spPr>
          <a:xfrm flipH="1">
            <a:off x="3977218" y="3309201"/>
            <a:ext cx="19045" cy="1439333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FA653A4D-4EA7-092B-E740-FF8ABAB66A66}"/>
              </a:ext>
            </a:extLst>
          </p:cNvPr>
          <p:cNvSpPr/>
          <p:nvPr/>
        </p:nvSpPr>
        <p:spPr>
          <a:xfrm>
            <a:off x="7314458" y="3763730"/>
            <a:ext cx="1446028" cy="47314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0574718-7482-411B-3BA4-04B306027361}"/>
              </a:ext>
            </a:extLst>
          </p:cNvPr>
          <p:cNvGrpSpPr/>
          <p:nvPr/>
        </p:nvGrpSpPr>
        <p:grpSpPr>
          <a:xfrm>
            <a:off x="8927475" y="3649923"/>
            <a:ext cx="1244052" cy="341688"/>
            <a:chOff x="8927475" y="3649923"/>
            <a:chExt cx="1244052" cy="341688"/>
          </a:xfrm>
        </p:grpSpPr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B9F6CBDC-0D67-45AF-5B3A-2A97D2AC27B4}"/>
                </a:ext>
              </a:extLst>
            </p:cNvPr>
            <p:cNvCxnSpPr>
              <a:cxnSpLocks/>
            </p:cNvCxnSpPr>
            <p:nvPr/>
          </p:nvCxnSpPr>
          <p:spPr>
            <a:xfrm>
              <a:off x="8927475" y="3991611"/>
              <a:ext cx="1244052" cy="0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87BAEB1-58B1-3573-1E37-315528D6A1B6}"/>
                </a:ext>
              </a:extLst>
            </p:cNvPr>
            <p:cNvSpPr txBox="1"/>
            <p:nvPr/>
          </p:nvSpPr>
          <p:spPr>
            <a:xfrm>
              <a:off x="8930060" y="3649923"/>
              <a:ext cx="11488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process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8C067FA-8815-07A3-B495-4B78EF473D35}"/>
              </a:ext>
            </a:extLst>
          </p:cNvPr>
          <p:cNvGrpSpPr/>
          <p:nvPr/>
        </p:nvGrpSpPr>
        <p:grpSpPr>
          <a:xfrm>
            <a:off x="3977218" y="3103957"/>
            <a:ext cx="4055135" cy="512437"/>
            <a:chOff x="3977218" y="3103957"/>
            <a:chExt cx="4055135" cy="512437"/>
          </a:xfrm>
        </p:grpSpPr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BB9CD480-4FD6-3CD6-8F52-DEA585C017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2353" y="3103957"/>
              <a:ext cx="0" cy="512437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546B3197-2C9C-F0B2-9DD6-B702786FEF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7218" y="3103957"/>
              <a:ext cx="4055135" cy="0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AECE0D32-5265-085A-275E-60939243F2B3}"/>
              </a:ext>
            </a:extLst>
          </p:cNvPr>
          <p:cNvSpPr txBox="1"/>
          <p:nvPr/>
        </p:nvSpPr>
        <p:spPr>
          <a:xfrm>
            <a:off x="5102697" y="2832880"/>
            <a:ext cx="17438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commit offset #3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211BEC5-6850-5472-BBEF-2A28913D2F53}"/>
              </a:ext>
            </a:extLst>
          </p:cNvPr>
          <p:cNvGrpSpPr/>
          <p:nvPr/>
        </p:nvGrpSpPr>
        <p:grpSpPr>
          <a:xfrm>
            <a:off x="7309591" y="3457748"/>
            <a:ext cx="2861936" cy="1162512"/>
            <a:chOff x="7309591" y="3457748"/>
            <a:chExt cx="2861936" cy="1162512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704E0E5-75F2-04AD-C2D9-07EE33E21D8A}"/>
                </a:ext>
              </a:extLst>
            </p:cNvPr>
            <p:cNvGrpSpPr/>
            <p:nvPr/>
          </p:nvGrpSpPr>
          <p:grpSpPr>
            <a:xfrm>
              <a:off x="7309591" y="3457748"/>
              <a:ext cx="2861936" cy="1046875"/>
              <a:chOff x="7309591" y="3457748"/>
              <a:chExt cx="2861936" cy="1046875"/>
            </a:xfrm>
          </p:grpSpPr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BF3FC68C-CB6B-A7CA-6573-0AF0EB7E3C23}"/>
                  </a:ext>
                </a:extLst>
              </p:cNvPr>
              <p:cNvCxnSpPr/>
              <p:nvPr/>
            </p:nvCxnSpPr>
            <p:spPr>
              <a:xfrm>
                <a:off x="7314458" y="3520868"/>
                <a:ext cx="2857069" cy="983755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7B0D3DBE-F1C5-953B-DDB9-622682198DD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9591" y="3457748"/>
                <a:ext cx="2861936" cy="1046875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32C1AC1A-09CB-EC4D-C6F8-F75ABB051CB5}"/>
                </a:ext>
              </a:extLst>
            </p:cNvPr>
            <p:cNvSpPr txBox="1"/>
            <p:nvPr/>
          </p:nvSpPr>
          <p:spPr>
            <a:xfrm>
              <a:off x="7662505" y="4312483"/>
              <a:ext cx="230261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Consumer goes offline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74" name="Oval 73">
            <a:extLst>
              <a:ext uri="{FF2B5EF4-FFF2-40B4-BE49-F238E27FC236}">
                <a16:creationId xmlns:a16="http://schemas.microsoft.com/office/drawing/2014/main" id="{3002DE75-81F1-825E-B3DB-2E68B18DEC24}"/>
              </a:ext>
            </a:extLst>
          </p:cNvPr>
          <p:cNvSpPr/>
          <p:nvPr/>
        </p:nvSpPr>
        <p:spPr>
          <a:xfrm>
            <a:off x="4070093" y="3527023"/>
            <a:ext cx="232308" cy="227613"/>
          </a:xfrm>
          <a:prstGeom prst="ellipse">
            <a:avLst/>
          </a:prstGeom>
          <a:solidFill>
            <a:srgbClr val="00B05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6A65843E-64F3-DF5A-28F5-F7EFBB2103A1}"/>
              </a:ext>
            </a:extLst>
          </p:cNvPr>
          <p:cNvSpPr/>
          <p:nvPr/>
        </p:nvSpPr>
        <p:spPr>
          <a:xfrm>
            <a:off x="4469291" y="3520868"/>
            <a:ext cx="232308" cy="227613"/>
          </a:xfrm>
          <a:prstGeom prst="ellipse">
            <a:avLst/>
          </a:prstGeom>
          <a:solidFill>
            <a:srgbClr val="00B05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87B6B0F3-C54D-2BB9-4104-9302C71FFA4F}"/>
              </a:ext>
            </a:extLst>
          </p:cNvPr>
          <p:cNvCxnSpPr/>
          <p:nvPr/>
        </p:nvCxnSpPr>
        <p:spPr>
          <a:xfrm flipH="1">
            <a:off x="5568985" y="3304919"/>
            <a:ext cx="19045" cy="1439333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1FE26A82-3FBF-E543-4D81-071101F90A66}"/>
              </a:ext>
            </a:extLst>
          </p:cNvPr>
          <p:cNvSpPr txBox="1"/>
          <p:nvPr/>
        </p:nvSpPr>
        <p:spPr>
          <a:xfrm>
            <a:off x="4053301" y="4276106"/>
            <a:ext cx="1472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read batch 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353C5D-1B02-8626-656D-9F9F970C31CF}"/>
              </a:ext>
            </a:extLst>
          </p:cNvPr>
          <p:cNvSpPr txBox="1"/>
          <p:nvPr/>
        </p:nvSpPr>
        <p:spPr>
          <a:xfrm>
            <a:off x="7662506" y="4318617"/>
            <a:ext cx="23026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Continues processing from last offset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4B89249-FBB9-F18D-5462-871F53D8B0CF}"/>
              </a:ext>
            </a:extLst>
          </p:cNvPr>
          <p:cNvSpPr txBox="1"/>
          <p:nvPr/>
        </p:nvSpPr>
        <p:spPr>
          <a:xfrm>
            <a:off x="5100587" y="2833391"/>
            <a:ext cx="17438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commit offset #7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9FB51A1F-1827-52FD-C3AB-90922DCBB1F8}"/>
              </a:ext>
            </a:extLst>
          </p:cNvPr>
          <p:cNvSpPr/>
          <p:nvPr/>
        </p:nvSpPr>
        <p:spPr>
          <a:xfrm>
            <a:off x="4069883" y="3223160"/>
            <a:ext cx="232308" cy="227613"/>
          </a:xfrm>
          <a:prstGeom prst="ellipse">
            <a:avLst/>
          </a:prstGeom>
          <a:solidFill>
            <a:srgbClr val="00B05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B542A27D-B8D3-ECD2-B5BE-46BBC2549DF9}"/>
              </a:ext>
            </a:extLst>
          </p:cNvPr>
          <p:cNvSpPr/>
          <p:nvPr/>
        </p:nvSpPr>
        <p:spPr>
          <a:xfrm>
            <a:off x="4469081" y="3223160"/>
            <a:ext cx="232308" cy="227613"/>
          </a:xfrm>
          <a:prstGeom prst="ellipse">
            <a:avLst/>
          </a:prstGeom>
          <a:solidFill>
            <a:srgbClr val="00B05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A629A7EF-48DD-228C-014D-2BC003E83515}"/>
              </a:ext>
            </a:extLst>
          </p:cNvPr>
          <p:cNvSpPr/>
          <p:nvPr/>
        </p:nvSpPr>
        <p:spPr>
          <a:xfrm>
            <a:off x="4868279" y="3223160"/>
            <a:ext cx="232308" cy="227613"/>
          </a:xfrm>
          <a:prstGeom prst="ellipse">
            <a:avLst/>
          </a:prstGeom>
          <a:solidFill>
            <a:srgbClr val="00B05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659D1CB2-73E5-3BC1-37F2-9689332C8C10}"/>
              </a:ext>
            </a:extLst>
          </p:cNvPr>
          <p:cNvSpPr/>
          <p:nvPr/>
        </p:nvSpPr>
        <p:spPr>
          <a:xfrm>
            <a:off x="5267477" y="3214066"/>
            <a:ext cx="232308" cy="227613"/>
          </a:xfrm>
          <a:prstGeom prst="ellipse">
            <a:avLst/>
          </a:prstGeom>
          <a:solidFill>
            <a:srgbClr val="00B05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048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/>
      <p:bldP spid="74" grpId="0" animBg="1"/>
      <p:bldP spid="75" grpId="0" animBg="1"/>
      <p:bldP spid="80" grpId="0"/>
      <p:bldP spid="81" grpId="0"/>
      <p:bldP spid="82" grpId="0" animBg="1"/>
      <p:bldP spid="83" grpId="0" animBg="1"/>
      <p:bldP spid="84" grpId="0" animBg="1"/>
      <p:bldP spid="8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7B6B4F-C5DC-B920-A39A-C5F8953644C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Consumer Implementation – Delivery Semantics</a:t>
            </a:r>
            <a:endParaRPr lang="en-US" dirty="0"/>
          </a:p>
          <a:p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7EB1BF5-7C68-502B-2D03-1A8895004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3"/>
          </a:xfrm>
        </p:spPr>
        <p:txBody>
          <a:bodyPr/>
          <a:lstStyle/>
          <a:p>
            <a:pPr marL="0" indent="0">
              <a:buNone/>
            </a:pPr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Gu</a:t>
            </a:r>
            <a:r>
              <a:rPr lang="en-US" sz="1600" dirty="0" err="1">
                <a:solidFill>
                  <a:srgbClr val="1A1523"/>
                </a:solidFill>
                <a:highlight>
                  <a:srgbClr val="FFFFFF"/>
                </a:highlight>
              </a:rPr>
              <a:t>arantees</a:t>
            </a:r>
            <a:r>
              <a:rPr lang="en-US" sz="1600" dirty="0">
                <a:solidFill>
                  <a:srgbClr val="1A1523"/>
                </a:solidFill>
                <a:highlight>
                  <a:srgbClr val="FFFFFF"/>
                </a:highlight>
              </a:rPr>
              <a:t> provided regarding the delivery of messages from producers to consumers.</a:t>
            </a:r>
            <a:endParaRPr lang="hu-HU" sz="1600" dirty="0">
              <a:solidFill>
                <a:srgbClr val="1A1523"/>
              </a:solidFill>
              <a:highlight>
                <a:srgbClr val="FFFFFF"/>
              </a:highlight>
            </a:endParaRPr>
          </a:p>
          <a:p>
            <a:r>
              <a:rPr lang="hu-HU" sz="1600" dirty="0">
                <a:solidFill>
                  <a:srgbClr val="1A1523"/>
                </a:solidFill>
                <a:highlight>
                  <a:srgbClr val="FFFFFF"/>
                </a:highlight>
              </a:rPr>
              <a:t>Exactly once: </a:t>
            </a:r>
          </a:p>
          <a:p>
            <a:pPr lvl="1"/>
            <a:r>
              <a:rPr lang="hu-HU" dirty="0">
                <a:solidFill>
                  <a:srgbClr val="1A1523"/>
                </a:solidFill>
              </a:rPr>
              <a:t>P</a:t>
            </a:r>
            <a:r>
              <a:rPr lang="en-US" dirty="0" err="1">
                <a:solidFill>
                  <a:srgbClr val="1A1523"/>
                </a:solidFill>
              </a:rPr>
              <a:t>ossible</a:t>
            </a:r>
            <a:r>
              <a:rPr lang="en-US" dirty="0">
                <a:solidFill>
                  <a:srgbClr val="1A1523"/>
                </a:solidFill>
              </a:rPr>
              <a:t> </a:t>
            </a:r>
            <a:r>
              <a:rPr lang="hu-HU" dirty="0">
                <a:solidFill>
                  <a:srgbClr val="1A1523"/>
                </a:solidFill>
              </a:rPr>
              <a:t>with</a:t>
            </a:r>
            <a:r>
              <a:rPr lang="en-US" dirty="0">
                <a:solidFill>
                  <a:srgbClr val="1A1523"/>
                </a:solidFill>
              </a:rPr>
              <a:t> a combination of idempotent producers, transactional messaging, and careful consumer configuration</a:t>
            </a:r>
            <a:endParaRPr lang="hu-HU" dirty="0">
              <a:solidFill>
                <a:srgbClr val="1A1523"/>
              </a:solidFill>
            </a:endParaRPr>
          </a:p>
          <a:p>
            <a:pPr lvl="1"/>
            <a:r>
              <a:rPr lang="hu-HU" dirty="0">
                <a:solidFill>
                  <a:srgbClr val="1A1523"/>
                </a:solidFill>
              </a:rPr>
              <a:t>With Kafka Streams API </a:t>
            </a:r>
            <a:r>
              <a:rPr lang="en-US" dirty="0">
                <a:solidFill>
                  <a:srgbClr val="1A1523"/>
                </a:solidFill>
              </a:rPr>
              <a:t>you can enable exactly-once semantics by setting the </a:t>
            </a:r>
            <a:r>
              <a:rPr lang="en-US" dirty="0" err="1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processing.guarantee</a:t>
            </a:r>
            <a:r>
              <a:rPr lang="en-US" dirty="0">
                <a:solidFill>
                  <a:srgbClr val="1A1523"/>
                </a:solidFill>
              </a:rPr>
              <a:t> configuration to </a:t>
            </a:r>
            <a:r>
              <a:rPr lang="en-US" dirty="0" err="1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exactly_once</a:t>
            </a:r>
            <a:r>
              <a:rPr lang="en-US" dirty="0">
                <a:solidFill>
                  <a:srgbClr val="1A1523"/>
                </a:solidFill>
              </a:rPr>
              <a:t>. </a:t>
            </a:r>
            <a:endParaRPr lang="hu-HU" dirty="0">
              <a:solidFill>
                <a:srgbClr val="1A1523"/>
              </a:solidFill>
            </a:endParaRPr>
          </a:p>
          <a:p>
            <a:pPr lvl="1"/>
            <a:r>
              <a:rPr lang="en-US" dirty="0">
                <a:solidFill>
                  <a:srgbClr val="1A1523"/>
                </a:solidFill>
              </a:rPr>
              <a:t>This ensures that the stream processing application handles messages exactly once</a:t>
            </a:r>
            <a:endParaRPr lang="hu-HU" dirty="0">
              <a:solidFill>
                <a:srgbClr val="1A1523"/>
              </a:solidFill>
            </a:endParaRPr>
          </a:p>
          <a:p>
            <a:pPr lvl="1"/>
            <a:endParaRPr lang="hu-HU" dirty="0">
              <a:solidFill>
                <a:srgbClr val="1A1523"/>
              </a:solidFill>
            </a:endParaRPr>
          </a:p>
          <a:p>
            <a:pPr lvl="1"/>
            <a:r>
              <a:rPr lang="hu-HU" dirty="0">
                <a:solidFill>
                  <a:srgbClr val="1A1523"/>
                </a:solidFill>
              </a:rPr>
              <a:t>Consider whether you really need it.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2E582D5-3941-3411-9FAE-625822E3BE44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2674B7C7-AEB2-2E1F-07A7-7EBC3004B97A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9FB222-9CC9-832C-64B5-689C046B435A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949509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7B6B4F-C5DC-B920-A39A-C5F8953644C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Consumer Configuration – Commit Strategy</a:t>
            </a:r>
            <a:endParaRPr lang="en-US" dirty="0"/>
          </a:p>
          <a:p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7EB1BF5-7C68-502B-2D03-1A8895004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3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hu-HU" dirty="0">
                <a:solidFill>
                  <a:srgbClr val="1A1523"/>
                </a:solidFill>
              </a:rPr>
              <a:t>Auto-commit:</a:t>
            </a:r>
          </a:p>
          <a:p>
            <a:pPr lvl="1"/>
            <a:r>
              <a:rPr lang="hu-HU" dirty="0">
                <a:solidFill>
                  <a:srgbClr val="1A1523"/>
                </a:solidFill>
              </a:rPr>
              <a:t>Offsets are commited automatically at regular intervals</a:t>
            </a:r>
          </a:p>
          <a:p>
            <a:pPr lvl="1"/>
            <a:r>
              <a:rPr lang="en-US" dirty="0" err="1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enable.auto.commit</a:t>
            </a:r>
            <a:r>
              <a:rPr lang="en-US" dirty="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hu-HU" dirty="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solidFill>
                  <a:srgbClr val="1A1523"/>
                </a:solidFill>
              </a:rPr>
              <a:t> </a:t>
            </a:r>
            <a:r>
              <a:rPr lang="hu-HU" dirty="0">
                <a:solidFill>
                  <a:srgbClr val="1A1523"/>
                </a:solidFill>
              </a:rPr>
              <a:t>&amp;</a:t>
            </a:r>
            <a:r>
              <a:rPr lang="en-US" dirty="0">
                <a:solidFill>
                  <a:srgbClr val="1A1523"/>
                </a:solidFill>
              </a:rPr>
              <a:t> synchronous bat</a:t>
            </a:r>
            <a:r>
              <a:rPr lang="hu-HU" dirty="0">
                <a:solidFill>
                  <a:srgbClr val="1A1523"/>
                </a:solidFill>
              </a:rPr>
              <a:t>ch</a:t>
            </a:r>
            <a:r>
              <a:rPr lang="en-US" dirty="0">
                <a:solidFill>
                  <a:srgbClr val="1A1523"/>
                </a:solidFill>
              </a:rPr>
              <a:t> processing</a:t>
            </a:r>
            <a:endParaRPr lang="hu-HU" dirty="0">
              <a:solidFill>
                <a:srgbClr val="1A1523"/>
              </a:solidFill>
            </a:endParaRPr>
          </a:p>
          <a:p>
            <a:pPr lvl="2"/>
            <a:r>
              <a:rPr lang="hu-HU" dirty="0">
                <a:solidFill>
                  <a:srgbClr val="1A1523"/>
                </a:solidFill>
              </a:rPr>
              <a:t>E.g. when you call </a:t>
            </a:r>
            <a:r>
              <a:rPr lang="hu-HU" dirty="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.poll()</a:t>
            </a:r>
            <a:r>
              <a:rPr lang="hu-HU" dirty="0">
                <a:solidFill>
                  <a:srgbClr val="1A1523"/>
                </a:solidFill>
              </a:rPr>
              <a:t> and </a:t>
            </a:r>
            <a:r>
              <a:rPr lang="hu-HU" dirty="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auto.commit.interval.ms</a:t>
            </a:r>
            <a:r>
              <a:rPr lang="hu-HU" dirty="0">
                <a:solidFill>
                  <a:srgbClr val="1A1523"/>
                </a:solidFill>
              </a:rPr>
              <a:t> has elapsed</a:t>
            </a:r>
          </a:p>
          <a:p>
            <a:pPr lvl="1"/>
            <a:endParaRPr lang="hu-HU" b="1" dirty="0">
              <a:solidFill>
                <a:srgbClr val="1A1523"/>
              </a:solidFill>
            </a:endParaRPr>
          </a:p>
          <a:p>
            <a:pPr lvl="1"/>
            <a:r>
              <a:rPr lang="hu-HU" b="1" dirty="0">
                <a:solidFill>
                  <a:srgbClr val="1A1523"/>
                </a:solidFill>
              </a:rPr>
              <a:t>At Least Once </a:t>
            </a:r>
            <a:r>
              <a:rPr lang="hu-HU" dirty="0">
                <a:solidFill>
                  <a:srgbClr val="1A1523"/>
                </a:solidFill>
              </a:rPr>
              <a:t>delivery: if you make sure that all messages are successfully processed before next </a:t>
            </a:r>
            <a:r>
              <a:rPr lang="hu-HU" dirty="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.poll()</a:t>
            </a:r>
            <a:endParaRPr lang="hu-HU" dirty="0">
              <a:solidFill>
                <a:srgbClr val="1A1523"/>
              </a:solidFill>
            </a:endParaRPr>
          </a:p>
          <a:p>
            <a:pPr lvl="1"/>
            <a:endParaRPr lang="hu-HU" b="1" dirty="0">
              <a:solidFill>
                <a:srgbClr val="1A1523"/>
              </a:solidFill>
            </a:endParaRPr>
          </a:p>
          <a:p>
            <a:pPr lvl="1"/>
            <a:endParaRPr lang="hu-HU" b="1" dirty="0">
              <a:solidFill>
                <a:srgbClr val="1A1523"/>
              </a:solidFill>
            </a:endParaRPr>
          </a:p>
          <a:p>
            <a:pPr lvl="1"/>
            <a:endParaRPr lang="hu-HU" b="1" dirty="0">
              <a:solidFill>
                <a:srgbClr val="1A1523"/>
              </a:solidFill>
            </a:endParaRPr>
          </a:p>
          <a:p>
            <a:pPr lvl="1"/>
            <a:endParaRPr lang="hu-HU" b="1" dirty="0">
              <a:solidFill>
                <a:srgbClr val="1A1523"/>
              </a:solidFill>
            </a:endParaRPr>
          </a:p>
          <a:p>
            <a:pPr lvl="1"/>
            <a:endParaRPr lang="hu-HU" b="1" dirty="0">
              <a:solidFill>
                <a:srgbClr val="1A1523"/>
              </a:solidFill>
            </a:endParaRPr>
          </a:p>
          <a:p>
            <a:pPr marL="457200" lvl="1" indent="0">
              <a:buNone/>
            </a:pPr>
            <a:endParaRPr lang="hu-HU" b="1" dirty="0">
              <a:solidFill>
                <a:srgbClr val="1A1523"/>
              </a:solidFill>
            </a:endParaRPr>
          </a:p>
          <a:p>
            <a:pPr lvl="1"/>
            <a:r>
              <a:rPr lang="en-US" b="1" dirty="0">
                <a:solidFill>
                  <a:srgbClr val="1A1523"/>
                </a:solidFill>
              </a:rPr>
              <a:t>At Most Once </a:t>
            </a:r>
            <a:r>
              <a:rPr lang="hu-HU" dirty="0">
                <a:solidFill>
                  <a:srgbClr val="1A1523"/>
                </a:solidFill>
              </a:rPr>
              <a:t>delivery: </a:t>
            </a:r>
            <a:r>
              <a:rPr lang="en-US" dirty="0">
                <a:solidFill>
                  <a:srgbClr val="1A1523"/>
                </a:solidFill>
              </a:rPr>
              <a:t>If you don’t use synchronous processing because offset </a:t>
            </a:r>
            <a:r>
              <a:rPr lang="hu-HU" dirty="0">
                <a:solidFill>
                  <a:srgbClr val="1A1523"/>
                </a:solidFill>
              </a:rPr>
              <a:t>is</a:t>
            </a:r>
            <a:r>
              <a:rPr lang="en-US" dirty="0">
                <a:solidFill>
                  <a:srgbClr val="1A1523"/>
                </a:solidFill>
              </a:rPr>
              <a:t> committed before data</a:t>
            </a:r>
            <a:r>
              <a:rPr lang="hu-HU" dirty="0">
                <a:solidFill>
                  <a:srgbClr val="1A1523"/>
                </a:solidFill>
              </a:rPr>
              <a:t> </a:t>
            </a:r>
            <a:r>
              <a:rPr lang="en-US" dirty="0">
                <a:solidFill>
                  <a:srgbClr val="1A1523"/>
                </a:solidFill>
              </a:rPr>
              <a:t>processed.</a:t>
            </a:r>
            <a:endParaRPr lang="hu-HU" dirty="0">
              <a:solidFill>
                <a:srgbClr val="1A1523"/>
              </a:solidFill>
            </a:endParaRPr>
          </a:p>
          <a:p>
            <a:pPr lvl="1"/>
            <a:endParaRPr lang="hu-HU" b="1" dirty="0">
              <a:solidFill>
                <a:srgbClr val="1A1523"/>
              </a:solidFill>
            </a:endParaRPr>
          </a:p>
          <a:p>
            <a:pPr lvl="1"/>
            <a:endParaRPr lang="hu-HU" b="1" dirty="0">
              <a:solidFill>
                <a:srgbClr val="1A1523"/>
              </a:solidFill>
            </a:endParaRPr>
          </a:p>
          <a:p>
            <a:pPr lvl="1"/>
            <a:r>
              <a:rPr lang="hu-HU" b="1" dirty="0">
                <a:solidFill>
                  <a:srgbClr val="1A1523"/>
                </a:solidFill>
              </a:rPr>
              <a:t>Pros:</a:t>
            </a:r>
            <a:r>
              <a:rPr lang="hu-HU" dirty="0">
                <a:solidFill>
                  <a:srgbClr val="1A1523"/>
                </a:solidFill>
              </a:rPr>
              <a:t> Simple</a:t>
            </a:r>
          </a:p>
          <a:p>
            <a:pPr lvl="1"/>
            <a:r>
              <a:rPr lang="hu-HU" b="1" dirty="0">
                <a:solidFill>
                  <a:srgbClr val="1A1523"/>
                </a:solidFill>
              </a:rPr>
              <a:t>Cons:</a:t>
            </a:r>
            <a:r>
              <a:rPr lang="hu-HU" dirty="0">
                <a:solidFill>
                  <a:srgbClr val="1A1523"/>
                </a:solidFill>
              </a:rPr>
              <a:t> </a:t>
            </a:r>
            <a:r>
              <a:rPr lang="en-US" dirty="0">
                <a:solidFill>
                  <a:srgbClr val="1A1523"/>
                </a:solidFill>
              </a:rPr>
              <a:t>Less control over when commits happen, which can lead to data loss or duplication</a:t>
            </a:r>
            <a:endParaRPr lang="hu-HU" dirty="0">
              <a:solidFill>
                <a:srgbClr val="1A1523"/>
              </a:solidFill>
            </a:endParaRPr>
          </a:p>
          <a:p>
            <a:pPr lvl="1"/>
            <a:endParaRPr lang="hu-HU" dirty="0">
              <a:solidFill>
                <a:srgbClr val="1A1523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3E46D0-6173-FAEA-BF12-C64501F4AF59}"/>
              </a:ext>
            </a:extLst>
          </p:cNvPr>
          <p:cNvSpPr txBox="1"/>
          <p:nvPr/>
        </p:nvSpPr>
        <p:spPr>
          <a:xfrm>
            <a:off x="1787890" y="2775547"/>
            <a:ext cx="89812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solidFill>
                  <a:srgbClr val="AA0D9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0" i="0" dirty="0">
                <a:solidFill>
                  <a:srgbClr val="AA0D9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hu-H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0" i="0" dirty="0">
                <a:solidFill>
                  <a:srgbClr val="5C2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sz="1600" b="0" i="0" dirty="0">
                <a:solidFill>
                  <a:srgbClr val="5C2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Records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&gt; batch = </a:t>
            </a:r>
            <a:r>
              <a:rPr lang="en-US" sz="1600" b="0" i="0" dirty="0" err="1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consumer.poll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0" i="0" dirty="0" err="1">
                <a:solidFill>
                  <a:srgbClr val="5C2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Duration</a:t>
            </a:r>
            <a:r>
              <a:rPr lang="en-US" sz="1600" b="0" i="0" dirty="0" err="1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.ofMillis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0" i="0" dirty="0">
                <a:solidFill>
                  <a:srgbClr val="1C00C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hu-H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0" i="0" dirty="0" err="1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someSyncBuisnessLogic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5022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7B6B4F-C5DC-B920-A39A-C5F8953644C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Consumer Configuration – Commit Strategy</a:t>
            </a:r>
            <a:endParaRPr lang="en-US" dirty="0"/>
          </a:p>
          <a:p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7EB1BF5-7C68-502B-2D03-1A8895004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3"/>
          </a:xfrm>
        </p:spPr>
        <p:txBody>
          <a:bodyPr/>
          <a:lstStyle/>
          <a:p>
            <a:pPr marL="342900" indent="-342900">
              <a:buFont typeface="+mj-lt"/>
              <a:buAutoNum type="arabicPeriod" startAt="2"/>
            </a:pPr>
            <a:r>
              <a:rPr lang="hu-HU" dirty="0">
                <a:solidFill>
                  <a:srgbClr val="1A1523"/>
                </a:solidFill>
              </a:rPr>
              <a:t>Manual commit:</a:t>
            </a:r>
          </a:p>
          <a:p>
            <a:pPr lvl="1"/>
            <a:r>
              <a:rPr lang="hu-HU" dirty="0">
                <a:solidFill>
                  <a:srgbClr val="1A1523"/>
                </a:solidFill>
              </a:rPr>
              <a:t>Offset are commited manually by the application</a:t>
            </a:r>
          </a:p>
          <a:p>
            <a:pPr lvl="1"/>
            <a:r>
              <a:rPr lang="en-US" dirty="0" err="1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enable.auto.commit</a:t>
            </a:r>
            <a:r>
              <a:rPr lang="en-US" dirty="0">
                <a:solidFill>
                  <a:srgbClr val="1A152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=false</a:t>
            </a:r>
            <a:r>
              <a:rPr lang="en-US" dirty="0">
                <a:solidFill>
                  <a:srgbClr val="1A1523"/>
                </a:solidFill>
              </a:rPr>
              <a:t> </a:t>
            </a:r>
            <a:r>
              <a:rPr lang="hu-HU" dirty="0">
                <a:solidFill>
                  <a:srgbClr val="1A1523"/>
                </a:solidFill>
              </a:rPr>
              <a:t>&amp;</a:t>
            </a:r>
            <a:r>
              <a:rPr lang="en-US" dirty="0">
                <a:solidFill>
                  <a:srgbClr val="1A1523"/>
                </a:solidFill>
              </a:rPr>
              <a:t> synchronous</a:t>
            </a:r>
            <a:r>
              <a:rPr lang="hu-HU" dirty="0">
                <a:solidFill>
                  <a:srgbClr val="1A1523"/>
                </a:solidFill>
              </a:rPr>
              <a:t> or async</a:t>
            </a:r>
            <a:r>
              <a:rPr lang="en-US" dirty="0">
                <a:solidFill>
                  <a:srgbClr val="1A1523"/>
                </a:solidFill>
              </a:rPr>
              <a:t> bat</a:t>
            </a:r>
            <a:r>
              <a:rPr lang="hu-HU" dirty="0">
                <a:solidFill>
                  <a:srgbClr val="1A1523"/>
                </a:solidFill>
              </a:rPr>
              <a:t>c</a:t>
            </a:r>
            <a:r>
              <a:rPr lang="en-US" dirty="0">
                <a:solidFill>
                  <a:srgbClr val="1A1523"/>
                </a:solidFill>
              </a:rPr>
              <a:t>h processing</a:t>
            </a:r>
            <a:endParaRPr lang="hu-HU" dirty="0">
              <a:solidFill>
                <a:srgbClr val="1A1523"/>
              </a:solidFill>
            </a:endParaRPr>
          </a:p>
          <a:p>
            <a:pPr lvl="1"/>
            <a:endParaRPr lang="hu-HU" dirty="0">
              <a:solidFill>
                <a:srgbClr val="1A1523"/>
              </a:solidFill>
            </a:endParaRPr>
          </a:p>
          <a:p>
            <a:pPr lvl="1"/>
            <a:endParaRPr lang="hu-HU" dirty="0">
              <a:solidFill>
                <a:srgbClr val="1A1523"/>
              </a:solidFill>
            </a:endParaRPr>
          </a:p>
          <a:p>
            <a:pPr lvl="1"/>
            <a:endParaRPr lang="hu-HU" dirty="0">
              <a:solidFill>
                <a:srgbClr val="1A1523"/>
              </a:solidFill>
            </a:endParaRPr>
          </a:p>
          <a:p>
            <a:pPr lvl="1"/>
            <a:endParaRPr lang="hu-HU" dirty="0">
              <a:solidFill>
                <a:srgbClr val="1A1523"/>
              </a:solidFill>
            </a:endParaRPr>
          </a:p>
          <a:p>
            <a:pPr lvl="1"/>
            <a:endParaRPr lang="hu-HU" dirty="0">
              <a:solidFill>
                <a:srgbClr val="1A1523"/>
              </a:solidFill>
            </a:endParaRPr>
          </a:p>
          <a:p>
            <a:pPr lvl="1"/>
            <a:endParaRPr lang="hu-HU" dirty="0">
              <a:solidFill>
                <a:srgbClr val="1A1523"/>
              </a:solidFill>
            </a:endParaRPr>
          </a:p>
          <a:p>
            <a:pPr lvl="1"/>
            <a:endParaRPr lang="hu-HU" dirty="0">
              <a:solidFill>
                <a:srgbClr val="1A1523"/>
              </a:solidFill>
            </a:endParaRPr>
          </a:p>
          <a:p>
            <a:pPr lvl="1"/>
            <a:endParaRPr lang="hu-HU" dirty="0">
              <a:solidFill>
                <a:srgbClr val="1A1523"/>
              </a:solidFill>
            </a:endParaRPr>
          </a:p>
          <a:p>
            <a:pPr lvl="1"/>
            <a:r>
              <a:rPr lang="hu-HU" b="1" dirty="0">
                <a:solidFill>
                  <a:srgbClr val="1A1523"/>
                </a:solidFill>
              </a:rPr>
              <a:t>Pros:</a:t>
            </a:r>
            <a:r>
              <a:rPr lang="hu-HU" dirty="0">
                <a:solidFill>
                  <a:srgbClr val="1A1523"/>
                </a:solidFill>
              </a:rPr>
              <a:t> G</a:t>
            </a:r>
            <a:r>
              <a:rPr lang="en-US" dirty="0" err="1">
                <a:solidFill>
                  <a:srgbClr val="1A1523"/>
                </a:solidFill>
              </a:rPr>
              <a:t>reater</a:t>
            </a:r>
            <a:r>
              <a:rPr lang="en-US" dirty="0">
                <a:solidFill>
                  <a:srgbClr val="1A1523"/>
                </a:solidFill>
              </a:rPr>
              <a:t> control over commit timing, reducing the risk of data loss</a:t>
            </a:r>
            <a:endParaRPr lang="hu-HU" dirty="0">
              <a:solidFill>
                <a:srgbClr val="1A1523"/>
              </a:solidFill>
            </a:endParaRPr>
          </a:p>
          <a:p>
            <a:pPr lvl="1"/>
            <a:r>
              <a:rPr lang="hu-HU" b="1" dirty="0">
                <a:solidFill>
                  <a:srgbClr val="1A1523"/>
                </a:solidFill>
              </a:rPr>
              <a:t>Cons:</a:t>
            </a:r>
            <a:r>
              <a:rPr lang="hu-HU" dirty="0">
                <a:solidFill>
                  <a:srgbClr val="1A1523"/>
                </a:solidFill>
              </a:rPr>
              <a:t> More complex to implement (especially async)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BE45B3-7DE9-5A96-F3D7-DE544C18BE5D}"/>
              </a:ext>
            </a:extLst>
          </p:cNvPr>
          <p:cNvSpPr txBox="1"/>
          <p:nvPr/>
        </p:nvSpPr>
        <p:spPr>
          <a:xfrm>
            <a:off x="2886977" y="1955580"/>
            <a:ext cx="641804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solidFill>
                  <a:srgbClr val="AA0D9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0" i="0" dirty="0">
                <a:solidFill>
                  <a:srgbClr val="AA0D9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hu-H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batch += </a:t>
            </a:r>
            <a:r>
              <a:rPr lang="en-US" sz="1600" b="0" i="0" dirty="0" err="1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consumer.poll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0" i="0" dirty="0" err="1">
                <a:solidFill>
                  <a:srgbClr val="5C2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Duration</a:t>
            </a:r>
            <a:r>
              <a:rPr lang="en-US" sz="1600" b="0" i="0" dirty="0" err="1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.ofMillis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0" i="0" dirty="0">
                <a:solidFill>
                  <a:srgbClr val="1C00C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hu-H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0" i="0" dirty="0">
                <a:solidFill>
                  <a:srgbClr val="AA0D9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0" i="0" dirty="0" err="1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isEnough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(batch)) {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hu-H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b="0" i="0" dirty="0" err="1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someSyncBuisnessLogic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hu-H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b="0" i="0" dirty="0" err="1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consumer.commitAsync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hu-H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0" i="0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2583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7B6B4F-C5DC-B920-A39A-C5F8953644C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Consumer Configuration – Commit Strategy</a:t>
            </a:r>
            <a:endParaRPr lang="en-US" dirty="0"/>
          </a:p>
          <a:p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7EB1BF5-7C68-502B-2D03-1A8895004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23"/>
          </a:xfrm>
        </p:spPr>
        <p:txBody>
          <a:bodyPr/>
          <a:lstStyle/>
          <a:p>
            <a:pPr marL="342900" indent="-342900">
              <a:buFont typeface="+mj-lt"/>
              <a:buAutoNum type="arabicPeriod" startAt="3"/>
            </a:pPr>
            <a:r>
              <a:rPr lang="hu-HU" dirty="0">
                <a:solidFill>
                  <a:srgbClr val="1A1523"/>
                </a:solidFill>
              </a:rPr>
              <a:t>Storing commits externally:</a:t>
            </a:r>
          </a:p>
          <a:p>
            <a:pPr lvl="1"/>
            <a:r>
              <a:rPr lang="hu-HU" dirty="0">
                <a:solidFill>
                  <a:srgbClr val="1A1523"/>
                </a:solidFill>
              </a:rPr>
              <a:t>D</a:t>
            </a:r>
            <a:r>
              <a:rPr lang="en-US" dirty="0" err="1">
                <a:solidFill>
                  <a:srgbClr val="1A1523"/>
                </a:solidFill>
              </a:rPr>
              <a:t>isabling</a:t>
            </a:r>
            <a:r>
              <a:rPr lang="en-US" dirty="0">
                <a:solidFill>
                  <a:srgbClr val="1A1523"/>
                </a:solidFill>
              </a:rPr>
              <a:t> auto-commit and managing the offsets externally</a:t>
            </a:r>
            <a:r>
              <a:rPr lang="hu-HU" dirty="0">
                <a:solidFill>
                  <a:srgbClr val="1A1523"/>
                </a:solidFill>
              </a:rPr>
              <a:t>, e.g. in a DB</a:t>
            </a:r>
          </a:p>
          <a:p>
            <a:pPr lvl="1"/>
            <a:r>
              <a:rPr lang="hu-HU" dirty="0">
                <a:solidFill>
                  <a:srgbClr val="1A1523"/>
                </a:solidFill>
              </a:rPr>
              <a:t>Highly advanced and complex scenario</a:t>
            </a:r>
          </a:p>
          <a:p>
            <a:pPr lvl="1"/>
            <a:r>
              <a:rPr lang="hu-HU" b="1" dirty="0">
                <a:solidFill>
                  <a:srgbClr val="1A1523"/>
                </a:solidFill>
              </a:rPr>
              <a:t>Exactly-Once</a:t>
            </a:r>
            <a:r>
              <a:rPr lang="hu-HU" dirty="0">
                <a:solidFill>
                  <a:srgbClr val="1A1523"/>
                </a:solidFill>
              </a:rPr>
              <a:t> delivery for stateful applications</a:t>
            </a:r>
          </a:p>
          <a:p>
            <a:pPr lvl="1"/>
            <a:r>
              <a:rPr lang="hu-HU" dirty="0">
                <a:solidFill>
                  <a:srgbClr val="1A1523"/>
                </a:solidFill>
              </a:rPr>
              <a:t>Requires that t</a:t>
            </a:r>
            <a:r>
              <a:rPr lang="en-US" dirty="0">
                <a:solidFill>
                  <a:srgbClr val="1A1523"/>
                </a:solidFill>
              </a:rPr>
              <a:t>he </a:t>
            </a:r>
            <a:r>
              <a:rPr lang="en-US" b="1" dirty="0">
                <a:solidFill>
                  <a:srgbClr val="1A1523"/>
                </a:solidFill>
              </a:rPr>
              <a:t>data and the offsets are committed as part of a single transaction</a:t>
            </a:r>
            <a:r>
              <a:rPr lang="en-US" dirty="0">
                <a:solidFill>
                  <a:srgbClr val="1A1523"/>
                </a:solidFill>
              </a:rPr>
              <a:t> within the target </a:t>
            </a:r>
            <a:r>
              <a:rPr lang="hu-HU" dirty="0">
                <a:solidFill>
                  <a:srgbClr val="1A1523"/>
                </a:solidFill>
              </a:rPr>
              <a:t>DB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AAD471D-6008-2245-ED90-51DE1C9C5C8E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F2A231B9-6421-03BF-D661-B09934D658D7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4ED1F6B-3DFA-FD2D-1581-C4B8D2A1C367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107353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D4FF30F-9F60-FFC5-0913-27758DC0E711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Consumer Configuration – Offset Behaviour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4802D-879E-2CBC-4FA7-7FE1DE99F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The consumer is expected to read the log continuously 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O</a:t>
            </a:r>
            <a:r>
              <a:rPr lang="en-US" dirty="0" err="1"/>
              <a:t>ffset</a:t>
            </a:r>
            <a:r>
              <a:rPr lang="en-US" dirty="0"/>
              <a:t> </a:t>
            </a:r>
            <a:r>
              <a:rPr lang="hu-HU" dirty="0"/>
              <a:t>can become </a:t>
            </a:r>
            <a:r>
              <a:rPr lang="en-US" dirty="0"/>
              <a:t>invalid for a Kafka consumer group,</a:t>
            </a:r>
            <a:r>
              <a:rPr lang="hu-HU" dirty="0"/>
              <a:t> typically because:</a:t>
            </a:r>
          </a:p>
          <a:p>
            <a:pPr lvl="1"/>
            <a:r>
              <a:rPr lang="hu-HU" dirty="0"/>
              <a:t>All consumers were down more than Kafka retention days and the message was deleted where it points</a:t>
            </a:r>
          </a:p>
          <a:p>
            <a:pPr lvl="1"/>
            <a:r>
              <a:rPr lang="hu-HU" dirty="0"/>
              <a:t>Default retention period is 7 days (can be controlled by the broker setting </a:t>
            </a: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offset.retention.minutes</a:t>
            </a:r>
            <a:r>
              <a:rPr lang="hu-HU" dirty="0"/>
              <a:t>)</a:t>
            </a:r>
          </a:p>
          <a:p>
            <a:pPr lvl="1"/>
            <a:endParaRPr lang="hu-HU" dirty="0"/>
          </a:p>
          <a:p>
            <a:r>
              <a:rPr lang="en-US" dirty="0"/>
              <a:t>To handle invalid offsets, Kafka provides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auto.offset.reset</a:t>
            </a:r>
            <a:r>
              <a:rPr lang="en-US" dirty="0"/>
              <a:t> configuration, which can be set to:</a:t>
            </a:r>
            <a:endParaRPr lang="hu-HU" dirty="0"/>
          </a:p>
          <a:p>
            <a:pPr lvl="1"/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earliest</a:t>
            </a:r>
            <a:r>
              <a:rPr lang="hu-HU" dirty="0"/>
              <a:t>: </a:t>
            </a:r>
            <a:r>
              <a:rPr lang="en-US" dirty="0"/>
              <a:t>Start from the earliest available message</a:t>
            </a:r>
            <a:endParaRPr lang="hu-HU" dirty="0"/>
          </a:p>
          <a:p>
            <a:pPr lvl="1"/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latest</a:t>
            </a:r>
            <a:r>
              <a:rPr lang="hu-HU" dirty="0"/>
              <a:t>: </a:t>
            </a:r>
            <a:r>
              <a:rPr lang="en-US" dirty="0"/>
              <a:t>Start from the latest message</a:t>
            </a:r>
            <a:endParaRPr lang="hu-HU" dirty="0"/>
          </a:p>
          <a:p>
            <a:pPr lvl="1"/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hu-HU" dirty="0"/>
              <a:t>: Throw an error if no valid offsets are found (useful in development to make sure offset handling is correct)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7A00A7-B59A-04AD-FBE7-D2A26999EC60}"/>
              </a:ext>
            </a:extLst>
          </p:cNvPr>
          <p:cNvSpPr/>
          <p:nvPr/>
        </p:nvSpPr>
        <p:spPr>
          <a:xfrm>
            <a:off x="2389949" y="2567542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1B67-E30E-4BAE-464C-F2CEC87DCC92}"/>
              </a:ext>
            </a:extLst>
          </p:cNvPr>
          <p:cNvSpPr/>
          <p:nvPr/>
        </p:nvSpPr>
        <p:spPr>
          <a:xfrm>
            <a:off x="2789147" y="2567541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0FB3E7-618E-6FFF-E898-F8A0F0205BAD}"/>
              </a:ext>
            </a:extLst>
          </p:cNvPr>
          <p:cNvSpPr/>
          <p:nvPr/>
        </p:nvSpPr>
        <p:spPr>
          <a:xfrm>
            <a:off x="3188345" y="2567543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B9E7B0-6178-1D9B-0999-5CC719B541BD}"/>
              </a:ext>
            </a:extLst>
          </p:cNvPr>
          <p:cNvSpPr/>
          <p:nvPr/>
        </p:nvSpPr>
        <p:spPr>
          <a:xfrm>
            <a:off x="3587543" y="2567542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B0EF5B-B519-FB76-CEA9-72710BF83C2F}"/>
              </a:ext>
            </a:extLst>
          </p:cNvPr>
          <p:cNvSpPr/>
          <p:nvPr/>
        </p:nvSpPr>
        <p:spPr>
          <a:xfrm>
            <a:off x="3986741" y="2567542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AB6FD9-99F8-19E2-F9A1-6DE7B382F5C0}"/>
              </a:ext>
            </a:extLst>
          </p:cNvPr>
          <p:cNvSpPr/>
          <p:nvPr/>
        </p:nvSpPr>
        <p:spPr>
          <a:xfrm>
            <a:off x="4385939" y="2567541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5E0D25-C0B0-DD06-EF20-22379F72870C}"/>
              </a:ext>
            </a:extLst>
          </p:cNvPr>
          <p:cNvSpPr/>
          <p:nvPr/>
        </p:nvSpPr>
        <p:spPr>
          <a:xfrm>
            <a:off x="4784952" y="2567544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6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628AC1-4ACA-4940-998E-2F9F02A4A779}"/>
              </a:ext>
            </a:extLst>
          </p:cNvPr>
          <p:cNvSpPr/>
          <p:nvPr/>
        </p:nvSpPr>
        <p:spPr>
          <a:xfrm>
            <a:off x="5184150" y="2567544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7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0685D4-E1D3-5181-33BB-7A12F0B611E0}"/>
              </a:ext>
            </a:extLst>
          </p:cNvPr>
          <p:cNvSpPr/>
          <p:nvPr/>
        </p:nvSpPr>
        <p:spPr>
          <a:xfrm>
            <a:off x="5583348" y="2567543"/>
            <a:ext cx="399013" cy="32459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8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3188893-6D15-059B-E790-F98233CE8813}"/>
              </a:ext>
            </a:extLst>
          </p:cNvPr>
          <p:cNvCxnSpPr/>
          <p:nvPr/>
        </p:nvCxnSpPr>
        <p:spPr>
          <a:xfrm flipH="1">
            <a:off x="3977218" y="2014453"/>
            <a:ext cx="19045" cy="1439333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8383A7C6-4337-C6EF-7C8E-C904ECB60538}"/>
              </a:ext>
            </a:extLst>
          </p:cNvPr>
          <p:cNvSpPr/>
          <p:nvPr/>
        </p:nvSpPr>
        <p:spPr>
          <a:xfrm>
            <a:off x="7314458" y="2468982"/>
            <a:ext cx="1446028" cy="47314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</a:t>
            </a:r>
          </a:p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Group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7B2DE1E-5CE6-671E-379A-E7F4EE60E3CE}"/>
              </a:ext>
            </a:extLst>
          </p:cNvPr>
          <p:cNvGrpSpPr/>
          <p:nvPr/>
        </p:nvGrpSpPr>
        <p:grpSpPr>
          <a:xfrm>
            <a:off x="8927475" y="2355175"/>
            <a:ext cx="1244052" cy="341688"/>
            <a:chOff x="8927475" y="3649923"/>
            <a:chExt cx="1244052" cy="341688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3B59639-AADD-3B8A-8042-3B3BAB10C7ED}"/>
                </a:ext>
              </a:extLst>
            </p:cNvPr>
            <p:cNvCxnSpPr>
              <a:cxnSpLocks/>
            </p:cNvCxnSpPr>
            <p:nvPr/>
          </p:nvCxnSpPr>
          <p:spPr>
            <a:xfrm>
              <a:off x="8927475" y="3991611"/>
              <a:ext cx="1244052" cy="0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74E5FB5-FD28-7BA5-D904-EC2CC7E75510}"/>
                </a:ext>
              </a:extLst>
            </p:cNvPr>
            <p:cNvSpPr txBox="1"/>
            <p:nvPr/>
          </p:nvSpPr>
          <p:spPr>
            <a:xfrm>
              <a:off x="8930060" y="3649923"/>
              <a:ext cx="11488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process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54F5F4C-5389-2E2E-FD42-9C7A9E75686F}"/>
              </a:ext>
            </a:extLst>
          </p:cNvPr>
          <p:cNvGrpSpPr/>
          <p:nvPr/>
        </p:nvGrpSpPr>
        <p:grpSpPr>
          <a:xfrm>
            <a:off x="3977218" y="1809209"/>
            <a:ext cx="4055135" cy="512437"/>
            <a:chOff x="3977218" y="3103957"/>
            <a:chExt cx="4055135" cy="512437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9157032-D421-E566-1504-129A15A717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2353" y="3103957"/>
              <a:ext cx="0" cy="512437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B7ABE94-01D4-C03F-AFF9-5BE00F536B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7218" y="3103957"/>
              <a:ext cx="4055135" cy="0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9219E7CE-93AB-0893-CCF1-3FF067955C4F}"/>
              </a:ext>
            </a:extLst>
          </p:cNvPr>
          <p:cNvSpPr txBox="1"/>
          <p:nvPr/>
        </p:nvSpPr>
        <p:spPr>
          <a:xfrm>
            <a:off x="5102697" y="1538132"/>
            <a:ext cx="17438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commited offset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3674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D4FF30F-9F60-FFC5-0913-27758DC0E711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Consumer Configuration – Offset Behaviour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4802D-879E-2CBC-4FA7-7FE1DE99F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To replay data for a consumer group:</a:t>
            </a:r>
          </a:p>
          <a:p>
            <a:pPr lvl="1"/>
            <a:r>
              <a:rPr lang="hu-HU" dirty="0"/>
              <a:t>Take all the consumers down in the group</a:t>
            </a:r>
          </a:p>
          <a:p>
            <a:pPr lvl="1"/>
            <a:r>
              <a:rPr lang="hu-HU" dirty="0"/>
              <a:t>Use </a:t>
            </a: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kafka-consumer-group</a:t>
            </a:r>
            <a:r>
              <a:rPr lang="hu-HU" dirty="0"/>
              <a:t> CLI to set the offset to what you want</a:t>
            </a:r>
          </a:p>
          <a:p>
            <a:pPr lvl="1"/>
            <a:r>
              <a:rPr lang="hu-HU" dirty="0"/>
              <a:t>Start consumers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AC044E5-3D0C-BADF-1939-6A822A7D5BF6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21133AF3-CC2E-6D0B-26FD-E2342521AF66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AF25DE9-0E27-DA69-820F-821CA6E382CA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08716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D4FF30F-9F60-FFC5-0913-27758DC0E711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Consumer Configuration – Liveness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4802D-879E-2CBC-4FA7-7FE1DE99F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There are two mechanism that checks consumer liveness:</a:t>
            </a:r>
          </a:p>
          <a:p>
            <a:pPr lvl="1"/>
            <a:r>
              <a:rPr lang="hu-HU" dirty="0"/>
              <a:t>Heartbeat:</a:t>
            </a:r>
          </a:p>
          <a:p>
            <a:pPr lvl="2"/>
            <a:r>
              <a:rPr lang="hu-HU" sz="1600" dirty="0"/>
              <a:t>Consumer sends it to the Consumer Coordinator (acting broker) </a:t>
            </a:r>
          </a:p>
          <a:p>
            <a:pPr lvl="2"/>
            <a:r>
              <a:rPr lang="hu-H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heartbeat.interval.ms</a:t>
            </a:r>
            <a:r>
              <a:rPr lang="hu-HU" sz="1600" dirty="0"/>
              <a:t> ( default is 3 sec, usually set to 1/3 of </a:t>
            </a:r>
            <a:r>
              <a:rPr lang="hu-HU" sz="1600" dirty="0">
                <a:latin typeface="+mj-lt"/>
              </a:rPr>
              <a:t>session.timeout</a:t>
            </a:r>
            <a:r>
              <a:rPr lang="hu-HU" sz="1600" dirty="0"/>
              <a:t>)</a:t>
            </a:r>
          </a:p>
          <a:p>
            <a:pPr lvl="2"/>
            <a:r>
              <a:rPr lang="hu-HU" sz="1600" dirty="0"/>
              <a:t>Set lower to make consumer rebalances faster</a:t>
            </a:r>
          </a:p>
          <a:p>
            <a:pPr lvl="1"/>
            <a:r>
              <a:rPr lang="hu-HU" dirty="0"/>
              <a:t>Poll Thread:</a:t>
            </a:r>
          </a:p>
          <a:p>
            <a:pPr lvl="2"/>
            <a:r>
              <a:rPr lang="hu-HU" sz="1600" dirty="0"/>
              <a:t>Maximum amount of time between to </a:t>
            </a:r>
            <a:r>
              <a:rPr lang="hu-H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.poll()</a:t>
            </a:r>
            <a:r>
              <a:rPr lang="hu-HU" sz="1600" dirty="0"/>
              <a:t>calls</a:t>
            </a:r>
          </a:p>
          <a:p>
            <a:pPr lvl="2"/>
            <a:r>
              <a:rPr lang="hu-H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max.poll.interval.ms</a:t>
            </a:r>
            <a:r>
              <a:rPr lang="hu-HU" sz="1600" dirty="0"/>
              <a:t> (default is 5 min)</a:t>
            </a:r>
          </a:p>
          <a:p>
            <a:pPr lvl="2"/>
            <a:r>
              <a:rPr lang="hu-HU" sz="1600" dirty="0"/>
              <a:t>Could be relevant for Big Data applications where processing can take longer</a:t>
            </a:r>
          </a:p>
          <a:p>
            <a:pPr lvl="2"/>
            <a:endParaRPr lang="hu-HU" sz="1600" dirty="0"/>
          </a:p>
          <a:p>
            <a:pPr lvl="1"/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00636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D4FF30F-9F60-FFC5-0913-27758DC0E711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Consumer Configuration – Advanced Poll Configs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4802D-879E-2CBC-4FA7-7FE1DE99F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max.poll.records</a:t>
            </a:r>
            <a:r>
              <a:rPr lang="hu-HU" dirty="0"/>
              <a:t> (default 500)</a:t>
            </a: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lvl="1"/>
            <a:r>
              <a:rPr lang="hu-HU" dirty="0"/>
              <a:t>How many records to receive per poll</a:t>
            </a:r>
          </a:p>
          <a:p>
            <a:pPr lvl="1"/>
            <a:r>
              <a:rPr lang="hu-HU" dirty="0"/>
              <a:t>Increase if your messages are very small and have a lot of RAM</a:t>
            </a:r>
          </a:p>
          <a:p>
            <a:pPr lvl="1"/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fetch.min.bytes</a:t>
            </a:r>
            <a:r>
              <a:rPr lang="hu-HU" dirty="0"/>
              <a:t> (default 1)</a:t>
            </a: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lvl="1"/>
            <a:r>
              <a:rPr lang="hu-HU" dirty="0"/>
              <a:t>How much data you want to pull at least per poll</a:t>
            </a:r>
          </a:p>
          <a:p>
            <a:pPr lvl="1"/>
            <a:r>
              <a:rPr lang="hu-HU" dirty="0"/>
              <a:t>Improves throughput at the cost of latency</a:t>
            </a:r>
          </a:p>
          <a:p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fetch.max.wait.ms</a:t>
            </a:r>
            <a:r>
              <a:rPr lang="hu-HU" dirty="0"/>
              <a:t> (default 500)</a:t>
            </a: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lvl="1"/>
            <a:r>
              <a:rPr lang="hu-HU" dirty="0"/>
              <a:t>Maximum amount of time the Kafka broker will block before answering the fetch request if there is not enough data </a:t>
            </a:r>
          </a:p>
          <a:p>
            <a:pPr lvl="1"/>
            <a:r>
              <a:rPr lang="hu-HU" dirty="0"/>
              <a:t>If reaches </a:t>
            </a: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fetch.min.bytes</a:t>
            </a:r>
            <a:r>
              <a:rPr lang="hu-HU" dirty="0"/>
              <a:t> it answers the request</a:t>
            </a:r>
          </a:p>
          <a:p>
            <a:pPr lvl="1"/>
            <a:endParaRPr lang="hu-HU" dirty="0"/>
          </a:p>
          <a:p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max.partition.fetch.bytes</a:t>
            </a:r>
            <a:r>
              <a:rPr lang="hu-HU" dirty="0"/>
              <a:t> (default 1MB)</a:t>
            </a: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lvl="1"/>
            <a:r>
              <a:rPr lang="hu-HU" dirty="0"/>
              <a:t>Maximum amount of data per partition the broker will return </a:t>
            </a:r>
          </a:p>
          <a:p>
            <a:pPr lvl="1"/>
            <a:r>
              <a:rPr lang="hu-HU" dirty="0"/>
              <a:t>In case of a lot partition, you need a lot memory</a:t>
            </a:r>
          </a:p>
          <a:p>
            <a:pPr lvl="1"/>
            <a:endParaRPr lang="hu-HU" dirty="0"/>
          </a:p>
          <a:p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fetch.max.bytes</a:t>
            </a:r>
            <a:r>
              <a:rPr lang="hu-HU" dirty="0"/>
              <a:t> (default 55MB)</a:t>
            </a: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lvl="1"/>
            <a:r>
              <a:rPr lang="hu-HU" dirty="0"/>
              <a:t>Maximum amount of data for each fetch request</a:t>
            </a:r>
          </a:p>
          <a:p>
            <a:pPr lvl="1"/>
            <a:r>
              <a:rPr lang="hu-HU" dirty="0"/>
              <a:t>If you have a lot of memory you can increase it to read more data per request</a:t>
            </a:r>
          </a:p>
          <a:p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8986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D4FF30F-9F60-FFC5-0913-27758DC0E711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Consumer Configuration – Rack Awareness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4802D-879E-2CBC-4FA7-7FE1DE99F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Consumers by default read from the leader of the partition</a:t>
            </a:r>
          </a:p>
          <a:p>
            <a:r>
              <a:rPr lang="hu-HU" dirty="0"/>
              <a:t>In case of geographically distributed systems (e.g. with multipl data centers) this causes:</a:t>
            </a:r>
          </a:p>
          <a:p>
            <a:pPr lvl="1"/>
            <a:r>
              <a:rPr lang="hu-HU" dirty="0"/>
              <a:t>higher latency</a:t>
            </a:r>
          </a:p>
          <a:p>
            <a:pPr lvl="1"/>
            <a:r>
              <a:rPr lang="hu-HU" dirty="0"/>
              <a:t>higher network charges</a:t>
            </a:r>
          </a:p>
          <a:p>
            <a:r>
              <a:rPr lang="hu-HU" b="1" dirty="0"/>
              <a:t>Replica Fetching</a:t>
            </a:r>
            <a:r>
              <a:rPr lang="hu-HU" dirty="0"/>
              <a:t> allows consumers to read from the closest replica</a:t>
            </a:r>
            <a:endParaRPr lang="hu-HU" b="1" dirty="0"/>
          </a:p>
          <a:p>
            <a:pPr lvl="1"/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29AF3AF-91A6-2323-AE2F-C0355338F853}"/>
              </a:ext>
            </a:extLst>
          </p:cNvPr>
          <p:cNvGrpSpPr/>
          <p:nvPr/>
        </p:nvGrpSpPr>
        <p:grpSpPr>
          <a:xfrm>
            <a:off x="800569" y="2746776"/>
            <a:ext cx="4832303" cy="3792796"/>
            <a:chOff x="2358842" y="4281840"/>
            <a:chExt cx="2473693" cy="182542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2A05F95-0986-730D-C50D-52B55F908D7A}"/>
                </a:ext>
              </a:extLst>
            </p:cNvPr>
            <p:cNvSpPr/>
            <p:nvPr/>
          </p:nvSpPr>
          <p:spPr>
            <a:xfrm>
              <a:off x="2358842" y="4291709"/>
              <a:ext cx="2473693" cy="1815551"/>
            </a:xfrm>
            <a:prstGeom prst="rect">
              <a:avLst/>
            </a:prstGeom>
            <a:solidFill>
              <a:schemeClr val="bg1"/>
            </a:solidFill>
            <a:ln>
              <a:prstDash val="dash"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741504B-54A7-5ABD-A32C-90FFE1A85E0E}"/>
                </a:ext>
              </a:extLst>
            </p:cNvPr>
            <p:cNvSpPr txBox="1"/>
            <p:nvPr/>
          </p:nvSpPr>
          <p:spPr>
            <a:xfrm>
              <a:off x="2358843" y="4281840"/>
              <a:ext cx="2473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Data Center 1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19CA91B-5F46-46A8-5BB8-6AE232463770}"/>
              </a:ext>
            </a:extLst>
          </p:cNvPr>
          <p:cNvGrpSpPr/>
          <p:nvPr/>
        </p:nvGrpSpPr>
        <p:grpSpPr>
          <a:xfrm>
            <a:off x="3306846" y="3965256"/>
            <a:ext cx="1944304" cy="1245870"/>
            <a:chOff x="2906830" y="2806065"/>
            <a:chExt cx="1944304" cy="124587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AC55D1D-C879-26BF-0B9E-AD2B2598721D}"/>
                </a:ext>
              </a:extLst>
            </p:cNvPr>
            <p:cNvGrpSpPr/>
            <p:nvPr/>
          </p:nvGrpSpPr>
          <p:grpSpPr>
            <a:xfrm>
              <a:off x="2906830" y="2806065"/>
              <a:ext cx="1944304" cy="1245870"/>
              <a:chOff x="4984935" y="4281840"/>
              <a:chExt cx="2473693" cy="1825420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ADFDDA0-56BC-3571-D50A-5FC3F1D87145}"/>
                  </a:ext>
                </a:extLst>
              </p:cNvPr>
              <p:cNvSpPr/>
              <p:nvPr/>
            </p:nvSpPr>
            <p:spPr>
              <a:xfrm>
                <a:off x="4984935" y="4291709"/>
                <a:ext cx="2473693" cy="1815551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9B46828-ADA2-D07D-97A6-EA3A8A934962}"/>
                  </a:ext>
                </a:extLst>
              </p:cNvPr>
              <p:cNvSpPr txBox="1"/>
              <p:nvPr/>
            </p:nvSpPr>
            <p:spPr>
              <a:xfrm>
                <a:off x="4984936" y="4281840"/>
                <a:ext cx="2473692" cy="4509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Broker 1</a:t>
                </a:r>
                <a:endParaRPr lang="en-US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64618EC-8F8D-9EB1-2160-49D6F3882AFF}"/>
                </a:ext>
              </a:extLst>
            </p:cNvPr>
            <p:cNvSpPr/>
            <p:nvPr/>
          </p:nvSpPr>
          <p:spPr>
            <a:xfrm>
              <a:off x="3137249" y="3266831"/>
              <a:ext cx="1446028" cy="47314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9C05679-A637-F9A1-9929-16C08D982C1E}"/>
              </a:ext>
            </a:extLst>
          </p:cNvPr>
          <p:cNvGrpSpPr/>
          <p:nvPr/>
        </p:nvGrpSpPr>
        <p:grpSpPr>
          <a:xfrm>
            <a:off x="6935909" y="3142084"/>
            <a:ext cx="2039219" cy="1201690"/>
            <a:chOff x="6535894" y="2023647"/>
            <a:chExt cx="2039219" cy="1201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858EABE-A86B-9F75-D52C-EFA4C03D6AF1}"/>
                </a:ext>
              </a:extLst>
            </p:cNvPr>
            <p:cNvGrpSpPr/>
            <p:nvPr/>
          </p:nvGrpSpPr>
          <p:grpSpPr>
            <a:xfrm>
              <a:off x="6535894" y="2023647"/>
              <a:ext cx="2039219" cy="1201690"/>
              <a:chOff x="7611028" y="4292126"/>
              <a:chExt cx="2473693" cy="182542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4788B27-D5C0-DDC4-8509-DFD1D0602BF2}"/>
                  </a:ext>
                </a:extLst>
              </p:cNvPr>
              <p:cNvSpPr/>
              <p:nvPr/>
            </p:nvSpPr>
            <p:spPr>
              <a:xfrm>
                <a:off x="7611028" y="4301995"/>
                <a:ext cx="2473693" cy="1815551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CB326A8-7D5D-CB55-9787-F5417D30CD85}"/>
                  </a:ext>
                </a:extLst>
              </p:cNvPr>
              <p:cNvSpPr txBox="1"/>
              <p:nvPr/>
            </p:nvSpPr>
            <p:spPr>
              <a:xfrm>
                <a:off x="7611029" y="4292126"/>
                <a:ext cx="2473692" cy="4675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Broker 2</a:t>
                </a:r>
                <a:endParaRPr lang="en-US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02B72C3-1684-687A-B9C2-32B852A22B76}"/>
                </a:ext>
              </a:extLst>
            </p:cNvPr>
            <p:cNvSpPr/>
            <p:nvPr/>
          </p:nvSpPr>
          <p:spPr>
            <a:xfrm>
              <a:off x="6791077" y="2420282"/>
              <a:ext cx="1446028" cy="473149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457F35D-9D73-68C3-3CAD-7461E9E55EA5}"/>
              </a:ext>
            </a:extLst>
          </p:cNvPr>
          <p:cNvCxnSpPr>
            <a:stCxn id="9" idx="3"/>
            <a:endCxn id="14" idx="1"/>
          </p:cNvCxnSpPr>
          <p:nvPr/>
        </p:nvCxnSpPr>
        <p:spPr>
          <a:xfrm flipV="1">
            <a:off x="4983293" y="3775294"/>
            <a:ext cx="2207799" cy="887303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F3814-DB2A-CCE7-070E-22C7F94AA8A4}"/>
              </a:ext>
            </a:extLst>
          </p:cNvPr>
          <p:cNvSpPr txBox="1"/>
          <p:nvPr/>
        </p:nvSpPr>
        <p:spPr>
          <a:xfrm rot="20227872">
            <a:off x="5584014" y="3911018"/>
            <a:ext cx="9781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replication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F3FEB2-8185-81D7-2017-2DD710B2E86D}"/>
              </a:ext>
            </a:extLst>
          </p:cNvPr>
          <p:cNvSpPr/>
          <p:nvPr/>
        </p:nvSpPr>
        <p:spPr>
          <a:xfrm>
            <a:off x="880038" y="5740881"/>
            <a:ext cx="988692" cy="30777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Leader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8B294C-1F25-80CB-82CE-69986902A514}"/>
              </a:ext>
            </a:extLst>
          </p:cNvPr>
          <p:cNvSpPr/>
          <p:nvPr/>
        </p:nvSpPr>
        <p:spPr>
          <a:xfrm>
            <a:off x="880038" y="6188688"/>
            <a:ext cx="988692" cy="3077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ISR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62F0A73-EF60-5A93-4713-3F71A13FCABF}"/>
              </a:ext>
            </a:extLst>
          </p:cNvPr>
          <p:cNvGrpSpPr/>
          <p:nvPr/>
        </p:nvGrpSpPr>
        <p:grpSpPr>
          <a:xfrm>
            <a:off x="6935908" y="5140887"/>
            <a:ext cx="2039219" cy="1201690"/>
            <a:chOff x="6535894" y="3809287"/>
            <a:chExt cx="2039219" cy="120169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968B21F-2D57-68A6-5DD6-5499AC18051A}"/>
                </a:ext>
              </a:extLst>
            </p:cNvPr>
            <p:cNvGrpSpPr/>
            <p:nvPr/>
          </p:nvGrpSpPr>
          <p:grpSpPr>
            <a:xfrm>
              <a:off x="6535894" y="3809287"/>
              <a:ext cx="2039219" cy="1201690"/>
              <a:chOff x="7611028" y="4292126"/>
              <a:chExt cx="2473693" cy="182542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45E9BFB-B54D-3CA2-F709-C2E5CC13B5A3}"/>
                  </a:ext>
                </a:extLst>
              </p:cNvPr>
              <p:cNvSpPr/>
              <p:nvPr/>
            </p:nvSpPr>
            <p:spPr>
              <a:xfrm>
                <a:off x="7611028" y="4301995"/>
                <a:ext cx="2473693" cy="1815551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06FCDC-2FA7-92A5-48C9-E450DBD48902}"/>
                  </a:ext>
                </a:extLst>
              </p:cNvPr>
              <p:cNvSpPr txBox="1"/>
              <p:nvPr/>
            </p:nvSpPr>
            <p:spPr>
              <a:xfrm>
                <a:off x="7611029" y="4292126"/>
                <a:ext cx="2473692" cy="4675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Broker 3</a:t>
                </a:r>
                <a:endParaRPr lang="en-US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84E61B7-D5DB-8DA7-2EF2-024603404918}"/>
                </a:ext>
              </a:extLst>
            </p:cNvPr>
            <p:cNvSpPr/>
            <p:nvPr/>
          </p:nvSpPr>
          <p:spPr>
            <a:xfrm>
              <a:off x="6791077" y="4205922"/>
              <a:ext cx="1446028" cy="473149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Partition 0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749C5A4A-83B7-6503-8ACC-D874E9642AE5}"/>
              </a:ext>
            </a:extLst>
          </p:cNvPr>
          <p:cNvSpPr txBox="1"/>
          <p:nvPr/>
        </p:nvSpPr>
        <p:spPr>
          <a:xfrm rot="1534621">
            <a:off x="5595580" y="4964246"/>
            <a:ext cx="9781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replication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DF2A3B-F22C-0C9F-3E75-91180AAD60FD}"/>
              </a:ext>
            </a:extLst>
          </p:cNvPr>
          <p:cNvCxnSpPr>
            <a:cxnSpLocks/>
            <a:stCxn id="9" idx="3"/>
            <a:endCxn id="23" idx="1"/>
          </p:cNvCxnSpPr>
          <p:nvPr/>
        </p:nvCxnSpPr>
        <p:spPr>
          <a:xfrm>
            <a:off x="4983293" y="4662597"/>
            <a:ext cx="2207798" cy="111150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18E6D64B-CA31-68EF-36C8-232269DFDEE2}"/>
              </a:ext>
            </a:extLst>
          </p:cNvPr>
          <p:cNvSpPr/>
          <p:nvPr/>
        </p:nvSpPr>
        <p:spPr>
          <a:xfrm>
            <a:off x="1374384" y="4254944"/>
            <a:ext cx="1184819" cy="450933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Producer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BF5BB0E-1621-1161-7C48-B6E39EEEBEB5}"/>
              </a:ext>
            </a:extLst>
          </p:cNvPr>
          <p:cNvCxnSpPr>
            <a:cxnSpLocks/>
            <a:stCxn id="28" idx="3"/>
            <a:endCxn id="9" idx="1"/>
          </p:cNvCxnSpPr>
          <p:nvPr/>
        </p:nvCxnSpPr>
        <p:spPr>
          <a:xfrm>
            <a:off x="2559203" y="4480411"/>
            <a:ext cx="978062" cy="182186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CAF9A49-5F12-7939-3584-F3FAE5C5DA11}"/>
              </a:ext>
            </a:extLst>
          </p:cNvPr>
          <p:cNvGrpSpPr/>
          <p:nvPr/>
        </p:nvGrpSpPr>
        <p:grpSpPr>
          <a:xfrm>
            <a:off x="6565406" y="2751092"/>
            <a:ext cx="4832303" cy="1837099"/>
            <a:chOff x="2358842" y="4281839"/>
            <a:chExt cx="2473693" cy="1825421"/>
          </a:xfrm>
          <a:noFill/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E7830DE-2968-D662-B37F-2E4490BFB325}"/>
                </a:ext>
              </a:extLst>
            </p:cNvPr>
            <p:cNvSpPr/>
            <p:nvPr/>
          </p:nvSpPr>
          <p:spPr>
            <a:xfrm>
              <a:off x="2358842" y="4291709"/>
              <a:ext cx="2473693" cy="1815551"/>
            </a:xfrm>
            <a:prstGeom prst="rect">
              <a:avLst/>
            </a:prstGeom>
            <a:grpFill/>
            <a:ln>
              <a:prstDash val="dash"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63B5227-F2BD-C9A5-4C07-FE6251CF14CF}"/>
                </a:ext>
              </a:extLst>
            </p:cNvPr>
            <p:cNvSpPr txBox="1"/>
            <p:nvPr/>
          </p:nvSpPr>
          <p:spPr>
            <a:xfrm>
              <a:off x="2358843" y="4281839"/>
              <a:ext cx="2473692" cy="16715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Data Center 2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A504D6F-E43C-0B44-D17C-022111D6904E}"/>
              </a:ext>
            </a:extLst>
          </p:cNvPr>
          <p:cNvGrpSpPr/>
          <p:nvPr/>
        </p:nvGrpSpPr>
        <p:grpSpPr>
          <a:xfrm>
            <a:off x="6565412" y="4702473"/>
            <a:ext cx="4832303" cy="1837099"/>
            <a:chOff x="2358842" y="4281839"/>
            <a:chExt cx="2473693" cy="1825421"/>
          </a:xfrm>
          <a:noFill/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A39715A-FA86-7B15-071F-490E41171B58}"/>
                </a:ext>
              </a:extLst>
            </p:cNvPr>
            <p:cNvSpPr/>
            <p:nvPr/>
          </p:nvSpPr>
          <p:spPr>
            <a:xfrm>
              <a:off x="2358842" y="4291709"/>
              <a:ext cx="2473693" cy="1815551"/>
            </a:xfrm>
            <a:prstGeom prst="rect">
              <a:avLst/>
            </a:prstGeom>
            <a:grpFill/>
            <a:ln>
              <a:prstDash val="dash"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50AD33B-10A0-EBB9-0F89-792F575E2988}"/>
                </a:ext>
              </a:extLst>
            </p:cNvPr>
            <p:cNvSpPr txBox="1"/>
            <p:nvPr/>
          </p:nvSpPr>
          <p:spPr>
            <a:xfrm>
              <a:off x="2358843" y="4281839"/>
              <a:ext cx="2473692" cy="30582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Data Center 3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D1B3F713-0323-D2F9-5639-3098F27CAB37}"/>
              </a:ext>
            </a:extLst>
          </p:cNvPr>
          <p:cNvSpPr/>
          <p:nvPr/>
        </p:nvSpPr>
        <p:spPr>
          <a:xfrm>
            <a:off x="9708258" y="3549827"/>
            <a:ext cx="1184819" cy="450933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E0E32C3-5739-FDB1-583A-D4C1171087C4}"/>
              </a:ext>
            </a:extLst>
          </p:cNvPr>
          <p:cNvCxnSpPr>
            <a:cxnSpLocks/>
            <a:stCxn id="14" idx="3"/>
            <a:endCxn id="36" idx="1"/>
          </p:cNvCxnSpPr>
          <p:nvPr/>
        </p:nvCxnSpPr>
        <p:spPr>
          <a:xfrm>
            <a:off x="8637120" y="3775294"/>
            <a:ext cx="1071138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672533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3B5A6-768F-2D3E-E3D4-F64CF5B9C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Broker setting:</a:t>
            </a:r>
          </a:p>
          <a:p>
            <a:pPr lvl="1"/>
            <a:r>
              <a:rPr lang="hu-HU" dirty="0"/>
              <a:t>Kafka v2.4+</a:t>
            </a:r>
          </a:p>
          <a:p>
            <a:pPr lvl="1"/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rack</a:t>
            </a:r>
            <a:r>
              <a:rPr lang="hu-HU" dirty="0"/>
              <a:t> config must be set to data center ID</a:t>
            </a:r>
          </a:p>
          <a:p>
            <a:pPr lvl="1"/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replica.selector.class</a:t>
            </a:r>
            <a:r>
              <a:rPr lang="hu-HU" dirty="0"/>
              <a:t> must be set to </a:t>
            </a: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org.apache.kafka.common.replica.RackAwareReplicaSelector</a:t>
            </a:r>
          </a:p>
          <a:p>
            <a:pPr lvl="1"/>
            <a:endParaRPr lang="hu-HU" dirty="0"/>
          </a:p>
          <a:p>
            <a:r>
              <a:rPr lang="hu-HU" dirty="0"/>
              <a:t>Consumer setting:</a:t>
            </a:r>
          </a:p>
          <a:p>
            <a:pPr lvl="1"/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client.rack</a:t>
            </a:r>
            <a:r>
              <a:rPr lang="hu-HU" dirty="0"/>
              <a:t> must be set to the data center ID the consumer is launched on</a:t>
            </a:r>
          </a:p>
          <a:p>
            <a:endParaRPr lang="hu-HU" dirty="0"/>
          </a:p>
          <a:p>
            <a:r>
              <a:rPr lang="en-US" dirty="0"/>
              <a:t>Example Scenario</a:t>
            </a:r>
            <a:r>
              <a:rPr lang="hu-HU" dirty="0"/>
              <a:t>:</a:t>
            </a:r>
            <a:endParaRPr lang="en-US" dirty="0"/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65B1A1EC-9E1B-E146-4665-E9FB9E8B45C4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161925" y="219075"/>
            <a:ext cx="11877675" cy="530225"/>
          </a:xfrm>
        </p:spPr>
        <p:txBody>
          <a:bodyPr/>
          <a:lstStyle/>
          <a:p>
            <a:r>
              <a:rPr lang="hu-HU" dirty="0"/>
              <a:t>Consumer Configuration – Rack Awareness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63A980C-6BBF-E87A-BE66-69556C7C3B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7518655"/>
              </p:ext>
            </p:extLst>
          </p:nvPr>
        </p:nvGraphicFramePr>
        <p:xfrm>
          <a:off x="498566" y="3812878"/>
          <a:ext cx="5209903" cy="17373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57228">
                  <a:extLst>
                    <a:ext uri="{9D8B030D-6E8A-4147-A177-3AD203B41FA5}">
                      <a16:colId xmlns:a16="http://schemas.microsoft.com/office/drawing/2014/main" val="2553258840"/>
                    </a:ext>
                  </a:extLst>
                </a:gridCol>
                <a:gridCol w="2416040">
                  <a:extLst>
                    <a:ext uri="{9D8B030D-6E8A-4147-A177-3AD203B41FA5}">
                      <a16:colId xmlns:a16="http://schemas.microsoft.com/office/drawing/2014/main" val="1916445354"/>
                    </a:ext>
                  </a:extLst>
                </a:gridCol>
                <a:gridCol w="1736635">
                  <a:extLst>
                    <a:ext uri="{9D8B030D-6E8A-4147-A177-3AD203B41FA5}">
                      <a16:colId xmlns:a16="http://schemas.microsoft.com/office/drawing/2014/main" val="9756362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Broker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Hostname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Data Center (Rack)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003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broker-1.dc1.com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dc1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292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broker-2.dc1.com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dc1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49768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broker-3.dc2.com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dc2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151120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670D62C-9405-7A97-D171-1B91A4850408}"/>
              </a:ext>
            </a:extLst>
          </p:cNvPr>
          <p:cNvSpPr txBox="1"/>
          <p:nvPr/>
        </p:nvSpPr>
        <p:spPr>
          <a:xfrm>
            <a:off x="5883187" y="4006412"/>
            <a:ext cx="6146889" cy="107721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# Broker 1 and 2 (in dc1)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broker.id=1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rack=dc1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replica.selector.class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hu-H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RackAwareReplicaSelector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FE1292-EB5F-D4FD-EDCB-1FF5C64F233D}"/>
              </a:ext>
            </a:extLst>
          </p:cNvPr>
          <p:cNvSpPr txBox="1"/>
          <p:nvPr/>
        </p:nvSpPr>
        <p:spPr>
          <a:xfrm>
            <a:off x="5883187" y="3657953"/>
            <a:ext cx="24917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dirty="0"/>
              <a:t>server.properties file: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4D67EB-BB19-CD5D-D8CD-FBD8D1D8B421}"/>
              </a:ext>
            </a:extLst>
          </p:cNvPr>
          <p:cNvSpPr txBox="1"/>
          <p:nvPr/>
        </p:nvSpPr>
        <p:spPr>
          <a:xfrm>
            <a:off x="5892711" y="5536330"/>
            <a:ext cx="6146889" cy="1200329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Properties props = new Properties();</a:t>
            </a:r>
          </a:p>
          <a:p>
            <a:r>
              <a:rPr lang="en-US" dirty="0" err="1"/>
              <a:t>props.put</a:t>
            </a:r>
            <a:r>
              <a:rPr lang="en-US" dirty="0"/>
              <a:t>("</a:t>
            </a:r>
            <a:r>
              <a:rPr lang="en-US" dirty="0" err="1"/>
              <a:t>bootstrap.servers</a:t>
            </a:r>
            <a:r>
              <a:rPr lang="en-US" dirty="0"/>
              <a:t>", "broker-1.dc1.com:9092,</a:t>
            </a:r>
            <a:r>
              <a:rPr lang="hu-HU" dirty="0"/>
              <a:t> ...</a:t>
            </a:r>
            <a:r>
              <a:rPr lang="en-US" dirty="0"/>
              <a:t>");</a:t>
            </a:r>
          </a:p>
          <a:p>
            <a:r>
              <a:rPr lang="en-US" dirty="0" err="1"/>
              <a:t>props.put</a:t>
            </a:r>
            <a:r>
              <a:rPr lang="en-US" dirty="0"/>
              <a:t>("group.id", "my-group");</a:t>
            </a:r>
          </a:p>
          <a:p>
            <a:r>
              <a:rPr lang="en-US" dirty="0" err="1"/>
              <a:t>props.put</a:t>
            </a:r>
            <a:r>
              <a:rPr lang="en-US" dirty="0"/>
              <a:t>("</a:t>
            </a:r>
            <a:r>
              <a:rPr lang="en-US" dirty="0" err="1"/>
              <a:t>client.rack</a:t>
            </a:r>
            <a:r>
              <a:rPr lang="en-US" dirty="0"/>
              <a:t>", "dc1"); // Consumer is in data center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FFF22C-D028-4D12-3C43-8BF4861C069B}"/>
              </a:ext>
            </a:extLst>
          </p:cNvPr>
          <p:cNvSpPr txBox="1"/>
          <p:nvPr/>
        </p:nvSpPr>
        <p:spPr>
          <a:xfrm>
            <a:off x="5883186" y="5166998"/>
            <a:ext cx="24917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dirty="0"/>
              <a:t>Java client: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204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/>
      <p:bldP spid="10" grpId="0" animBg="1"/>
      <p:bldP spid="1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2D570-7328-48C5-82E9-23B9ADB00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367610-9B5B-5C85-6971-BD1AEEE518CB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(Preview) Kafka Extended Ecosystem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F83E4-D4F6-2715-8BBB-1A66A9392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2291866"/>
          </a:xfrm>
        </p:spPr>
        <p:txBody>
          <a:bodyPr/>
          <a:lstStyle/>
          <a:p>
            <a:r>
              <a:rPr lang="en-US" sz="1600" dirty="0"/>
              <a:t>Kafka Consumers and Producers have existed for a long time and are considered </a:t>
            </a:r>
            <a:r>
              <a:rPr lang="en-US" sz="1600" b="1" dirty="0"/>
              <a:t>low-level</a:t>
            </a:r>
          </a:p>
          <a:p>
            <a:r>
              <a:rPr lang="en-US" sz="1600" dirty="0"/>
              <a:t>Kafka &amp; ecosystem has introduced over time some new APIs that are </a:t>
            </a:r>
            <a:r>
              <a:rPr lang="en-US" sz="1600" b="1" dirty="0"/>
              <a:t>higher level </a:t>
            </a:r>
            <a:r>
              <a:rPr lang="en-US" sz="1600" dirty="0"/>
              <a:t>for </a:t>
            </a:r>
            <a:r>
              <a:rPr lang="en-US" sz="1600" b="1" dirty="0"/>
              <a:t>specific problem </a:t>
            </a:r>
            <a:r>
              <a:rPr lang="en-US" sz="1600" dirty="0"/>
              <a:t>sets:</a:t>
            </a:r>
          </a:p>
          <a:p>
            <a:pPr lvl="1"/>
            <a:r>
              <a:rPr lang="en-US" sz="1400" b="1" dirty="0"/>
              <a:t>Kafka Connect:</a:t>
            </a:r>
            <a:r>
              <a:rPr lang="en-US" sz="1400" dirty="0"/>
              <a:t> integration toolkit for streaming data between Kafka brokers and other systems using connector plugins</a:t>
            </a:r>
          </a:p>
          <a:p>
            <a:pPr lvl="1"/>
            <a:r>
              <a:rPr lang="en-US" sz="1400" b="1" dirty="0"/>
              <a:t>Kafka Streams:</a:t>
            </a:r>
            <a:r>
              <a:rPr lang="en-US" sz="1400" dirty="0"/>
              <a:t> solves transformations in Kafka (used as a Java lib) with exactly once capabilities</a:t>
            </a:r>
          </a:p>
          <a:p>
            <a:pPr lvl="1"/>
            <a:r>
              <a:rPr lang="en-US" sz="1400" b="1" dirty="0"/>
              <a:t>Schema Registry:</a:t>
            </a:r>
            <a:r>
              <a:rPr lang="en-US" sz="1400" dirty="0"/>
              <a:t> helps using Schema in Kafka</a:t>
            </a:r>
            <a:endParaRPr lang="en-US" sz="1400" b="1" dirty="0"/>
          </a:p>
          <a:p>
            <a:pPr lvl="1"/>
            <a:endParaRPr lang="en-US" sz="1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FAE3AB-0277-3429-5B90-1ECAB02E6A53}"/>
              </a:ext>
            </a:extLst>
          </p:cNvPr>
          <p:cNvSpPr/>
          <p:nvPr/>
        </p:nvSpPr>
        <p:spPr>
          <a:xfrm>
            <a:off x="2671774" y="4257383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Kafka 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AB80953-2A5B-7CB5-7E38-BE1E9690A245}"/>
              </a:ext>
            </a:extLst>
          </p:cNvPr>
          <p:cNvSpPr/>
          <p:nvPr/>
        </p:nvSpPr>
        <p:spPr>
          <a:xfrm>
            <a:off x="5152669" y="4219932"/>
            <a:ext cx="1886662" cy="2226147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4C88E7D-9474-DD93-1E2F-D50A46352F89}"/>
              </a:ext>
            </a:extLst>
          </p:cNvPr>
          <p:cNvCxnSpPr>
            <a:cxnSpLocks/>
          </p:cNvCxnSpPr>
          <p:nvPr/>
        </p:nvCxnSpPr>
        <p:spPr>
          <a:xfrm>
            <a:off x="5766761" y="3781983"/>
            <a:ext cx="0" cy="43530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Apache Kafka">
            <a:extLst>
              <a:ext uri="{FF2B5EF4-FFF2-40B4-BE49-F238E27FC236}">
                <a16:creationId xmlns:a16="http://schemas.microsoft.com/office/drawing/2014/main" id="{4B1873C8-8FCA-7E60-CDE2-5E359DABE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4126" y="5110280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9D51933-B6A9-3E6E-1D11-ADCE0F4925FE}"/>
              </a:ext>
            </a:extLst>
          </p:cNvPr>
          <p:cNvSpPr/>
          <p:nvPr/>
        </p:nvSpPr>
        <p:spPr>
          <a:xfrm>
            <a:off x="8019173" y="4259030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Kafka Consumer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0" name="Graphic 9" descr="Smart Phone">
            <a:extLst>
              <a:ext uri="{FF2B5EF4-FFF2-40B4-BE49-F238E27FC236}">
                <a16:creationId xmlns:a16="http://schemas.microsoft.com/office/drawing/2014/main" id="{75589E06-9710-39EA-7B96-6A48AEFDCE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69650" y="3593959"/>
            <a:ext cx="508147" cy="508147"/>
          </a:xfrm>
          <a:prstGeom prst="rect">
            <a:avLst/>
          </a:prstGeom>
        </p:spPr>
      </p:pic>
      <p:pic>
        <p:nvPicPr>
          <p:cNvPr id="11" name="Graphic 10" descr="Laptop">
            <a:extLst>
              <a:ext uri="{FF2B5EF4-FFF2-40B4-BE49-F238E27FC236}">
                <a16:creationId xmlns:a16="http://schemas.microsoft.com/office/drawing/2014/main" id="{F0553888-D264-AE7F-983B-036DCFDDAC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02071" y="4117272"/>
            <a:ext cx="649286" cy="649286"/>
          </a:xfrm>
          <a:prstGeom prst="rect">
            <a:avLst/>
          </a:prstGeom>
        </p:spPr>
      </p:pic>
      <p:pic>
        <p:nvPicPr>
          <p:cNvPr id="12" name="Graphic 11" descr="Truck">
            <a:extLst>
              <a:ext uri="{FF2B5EF4-FFF2-40B4-BE49-F238E27FC236}">
                <a16:creationId xmlns:a16="http://schemas.microsoft.com/office/drawing/2014/main" id="{8A054622-7161-E121-C3DE-C87698BEE83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07615" y="4695797"/>
            <a:ext cx="649287" cy="649287"/>
          </a:xfrm>
          <a:prstGeom prst="rect">
            <a:avLst/>
          </a:prstGeom>
        </p:spPr>
      </p:pic>
      <p:pic>
        <p:nvPicPr>
          <p:cNvPr id="13" name="Graphic 12" descr="Envelope">
            <a:extLst>
              <a:ext uri="{FF2B5EF4-FFF2-40B4-BE49-F238E27FC236}">
                <a16:creationId xmlns:a16="http://schemas.microsoft.com/office/drawing/2014/main" id="{F6847690-C340-1BD5-A061-DE1C600AA0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07398" y="4175833"/>
            <a:ext cx="660143" cy="66014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2E5FB2D-0677-8070-D962-4EB71A59BE9F}"/>
              </a:ext>
            </a:extLst>
          </p:cNvPr>
          <p:cNvSpPr/>
          <p:nvPr/>
        </p:nvSpPr>
        <p:spPr>
          <a:xfrm>
            <a:off x="4625285" y="3254295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Kafka Schema Registry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763BF41-5A27-BAF6-74B8-CA75BF9CA9A4}"/>
              </a:ext>
            </a:extLst>
          </p:cNvPr>
          <p:cNvSpPr/>
          <p:nvPr/>
        </p:nvSpPr>
        <p:spPr>
          <a:xfrm>
            <a:off x="6277882" y="3254295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Kafka Streams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8699663-1F5E-B782-F188-D5C24AB6B5F8}"/>
              </a:ext>
            </a:extLst>
          </p:cNvPr>
          <p:cNvCxnSpPr>
            <a:cxnSpLocks/>
          </p:cNvCxnSpPr>
          <p:nvPr/>
        </p:nvCxnSpPr>
        <p:spPr>
          <a:xfrm>
            <a:off x="5588261" y="3807041"/>
            <a:ext cx="0" cy="41289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D31367E-0E58-60C1-D6B3-031B2B87D4D7}"/>
              </a:ext>
            </a:extLst>
          </p:cNvPr>
          <p:cNvCxnSpPr>
            <a:cxnSpLocks/>
          </p:cNvCxnSpPr>
          <p:nvPr/>
        </p:nvCxnSpPr>
        <p:spPr>
          <a:xfrm>
            <a:off x="1997045" y="4013486"/>
            <a:ext cx="661926" cy="36090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CCA2C4B-A13D-E72D-0328-50F79ACF4A19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1997045" y="4508797"/>
            <a:ext cx="674729" cy="1243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9209C47-1BEB-CF1F-E757-E20A9C52A087}"/>
              </a:ext>
            </a:extLst>
          </p:cNvPr>
          <p:cNvCxnSpPr>
            <a:cxnSpLocks/>
          </p:cNvCxnSpPr>
          <p:nvPr/>
        </p:nvCxnSpPr>
        <p:spPr>
          <a:xfrm flipV="1">
            <a:off x="1997045" y="4655636"/>
            <a:ext cx="674729" cy="364804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B14DAEA-DC00-8A3B-FDB1-F806EB51286B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4064665" y="4515090"/>
            <a:ext cx="1104660" cy="6137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8B3EF84-8A14-6A12-721A-FA3A5D132CF6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7043437" y="4522874"/>
            <a:ext cx="975736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8FE386C-7D21-5121-4B14-043362DF109F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9412064" y="4522874"/>
            <a:ext cx="85036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1608163-299E-7C95-6C72-201D1ED6782F}"/>
              </a:ext>
            </a:extLst>
          </p:cNvPr>
          <p:cNvCxnSpPr>
            <a:cxnSpLocks/>
          </p:cNvCxnSpPr>
          <p:nvPr/>
        </p:nvCxnSpPr>
        <p:spPr>
          <a:xfrm>
            <a:off x="6713406" y="3785132"/>
            <a:ext cx="0" cy="43530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6C97411-53C3-38E1-BCA6-13BBC69AE86C}"/>
              </a:ext>
            </a:extLst>
          </p:cNvPr>
          <p:cNvCxnSpPr>
            <a:cxnSpLocks/>
          </p:cNvCxnSpPr>
          <p:nvPr/>
        </p:nvCxnSpPr>
        <p:spPr>
          <a:xfrm>
            <a:off x="6534906" y="3810190"/>
            <a:ext cx="0" cy="41289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C794F2F-2083-4F2F-8A7F-8CD55F30A706}"/>
              </a:ext>
            </a:extLst>
          </p:cNvPr>
          <p:cNvGrpSpPr/>
          <p:nvPr/>
        </p:nvGrpSpPr>
        <p:grpSpPr>
          <a:xfrm>
            <a:off x="1121303" y="5530799"/>
            <a:ext cx="9998628" cy="907710"/>
            <a:chOff x="1121303" y="5530799"/>
            <a:chExt cx="9998628" cy="907710"/>
          </a:xfrm>
        </p:grpSpPr>
        <p:sp>
          <p:nvSpPr>
            <p:cNvPr id="8" name="Arrow: Pentagon 7">
              <a:extLst>
                <a:ext uri="{FF2B5EF4-FFF2-40B4-BE49-F238E27FC236}">
                  <a16:creationId xmlns:a16="http://schemas.microsoft.com/office/drawing/2014/main" id="{12B68E91-EA3A-4A9C-A512-4C2F8FD97EB7}"/>
                </a:ext>
              </a:extLst>
            </p:cNvPr>
            <p:cNvSpPr/>
            <p:nvPr/>
          </p:nvSpPr>
          <p:spPr>
            <a:xfrm>
              <a:off x="2679360" y="5735928"/>
              <a:ext cx="1517266" cy="527688"/>
            </a:xfrm>
            <a:prstGeom prst="homePlat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Kafka Connect Source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02CECA54-2E58-A3BE-E51B-BE5459E12EE3}"/>
                </a:ext>
              </a:extLst>
            </p:cNvPr>
            <p:cNvSpPr/>
            <p:nvPr/>
          </p:nvSpPr>
          <p:spPr>
            <a:xfrm>
              <a:off x="8035753" y="5727060"/>
              <a:ext cx="1484473" cy="527688"/>
            </a:xfrm>
            <a:prstGeom prst="homePlat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Kafka Connect Sink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5" name="Cylinder 14">
              <a:extLst>
                <a:ext uri="{FF2B5EF4-FFF2-40B4-BE49-F238E27FC236}">
                  <a16:creationId xmlns:a16="http://schemas.microsoft.com/office/drawing/2014/main" id="{D04A61CC-1EA3-9793-5E58-BE40758537FF}"/>
                </a:ext>
              </a:extLst>
            </p:cNvPr>
            <p:cNvSpPr/>
            <p:nvPr/>
          </p:nvSpPr>
          <p:spPr>
            <a:xfrm>
              <a:off x="1121303" y="5530799"/>
              <a:ext cx="764924" cy="907710"/>
            </a:xfrm>
            <a:prstGeom prst="can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600" dirty="0"/>
                <a:t>Source DB</a:t>
              </a:r>
              <a:endParaRPr lang="en-US" sz="1600" dirty="0"/>
            </a:p>
          </p:txBody>
        </p:sp>
        <p:sp>
          <p:nvSpPr>
            <p:cNvPr id="16" name="Cylinder 15">
              <a:extLst>
                <a:ext uri="{FF2B5EF4-FFF2-40B4-BE49-F238E27FC236}">
                  <a16:creationId xmlns:a16="http://schemas.microsoft.com/office/drawing/2014/main" id="{76847B5C-2184-C137-D09E-94FD5CA1F5E9}"/>
                </a:ext>
              </a:extLst>
            </p:cNvPr>
            <p:cNvSpPr/>
            <p:nvPr/>
          </p:nvSpPr>
          <p:spPr>
            <a:xfrm>
              <a:off x="10355007" y="5530799"/>
              <a:ext cx="764924" cy="907710"/>
            </a:xfrm>
            <a:prstGeom prst="can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600" dirty="0"/>
                <a:t>Target DB</a:t>
              </a:r>
              <a:endParaRPr lang="en-US" sz="1600" dirty="0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3278F66-FBAF-5CF6-4D17-BE4F88C1DA8D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>
              <a:off x="1997045" y="5998426"/>
              <a:ext cx="682315" cy="1346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3CBD01B-BE4E-5572-A60C-6B72C06FB3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0226" y="5992213"/>
              <a:ext cx="742202" cy="6213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68198049-8B8D-D32E-3774-BFFE7435E7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22991" y="5984654"/>
              <a:ext cx="929678" cy="15118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021D015-360C-0C55-6B85-F7796789C195}"/>
                </a:ext>
              </a:extLst>
            </p:cNvPr>
            <p:cNvCxnSpPr>
              <a:cxnSpLocks/>
            </p:cNvCxnSpPr>
            <p:nvPr/>
          </p:nvCxnSpPr>
          <p:spPr>
            <a:xfrm>
              <a:off x="7043437" y="5984654"/>
              <a:ext cx="975736" cy="0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2731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5D198-EDB4-C447-C94D-20D4BB210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17F03D7-C00B-6EEE-9E68-E46226B14BE5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(Preview) Kafka Extended Ecosystem and Integration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139B8-73A9-0F48-7408-4677CAE5B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2291866"/>
          </a:xfrm>
        </p:spPr>
        <p:txBody>
          <a:bodyPr/>
          <a:lstStyle/>
          <a:p>
            <a:r>
              <a:rPr lang="hu-HU" sz="1600" dirty="0"/>
              <a:t>Kafka Consumers and Producers have existed for a long time and are considered </a:t>
            </a:r>
            <a:r>
              <a:rPr lang="hu-HU" sz="1600" b="1" dirty="0"/>
              <a:t>low-level</a:t>
            </a:r>
          </a:p>
          <a:p>
            <a:r>
              <a:rPr lang="hu-HU" sz="1600" dirty="0"/>
              <a:t>Kafka &amp; ecosystem has introduced over time some new APIs that are </a:t>
            </a:r>
            <a:r>
              <a:rPr lang="hu-HU" sz="1600" b="1" dirty="0"/>
              <a:t>higher level </a:t>
            </a:r>
            <a:r>
              <a:rPr lang="hu-HU" sz="1600" dirty="0"/>
              <a:t>for </a:t>
            </a:r>
            <a:r>
              <a:rPr lang="hu-HU" sz="1600" b="1" dirty="0"/>
              <a:t>specific problem </a:t>
            </a:r>
            <a:r>
              <a:rPr lang="hu-HU" sz="1600" dirty="0"/>
              <a:t>sets:</a:t>
            </a:r>
          </a:p>
          <a:p>
            <a:pPr lvl="1"/>
            <a:r>
              <a:rPr lang="hu-HU" sz="1400" b="1" dirty="0"/>
              <a:t>Kafka </a:t>
            </a:r>
            <a:r>
              <a:rPr lang="hu-HU" sz="1400" b="1" dirty="0" err="1"/>
              <a:t>Connect</a:t>
            </a:r>
            <a:r>
              <a:rPr lang="hu-HU" sz="1400" b="1" dirty="0"/>
              <a:t>:</a:t>
            </a:r>
            <a:r>
              <a:rPr lang="hu-HU" sz="1400" dirty="0"/>
              <a:t> </a:t>
            </a:r>
            <a:r>
              <a:rPr lang="en-GB" sz="1400" dirty="0"/>
              <a:t>integration toolkit for streaming data between Kafka brokers and other systems using connector plugins</a:t>
            </a:r>
            <a:endParaRPr lang="hu-HU" sz="1400" dirty="0"/>
          </a:p>
          <a:p>
            <a:pPr lvl="1"/>
            <a:r>
              <a:rPr lang="hu-HU" sz="1400" b="1" dirty="0"/>
              <a:t>Kafka </a:t>
            </a:r>
            <a:r>
              <a:rPr lang="hu-HU" sz="1400" b="1" dirty="0" err="1"/>
              <a:t>Streams</a:t>
            </a:r>
            <a:r>
              <a:rPr lang="hu-HU" sz="1400" b="1" dirty="0"/>
              <a:t>:</a:t>
            </a:r>
            <a:r>
              <a:rPr lang="hu-HU" sz="1400" dirty="0"/>
              <a:t> solves transformations in Kafka (used as a Java </a:t>
            </a:r>
            <a:r>
              <a:rPr lang="hu-HU" sz="1400" dirty="0" err="1"/>
              <a:t>lib</a:t>
            </a:r>
            <a:r>
              <a:rPr lang="hu-HU" sz="1400" dirty="0"/>
              <a:t>) </a:t>
            </a:r>
            <a:r>
              <a:rPr lang="en-US" sz="1400" dirty="0"/>
              <a:t>with exactly once capabilities</a:t>
            </a:r>
          </a:p>
          <a:p>
            <a:pPr lvl="1"/>
            <a:r>
              <a:rPr lang="hu-HU" sz="1400" b="1" dirty="0" err="1"/>
              <a:t>Schema</a:t>
            </a:r>
            <a:r>
              <a:rPr lang="hu-HU" sz="1400" b="1" dirty="0"/>
              <a:t> </a:t>
            </a:r>
            <a:r>
              <a:rPr lang="hu-HU" sz="1400" b="1" dirty="0" err="1"/>
              <a:t>Registry</a:t>
            </a:r>
            <a:r>
              <a:rPr lang="hu-HU" sz="1400" b="1" dirty="0"/>
              <a:t>:</a:t>
            </a:r>
            <a:r>
              <a:rPr lang="hu-HU" sz="1400" dirty="0"/>
              <a:t> </a:t>
            </a:r>
            <a:r>
              <a:rPr lang="hu-HU" sz="1400" dirty="0" err="1"/>
              <a:t>helps</a:t>
            </a:r>
            <a:r>
              <a:rPr lang="hu-HU" sz="1400" dirty="0"/>
              <a:t> </a:t>
            </a:r>
            <a:r>
              <a:rPr lang="hu-HU" sz="1400" dirty="0" err="1"/>
              <a:t>using</a:t>
            </a:r>
            <a:r>
              <a:rPr lang="hu-HU" sz="1400" dirty="0"/>
              <a:t> </a:t>
            </a:r>
            <a:r>
              <a:rPr lang="hu-HU" sz="1400" dirty="0" err="1"/>
              <a:t>Schema</a:t>
            </a:r>
            <a:r>
              <a:rPr lang="hu-HU" sz="1400" dirty="0"/>
              <a:t> in Kafka</a:t>
            </a:r>
            <a:endParaRPr lang="hu-HU" sz="1400" b="1" dirty="0"/>
          </a:p>
          <a:p>
            <a:pPr lvl="1"/>
            <a:r>
              <a:rPr lang="hu-HU" sz="1400" b="1" dirty="0"/>
              <a:t>REST Proxy / Kafka </a:t>
            </a:r>
            <a:r>
              <a:rPr lang="hu-HU" sz="1400" b="1" dirty="0" err="1"/>
              <a:t>Bridge</a:t>
            </a:r>
            <a:r>
              <a:rPr lang="hu-HU" sz="1400" dirty="0"/>
              <a:t>: a HTTP REST API server </a:t>
            </a:r>
            <a:r>
              <a:rPr lang="hu-HU" sz="1400" dirty="0" err="1"/>
              <a:t>for</a:t>
            </a:r>
            <a:r>
              <a:rPr lang="hu-HU" sz="1400" dirty="0"/>
              <a:t> </a:t>
            </a:r>
            <a:r>
              <a:rPr lang="hu-HU" sz="1400" dirty="0" err="1"/>
              <a:t>clients</a:t>
            </a:r>
            <a:r>
              <a:rPr lang="hu-HU" sz="1400" dirty="0"/>
              <a:t> </a:t>
            </a:r>
            <a:r>
              <a:rPr lang="hu-HU" sz="1400" dirty="0" err="1"/>
              <a:t>that</a:t>
            </a:r>
            <a:r>
              <a:rPr lang="hu-HU" sz="1400" dirty="0"/>
              <a:t> </a:t>
            </a:r>
            <a:r>
              <a:rPr lang="hu-HU" sz="1400" dirty="0" err="1"/>
              <a:t>cannot</a:t>
            </a:r>
            <a:r>
              <a:rPr lang="hu-HU" sz="1400" dirty="0"/>
              <a:t> </a:t>
            </a:r>
            <a:r>
              <a:rPr lang="hu-HU" sz="1400" dirty="0" err="1"/>
              <a:t>speak</a:t>
            </a:r>
            <a:r>
              <a:rPr lang="hu-HU" sz="1400" dirty="0"/>
              <a:t> </a:t>
            </a:r>
            <a:r>
              <a:rPr lang="hu-HU" sz="1400" dirty="0" err="1"/>
              <a:t>the</a:t>
            </a:r>
            <a:r>
              <a:rPr lang="hu-HU" sz="1400" dirty="0"/>
              <a:t> </a:t>
            </a:r>
            <a:r>
              <a:rPr lang="hu-HU" sz="1400" dirty="0" err="1"/>
              <a:t>native</a:t>
            </a:r>
            <a:r>
              <a:rPr lang="hu-HU" sz="1400" dirty="0"/>
              <a:t> Kafka API</a:t>
            </a:r>
          </a:p>
          <a:p>
            <a:pPr lvl="1"/>
            <a:r>
              <a:rPr lang="hu-HU" sz="1400" b="1" dirty="0" err="1"/>
              <a:t>Mirror</a:t>
            </a:r>
            <a:r>
              <a:rPr lang="hu-HU" sz="1400" b="1" dirty="0"/>
              <a:t> </a:t>
            </a:r>
            <a:r>
              <a:rPr lang="hu-HU" sz="1400" b="1" dirty="0" err="1"/>
              <a:t>Maker</a:t>
            </a:r>
            <a:r>
              <a:rPr lang="hu-HU" sz="1400" dirty="0"/>
              <a:t>: </a:t>
            </a:r>
            <a:r>
              <a:rPr lang="en-GB" sz="1400" dirty="0"/>
              <a:t>replicates data between two Kafka clusters</a:t>
            </a:r>
            <a:endParaRPr lang="hu-HU" sz="1400" dirty="0"/>
          </a:p>
          <a:p>
            <a:pPr lvl="1"/>
            <a:r>
              <a:rPr lang="hu-HU" sz="1400" b="1" dirty="0" err="1"/>
              <a:t>ksqlDB</a:t>
            </a:r>
            <a:r>
              <a:rPr lang="hu-HU" sz="1400" dirty="0"/>
              <a:t>: an SQL-like </a:t>
            </a:r>
            <a:r>
              <a:rPr lang="hu-HU" sz="1400" dirty="0" err="1"/>
              <a:t>query</a:t>
            </a:r>
            <a:r>
              <a:rPr lang="hu-HU" sz="1400" dirty="0"/>
              <a:t> </a:t>
            </a:r>
            <a:r>
              <a:rPr lang="hu-HU" sz="1400" dirty="0" err="1"/>
              <a:t>engine</a:t>
            </a:r>
            <a:r>
              <a:rPr lang="hu-HU" sz="1400" dirty="0"/>
              <a:t> </a:t>
            </a:r>
            <a:r>
              <a:rPr lang="hu-HU" sz="1400" dirty="0" err="1"/>
              <a:t>for</a:t>
            </a:r>
            <a:r>
              <a:rPr lang="hu-HU" sz="1400" dirty="0"/>
              <a:t> Kafka</a:t>
            </a:r>
          </a:p>
          <a:p>
            <a:pPr lvl="1"/>
            <a:endParaRPr lang="en-US" sz="1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18F745-71EF-78CA-50B7-947AB9735041}"/>
              </a:ext>
            </a:extLst>
          </p:cNvPr>
          <p:cNvSpPr/>
          <p:nvPr/>
        </p:nvSpPr>
        <p:spPr>
          <a:xfrm>
            <a:off x="2671774" y="4257383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REST Proxy / Kafka </a:t>
            </a:r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Bridge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393CFD2-6C14-91E5-5CFA-CA84EE0F38E3}"/>
              </a:ext>
            </a:extLst>
          </p:cNvPr>
          <p:cNvSpPr/>
          <p:nvPr/>
        </p:nvSpPr>
        <p:spPr>
          <a:xfrm>
            <a:off x="5152669" y="4219932"/>
            <a:ext cx="1886662" cy="2226147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7" name="Picture 2" descr="Apache Kafka">
            <a:extLst>
              <a:ext uri="{FF2B5EF4-FFF2-40B4-BE49-F238E27FC236}">
                <a16:creationId xmlns:a16="http://schemas.microsoft.com/office/drawing/2014/main" id="{437AF402-AEB2-B456-5F57-ACA34ACEF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4126" y="5110280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2184960-9FA6-8815-C682-ED6BBA5474C4}"/>
              </a:ext>
            </a:extLst>
          </p:cNvPr>
          <p:cNvSpPr/>
          <p:nvPr/>
        </p:nvSpPr>
        <p:spPr>
          <a:xfrm>
            <a:off x="8019173" y="4259030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Mirror</a:t>
            </a: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Maker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0" name="Graphic 9" descr="Smart Phone">
            <a:extLst>
              <a:ext uri="{FF2B5EF4-FFF2-40B4-BE49-F238E27FC236}">
                <a16:creationId xmlns:a16="http://schemas.microsoft.com/office/drawing/2014/main" id="{5B0D86D5-5025-0F43-0E13-5346A9FCF1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69650" y="3957155"/>
            <a:ext cx="508147" cy="508147"/>
          </a:xfrm>
          <a:prstGeom prst="rect">
            <a:avLst/>
          </a:prstGeom>
        </p:spPr>
      </p:pic>
      <p:pic>
        <p:nvPicPr>
          <p:cNvPr id="11" name="Graphic 10" descr="Laptop">
            <a:extLst>
              <a:ext uri="{FF2B5EF4-FFF2-40B4-BE49-F238E27FC236}">
                <a16:creationId xmlns:a16="http://schemas.microsoft.com/office/drawing/2014/main" id="{F891EE36-C601-E65A-905E-588F794ACC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02071" y="4480468"/>
            <a:ext cx="649286" cy="6492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A32F00B-2A47-4784-5BF1-4DA705C73F0A}"/>
              </a:ext>
            </a:extLst>
          </p:cNvPr>
          <p:cNvSpPr/>
          <p:nvPr/>
        </p:nvSpPr>
        <p:spPr>
          <a:xfrm>
            <a:off x="5384851" y="3254295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ksqlDB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FC0EF1C-1017-0C8E-1952-ED4457BA7FF3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1886227" y="4175833"/>
            <a:ext cx="785547" cy="345394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3EB72DF-1CCA-7F42-2CDD-7A11A92EB3DA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1886227" y="4521227"/>
            <a:ext cx="785547" cy="22596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5E2E40-5479-FFB6-071D-0BA3CC9D7276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4064665" y="4515090"/>
            <a:ext cx="1104660" cy="6137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F2F6AB7-BC9E-CD8B-F35F-0DCF5B91D48D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7043437" y="4522874"/>
            <a:ext cx="975736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A52D58D-15C2-53CA-671C-9C322AB1ADBC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9412064" y="4522874"/>
            <a:ext cx="85036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054FA77-2B34-0A4C-1094-808F883196EB}"/>
              </a:ext>
            </a:extLst>
          </p:cNvPr>
          <p:cNvCxnSpPr>
            <a:cxnSpLocks/>
          </p:cNvCxnSpPr>
          <p:nvPr/>
        </p:nvCxnSpPr>
        <p:spPr>
          <a:xfrm>
            <a:off x="6157931" y="3785132"/>
            <a:ext cx="0" cy="43530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62F6731-1C0D-53F4-C1D0-303AD6D851D6}"/>
              </a:ext>
            </a:extLst>
          </p:cNvPr>
          <p:cNvCxnSpPr>
            <a:cxnSpLocks/>
          </p:cNvCxnSpPr>
          <p:nvPr/>
        </p:nvCxnSpPr>
        <p:spPr>
          <a:xfrm>
            <a:off x="5979431" y="3810190"/>
            <a:ext cx="0" cy="41289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4">
            <a:extLst>
              <a:ext uri="{FF2B5EF4-FFF2-40B4-BE49-F238E27FC236}">
                <a16:creationId xmlns:a16="http://schemas.microsoft.com/office/drawing/2014/main" id="{CEF8937C-EB1C-E369-68BB-59F45D85722C}"/>
              </a:ext>
            </a:extLst>
          </p:cNvPr>
          <p:cNvSpPr/>
          <p:nvPr/>
        </p:nvSpPr>
        <p:spPr>
          <a:xfrm>
            <a:off x="10305773" y="4101594"/>
            <a:ext cx="1115600" cy="842560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600" dirty="0" err="1"/>
              <a:t>Source</a:t>
            </a:r>
            <a:endParaRPr lang="hu-HU" sz="1600" dirty="0"/>
          </a:p>
          <a:p>
            <a:pPr algn="ctr"/>
            <a:endParaRPr lang="hu-HU" sz="1600" dirty="0"/>
          </a:p>
          <a:p>
            <a:pPr algn="ctr"/>
            <a:r>
              <a:rPr lang="hu-HU" sz="1600" dirty="0"/>
              <a:t> </a:t>
            </a:r>
            <a:r>
              <a:rPr lang="hu-HU" sz="1600" dirty="0" err="1"/>
              <a:t>Cluster</a:t>
            </a:r>
            <a:endParaRPr lang="en-US" sz="1600" dirty="0"/>
          </a:p>
        </p:txBody>
      </p:sp>
      <p:pic>
        <p:nvPicPr>
          <p:cNvPr id="39" name="Picture 2" descr="Apache Kafka">
            <a:extLst>
              <a:ext uri="{FF2B5EF4-FFF2-40B4-BE49-F238E27FC236}">
                <a16:creationId xmlns:a16="http://schemas.microsoft.com/office/drawing/2014/main" id="{8C9AAD93-698E-A058-0FE4-8D4452D722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2844" y="4391175"/>
            <a:ext cx="652567" cy="297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Graphic 10" descr="Laptop">
            <a:extLst>
              <a:ext uri="{FF2B5EF4-FFF2-40B4-BE49-F238E27FC236}">
                <a16:creationId xmlns:a16="http://schemas.microsoft.com/office/drawing/2014/main" id="{90EBDE90-D02C-59EE-AC6F-9F8F3EC182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45990" y="3177902"/>
            <a:ext cx="649286" cy="649286"/>
          </a:xfrm>
          <a:prstGeom prst="rect">
            <a:avLst/>
          </a:prstGeom>
        </p:spPr>
      </p:pic>
      <p:cxnSp>
        <p:nvCxnSpPr>
          <p:cNvPr id="42" name="Straight Arrow Connector 20">
            <a:extLst>
              <a:ext uri="{FF2B5EF4-FFF2-40B4-BE49-F238E27FC236}">
                <a16:creationId xmlns:a16="http://schemas.microsoft.com/office/drawing/2014/main" id="{D664701E-9CED-392B-075D-1C3A4ABA5A1C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6777742" y="3518139"/>
            <a:ext cx="1068248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21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animBg="1"/>
      <p:bldP spid="18" grpId="0" animBg="1"/>
      <p:bldP spid="38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CF419-2306-43A7-26C3-BD8489A86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18E8F1-52EE-DF17-ADC9-4FB204C48AC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 err="1"/>
              <a:t>Confluent</a:t>
            </a:r>
            <a:r>
              <a:rPr lang="hu-HU" dirty="0"/>
              <a:t> Platform Big Picture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46E01-EFB0-9967-F8A2-D38AEFA66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2291866"/>
          </a:xfrm>
        </p:spPr>
        <p:txBody>
          <a:bodyPr/>
          <a:lstStyle/>
          <a:p>
            <a:r>
              <a:rPr lang="en-GB" sz="1600" dirty="0"/>
              <a:t>Confluent Platform provides all of Kafka’s open-source features plus additional </a:t>
            </a:r>
            <a:r>
              <a:rPr lang="en-GB" sz="1600" b="1" dirty="0"/>
              <a:t>proprietary components</a:t>
            </a:r>
            <a:endParaRPr lang="hu-HU" sz="1600" b="1" dirty="0"/>
          </a:p>
          <a:p>
            <a:pPr lvl="1"/>
            <a:endParaRPr lang="en-US" sz="1400" b="1" dirty="0"/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C37B4636-3629-D809-37B7-1D6C50DFE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228" y="1317811"/>
            <a:ext cx="9185543" cy="5239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177458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F8709-D10B-A9A8-0591-8A7234C22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zöveg helye 2">
            <a:extLst>
              <a:ext uri="{FF2B5EF4-FFF2-40B4-BE49-F238E27FC236}">
                <a16:creationId xmlns:a16="http://schemas.microsoft.com/office/drawing/2014/main" id="{E01367C8-6B71-4813-8690-7CA4DDC0429E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 algn="ctr"/>
            <a:r>
              <a:rPr lang="hu-HU" sz="4000" dirty="0">
                <a:solidFill>
                  <a:srgbClr val="012863"/>
                </a:solidFill>
              </a:rPr>
              <a:t>Kafka UIs</a:t>
            </a:r>
            <a:endParaRPr lang="en-US" sz="4000" dirty="0">
              <a:solidFill>
                <a:srgbClr val="012863"/>
              </a:solidFill>
            </a:endParaRPr>
          </a:p>
          <a:p>
            <a:pPr algn="ctr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4492473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EFB94AF-F242-170A-BD7F-5FED6F0B47CA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GUI for Kafka – Kafka UI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E46F7-6996-B367-432A-EA8B7FB71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282523"/>
                </a:solidFill>
                <a:effectLst/>
              </a:rPr>
              <a:t>Kafka-UI is a versatile and user-friendly web interface for managing and monitoring Kafka clusters.</a:t>
            </a:r>
            <a:endParaRPr lang="hu-HU" b="0" i="0" dirty="0">
              <a:solidFill>
                <a:srgbClr val="282523"/>
              </a:solidFill>
              <a:effectLst/>
            </a:endParaRPr>
          </a:p>
          <a:p>
            <a:pPr algn="l"/>
            <a:r>
              <a:rPr lang="hu-HU" dirty="0">
                <a:solidFill>
                  <a:srgbClr val="282523"/>
                </a:solidFill>
              </a:rPr>
              <a:t>Open-source</a:t>
            </a:r>
            <a:endParaRPr lang="en-US" b="0" i="0" dirty="0">
              <a:solidFill>
                <a:srgbClr val="282523"/>
              </a:solidFill>
              <a:effectLst/>
            </a:endParaRPr>
          </a:p>
          <a:p>
            <a:pPr algn="l"/>
            <a:r>
              <a:rPr lang="en-US" i="0" dirty="0">
                <a:solidFill>
                  <a:srgbClr val="282523"/>
                </a:solidFill>
                <a:effectLst/>
              </a:rPr>
              <a:t>Most Useful Features</a:t>
            </a:r>
            <a:r>
              <a:rPr lang="hu-HU" i="0" dirty="0">
                <a:solidFill>
                  <a:srgbClr val="282523"/>
                </a:solidFill>
                <a:effectLst/>
              </a:rPr>
              <a:t>:</a:t>
            </a:r>
            <a:endParaRPr lang="en-US" i="0" dirty="0">
              <a:solidFill>
                <a:srgbClr val="282523"/>
              </a:solidFill>
              <a:effectLst/>
            </a:endParaRPr>
          </a:p>
          <a:p>
            <a:pPr lvl="1"/>
            <a:r>
              <a:rPr lang="en-US" b="1" dirty="0"/>
              <a:t>Multi-Cluster Management:</a:t>
            </a:r>
            <a:r>
              <a:rPr lang="en-US" dirty="0"/>
              <a:t> Manage multiple Kafka clusters from a single interface.</a:t>
            </a:r>
          </a:p>
          <a:p>
            <a:pPr lvl="1"/>
            <a:r>
              <a:rPr lang="en-US" b="1" dirty="0"/>
              <a:t>Real-Time Monitoring:</a:t>
            </a:r>
            <a:r>
              <a:rPr lang="en-US" dirty="0"/>
              <a:t> Monitor cluster health, topic performance, and consumer lag in real time.</a:t>
            </a:r>
          </a:p>
          <a:p>
            <a:pPr lvl="1"/>
            <a:r>
              <a:rPr lang="en-US" b="1" dirty="0"/>
              <a:t>Topic Management:</a:t>
            </a:r>
            <a:r>
              <a:rPr lang="en-US" dirty="0"/>
              <a:t> Easily create, update, and delete topics.</a:t>
            </a:r>
          </a:p>
          <a:p>
            <a:pPr lvl="1"/>
            <a:r>
              <a:rPr lang="en-US" b="1" dirty="0"/>
              <a:t>Consumer Group Management: </a:t>
            </a:r>
            <a:r>
              <a:rPr lang="en-US" dirty="0"/>
              <a:t>View and manage consumer groups and their offsets.</a:t>
            </a:r>
          </a:p>
          <a:p>
            <a:pPr lvl="1"/>
            <a:r>
              <a:rPr lang="en-US" b="1" dirty="0"/>
              <a:t>Message Browsing:</a:t>
            </a:r>
            <a:r>
              <a:rPr lang="hu-HU" b="1" dirty="0"/>
              <a:t> </a:t>
            </a:r>
            <a:r>
              <a:rPr lang="en-US" dirty="0"/>
              <a:t>Browse and search messages in topics.</a:t>
            </a:r>
          </a:p>
          <a:p>
            <a:pPr lvl="1"/>
            <a:r>
              <a:rPr lang="en-US" b="1" dirty="0"/>
              <a:t>Security and Permissions:</a:t>
            </a:r>
            <a:r>
              <a:rPr lang="en-US" dirty="0"/>
              <a:t> </a:t>
            </a:r>
            <a:endParaRPr lang="hu-HU" dirty="0"/>
          </a:p>
          <a:p>
            <a:pPr lvl="2"/>
            <a:r>
              <a:rPr lang="en-US" dirty="0"/>
              <a:t>Kafka-UI supports OAuth2 (GitHub, GitLab, Google) and </a:t>
            </a:r>
            <a:r>
              <a:rPr lang="en-US" b="1" dirty="0"/>
              <a:t>role-based access control (RBAC)</a:t>
            </a:r>
            <a:r>
              <a:rPr lang="en-US" dirty="0"/>
              <a:t>, </a:t>
            </a:r>
            <a:endParaRPr lang="hu-HU" dirty="0"/>
          </a:p>
          <a:p>
            <a:pPr lvl="2"/>
            <a:r>
              <a:rPr lang="en-US" dirty="0"/>
              <a:t>but it’s not a full-fledged enterprise-grade IAM system</a:t>
            </a:r>
            <a:endParaRPr lang="hu-HU" dirty="0"/>
          </a:p>
          <a:p>
            <a:pPr lvl="1"/>
            <a:r>
              <a:rPr lang="hu-HU" dirty="0"/>
              <a:t>... and more: </a:t>
            </a:r>
            <a:r>
              <a:rPr lang="hu-HU" dirty="0">
                <a:hlinkClick r:id="rId2"/>
              </a:rPr>
              <a:t>https://docs.kafka-ui.provectus.io/overview/features</a:t>
            </a:r>
            <a:endParaRPr lang="hu-HU" dirty="0"/>
          </a:p>
          <a:p>
            <a:pPr marL="457200" lvl="1" indent="0">
              <a:buNone/>
            </a:pPr>
            <a:endParaRPr lang="hu-HU" dirty="0"/>
          </a:p>
          <a:p>
            <a:r>
              <a:rPr lang="en-US" dirty="0"/>
              <a:t>Optional, additional integration:</a:t>
            </a:r>
          </a:p>
          <a:p>
            <a:pPr lvl="1"/>
            <a:r>
              <a:rPr lang="en-US" dirty="0"/>
              <a:t>Schema Registry</a:t>
            </a:r>
            <a:r>
              <a:rPr lang="hu-HU" dirty="0"/>
              <a:t> (</a:t>
            </a:r>
            <a:r>
              <a:rPr lang="en-US" dirty="0"/>
              <a:t>you can view schemas if configured</a:t>
            </a:r>
            <a:r>
              <a:rPr lang="hu-HU" dirty="0"/>
              <a:t>)</a:t>
            </a:r>
          </a:p>
          <a:p>
            <a:pPr lvl="1"/>
            <a:r>
              <a:rPr lang="hu-HU" dirty="0"/>
              <a:t>Kafka Connect (</a:t>
            </a:r>
            <a:r>
              <a:rPr lang="en-US" dirty="0"/>
              <a:t>you can view connectors but not manage them deeply</a:t>
            </a:r>
            <a:r>
              <a:rPr lang="hu-HU" dirty="0"/>
              <a:t>)</a:t>
            </a:r>
          </a:p>
          <a:p>
            <a:pPr marL="457200" lvl="1" indent="0">
              <a:buNone/>
            </a:pPr>
            <a:endParaRPr lang="hu-HU" dirty="0"/>
          </a:p>
          <a:p>
            <a:r>
              <a:rPr lang="hu-HU" dirty="0"/>
              <a:t>Helm chart is available</a:t>
            </a:r>
            <a:endParaRPr lang="en-US" dirty="0"/>
          </a:p>
          <a:p>
            <a:pPr marL="457200" lvl="1" indent="0">
              <a:buNone/>
            </a:pPr>
            <a:r>
              <a:rPr lang="hu-HU" dirty="0"/>
              <a:t>	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31D2C1-F89F-E9CF-6706-5937D776D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190" y="56740"/>
            <a:ext cx="2716606" cy="62936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2945CB3-8C2C-7959-28A2-C7FD68A39F75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CFBE6FFB-FFD3-D109-541E-C44D7DF03FD0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9AEE872-C9C7-12B3-4B9B-61C35861C15D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624782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40419-8C23-19D2-6A5A-6CF9ABF46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7AFC5BD-63DC-C2A1-552D-E1834691EFBE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GUI for Kafka – Kafdrop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ADA0A-2AC2-6AD3-D07A-50FDA472C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b="0" i="0" dirty="0" err="1">
                <a:solidFill>
                  <a:srgbClr val="282523"/>
                </a:solidFill>
                <a:effectLst/>
              </a:rPr>
              <a:t>Kafdrop</a:t>
            </a:r>
            <a:r>
              <a:rPr lang="en-US" b="0" i="0" dirty="0">
                <a:solidFill>
                  <a:srgbClr val="282523"/>
                </a:solidFill>
                <a:effectLst/>
              </a:rPr>
              <a:t> is a web UI for viewing Kafka topics and browsing consumer groups. </a:t>
            </a:r>
            <a:endParaRPr lang="hu-HU" b="0" i="0" dirty="0">
              <a:solidFill>
                <a:srgbClr val="282523"/>
              </a:solidFill>
              <a:effectLst/>
            </a:endParaRPr>
          </a:p>
          <a:p>
            <a:pPr algn="l"/>
            <a:r>
              <a:rPr lang="en-US" dirty="0">
                <a:solidFill>
                  <a:srgbClr val="282523"/>
                </a:solidFill>
              </a:rPr>
              <a:t>The tool displays information such as brokers, topics, partitions, consumers, and lets you view messages.</a:t>
            </a:r>
            <a:endParaRPr lang="hu-HU" dirty="0">
              <a:solidFill>
                <a:srgbClr val="282523"/>
              </a:solidFill>
            </a:endParaRPr>
          </a:p>
          <a:p>
            <a:pPr algn="l"/>
            <a:r>
              <a:rPr lang="en-US" i="0" dirty="0">
                <a:solidFill>
                  <a:srgbClr val="282523"/>
                </a:solidFill>
                <a:effectLst/>
              </a:rPr>
              <a:t>Most Useful Features</a:t>
            </a:r>
            <a:r>
              <a:rPr lang="hu-HU" i="0" dirty="0">
                <a:solidFill>
                  <a:srgbClr val="282523"/>
                </a:solidFill>
                <a:effectLst/>
              </a:rPr>
              <a:t>:</a:t>
            </a:r>
            <a:endParaRPr lang="en-US" i="0" dirty="0">
              <a:solidFill>
                <a:srgbClr val="282523"/>
              </a:solidFill>
              <a:effectLst/>
            </a:endParaRPr>
          </a:p>
          <a:p>
            <a:pPr lvl="1"/>
            <a:r>
              <a:rPr lang="en-US" b="1" dirty="0"/>
              <a:t>View Kafka brokers</a:t>
            </a:r>
            <a:r>
              <a:rPr lang="hu-HU" b="1" dirty="0"/>
              <a:t>:</a:t>
            </a:r>
            <a:r>
              <a:rPr lang="en-US" dirty="0"/>
              <a:t> topic and partition assignments, and controller status</a:t>
            </a:r>
          </a:p>
          <a:p>
            <a:pPr lvl="1"/>
            <a:r>
              <a:rPr lang="en-US" b="1" dirty="0"/>
              <a:t>View topics</a:t>
            </a:r>
            <a:r>
              <a:rPr lang="hu-HU" b="1" dirty="0"/>
              <a:t>:</a:t>
            </a:r>
            <a:r>
              <a:rPr lang="en-US" dirty="0"/>
              <a:t> partition count, replication status, and custom configuration</a:t>
            </a:r>
          </a:p>
          <a:p>
            <a:pPr lvl="1"/>
            <a:r>
              <a:rPr lang="en-US" b="1" dirty="0"/>
              <a:t>Browse messages</a:t>
            </a:r>
            <a:r>
              <a:rPr lang="hu-HU" b="1" dirty="0"/>
              <a:t>: </a:t>
            </a:r>
            <a:r>
              <a:rPr lang="en-US" dirty="0"/>
              <a:t>JSON, plain text, Avro and </a:t>
            </a:r>
            <a:r>
              <a:rPr lang="en-US" dirty="0" err="1"/>
              <a:t>Protobuf</a:t>
            </a:r>
            <a:r>
              <a:rPr lang="en-US" dirty="0"/>
              <a:t> encoding</a:t>
            </a:r>
          </a:p>
          <a:p>
            <a:pPr lvl="1"/>
            <a:r>
              <a:rPr lang="en-US" b="1" dirty="0"/>
              <a:t>View consumer groups</a:t>
            </a:r>
            <a:r>
              <a:rPr lang="hu-HU" b="1" dirty="0"/>
              <a:t>: </a:t>
            </a:r>
            <a:r>
              <a:rPr lang="en-US" dirty="0"/>
              <a:t>per-partition parked offsets, combined and per-partition lag</a:t>
            </a:r>
          </a:p>
          <a:p>
            <a:pPr lvl="1"/>
            <a:r>
              <a:rPr lang="en-US" b="1" dirty="0"/>
              <a:t>Create new topics</a:t>
            </a:r>
          </a:p>
          <a:p>
            <a:pPr lvl="1"/>
            <a:r>
              <a:rPr lang="en-US" b="1" dirty="0"/>
              <a:t>View ACLs</a:t>
            </a:r>
          </a:p>
          <a:p>
            <a:pPr lvl="1"/>
            <a:r>
              <a:rPr lang="en-US" b="1" dirty="0"/>
              <a:t>Support for Azure Event Hubs</a:t>
            </a:r>
            <a:endParaRPr lang="hu-HU" b="1" dirty="0"/>
          </a:p>
          <a:p>
            <a:pPr lvl="1"/>
            <a:endParaRPr lang="hu-HU" b="1" dirty="0"/>
          </a:p>
          <a:p>
            <a:r>
              <a:rPr lang="en-US" b="1" dirty="0"/>
              <a:t>Security features</a:t>
            </a:r>
            <a:r>
              <a:rPr lang="en-US" dirty="0"/>
              <a:t>: </a:t>
            </a:r>
            <a:r>
              <a:rPr lang="en-US" dirty="0" err="1"/>
              <a:t>Kafdrop</a:t>
            </a:r>
            <a:r>
              <a:rPr lang="en-US" dirty="0"/>
              <a:t> lacks advanced access control or RBAC. It supports TLS and SASL for broker connections, but not granular user permissions</a:t>
            </a:r>
            <a:r>
              <a:rPr lang="hu-HU" dirty="0"/>
              <a:t>.</a:t>
            </a:r>
            <a:endParaRPr lang="hu-HU" b="1" dirty="0"/>
          </a:p>
          <a:p>
            <a:pPr lvl="1"/>
            <a:endParaRPr lang="hu-HU" b="1" dirty="0"/>
          </a:p>
          <a:p>
            <a:r>
              <a:rPr lang="en-US" dirty="0"/>
              <a:t>Optional, additional integration:</a:t>
            </a:r>
          </a:p>
          <a:p>
            <a:pPr lvl="1"/>
            <a:r>
              <a:rPr lang="en-US" dirty="0"/>
              <a:t>Schema Registry</a:t>
            </a:r>
            <a:endParaRPr lang="hu-HU" dirty="0"/>
          </a:p>
          <a:p>
            <a:pPr lvl="1"/>
            <a:endParaRPr lang="hu-HU" dirty="0"/>
          </a:p>
          <a:p>
            <a:r>
              <a:rPr lang="hu-HU" dirty="0"/>
              <a:t>Helm chart is available</a:t>
            </a:r>
            <a:endParaRPr lang="en-US" dirty="0"/>
          </a:p>
        </p:txBody>
      </p:sp>
      <p:pic>
        <p:nvPicPr>
          <p:cNvPr id="2050" name="Picture 2" descr="logo">
            <a:extLst>
              <a:ext uri="{FF2B5EF4-FFF2-40B4-BE49-F238E27FC236}">
                <a16:creationId xmlns:a16="http://schemas.microsoft.com/office/drawing/2014/main" id="{0500D49D-CA9A-2733-7859-45685F18C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1934" y="120896"/>
            <a:ext cx="458303" cy="53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1B53592-D68C-22B1-2006-181DD4A1B511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C7581DE9-084C-4AE9-C09E-4E162AF77260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92E645-1AF5-7E4F-FBAD-5BDBD792A5B8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8340422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3E2DD-7541-3B66-3C76-FF798A3F0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zöveg helye 2">
            <a:extLst>
              <a:ext uri="{FF2B5EF4-FFF2-40B4-BE49-F238E27FC236}">
                <a16:creationId xmlns:a16="http://schemas.microsoft.com/office/drawing/2014/main" id="{D596A884-1BDE-4AAB-C2E6-5B27723590B4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 algn="ctr"/>
            <a:r>
              <a:rPr lang="hu-HU" sz="4000" dirty="0">
                <a:solidFill>
                  <a:srgbClr val="012863"/>
                </a:solidFill>
              </a:rPr>
              <a:t>Kafka Clients – Extended Ecosystem</a:t>
            </a:r>
            <a:endParaRPr lang="en-US" sz="4000" dirty="0">
              <a:solidFill>
                <a:srgbClr val="012863"/>
              </a:solidFill>
            </a:endParaRPr>
          </a:p>
          <a:p>
            <a:pPr algn="ctr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266067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7411D4-63C3-B29D-2839-DADC5AC47A45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</a:t>
            </a:r>
            <a:r>
              <a:rPr lang="hu-HU" dirty="0" err="1"/>
              <a:t>Extended</a:t>
            </a:r>
            <a:r>
              <a:rPr lang="hu-HU" dirty="0"/>
              <a:t> </a:t>
            </a:r>
            <a:r>
              <a:rPr lang="hu-HU" dirty="0" err="1"/>
              <a:t>Ecosystem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A6829-8BA3-7409-B79A-96C957F056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2291866"/>
          </a:xfrm>
        </p:spPr>
        <p:txBody>
          <a:bodyPr/>
          <a:lstStyle/>
          <a:p>
            <a:r>
              <a:rPr lang="en-US" sz="1600" dirty="0"/>
              <a:t>Kafka Consumers and Producers have existed for a long time and are considered </a:t>
            </a:r>
            <a:r>
              <a:rPr lang="en-US" sz="1600" b="1" dirty="0"/>
              <a:t>low-level</a:t>
            </a:r>
          </a:p>
          <a:p>
            <a:r>
              <a:rPr lang="en-US" sz="1600" dirty="0"/>
              <a:t>Kafka &amp; ecosystem has introduced over time some new APIs that are </a:t>
            </a:r>
            <a:r>
              <a:rPr lang="en-US" sz="1600" b="1" dirty="0"/>
              <a:t>higher level </a:t>
            </a:r>
            <a:r>
              <a:rPr lang="en-US" sz="1600" dirty="0"/>
              <a:t>for </a:t>
            </a:r>
            <a:r>
              <a:rPr lang="en-US" sz="1600" b="1" dirty="0"/>
              <a:t>specific problem </a:t>
            </a:r>
            <a:r>
              <a:rPr lang="en-US" sz="1600" dirty="0"/>
              <a:t>sets:</a:t>
            </a:r>
          </a:p>
          <a:p>
            <a:pPr lvl="1"/>
            <a:r>
              <a:rPr lang="en-US" sz="1400" b="1" dirty="0"/>
              <a:t>Kafka Connect:</a:t>
            </a:r>
            <a:r>
              <a:rPr lang="en-US" sz="1400" dirty="0"/>
              <a:t> integration toolkit for streaming data between Kafka brokers and other systems using connector plugins</a:t>
            </a:r>
          </a:p>
          <a:p>
            <a:pPr lvl="1"/>
            <a:r>
              <a:rPr lang="en-US" sz="1400" b="1" dirty="0"/>
              <a:t>Kafka Streams:</a:t>
            </a:r>
            <a:r>
              <a:rPr lang="en-US" sz="1400" dirty="0"/>
              <a:t> solves transformations in Kafka (used as a Java lib) with exactly once capabilities</a:t>
            </a:r>
          </a:p>
          <a:p>
            <a:pPr lvl="1"/>
            <a:r>
              <a:rPr lang="en-US" sz="1400" b="1" dirty="0"/>
              <a:t>Schema Registry:</a:t>
            </a:r>
            <a:r>
              <a:rPr lang="en-US" sz="1400" dirty="0"/>
              <a:t> helps using Schema in Kafka</a:t>
            </a:r>
            <a:endParaRPr lang="en-US" sz="1400" b="1" dirty="0"/>
          </a:p>
          <a:p>
            <a:pPr lvl="1"/>
            <a:endParaRPr lang="en-US" sz="1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B8BF8C-6036-48F8-7445-2C7B699621F3}"/>
              </a:ext>
            </a:extLst>
          </p:cNvPr>
          <p:cNvSpPr/>
          <p:nvPr/>
        </p:nvSpPr>
        <p:spPr>
          <a:xfrm>
            <a:off x="2671774" y="4257383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Kafka 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F1BA21D-A8B9-E36A-3BC5-E8AF71F73E11}"/>
              </a:ext>
            </a:extLst>
          </p:cNvPr>
          <p:cNvSpPr/>
          <p:nvPr/>
        </p:nvSpPr>
        <p:spPr>
          <a:xfrm>
            <a:off x="5152669" y="4219932"/>
            <a:ext cx="1886662" cy="2226147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30A1743-CB1B-2FB4-7D88-CAEE4CA797DB}"/>
              </a:ext>
            </a:extLst>
          </p:cNvPr>
          <p:cNvCxnSpPr>
            <a:cxnSpLocks/>
          </p:cNvCxnSpPr>
          <p:nvPr/>
        </p:nvCxnSpPr>
        <p:spPr>
          <a:xfrm>
            <a:off x="5766761" y="3781983"/>
            <a:ext cx="0" cy="43530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Apache Kafka">
            <a:extLst>
              <a:ext uri="{FF2B5EF4-FFF2-40B4-BE49-F238E27FC236}">
                <a16:creationId xmlns:a16="http://schemas.microsoft.com/office/drawing/2014/main" id="{A6AFB39E-1949-98A0-DFF7-AFF09F784E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4126" y="5110280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02C7103-F94C-922A-7AE4-61D9FC32AEBC}"/>
              </a:ext>
            </a:extLst>
          </p:cNvPr>
          <p:cNvSpPr/>
          <p:nvPr/>
        </p:nvSpPr>
        <p:spPr>
          <a:xfrm>
            <a:off x="8019173" y="4259030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Kafka Consumer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0" name="Graphic 9" descr="Smart Phone">
            <a:extLst>
              <a:ext uri="{FF2B5EF4-FFF2-40B4-BE49-F238E27FC236}">
                <a16:creationId xmlns:a16="http://schemas.microsoft.com/office/drawing/2014/main" id="{9ED6CCDF-7E4A-CF42-76F7-00DD6928D5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69650" y="3593959"/>
            <a:ext cx="508147" cy="508147"/>
          </a:xfrm>
          <a:prstGeom prst="rect">
            <a:avLst/>
          </a:prstGeom>
        </p:spPr>
      </p:pic>
      <p:pic>
        <p:nvPicPr>
          <p:cNvPr id="11" name="Graphic 10" descr="Laptop">
            <a:extLst>
              <a:ext uri="{FF2B5EF4-FFF2-40B4-BE49-F238E27FC236}">
                <a16:creationId xmlns:a16="http://schemas.microsoft.com/office/drawing/2014/main" id="{E31A3073-CFC8-6316-F3B6-1F9A13B8319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02071" y="4117272"/>
            <a:ext cx="649286" cy="649286"/>
          </a:xfrm>
          <a:prstGeom prst="rect">
            <a:avLst/>
          </a:prstGeom>
        </p:spPr>
      </p:pic>
      <p:pic>
        <p:nvPicPr>
          <p:cNvPr id="12" name="Graphic 11" descr="Truck">
            <a:extLst>
              <a:ext uri="{FF2B5EF4-FFF2-40B4-BE49-F238E27FC236}">
                <a16:creationId xmlns:a16="http://schemas.microsoft.com/office/drawing/2014/main" id="{61D404BD-C200-AF0A-3D81-56638313F8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07615" y="4695797"/>
            <a:ext cx="649287" cy="649287"/>
          </a:xfrm>
          <a:prstGeom prst="rect">
            <a:avLst/>
          </a:prstGeom>
        </p:spPr>
      </p:pic>
      <p:pic>
        <p:nvPicPr>
          <p:cNvPr id="13" name="Graphic 12" descr="Envelope">
            <a:extLst>
              <a:ext uri="{FF2B5EF4-FFF2-40B4-BE49-F238E27FC236}">
                <a16:creationId xmlns:a16="http://schemas.microsoft.com/office/drawing/2014/main" id="{F7D5FC20-77E3-3EA6-5769-F36E11CC839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07398" y="4175833"/>
            <a:ext cx="660143" cy="66014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210E808-4A9E-A75E-9EA2-E0A192A756CA}"/>
              </a:ext>
            </a:extLst>
          </p:cNvPr>
          <p:cNvSpPr/>
          <p:nvPr/>
        </p:nvSpPr>
        <p:spPr>
          <a:xfrm>
            <a:off x="4625285" y="3254295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Kafka Schema Registry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13B5222-CE27-91E8-EC04-A22E2293738E}"/>
              </a:ext>
            </a:extLst>
          </p:cNvPr>
          <p:cNvSpPr/>
          <p:nvPr/>
        </p:nvSpPr>
        <p:spPr>
          <a:xfrm>
            <a:off x="6277882" y="3254295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Kafka Streams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02F5A9-A94A-8AAE-F5C2-1FD2EF3FA621}"/>
              </a:ext>
            </a:extLst>
          </p:cNvPr>
          <p:cNvCxnSpPr>
            <a:cxnSpLocks/>
          </p:cNvCxnSpPr>
          <p:nvPr/>
        </p:nvCxnSpPr>
        <p:spPr>
          <a:xfrm>
            <a:off x="5588261" y="3807041"/>
            <a:ext cx="0" cy="41289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CDFC87F-322B-8CE7-2B31-7CB7D2E01908}"/>
              </a:ext>
            </a:extLst>
          </p:cNvPr>
          <p:cNvCxnSpPr>
            <a:cxnSpLocks/>
          </p:cNvCxnSpPr>
          <p:nvPr/>
        </p:nvCxnSpPr>
        <p:spPr>
          <a:xfrm>
            <a:off x="1997045" y="4013486"/>
            <a:ext cx="661926" cy="36090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3DB116E-B3A8-6BDD-C517-CF2CDD2DDADA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1997045" y="4508797"/>
            <a:ext cx="674729" cy="1243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324B35D-83A9-361F-96FE-17BD50070803}"/>
              </a:ext>
            </a:extLst>
          </p:cNvPr>
          <p:cNvCxnSpPr>
            <a:cxnSpLocks/>
          </p:cNvCxnSpPr>
          <p:nvPr/>
        </p:nvCxnSpPr>
        <p:spPr>
          <a:xfrm flipV="1">
            <a:off x="1997045" y="4655636"/>
            <a:ext cx="674729" cy="364804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EC64534-31FB-AA75-1CFA-7717E9BA1C46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4064665" y="4515090"/>
            <a:ext cx="1104660" cy="6137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DE0B114-17AF-DFCC-0948-D2B44A846328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7043437" y="4522874"/>
            <a:ext cx="975736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1E1C43E-81C6-0E78-E7B1-2B0D16FFE6AE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9412064" y="4522874"/>
            <a:ext cx="85036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A89315A-544C-44B6-11B5-5CC7DF1556ED}"/>
              </a:ext>
            </a:extLst>
          </p:cNvPr>
          <p:cNvCxnSpPr>
            <a:cxnSpLocks/>
          </p:cNvCxnSpPr>
          <p:nvPr/>
        </p:nvCxnSpPr>
        <p:spPr>
          <a:xfrm>
            <a:off x="6713406" y="3785132"/>
            <a:ext cx="0" cy="43530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A9E91B2-5806-C8B4-0A4F-659238447DAC}"/>
              </a:ext>
            </a:extLst>
          </p:cNvPr>
          <p:cNvCxnSpPr>
            <a:cxnSpLocks/>
          </p:cNvCxnSpPr>
          <p:nvPr/>
        </p:nvCxnSpPr>
        <p:spPr>
          <a:xfrm>
            <a:off x="6534906" y="3810190"/>
            <a:ext cx="0" cy="41289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4474EA-A3E8-903E-6112-3C27A3E05699}"/>
              </a:ext>
            </a:extLst>
          </p:cNvPr>
          <p:cNvGrpSpPr/>
          <p:nvPr/>
        </p:nvGrpSpPr>
        <p:grpSpPr>
          <a:xfrm>
            <a:off x="1121303" y="5530799"/>
            <a:ext cx="9998628" cy="907710"/>
            <a:chOff x="1121303" y="5530799"/>
            <a:chExt cx="9998628" cy="907710"/>
          </a:xfrm>
        </p:grpSpPr>
        <p:sp>
          <p:nvSpPr>
            <p:cNvPr id="8" name="Arrow: Pentagon 7">
              <a:extLst>
                <a:ext uri="{FF2B5EF4-FFF2-40B4-BE49-F238E27FC236}">
                  <a16:creationId xmlns:a16="http://schemas.microsoft.com/office/drawing/2014/main" id="{25F41BC6-D9AF-19CF-0CF1-5FF507A4FEA9}"/>
                </a:ext>
              </a:extLst>
            </p:cNvPr>
            <p:cNvSpPr/>
            <p:nvPr/>
          </p:nvSpPr>
          <p:spPr>
            <a:xfrm>
              <a:off x="2679360" y="5735928"/>
              <a:ext cx="1517266" cy="527688"/>
            </a:xfrm>
            <a:prstGeom prst="homePlat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Kafka Connect Source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4AE871A3-999C-109F-D46A-8D615592BC43}"/>
                </a:ext>
              </a:extLst>
            </p:cNvPr>
            <p:cNvSpPr/>
            <p:nvPr/>
          </p:nvSpPr>
          <p:spPr>
            <a:xfrm>
              <a:off x="8035753" y="5727060"/>
              <a:ext cx="1484473" cy="527688"/>
            </a:xfrm>
            <a:prstGeom prst="homePlat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Kafka Connect Sink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5" name="Cylinder 14">
              <a:extLst>
                <a:ext uri="{FF2B5EF4-FFF2-40B4-BE49-F238E27FC236}">
                  <a16:creationId xmlns:a16="http://schemas.microsoft.com/office/drawing/2014/main" id="{40CF0FB9-8E4E-F473-1AA7-6D030E17DC7F}"/>
                </a:ext>
              </a:extLst>
            </p:cNvPr>
            <p:cNvSpPr/>
            <p:nvPr/>
          </p:nvSpPr>
          <p:spPr>
            <a:xfrm>
              <a:off x="1121303" y="5530799"/>
              <a:ext cx="764924" cy="907710"/>
            </a:xfrm>
            <a:prstGeom prst="can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600" dirty="0"/>
                <a:t>Source DB</a:t>
              </a:r>
              <a:endParaRPr lang="en-US" sz="1600" dirty="0"/>
            </a:p>
          </p:txBody>
        </p:sp>
        <p:sp>
          <p:nvSpPr>
            <p:cNvPr id="16" name="Cylinder 15">
              <a:extLst>
                <a:ext uri="{FF2B5EF4-FFF2-40B4-BE49-F238E27FC236}">
                  <a16:creationId xmlns:a16="http://schemas.microsoft.com/office/drawing/2014/main" id="{C4F1B226-4071-03FB-EE5F-43F065CB264A}"/>
                </a:ext>
              </a:extLst>
            </p:cNvPr>
            <p:cNvSpPr/>
            <p:nvPr/>
          </p:nvSpPr>
          <p:spPr>
            <a:xfrm>
              <a:off x="10355007" y="5530799"/>
              <a:ext cx="764924" cy="907710"/>
            </a:xfrm>
            <a:prstGeom prst="can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600" dirty="0"/>
                <a:t>Target DB</a:t>
              </a:r>
              <a:endParaRPr lang="en-US" sz="1600" dirty="0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526D138B-23EC-D161-78F8-391513786B9D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>
              <a:off x="1997045" y="5998426"/>
              <a:ext cx="682315" cy="1346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3B1CC9E-3C69-030B-F138-919A07681A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0226" y="5992213"/>
              <a:ext cx="742202" cy="6213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66C916-57DA-0A67-FD59-49B6DF1858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22991" y="5984654"/>
              <a:ext cx="929678" cy="15118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003FD62-917F-B1D4-CAE2-E139C09E4989}"/>
                </a:ext>
              </a:extLst>
            </p:cNvPr>
            <p:cNvCxnSpPr>
              <a:cxnSpLocks/>
            </p:cNvCxnSpPr>
            <p:nvPr/>
          </p:nvCxnSpPr>
          <p:spPr>
            <a:xfrm>
              <a:off x="7043437" y="5984654"/>
              <a:ext cx="975736" cy="0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71569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D9FB9-4AB6-EEEC-4091-D45D78283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8750D31-A0B0-4AFA-4006-E2F1A4A0103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Ecosystem and Integration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7EE9F5-AA84-7B00-3676-1E8D27A20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2291866"/>
          </a:xfrm>
        </p:spPr>
        <p:txBody>
          <a:bodyPr/>
          <a:lstStyle/>
          <a:p>
            <a:r>
              <a:rPr lang="hu-HU" sz="1600" dirty="0"/>
              <a:t>Kafka Consumers and Producers have existed for a long time and are considered </a:t>
            </a:r>
            <a:r>
              <a:rPr lang="hu-HU" sz="1600" b="1" dirty="0"/>
              <a:t>low-level</a:t>
            </a:r>
          </a:p>
          <a:p>
            <a:r>
              <a:rPr lang="hu-HU" sz="1600" dirty="0"/>
              <a:t>Kafka &amp; ecosystem has introduced over time some new APIs that are </a:t>
            </a:r>
            <a:r>
              <a:rPr lang="hu-HU" sz="1600" b="1" dirty="0"/>
              <a:t>higher level </a:t>
            </a:r>
            <a:r>
              <a:rPr lang="hu-HU" sz="1600" dirty="0"/>
              <a:t>for </a:t>
            </a:r>
            <a:r>
              <a:rPr lang="hu-HU" sz="1600" b="1" dirty="0"/>
              <a:t>specific problem </a:t>
            </a:r>
            <a:r>
              <a:rPr lang="hu-HU" sz="1600" dirty="0"/>
              <a:t>sets:</a:t>
            </a:r>
          </a:p>
          <a:p>
            <a:pPr lvl="1"/>
            <a:r>
              <a:rPr lang="hu-HU" sz="1400" b="1" dirty="0"/>
              <a:t>Kafka </a:t>
            </a:r>
            <a:r>
              <a:rPr lang="hu-HU" sz="1400" b="1" dirty="0" err="1"/>
              <a:t>Connect</a:t>
            </a:r>
            <a:r>
              <a:rPr lang="hu-HU" sz="1400" b="1" dirty="0"/>
              <a:t>:</a:t>
            </a:r>
            <a:r>
              <a:rPr lang="hu-HU" sz="1400" dirty="0"/>
              <a:t> </a:t>
            </a:r>
            <a:r>
              <a:rPr lang="en-GB" sz="1400" dirty="0"/>
              <a:t>integration toolkit for streaming data between Kafka brokers and other systems using connector plugins</a:t>
            </a:r>
            <a:endParaRPr lang="hu-HU" sz="1400" dirty="0"/>
          </a:p>
          <a:p>
            <a:pPr lvl="1"/>
            <a:r>
              <a:rPr lang="hu-HU" sz="1400" b="1" dirty="0"/>
              <a:t>Kafka </a:t>
            </a:r>
            <a:r>
              <a:rPr lang="hu-HU" sz="1400" b="1" dirty="0" err="1"/>
              <a:t>Streams</a:t>
            </a:r>
            <a:r>
              <a:rPr lang="hu-HU" sz="1400" b="1" dirty="0"/>
              <a:t>:</a:t>
            </a:r>
            <a:r>
              <a:rPr lang="hu-HU" sz="1400" dirty="0"/>
              <a:t> solves transformations in Kafka (used as a Java </a:t>
            </a:r>
            <a:r>
              <a:rPr lang="hu-HU" sz="1400" dirty="0" err="1"/>
              <a:t>lib</a:t>
            </a:r>
            <a:r>
              <a:rPr lang="hu-HU" sz="1400" dirty="0"/>
              <a:t>) </a:t>
            </a:r>
            <a:r>
              <a:rPr lang="en-US" sz="1400" dirty="0"/>
              <a:t>with exactly once capabilities</a:t>
            </a:r>
          </a:p>
          <a:p>
            <a:pPr lvl="1"/>
            <a:r>
              <a:rPr lang="hu-HU" sz="1400" b="1" dirty="0" err="1"/>
              <a:t>Schema</a:t>
            </a:r>
            <a:r>
              <a:rPr lang="hu-HU" sz="1400" b="1" dirty="0"/>
              <a:t> </a:t>
            </a:r>
            <a:r>
              <a:rPr lang="hu-HU" sz="1400" b="1" dirty="0" err="1"/>
              <a:t>Registry</a:t>
            </a:r>
            <a:r>
              <a:rPr lang="hu-HU" sz="1400" b="1" dirty="0"/>
              <a:t>:</a:t>
            </a:r>
            <a:r>
              <a:rPr lang="hu-HU" sz="1400" dirty="0"/>
              <a:t> </a:t>
            </a:r>
            <a:r>
              <a:rPr lang="hu-HU" sz="1400" dirty="0" err="1"/>
              <a:t>helps</a:t>
            </a:r>
            <a:r>
              <a:rPr lang="hu-HU" sz="1400" dirty="0"/>
              <a:t> </a:t>
            </a:r>
            <a:r>
              <a:rPr lang="hu-HU" sz="1400" dirty="0" err="1"/>
              <a:t>using</a:t>
            </a:r>
            <a:r>
              <a:rPr lang="hu-HU" sz="1400" dirty="0"/>
              <a:t> </a:t>
            </a:r>
            <a:r>
              <a:rPr lang="hu-HU" sz="1400" dirty="0" err="1"/>
              <a:t>Schema</a:t>
            </a:r>
            <a:r>
              <a:rPr lang="hu-HU" sz="1400" dirty="0"/>
              <a:t> in Kafka</a:t>
            </a:r>
            <a:endParaRPr lang="hu-HU" sz="1400" b="1" dirty="0"/>
          </a:p>
          <a:p>
            <a:pPr lvl="1"/>
            <a:r>
              <a:rPr lang="hu-HU" sz="1400" b="1" dirty="0"/>
              <a:t>REST Proxy / Kafka </a:t>
            </a:r>
            <a:r>
              <a:rPr lang="hu-HU" sz="1400" b="1" dirty="0" err="1"/>
              <a:t>Bridge</a:t>
            </a:r>
            <a:r>
              <a:rPr lang="hu-HU" sz="1400" dirty="0"/>
              <a:t>: a HTTP REST API server </a:t>
            </a:r>
            <a:r>
              <a:rPr lang="hu-HU" sz="1400" dirty="0" err="1"/>
              <a:t>for</a:t>
            </a:r>
            <a:r>
              <a:rPr lang="hu-HU" sz="1400" dirty="0"/>
              <a:t> </a:t>
            </a:r>
            <a:r>
              <a:rPr lang="hu-HU" sz="1400" dirty="0" err="1"/>
              <a:t>clients</a:t>
            </a:r>
            <a:r>
              <a:rPr lang="hu-HU" sz="1400" dirty="0"/>
              <a:t> </a:t>
            </a:r>
            <a:r>
              <a:rPr lang="hu-HU" sz="1400" dirty="0" err="1"/>
              <a:t>that</a:t>
            </a:r>
            <a:r>
              <a:rPr lang="hu-HU" sz="1400" dirty="0"/>
              <a:t> </a:t>
            </a:r>
            <a:r>
              <a:rPr lang="hu-HU" sz="1400" dirty="0" err="1"/>
              <a:t>cannot</a:t>
            </a:r>
            <a:r>
              <a:rPr lang="hu-HU" sz="1400" dirty="0"/>
              <a:t> </a:t>
            </a:r>
            <a:r>
              <a:rPr lang="hu-HU" sz="1400" dirty="0" err="1"/>
              <a:t>speak</a:t>
            </a:r>
            <a:r>
              <a:rPr lang="hu-HU" sz="1400" dirty="0"/>
              <a:t> </a:t>
            </a:r>
            <a:r>
              <a:rPr lang="hu-HU" sz="1400" dirty="0" err="1"/>
              <a:t>the</a:t>
            </a:r>
            <a:r>
              <a:rPr lang="hu-HU" sz="1400" dirty="0"/>
              <a:t> </a:t>
            </a:r>
            <a:r>
              <a:rPr lang="hu-HU" sz="1400" dirty="0" err="1"/>
              <a:t>native</a:t>
            </a:r>
            <a:r>
              <a:rPr lang="hu-HU" sz="1400" dirty="0"/>
              <a:t> Kafka API</a:t>
            </a:r>
          </a:p>
          <a:p>
            <a:pPr lvl="1"/>
            <a:r>
              <a:rPr lang="hu-HU" sz="1400" b="1" dirty="0" err="1"/>
              <a:t>Mirror</a:t>
            </a:r>
            <a:r>
              <a:rPr lang="hu-HU" sz="1400" b="1" dirty="0"/>
              <a:t> </a:t>
            </a:r>
            <a:r>
              <a:rPr lang="hu-HU" sz="1400" b="1" dirty="0" err="1"/>
              <a:t>Maker</a:t>
            </a:r>
            <a:r>
              <a:rPr lang="hu-HU" sz="1400" dirty="0"/>
              <a:t>: </a:t>
            </a:r>
            <a:r>
              <a:rPr lang="en-GB" sz="1400" dirty="0"/>
              <a:t>replicates data between two Kafka clusters</a:t>
            </a:r>
            <a:endParaRPr lang="hu-HU" sz="1400" dirty="0"/>
          </a:p>
          <a:p>
            <a:pPr lvl="1"/>
            <a:r>
              <a:rPr lang="hu-HU" sz="1400" b="1" dirty="0" err="1"/>
              <a:t>ksqlDB</a:t>
            </a:r>
            <a:r>
              <a:rPr lang="hu-HU" sz="1400" dirty="0"/>
              <a:t>: an SQL-like </a:t>
            </a:r>
            <a:r>
              <a:rPr lang="hu-HU" sz="1400" dirty="0" err="1"/>
              <a:t>query</a:t>
            </a:r>
            <a:r>
              <a:rPr lang="hu-HU" sz="1400" dirty="0"/>
              <a:t> </a:t>
            </a:r>
            <a:r>
              <a:rPr lang="hu-HU" sz="1400" dirty="0" err="1"/>
              <a:t>engine</a:t>
            </a:r>
            <a:r>
              <a:rPr lang="hu-HU" sz="1400" dirty="0"/>
              <a:t> </a:t>
            </a:r>
            <a:r>
              <a:rPr lang="hu-HU" sz="1400" dirty="0" err="1"/>
              <a:t>for</a:t>
            </a:r>
            <a:r>
              <a:rPr lang="hu-HU" sz="1400" dirty="0"/>
              <a:t> Kafka</a:t>
            </a:r>
          </a:p>
          <a:p>
            <a:pPr lvl="1"/>
            <a:endParaRPr lang="en-US" sz="1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2AF149-AA67-D35F-AAEB-39FD07DE2531}"/>
              </a:ext>
            </a:extLst>
          </p:cNvPr>
          <p:cNvSpPr/>
          <p:nvPr/>
        </p:nvSpPr>
        <p:spPr>
          <a:xfrm>
            <a:off x="2671774" y="4257383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REST Proxy / Kafka </a:t>
            </a:r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Bridge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04420F-F4CF-B559-E88E-59B8E2D07FAF}"/>
              </a:ext>
            </a:extLst>
          </p:cNvPr>
          <p:cNvSpPr/>
          <p:nvPr/>
        </p:nvSpPr>
        <p:spPr>
          <a:xfrm>
            <a:off x="5152669" y="4219932"/>
            <a:ext cx="1886662" cy="2226147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7" name="Picture 2" descr="Apache Kafka">
            <a:extLst>
              <a:ext uri="{FF2B5EF4-FFF2-40B4-BE49-F238E27FC236}">
                <a16:creationId xmlns:a16="http://schemas.microsoft.com/office/drawing/2014/main" id="{4551BCEE-6482-A329-26AE-EFBCABFA4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4126" y="5110280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1FB85B7-8D02-3B01-D810-5E64CBFCF155}"/>
              </a:ext>
            </a:extLst>
          </p:cNvPr>
          <p:cNvSpPr/>
          <p:nvPr/>
        </p:nvSpPr>
        <p:spPr>
          <a:xfrm>
            <a:off x="8019173" y="4259030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Mirror</a:t>
            </a: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Maker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0" name="Graphic 9" descr="Smart Phone">
            <a:extLst>
              <a:ext uri="{FF2B5EF4-FFF2-40B4-BE49-F238E27FC236}">
                <a16:creationId xmlns:a16="http://schemas.microsoft.com/office/drawing/2014/main" id="{073C5AED-ECB9-5A52-DBEE-CF1BA69CE6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69650" y="3957155"/>
            <a:ext cx="508147" cy="508147"/>
          </a:xfrm>
          <a:prstGeom prst="rect">
            <a:avLst/>
          </a:prstGeom>
        </p:spPr>
      </p:pic>
      <p:pic>
        <p:nvPicPr>
          <p:cNvPr id="11" name="Graphic 10" descr="Laptop">
            <a:extLst>
              <a:ext uri="{FF2B5EF4-FFF2-40B4-BE49-F238E27FC236}">
                <a16:creationId xmlns:a16="http://schemas.microsoft.com/office/drawing/2014/main" id="{5217DDBD-0084-EFC1-431E-CAEE8E437B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02071" y="4480468"/>
            <a:ext cx="649286" cy="6492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F474CB67-8939-406B-0AC3-DFF95BE7C4A4}"/>
              </a:ext>
            </a:extLst>
          </p:cNvPr>
          <p:cNvSpPr/>
          <p:nvPr/>
        </p:nvSpPr>
        <p:spPr>
          <a:xfrm>
            <a:off x="5384851" y="3254295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ksqlDB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9A74EF4-0048-2934-2687-F78DD949878B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1886227" y="4175833"/>
            <a:ext cx="785547" cy="345394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AE20D90-CA5B-D93B-9E92-E5E94430CBAB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1886227" y="4521227"/>
            <a:ext cx="785547" cy="22596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735E77-680E-47A7-56BC-6A091499E731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4064665" y="4515090"/>
            <a:ext cx="1104660" cy="6137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6672A8A-E74A-2A64-DFF6-0FEDD2170AA7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7043437" y="4522874"/>
            <a:ext cx="975736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9FF0CEF-127D-3663-6422-AFEDFA2B2BE3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9412064" y="4522874"/>
            <a:ext cx="85036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4A6128-CEB5-CF3D-2677-BA15F6AA37EA}"/>
              </a:ext>
            </a:extLst>
          </p:cNvPr>
          <p:cNvCxnSpPr>
            <a:cxnSpLocks/>
          </p:cNvCxnSpPr>
          <p:nvPr/>
        </p:nvCxnSpPr>
        <p:spPr>
          <a:xfrm>
            <a:off x="6157931" y="3785132"/>
            <a:ext cx="0" cy="43530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E0ADFCC-02E3-9E55-A773-9E5D11346262}"/>
              </a:ext>
            </a:extLst>
          </p:cNvPr>
          <p:cNvCxnSpPr>
            <a:cxnSpLocks/>
          </p:cNvCxnSpPr>
          <p:nvPr/>
        </p:nvCxnSpPr>
        <p:spPr>
          <a:xfrm>
            <a:off x="5979431" y="3810190"/>
            <a:ext cx="0" cy="41289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4">
            <a:extLst>
              <a:ext uri="{FF2B5EF4-FFF2-40B4-BE49-F238E27FC236}">
                <a16:creationId xmlns:a16="http://schemas.microsoft.com/office/drawing/2014/main" id="{FD9A274C-5E01-770A-E414-54C1CACE04DE}"/>
              </a:ext>
            </a:extLst>
          </p:cNvPr>
          <p:cNvSpPr/>
          <p:nvPr/>
        </p:nvSpPr>
        <p:spPr>
          <a:xfrm>
            <a:off x="10305773" y="4101594"/>
            <a:ext cx="1115600" cy="842560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600" dirty="0" err="1"/>
              <a:t>Source</a:t>
            </a:r>
            <a:endParaRPr lang="hu-HU" sz="1600" dirty="0"/>
          </a:p>
          <a:p>
            <a:pPr algn="ctr"/>
            <a:endParaRPr lang="hu-HU" sz="1600" dirty="0"/>
          </a:p>
          <a:p>
            <a:pPr algn="ctr"/>
            <a:r>
              <a:rPr lang="hu-HU" sz="1600" dirty="0"/>
              <a:t> </a:t>
            </a:r>
            <a:r>
              <a:rPr lang="hu-HU" sz="1600" dirty="0" err="1"/>
              <a:t>Cluster</a:t>
            </a:r>
            <a:endParaRPr lang="en-US" sz="1600" dirty="0"/>
          </a:p>
        </p:txBody>
      </p:sp>
      <p:pic>
        <p:nvPicPr>
          <p:cNvPr id="39" name="Picture 2" descr="Apache Kafka">
            <a:extLst>
              <a:ext uri="{FF2B5EF4-FFF2-40B4-BE49-F238E27FC236}">
                <a16:creationId xmlns:a16="http://schemas.microsoft.com/office/drawing/2014/main" id="{F274BA17-933F-9307-510E-B0C5F432A2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2844" y="4391175"/>
            <a:ext cx="652567" cy="297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Graphic 10" descr="Laptop">
            <a:extLst>
              <a:ext uri="{FF2B5EF4-FFF2-40B4-BE49-F238E27FC236}">
                <a16:creationId xmlns:a16="http://schemas.microsoft.com/office/drawing/2014/main" id="{01FCE541-AED7-D87D-6A78-3B1BF1969B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45990" y="3177902"/>
            <a:ext cx="649286" cy="649286"/>
          </a:xfrm>
          <a:prstGeom prst="rect">
            <a:avLst/>
          </a:prstGeom>
        </p:spPr>
      </p:pic>
      <p:cxnSp>
        <p:nvCxnSpPr>
          <p:cNvPr id="42" name="Straight Arrow Connector 20">
            <a:extLst>
              <a:ext uri="{FF2B5EF4-FFF2-40B4-BE49-F238E27FC236}">
                <a16:creationId xmlns:a16="http://schemas.microsoft.com/office/drawing/2014/main" id="{B19F64FD-5448-2CB5-F20D-8E4E82DE532F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6777742" y="3518139"/>
            <a:ext cx="1068248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620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animBg="1"/>
      <p:bldP spid="18" grpId="0" animBg="1"/>
      <p:bldP spid="3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CF419-2306-43A7-26C3-BD8489A86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18E8F1-52EE-DF17-ADC9-4FB204C48AC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 err="1"/>
              <a:t>Confluent</a:t>
            </a:r>
            <a:r>
              <a:rPr lang="hu-HU" dirty="0"/>
              <a:t> Platform Big Picture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46E01-EFB0-9967-F8A2-D38AEFA66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2291866"/>
          </a:xfrm>
        </p:spPr>
        <p:txBody>
          <a:bodyPr/>
          <a:lstStyle/>
          <a:p>
            <a:r>
              <a:rPr lang="en-GB" sz="1600" dirty="0"/>
              <a:t>Confluent Platform provides all of Kafka’s open-source features plus additional </a:t>
            </a:r>
            <a:r>
              <a:rPr lang="en-GB" sz="1600" b="1" dirty="0"/>
              <a:t>proprietary components</a:t>
            </a:r>
            <a:endParaRPr lang="hu-HU" sz="1600" b="1" dirty="0"/>
          </a:p>
          <a:p>
            <a:pPr lvl="1"/>
            <a:endParaRPr lang="en-US" sz="1400" b="1" dirty="0"/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C37B4636-3629-D809-37B7-1D6C50DFE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228" y="1317811"/>
            <a:ext cx="9185543" cy="5239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811708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6F83C-8567-1831-B231-4640B5C31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F4F7188-7E92-9FB1-3399-1740A42738C8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Overview 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CF5F4-C3F2-9879-2256-E140E57FD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Motivation:</a:t>
            </a:r>
            <a:r>
              <a:rPr lang="hu-HU" dirty="0"/>
              <a:t> </a:t>
            </a:r>
          </a:p>
          <a:p>
            <a:pPr lvl="1"/>
            <a:r>
              <a:rPr lang="hu-HU" dirty="0"/>
              <a:t>You want to transform incoming data to increase business value, e.g. </a:t>
            </a:r>
          </a:p>
          <a:p>
            <a:pPr lvl="2"/>
            <a:r>
              <a:rPr lang="hu-HU" dirty="0"/>
              <a:t>from the </a:t>
            </a:r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watch.later.change</a:t>
            </a:r>
            <a:r>
              <a:rPr lang="hu-HU" dirty="0"/>
              <a:t> topic:</a:t>
            </a:r>
          </a:p>
          <a:p>
            <a:pPr lvl="2"/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stats.genre</a:t>
            </a:r>
            <a:r>
              <a:rPr lang="hu-HU" dirty="0"/>
              <a:t>: count the number of times a specific genre was added</a:t>
            </a:r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stats.completed</a:t>
            </a:r>
            <a:r>
              <a:rPr lang="hu-HU" dirty="0"/>
              <a:t>: count the number of completed episodes </a:t>
            </a:r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hu-HU" dirty="0">
                <a:latin typeface="Courier New" panose="02070309020205020404" pitchFamily="49" charset="0"/>
                <a:cs typeface="Courier New" panose="02070309020205020404" pitchFamily="49" charset="0"/>
              </a:rPr>
              <a:t>stats.watch.hours</a:t>
            </a:r>
            <a:r>
              <a:rPr lang="hu-HU" dirty="0"/>
              <a:t>: number of hours watched per day as a time series</a:t>
            </a:r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hu-HU" dirty="0" err="1"/>
              <a:t>With</a:t>
            </a:r>
            <a:r>
              <a:rPr lang="hu-HU" dirty="0"/>
              <a:t> Producers and Consumers this could be achieved but would be low level and not developer friendly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29E2BD-5C89-E559-DEFD-9BBDCA29FF2C}"/>
              </a:ext>
            </a:extLst>
          </p:cNvPr>
          <p:cNvSpPr/>
          <p:nvPr/>
        </p:nvSpPr>
        <p:spPr>
          <a:xfrm>
            <a:off x="5405966" y="3742979"/>
            <a:ext cx="2682007" cy="2569869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16" name="Picture 2" descr="Apache Kafka">
            <a:extLst>
              <a:ext uri="{FF2B5EF4-FFF2-40B4-BE49-F238E27FC236}">
                <a16:creationId xmlns:a16="http://schemas.microsoft.com/office/drawing/2014/main" id="{7A4415E6-5304-F966-EEEE-6BD6E7592E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8423" y="3856963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3F273F0-4049-8F03-C37B-2016EB183268}"/>
              </a:ext>
            </a:extLst>
          </p:cNvPr>
          <p:cNvSpPr/>
          <p:nvPr/>
        </p:nvSpPr>
        <p:spPr>
          <a:xfrm>
            <a:off x="5537437" y="4407963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watch.later.change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DF602D7-D60F-54C5-C939-398DFE014D66}"/>
              </a:ext>
            </a:extLst>
          </p:cNvPr>
          <p:cNvSpPr/>
          <p:nvPr/>
        </p:nvSpPr>
        <p:spPr>
          <a:xfrm>
            <a:off x="5537437" y="4915155"/>
            <a:ext cx="1933676" cy="331309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stats.genre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FC33808-BE9C-9A50-21C2-AAFC506465D0}"/>
              </a:ext>
            </a:extLst>
          </p:cNvPr>
          <p:cNvSpPr/>
          <p:nvPr/>
        </p:nvSpPr>
        <p:spPr>
          <a:xfrm>
            <a:off x="5537438" y="5356587"/>
            <a:ext cx="1933674" cy="331308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stats.completed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5582C0D-E58E-F9F9-FF4C-B5E540416D48}"/>
              </a:ext>
            </a:extLst>
          </p:cNvPr>
          <p:cNvSpPr/>
          <p:nvPr/>
        </p:nvSpPr>
        <p:spPr>
          <a:xfrm>
            <a:off x="5537439" y="5806885"/>
            <a:ext cx="1933674" cy="331308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stats.watch.hours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0C1B3DE-2B78-231C-5D12-A6018C5227B2}"/>
              </a:ext>
            </a:extLst>
          </p:cNvPr>
          <p:cNvSpPr/>
          <p:nvPr/>
        </p:nvSpPr>
        <p:spPr>
          <a:xfrm>
            <a:off x="3332540" y="4312659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Video Client Service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A82F53-497C-1B5A-448F-565C9A45AE51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4725432" y="4571687"/>
            <a:ext cx="812005" cy="4027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9572A4F-6D90-9B4C-7EF5-5703564E5D1E}"/>
              </a:ext>
            </a:extLst>
          </p:cNvPr>
          <p:cNvSpPr/>
          <p:nvPr/>
        </p:nvSpPr>
        <p:spPr>
          <a:xfrm>
            <a:off x="3016891" y="5279197"/>
            <a:ext cx="1708541" cy="52768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Recommendation Service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784831E-3D64-A696-0B45-FABBB5790701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4725431" y="5080810"/>
            <a:ext cx="812006" cy="345398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F426E7C-FB93-58A0-30AA-71DE1E073108}"/>
              </a:ext>
            </a:extLst>
          </p:cNvPr>
          <p:cNvCxnSpPr>
            <a:cxnSpLocks/>
            <a:stCxn id="19" idx="1"/>
            <a:endCxn id="28" idx="3"/>
          </p:cNvCxnSpPr>
          <p:nvPr/>
        </p:nvCxnSpPr>
        <p:spPr>
          <a:xfrm flipH="1">
            <a:off x="4725432" y="5522241"/>
            <a:ext cx="812006" cy="2080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024DE4B-DA7F-EE3A-EAF9-FAC61172D3CB}"/>
              </a:ext>
            </a:extLst>
          </p:cNvPr>
          <p:cNvCxnSpPr>
            <a:cxnSpLocks/>
            <a:stCxn id="20" idx="1"/>
          </p:cNvCxnSpPr>
          <p:nvPr/>
        </p:nvCxnSpPr>
        <p:spPr>
          <a:xfrm flipH="1" flipV="1">
            <a:off x="4725431" y="5687895"/>
            <a:ext cx="812008" cy="284644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9" name="Rectangle 4108">
            <a:extLst>
              <a:ext uri="{FF2B5EF4-FFF2-40B4-BE49-F238E27FC236}">
                <a16:creationId xmlns:a16="http://schemas.microsoft.com/office/drawing/2014/main" id="{8F7CAD55-DEFC-D2A5-2C2A-41678703E503}"/>
              </a:ext>
            </a:extLst>
          </p:cNvPr>
          <p:cNvSpPr/>
          <p:nvPr/>
        </p:nvSpPr>
        <p:spPr>
          <a:xfrm>
            <a:off x="8882539" y="5153565"/>
            <a:ext cx="2034960" cy="81897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Recommendation Engine in Real Time </a:t>
            </a:r>
            <a:b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(Kafka Streams)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4113" name="Straight Arrow Connector 4112">
            <a:extLst>
              <a:ext uri="{FF2B5EF4-FFF2-40B4-BE49-F238E27FC236}">
                <a16:creationId xmlns:a16="http://schemas.microsoft.com/office/drawing/2014/main" id="{040961F6-F667-3C85-25EA-D51A8066C36E}"/>
              </a:ext>
            </a:extLst>
          </p:cNvPr>
          <p:cNvCxnSpPr>
            <a:cxnSpLocks/>
            <a:stCxn id="4109" idx="1"/>
            <a:endCxn id="18" idx="3"/>
          </p:cNvCxnSpPr>
          <p:nvPr/>
        </p:nvCxnSpPr>
        <p:spPr>
          <a:xfrm flipH="1" flipV="1">
            <a:off x="7471113" y="5080810"/>
            <a:ext cx="1411426" cy="48224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6" name="Straight Arrow Connector 4115">
            <a:extLst>
              <a:ext uri="{FF2B5EF4-FFF2-40B4-BE49-F238E27FC236}">
                <a16:creationId xmlns:a16="http://schemas.microsoft.com/office/drawing/2014/main" id="{FACC1974-E24B-2C69-2A6F-82A31C2B881E}"/>
              </a:ext>
            </a:extLst>
          </p:cNvPr>
          <p:cNvCxnSpPr>
            <a:cxnSpLocks/>
            <a:stCxn id="4109" idx="1"/>
            <a:endCxn id="19" idx="3"/>
          </p:cNvCxnSpPr>
          <p:nvPr/>
        </p:nvCxnSpPr>
        <p:spPr>
          <a:xfrm flipH="1" flipV="1">
            <a:off x="7471112" y="5522241"/>
            <a:ext cx="1411427" cy="4081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9" name="Straight Arrow Connector 4118">
            <a:extLst>
              <a:ext uri="{FF2B5EF4-FFF2-40B4-BE49-F238E27FC236}">
                <a16:creationId xmlns:a16="http://schemas.microsoft.com/office/drawing/2014/main" id="{E2DF909C-30FF-8A71-958F-8E61EDB90C58}"/>
              </a:ext>
            </a:extLst>
          </p:cNvPr>
          <p:cNvCxnSpPr>
            <a:cxnSpLocks/>
            <a:stCxn id="4109" idx="1"/>
            <a:endCxn id="20" idx="3"/>
          </p:cNvCxnSpPr>
          <p:nvPr/>
        </p:nvCxnSpPr>
        <p:spPr>
          <a:xfrm flipH="1">
            <a:off x="7471113" y="5563052"/>
            <a:ext cx="1411426" cy="409487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7" name="Connector: Elbow 4126">
            <a:extLst>
              <a:ext uri="{FF2B5EF4-FFF2-40B4-BE49-F238E27FC236}">
                <a16:creationId xmlns:a16="http://schemas.microsoft.com/office/drawing/2014/main" id="{38704965-6C13-5A0E-A462-24F51F33090C}"/>
              </a:ext>
            </a:extLst>
          </p:cNvPr>
          <p:cNvCxnSpPr>
            <a:cxnSpLocks/>
            <a:stCxn id="17" idx="3"/>
            <a:endCxn id="4109" idx="0"/>
          </p:cNvCxnSpPr>
          <p:nvPr/>
        </p:nvCxnSpPr>
        <p:spPr>
          <a:xfrm>
            <a:off x="7471112" y="4571687"/>
            <a:ext cx="2428907" cy="581878"/>
          </a:xfrm>
          <a:prstGeom prst="bentConnector2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38" name="Picture 4" descr="Netflix Logo | SVG | Real Company | Alphabet, Letter N Logo">
            <a:extLst>
              <a:ext uri="{FF2B5EF4-FFF2-40B4-BE49-F238E27FC236}">
                <a16:creationId xmlns:a16="http://schemas.microsoft.com/office/drawing/2014/main" id="{EB4DF0B9-AE4E-892D-E5EE-F8EBD1E19B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85" t="23155" r="34814" b="23276"/>
          <a:stretch/>
        </p:blipFill>
        <p:spPr bwMode="auto">
          <a:xfrm>
            <a:off x="913235" y="4270811"/>
            <a:ext cx="890805" cy="1559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39" name="Arrow: Right 4138">
            <a:extLst>
              <a:ext uri="{FF2B5EF4-FFF2-40B4-BE49-F238E27FC236}">
                <a16:creationId xmlns:a16="http://schemas.microsoft.com/office/drawing/2014/main" id="{71F099B2-29DB-D0A4-8806-FC5E81C55EAE}"/>
              </a:ext>
            </a:extLst>
          </p:cNvPr>
          <p:cNvSpPr/>
          <p:nvPr/>
        </p:nvSpPr>
        <p:spPr>
          <a:xfrm>
            <a:off x="2145973" y="4519544"/>
            <a:ext cx="528984" cy="1871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40" name="Arrow: Right 4139">
            <a:extLst>
              <a:ext uri="{FF2B5EF4-FFF2-40B4-BE49-F238E27FC236}">
                <a16:creationId xmlns:a16="http://schemas.microsoft.com/office/drawing/2014/main" id="{A6A63AC4-98AE-1039-7AB5-5124E26E1676}"/>
              </a:ext>
            </a:extLst>
          </p:cNvPr>
          <p:cNvSpPr/>
          <p:nvPr/>
        </p:nvSpPr>
        <p:spPr>
          <a:xfrm rot="10800000">
            <a:off x="2145973" y="5439091"/>
            <a:ext cx="528984" cy="187100"/>
          </a:xfrm>
          <a:prstGeom prst="right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3881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46B4E-5015-BA95-9521-A8A235523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86EB1A2-EC4C-2200-9B2F-C1433FD743D9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CE74C-A1B3-02D6-7F9B-6DFB142CA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Kafka Streams is a </a:t>
            </a:r>
            <a:r>
              <a:rPr lang="hu-HU" b="1" dirty="0"/>
              <a:t>data processing and transformation library </a:t>
            </a:r>
            <a:r>
              <a:rPr lang="hu-HU" dirty="0"/>
              <a:t>within Kafka for:</a:t>
            </a:r>
          </a:p>
          <a:p>
            <a:pPr lvl="1"/>
            <a:r>
              <a:rPr lang="hu-HU" dirty="0"/>
              <a:t>Data transformation</a:t>
            </a:r>
          </a:p>
          <a:p>
            <a:pPr lvl="1"/>
            <a:r>
              <a:rPr lang="hu-HU" dirty="0"/>
              <a:t>Data enrichment</a:t>
            </a:r>
          </a:p>
          <a:p>
            <a:pPr lvl="1"/>
            <a:r>
              <a:rPr lang="hu-HU" dirty="0"/>
              <a:t>Fraud detection</a:t>
            </a:r>
          </a:p>
          <a:p>
            <a:pPr lvl="1"/>
            <a:r>
              <a:rPr lang="hu-HU" dirty="0"/>
              <a:t>Monitoring and alerting</a:t>
            </a:r>
          </a:p>
          <a:p>
            <a:pPr lvl="1"/>
            <a:endParaRPr lang="hu-HU" dirty="0"/>
          </a:p>
          <a:p>
            <a:r>
              <a:rPr lang="hu-HU" dirty="0"/>
              <a:t>Features:</a:t>
            </a:r>
          </a:p>
          <a:p>
            <a:pPr lvl="1"/>
            <a:r>
              <a:rPr lang="hu-HU" dirty="0"/>
              <a:t>Standard Java Application</a:t>
            </a:r>
          </a:p>
          <a:p>
            <a:pPr lvl="1"/>
            <a:r>
              <a:rPr lang="hu-HU" dirty="0"/>
              <a:t>No need to create a separate cluster</a:t>
            </a:r>
          </a:p>
          <a:p>
            <a:pPr lvl="1"/>
            <a:r>
              <a:rPr lang="hu-HU" dirty="0"/>
              <a:t>Highly scalable, elastic and fault tolerant</a:t>
            </a:r>
          </a:p>
          <a:p>
            <a:pPr lvl="1"/>
            <a:r>
              <a:rPr lang="hu-HU" dirty="0"/>
              <a:t>Exactly-once capabilities</a:t>
            </a:r>
          </a:p>
          <a:p>
            <a:pPr lvl="1"/>
            <a:r>
              <a:rPr lang="hu-HU" dirty="0"/>
              <a:t>One record at a time processing (no batching)</a:t>
            </a:r>
          </a:p>
          <a:p>
            <a:pPr lvl="1"/>
            <a:r>
              <a:rPr lang="hu-HU" dirty="0"/>
              <a:t>Works for any application size</a:t>
            </a:r>
          </a:p>
        </p:txBody>
      </p:sp>
    </p:spTree>
    <p:extLst>
      <p:ext uri="{BB962C8B-B14F-4D97-AF65-F5344CB8AC3E}">
        <p14:creationId xmlns:p14="http://schemas.microsoft.com/office/powerpoint/2010/main" val="80601478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D892-5A26-5ABD-D952-EEDD39501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E8AF48F-9147-4EDD-C531-897A5A692B71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62BD3-F872-6251-24F5-2DB4F994F7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Technically: </a:t>
            </a:r>
          </a:p>
          <a:p>
            <a:pPr lvl="1"/>
            <a:r>
              <a:rPr lang="hu-HU" dirty="0"/>
              <a:t>A Streams App typically operates in Consumer and Producer role</a:t>
            </a:r>
          </a:p>
          <a:p>
            <a:pPr lvl="1"/>
            <a:endParaRPr lang="hu-HU" dirty="0"/>
          </a:p>
          <a:p>
            <a:pPr lvl="1"/>
            <a:r>
              <a:rPr lang="hu-HU" dirty="0"/>
              <a:t>Uses the Consumer and Producer API of Kafka:</a:t>
            </a:r>
          </a:p>
          <a:p>
            <a:pPr lvl="2"/>
            <a:r>
              <a:rPr lang="hu-HU" dirty="0"/>
              <a:t>High Level API (easy to use, enough for most use-cases)</a:t>
            </a:r>
          </a:p>
          <a:p>
            <a:pPr lvl="2"/>
            <a:r>
              <a:rPr lang="hu-HU" dirty="0"/>
              <a:t>Low Level API (complicated, requires deep Kafka and programming knowledge)</a:t>
            </a:r>
          </a:p>
          <a:p>
            <a:pPr lvl="1"/>
            <a:endParaRPr lang="hu-HU" dirty="0"/>
          </a:p>
          <a:p>
            <a:pPr lvl="1"/>
            <a:r>
              <a:rPr lang="hu-HU" dirty="0"/>
              <a:t>Provides exactly once delivery:</a:t>
            </a:r>
          </a:p>
          <a:p>
            <a:pPr lvl="2"/>
            <a:r>
              <a:rPr lang="hu-HU" b="1" dirty="0"/>
              <a:t>IF: </a:t>
            </a:r>
            <a:r>
              <a:rPr lang="hu-HU" u="sng" dirty="0"/>
              <a:t>both input and output system is Kafka, not for any external system</a:t>
            </a:r>
          </a:p>
          <a:p>
            <a:pPr lvl="2"/>
            <a:r>
              <a:rPr lang="hu-HU" b="1" dirty="0"/>
              <a:t>You could write to external system but it is </a:t>
            </a:r>
            <a:r>
              <a:rPr lang="hu-HU" b="1" u="sng" dirty="0"/>
              <a:t>not recommended</a:t>
            </a:r>
            <a:r>
              <a:rPr lang="hu-HU" dirty="0"/>
              <a:t> (instead write to topic and use Kafka Connect)</a:t>
            </a:r>
          </a:p>
          <a:p>
            <a:pPr lvl="2"/>
            <a:endParaRPr lang="hu-HU" dirty="0"/>
          </a:p>
          <a:p>
            <a:pPr lvl="1"/>
            <a:r>
              <a:rPr lang="hu-HU" dirty="0"/>
              <a:t>Only </a:t>
            </a:r>
            <a:r>
              <a:rPr lang="hu-HU" b="1" dirty="0"/>
              <a:t>Java 8 or later </a:t>
            </a:r>
            <a:r>
              <a:rPr lang="hu-HU" dirty="0"/>
              <a:t>(no other languages)</a:t>
            </a:r>
          </a:p>
          <a:p>
            <a:endParaRPr lang="hu-HU" b="1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49EF23-5DDF-ECA8-6D1F-2E4A5967067F}"/>
              </a:ext>
            </a:extLst>
          </p:cNvPr>
          <p:cNvSpPr/>
          <p:nvPr/>
        </p:nvSpPr>
        <p:spPr>
          <a:xfrm>
            <a:off x="7075838" y="4068670"/>
            <a:ext cx="2682007" cy="2569869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5" name="Picture 2" descr="Apache Kafka">
            <a:extLst>
              <a:ext uri="{FF2B5EF4-FFF2-40B4-BE49-F238E27FC236}">
                <a16:creationId xmlns:a16="http://schemas.microsoft.com/office/drawing/2014/main" id="{D573921C-9621-6AE7-DC97-3DDA098A17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8295" y="4182654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D4F8949-2F6F-C33A-1228-D8602E516A58}"/>
              </a:ext>
            </a:extLst>
          </p:cNvPr>
          <p:cNvSpPr/>
          <p:nvPr/>
        </p:nvSpPr>
        <p:spPr>
          <a:xfrm>
            <a:off x="7207309" y="4733654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watch.later.change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821E91A-FD17-758B-E983-3028FAAE9B47}"/>
              </a:ext>
            </a:extLst>
          </p:cNvPr>
          <p:cNvSpPr/>
          <p:nvPr/>
        </p:nvSpPr>
        <p:spPr>
          <a:xfrm>
            <a:off x="7207309" y="5240846"/>
            <a:ext cx="1933676" cy="331309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stats.genre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D95F61-6630-706D-DA6A-5ACAF5A0EF1C}"/>
              </a:ext>
            </a:extLst>
          </p:cNvPr>
          <p:cNvSpPr/>
          <p:nvPr/>
        </p:nvSpPr>
        <p:spPr>
          <a:xfrm>
            <a:off x="7207310" y="5682278"/>
            <a:ext cx="1933674" cy="331308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stats.completed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F82F6DC-91DB-8565-ACF7-713093BF04D4}"/>
              </a:ext>
            </a:extLst>
          </p:cNvPr>
          <p:cNvSpPr/>
          <p:nvPr/>
        </p:nvSpPr>
        <p:spPr>
          <a:xfrm>
            <a:off x="7207311" y="6132576"/>
            <a:ext cx="1933674" cy="331308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stats.watch.hours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6917FC-2A2B-F6EA-C0E3-09D3E8043180}"/>
              </a:ext>
            </a:extLst>
          </p:cNvPr>
          <p:cNvSpPr/>
          <p:nvPr/>
        </p:nvSpPr>
        <p:spPr>
          <a:xfrm>
            <a:off x="9938046" y="5438445"/>
            <a:ext cx="2034960" cy="81897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Recommendation Engine in Real Time </a:t>
            </a:r>
            <a:b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(Kafka Streams)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2D4EA49-1E72-6E22-CFF9-64FD1217D88D}"/>
              </a:ext>
            </a:extLst>
          </p:cNvPr>
          <p:cNvCxnSpPr>
            <a:cxnSpLocks/>
            <a:stCxn id="10" idx="1"/>
            <a:endCxn id="7" idx="3"/>
          </p:cNvCxnSpPr>
          <p:nvPr/>
        </p:nvCxnSpPr>
        <p:spPr>
          <a:xfrm flipH="1" flipV="1">
            <a:off x="9140985" y="5406501"/>
            <a:ext cx="797061" cy="44143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80BDDED-9627-C92C-AA8F-910A57782321}"/>
              </a:ext>
            </a:extLst>
          </p:cNvPr>
          <p:cNvCxnSpPr>
            <a:cxnSpLocks/>
            <a:stCxn id="10" idx="1"/>
            <a:endCxn id="8" idx="3"/>
          </p:cNvCxnSpPr>
          <p:nvPr/>
        </p:nvCxnSpPr>
        <p:spPr>
          <a:xfrm flipH="1">
            <a:off x="9140984" y="5847932"/>
            <a:ext cx="797062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F5E437F-5A6F-C7B6-7265-3089DDC11161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9140985" y="5847932"/>
            <a:ext cx="797061" cy="450298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A621724-6A2C-D532-2346-C08F0EDCE7DA}"/>
              </a:ext>
            </a:extLst>
          </p:cNvPr>
          <p:cNvCxnSpPr>
            <a:cxnSpLocks/>
            <a:stCxn id="6" idx="3"/>
            <a:endCxn id="10" idx="0"/>
          </p:cNvCxnSpPr>
          <p:nvPr/>
        </p:nvCxnSpPr>
        <p:spPr>
          <a:xfrm>
            <a:off x="9140984" y="4897378"/>
            <a:ext cx="1814542" cy="541067"/>
          </a:xfrm>
          <a:prstGeom prst="bentConnector2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496386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97506-32E7-827F-4A02-BB81F3FF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E9E0AD9-47C2-DF0A-E362-50F85105D37C}"/>
              </a:ext>
            </a:extLst>
          </p:cNvPr>
          <p:cNvCxnSpPr>
            <a:cxnSpLocks/>
            <a:stCxn id="19" idx="4"/>
            <a:endCxn id="16" idx="1"/>
          </p:cNvCxnSpPr>
          <p:nvPr/>
        </p:nvCxnSpPr>
        <p:spPr>
          <a:xfrm>
            <a:off x="8280961" y="1846564"/>
            <a:ext cx="530609" cy="94572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B77B6D7-1973-C101-375B-DB30666FCAD3}"/>
              </a:ext>
            </a:extLst>
          </p:cNvPr>
          <p:cNvCxnSpPr>
            <a:cxnSpLocks/>
            <a:stCxn id="15" idx="3"/>
            <a:endCxn id="16" idx="7"/>
          </p:cNvCxnSpPr>
          <p:nvPr/>
        </p:nvCxnSpPr>
        <p:spPr>
          <a:xfrm flipH="1">
            <a:off x="9298321" y="1750269"/>
            <a:ext cx="201618" cy="1042019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560B127-23CC-5403-6729-83A5C92A79A4}"/>
              </a:ext>
            </a:extLst>
          </p:cNvPr>
          <p:cNvCxnSpPr>
            <a:cxnSpLocks/>
            <a:stCxn id="15" idx="5"/>
            <a:endCxn id="17" idx="1"/>
          </p:cNvCxnSpPr>
          <p:nvPr/>
        </p:nvCxnSpPr>
        <p:spPr>
          <a:xfrm>
            <a:off x="9986690" y="1750269"/>
            <a:ext cx="407100" cy="1042019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1B5DF3A-1F7B-7AD6-B6F4-9D2F31B17028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Core Concepts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CE019-B057-7A43-16E5-C97CB02A9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Stream: </a:t>
            </a:r>
          </a:p>
          <a:p>
            <a:pPr lvl="1"/>
            <a:r>
              <a:rPr lang="hu-HU" dirty="0"/>
              <a:t>sequence of immutable data records</a:t>
            </a:r>
          </a:p>
          <a:p>
            <a:pPr lvl="1"/>
            <a:r>
              <a:rPr lang="hu-HU" dirty="0"/>
              <a:t>fully ordered, can be replayed, fault tolerant</a:t>
            </a:r>
          </a:p>
          <a:p>
            <a:pPr lvl="1"/>
            <a:r>
              <a:rPr lang="hu-HU" dirty="0"/>
              <a:t>Kafka Topic is a good analogy</a:t>
            </a:r>
          </a:p>
          <a:p>
            <a:pPr lvl="1"/>
            <a:endParaRPr lang="hu-HU" dirty="0"/>
          </a:p>
          <a:p>
            <a:r>
              <a:rPr lang="hu-HU" b="1" dirty="0"/>
              <a:t>Stream Processor: </a:t>
            </a:r>
          </a:p>
          <a:p>
            <a:pPr lvl="1"/>
            <a:r>
              <a:rPr lang="hu-HU" dirty="0"/>
              <a:t>a node in the processor topology (graph)</a:t>
            </a:r>
          </a:p>
          <a:p>
            <a:pPr lvl="1"/>
            <a:r>
              <a:rPr lang="hu-HU" dirty="0"/>
              <a:t>transforms incoming streams </a:t>
            </a:r>
            <a:r>
              <a:rPr lang="hu-HU" u="sng" dirty="0"/>
              <a:t>record by record</a:t>
            </a:r>
            <a:endParaRPr lang="hu-HU" dirty="0"/>
          </a:p>
          <a:p>
            <a:pPr lvl="1"/>
            <a:r>
              <a:rPr lang="hu-HU" dirty="0"/>
              <a:t>may create a new stream of it</a:t>
            </a:r>
          </a:p>
          <a:p>
            <a:pPr lvl="1"/>
            <a:endParaRPr lang="hu-HU" dirty="0"/>
          </a:p>
          <a:p>
            <a:r>
              <a:rPr lang="hu-HU" b="1" dirty="0"/>
              <a:t>Topology: </a:t>
            </a:r>
          </a:p>
          <a:p>
            <a:pPr lvl="1"/>
            <a:r>
              <a:rPr lang="hu-HU" dirty="0"/>
              <a:t>Graph of processors chained togeter by streams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396ECC7-BD7C-4461-F691-580966EE3635}"/>
              </a:ext>
            </a:extLst>
          </p:cNvPr>
          <p:cNvSpPr/>
          <p:nvPr/>
        </p:nvSpPr>
        <p:spPr>
          <a:xfrm>
            <a:off x="9399130" y="1189018"/>
            <a:ext cx="688369" cy="6575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7FE3F7D-E3B6-1DCB-5E25-8DB749EE487C}"/>
              </a:ext>
            </a:extLst>
          </p:cNvPr>
          <p:cNvSpPr/>
          <p:nvPr/>
        </p:nvSpPr>
        <p:spPr>
          <a:xfrm>
            <a:off x="8710761" y="2695993"/>
            <a:ext cx="688369" cy="6575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1C871DF-97F1-160D-AF69-962DB4C72525}"/>
              </a:ext>
            </a:extLst>
          </p:cNvPr>
          <p:cNvSpPr/>
          <p:nvPr/>
        </p:nvSpPr>
        <p:spPr>
          <a:xfrm>
            <a:off x="10292981" y="2695993"/>
            <a:ext cx="688369" cy="6575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0DE54B7-B624-200A-D2BA-2626B54D370F}"/>
              </a:ext>
            </a:extLst>
          </p:cNvPr>
          <p:cNvSpPr/>
          <p:nvPr/>
        </p:nvSpPr>
        <p:spPr>
          <a:xfrm>
            <a:off x="9544692" y="4062520"/>
            <a:ext cx="688369" cy="6575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2403AAD-8294-DE6B-A2A1-DD4815F0F470}"/>
              </a:ext>
            </a:extLst>
          </p:cNvPr>
          <p:cNvSpPr/>
          <p:nvPr/>
        </p:nvSpPr>
        <p:spPr>
          <a:xfrm>
            <a:off x="7936776" y="1189018"/>
            <a:ext cx="688369" cy="6575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24DAF4A-49A9-61AA-32E9-6A1E72B03CAC}"/>
              </a:ext>
            </a:extLst>
          </p:cNvPr>
          <p:cNvSpPr/>
          <p:nvPr/>
        </p:nvSpPr>
        <p:spPr>
          <a:xfrm>
            <a:off x="9563516" y="5428965"/>
            <a:ext cx="688369" cy="6575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644B12F-F31B-6387-5DD2-C6589C592CA5}"/>
              </a:ext>
            </a:extLst>
          </p:cNvPr>
          <p:cNvCxnSpPr>
            <a:cxnSpLocks/>
            <a:stCxn id="16" idx="5"/>
            <a:endCxn id="18" idx="1"/>
          </p:cNvCxnSpPr>
          <p:nvPr/>
        </p:nvCxnSpPr>
        <p:spPr>
          <a:xfrm>
            <a:off x="9298321" y="3257244"/>
            <a:ext cx="347180" cy="901571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1019752-643E-014A-2FD3-32BBF7EF525A}"/>
              </a:ext>
            </a:extLst>
          </p:cNvPr>
          <p:cNvCxnSpPr>
            <a:cxnSpLocks/>
            <a:stCxn id="17" idx="3"/>
            <a:endCxn id="18" idx="7"/>
          </p:cNvCxnSpPr>
          <p:nvPr/>
        </p:nvCxnSpPr>
        <p:spPr>
          <a:xfrm flipH="1">
            <a:off x="10132252" y="3257244"/>
            <a:ext cx="261538" cy="901571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5AE8A92-3525-164B-AFA3-C1285AF47F95}"/>
              </a:ext>
            </a:extLst>
          </p:cNvPr>
          <p:cNvCxnSpPr>
            <a:cxnSpLocks/>
            <a:stCxn id="18" idx="4"/>
            <a:endCxn id="20" idx="0"/>
          </p:cNvCxnSpPr>
          <p:nvPr/>
        </p:nvCxnSpPr>
        <p:spPr>
          <a:xfrm>
            <a:off x="9888877" y="4720066"/>
            <a:ext cx="18824" cy="708899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3DCE85E-E296-A2E4-56EA-CCA1FB506D17}"/>
              </a:ext>
            </a:extLst>
          </p:cNvPr>
          <p:cNvSpPr txBox="1"/>
          <p:nvPr/>
        </p:nvSpPr>
        <p:spPr>
          <a:xfrm>
            <a:off x="8546265" y="2093169"/>
            <a:ext cx="9058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b="1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steam</a:t>
            </a:r>
            <a:endParaRPr lang="en-US" sz="1600" b="1" dirty="0">
              <a:solidFill>
                <a:schemeClr val="accent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8A87BAD-158C-2568-DAA0-14A4B3F32122}"/>
              </a:ext>
            </a:extLst>
          </p:cNvPr>
          <p:cNvSpPr txBox="1"/>
          <p:nvPr/>
        </p:nvSpPr>
        <p:spPr>
          <a:xfrm>
            <a:off x="10171416" y="1338733"/>
            <a:ext cx="127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b="1" dirty="0">
                <a:solidFill>
                  <a:srgbClr val="012863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processor</a:t>
            </a:r>
            <a:endParaRPr lang="en-US" sz="1600" b="1" dirty="0">
              <a:solidFill>
                <a:srgbClr val="012863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239260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2DEFB-3CDB-22C2-17EE-4938AD2A8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E402C0B-A90F-6E59-74CF-3943DD928F07}"/>
              </a:ext>
            </a:extLst>
          </p:cNvPr>
          <p:cNvCxnSpPr>
            <a:cxnSpLocks/>
            <a:stCxn id="19" idx="4"/>
            <a:endCxn id="16" idx="1"/>
          </p:cNvCxnSpPr>
          <p:nvPr/>
        </p:nvCxnSpPr>
        <p:spPr>
          <a:xfrm>
            <a:off x="8280961" y="1846564"/>
            <a:ext cx="530609" cy="94572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0DC3BDC-FB57-4E10-A1CD-41C28FE4F5BF}"/>
              </a:ext>
            </a:extLst>
          </p:cNvPr>
          <p:cNvCxnSpPr>
            <a:cxnSpLocks/>
            <a:stCxn id="15" idx="3"/>
            <a:endCxn id="16" idx="7"/>
          </p:cNvCxnSpPr>
          <p:nvPr/>
        </p:nvCxnSpPr>
        <p:spPr>
          <a:xfrm flipH="1">
            <a:off x="9298321" y="1750269"/>
            <a:ext cx="201618" cy="1042019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DFB54C3-AA8F-A639-4DA8-80F043BAF680}"/>
              </a:ext>
            </a:extLst>
          </p:cNvPr>
          <p:cNvCxnSpPr>
            <a:cxnSpLocks/>
            <a:stCxn id="15" idx="5"/>
            <a:endCxn id="17" idx="1"/>
          </p:cNvCxnSpPr>
          <p:nvPr/>
        </p:nvCxnSpPr>
        <p:spPr>
          <a:xfrm>
            <a:off x="9986690" y="1750269"/>
            <a:ext cx="407100" cy="1042019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E74D50F-7131-2E20-A2E9-03526794EA9E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Core Concepts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4AE0A-71C1-69D9-C3CF-AD4F4EFB5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>
                <a:solidFill>
                  <a:schemeClr val="accent6"/>
                </a:solidFill>
              </a:rPr>
              <a:t>Source Processor: </a:t>
            </a:r>
          </a:p>
          <a:p>
            <a:pPr lvl="1"/>
            <a:r>
              <a:rPr lang="hu-HU" dirty="0"/>
              <a:t>special prcessor</a:t>
            </a:r>
          </a:p>
          <a:p>
            <a:pPr lvl="1"/>
            <a:r>
              <a:rPr lang="hu-HU" dirty="0"/>
              <a:t>takes its data directly from a Kafka Topic</a:t>
            </a:r>
          </a:p>
          <a:p>
            <a:pPr lvl="1"/>
            <a:r>
              <a:rPr lang="hu-HU" dirty="0"/>
              <a:t>it has no predecessors and does not transform data</a:t>
            </a:r>
          </a:p>
          <a:p>
            <a:pPr lvl="1"/>
            <a:endParaRPr lang="hu-HU" dirty="0"/>
          </a:p>
          <a:p>
            <a:r>
              <a:rPr lang="hu-HU" b="1" dirty="0">
                <a:solidFill>
                  <a:schemeClr val="accent4"/>
                </a:solidFill>
              </a:rPr>
              <a:t>Sink Processor:</a:t>
            </a:r>
            <a:r>
              <a:rPr lang="hu-HU" b="1" dirty="0"/>
              <a:t> </a:t>
            </a:r>
          </a:p>
          <a:p>
            <a:pPr lvl="1"/>
            <a:r>
              <a:rPr lang="hu-HU" dirty="0"/>
              <a:t>does not have children</a:t>
            </a:r>
          </a:p>
          <a:p>
            <a:pPr lvl="1"/>
            <a:r>
              <a:rPr lang="hu-HU" dirty="0"/>
              <a:t>sends the stream directly to a Kafka Topic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215FA5A-CBD4-AF48-1D59-841A15F958F8}"/>
              </a:ext>
            </a:extLst>
          </p:cNvPr>
          <p:cNvSpPr/>
          <p:nvPr/>
        </p:nvSpPr>
        <p:spPr>
          <a:xfrm>
            <a:off x="9399130" y="1189018"/>
            <a:ext cx="688369" cy="657546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8703F0C-18E5-58DE-E4D7-9DEEA020E706}"/>
              </a:ext>
            </a:extLst>
          </p:cNvPr>
          <p:cNvSpPr/>
          <p:nvPr/>
        </p:nvSpPr>
        <p:spPr>
          <a:xfrm>
            <a:off x="8710761" y="2695993"/>
            <a:ext cx="688369" cy="6575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AC240C1-F467-E81B-058B-BE0324CBB374}"/>
              </a:ext>
            </a:extLst>
          </p:cNvPr>
          <p:cNvSpPr/>
          <p:nvPr/>
        </p:nvSpPr>
        <p:spPr>
          <a:xfrm>
            <a:off x="10292981" y="2695993"/>
            <a:ext cx="688369" cy="6575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142E2EE-376E-5F8A-FDDA-466C36303750}"/>
              </a:ext>
            </a:extLst>
          </p:cNvPr>
          <p:cNvSpPr/>
          <p:nvPr/>
        </p:nvSpPr>
        <p:spPr>
          <a:xfrm>
            <a:off x="9544692" y="4062520"/>
            <a:ext cx="688369" cy="6575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15CA8D8-258A-CA04-E151-148D9FC5F3A0}"/>
              </a:ext>
            </a:extLst>
          </p:cNvPr>
          <p:cNvSpPr/>
          <p:nvPr/>
        </p:nvSpPr>
        <p:spPr>
          <a:xfrm>
            <a:off x="7936776" y="1189018"/>
            <a:ext cx="688369" cy="657546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42B4D0B-B82C-7F79-9969-4689873A61F2}"/>
              </a:ext>
            </a:extLst>
          </p:cNvPr>
          <p:cNvSpPr/>
          <p:nvPr/>
        </p:nvSpPr>
        <p:spPr>
          <a:xfrm>
            <a:off x="9563516" y="5428965"/>
            <a:ext cx="688369" cy="657546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E71718DC-45F1-7C38-0370-F904D054D233}"/>
              </a:ext>
            </a:extLst>
          </p:cNvPr>
          <p:cNvCxnSpPr>
            <a:cxnSpLocks/>
            <a:stCxn id="16" idx="5"/>
            <a:endCxn id="18" idx="1"/>
          </p:cNvCxnSpPr>
          <p:nvPr/>
        </p:nvCxnSpPr>
        <p:spPr>
          <a:xfrm>
            <a:off x="9298321" y="3257244"/>
            <a:ext cx="347180" cy="901571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94E2849-9534-0237-681C-494E88CEDC62}"/>
              </a:ext>
            </a:extLst>
          </p:cNvPr>
          <p:cNvCxnSpPr>
            <a:cxnSpLocks/>
            <a:stCxn id="17" idx="3"/>
            <a:endCxn id="18" idx="7"/>
          </p:cNvCxnSpPr>
          <p:nvPr/>
        </p:nvCxnSpPr>
        <p:spPr>
          <a:xfrm flipH="1">
            <a:off x="10132252" y="3257244"/>
            <a:ext cx="261538" cy="901571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7CEE3CA-511C-F0C1-30CE-77CAA4ADFBFF}"/>
              </a:ext>
            </a:extLst>
          </p:cNvPr>
          <p:cNvCxnSpPr>
            <a:cxnSpLocks/>
            <a:stCxn id="18" idx="4"/>
            <a:endCxn id="20" idx="0"/>
          </p:cNvCxnSpPr>
          <p:nvPr/>
        </p:nvCxnSpPr>
        <p:spPr>
          <a:xfrm>
            <a:off x="9888877" y="4720066"/>
            <a:ext cx="18824" cy="708899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DB6EB8B-9CFD-7A11-D678-D45ADC38CBCF}"/>
              </a:ext>
            </a:extLst>
          </p:cNvPr>
          <p:cNvSpPr txBox="1"/>
          <p:nvPr/>
        </p:nvSpPr>
        <p:spPr>
          <a:xfrm>
            <a:off x="8546265" y="2093169"/>
            <a:ext cx="9058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b="1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steam</a:t>
            </a:r>
            <a:endParaRPr lang="en-US" sz="1600" b="1" dirty="0">
              <a:solidFill>
                <a:schemeClr val="accent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91C7160-AA94-54A4-10C6-41F2F917D46F}"/>
              </a:ext>
            </a:extLst>
          </p:cNvPr>
          <p:cNvSpPr txBox="1"/>
          <p:nvPr/>
        </p:nvSpPr>
        <p:spPr>
          <a:xfrm>
            <a:off x="10171416" y="1338733"/>
            <a:ext cx="127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b="1" dirty="0">
                <a:solidFill>
                  <a:srgbClr val="012863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processor</a:t>
            </a:r>
            <a:endParaRPr lang="en-US" sz="1600" b="1" dirty="0">
              <a:solidFill>
                <a:srgbClr val="012863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384013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00233-C737-9545-F1E5-4403129DA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E832DCD-8F99-B9A1-7957-45333C124B3E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WordCount App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AE413-A330-F131-FD6F-490885B95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Count word occurences by reading topic </a:t>
            </a:r>
            <a:r>
              <a:rPr lang="hu-HU" b="1" dirty="0"/>
              <a:t>word_count_input</a:t>
            </a:r>
            <a:r>
              <a:rPr lang="hu-HU" dirty="0"/>
              <a:t> and writing to topic </a:t>
            </a:r>
            <a:r>
              <a:rPr lang="hu-HU" b="1" dirty="0"/>
              <a:t>word_count_output.</a:t>
            </a:r>
          </a:p>
          <a:p>
            <a:r>
              <a:rPr lang="hu-HU" dirty="0"/>
              <a:t>Data is &lt;Key, Value&gt; in Kafka Streams</a:t>
            </a:r>
          </a:p>
          <a:p>
            <a:endParaRPr lang="hu-HU" dirty="0"/>
          </a:p>
          <a:p>
            <a:r>
              <a:rPr lang="hu-HU" dirty="0"/>
              <a:t>Workflow:</a:t>
            </a:r>
          </a:p>
          <a:p>
            <a:pPr marL="800100" lvl="1" indent="-342900">
              <a:buFont typeface="+mj-lt"/>
              <a:buAutoNum type="arabicPeriod"/>
            </a:pPr>
            <a:r>
              <a:rPr lang="hu-HU" dirty="0"/>
              <a:t> </a:t>
            </a:r>
            <a:r>
              <a:rPr lang="hu-HU" dirty="0">
                <a:solidFill>
                  <a:schemeClr val="accent5"/>
                </a:solidFill>
              </a:rPr>
              <a:t>.</a:t>
            </a:r>
            <a:r>
              <a:rPr lang="hu-HU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stream()</a:t>
            </a:r>
            <a:r>
              <a:rPr lang="hu-HU" dirty="0"/>
              <a:t> from Kafka				</a:t>
            </a:r>
            <a:r>
              <a:rPr lang="hu-HU" sz="1400" dirty="0"/>
              <a:t>&lt;null, ”Apple apple banana”&gt;</a:t>
            </a:r>
            <a:endParaRPr lang="hu-HU" dirty="0"/>
          </a:p>
          <a:p>
            <a:pPr marL="800100" lvl="1" indent="-342900">
              <a:buFont typeface="+mj-lt"/>
              <a:buAutoNum type="arabicPeriod"/>
            </a:pPr>
            <a:r>
              <a:rPr lang="hu-HU" dirty="0"/>
              <a:t> </a:t>
            </a:r>
            <a:r>
              <a:rPr lang="hu-HU" dirty="0">
                <a:solidFill>
                  <a:schemeClr val="accent5"/>
                </a:solidFill>
              </a:rPr>
              <a:t>.</a:t>
            </a:r>
            <a:r>
              <a:rPr lang="hu-HU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mapValues()</a:t>
            </a:r>
            <a:r>
              <a:rPr lang="hu-HU" dirty="0">
                <a:solidFill>
                  <a:schemeClr val="accent5"/>
                </a:solidFill>
              </a:rPr>
              <a:t> </a:t>
            </a:r>
            <a:r>
              <a:rPr lang="hu-HU" dirty="0"/>
              <a:t>to lowercase				</a:t>
            </a:r>
            <a:r>
              <a:rPr lang="hu-HU" sz="1400" dirty="0"/>
              <a:t>&lt;null, ”apple apple banana”&gt;</a:t>
            </a:r>
            <a:endParaRPr lang="hu-HU" dirty="0"/>
          </a:p>
          <a:p>
            <a:pPr marL="800100" lvl="1" indent="-342900">
              <a:buFont typeface="+mj-lt"/>
              <a:buAutoNum type="arabicPeriod"/>
            </a:pPr>
            <a:r>
              <a:rPr lang="hu-HU" dirty="0"/>
              <a:t> </a:t>
            </a:r>
            <a:r>
              <a:rPr lang="hu-HU" dirty="0">
                <a:solidFill>
                  <a:schemeClr val="accent5"/>
                </a:solidFill>
              </a:rPr>
              <a:t>.</a:t>
            </a:r>
            <a:r>
              <a:rPr lang="hu-HU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flatMapValues()</a:t>
            </a:r>
            <a:r>
              <a:rPr lang="hu-HU" dirty="0">
                <a:solidFill>
                  <a:schemeClr val="accent5"/>
                </a:solidFill>
              </a:rPr>
              <a:t> </a:t>
            </a:r>
            <a:r>
              <a:rPr lang="hu-HU" dirty="0"/>
              <a:t>split message by space		</a:t>
            </a:r>
            <a:r>
              <a:rPr lang="hu-HU" sz="1400" dirty="0"/>
              <a:t>&lt;null, ”apple”&gt;, &lt;null, ”apple”&gt;, &lt;null, ”banana”&gt;</a:t>
            </a:r>
            <a:endParaRPr lang="hu-HU" dirty="0"/>
          </a:p>
          <a:p>
            <a:pPr marL="800100" lvl="1" indent="-342900">
              <a:buFont typeface="+mj-lt"/>
              <a:buAutoNum type="arabicPeriod"/>
            </a:pPr>
            <a:r>
              <a:rPr lang="hu-HU" dirty="0"/>
              <a:t> </a:t>
            </a:r>
            <a:r>
              <a:rPr lang="hu-HU" dirty="0">
                <a:solidFill>
                  <a:schemeClr val="accent5"/>
                </a:solidFill>
              </a:rPr>
              <a:t>.</a:t>
            </a:r>
            <a:r>
              <a:rPr lang="hu-HU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groupBy()</a:t>
            </a:r>
            <a:r>
              <a:rPr lang="hu-HU" dirty="0">
                <a:solidFill>
                  <a:schemeClr val="accent5"/>
                </a:solidFill>
              </a:rPr>
              <a:t> </a:t>
            </a:r>
            <a:r>
              <a:rPr lang="hu-HU" dirty="0"/>
              <a:t>to make it aggregable			</a:t>
            </a:r>
            <a:r>
              <a:rPr lang="hu-HU" sz="1400" dirty="0"/>
              <a:t>&lt;”apple”, ”apple”&gt;, &lt;”apple”, ”apple”&gt;, &lt;”banana”, ”banana”&gt;</a:t>
            </a:r>
            <a:endParaRPr lang="hu-HU" dirty="0"/>
          </a:p>
          <a:p>
            <a:pPr marL="800100" lvl="1" indent="-342900">
              <a:buFont typeface="+mj-lt"/>
              <a:buAutoNum type="arabicPeriod"/>
            </a:pPr>
            <a:r>
              <a:rPr lang="hu-HU" dirty="0"/>
              <a:t> </a:t>
            </a:r>
            <a:r>
              <a:rPr lang="hu-HU" dirty="0">
                <a:solidFill>
                  <a:schemeClr val="accent5"/>
                </a:solidFill>
              </a:rPr>
              <a:t>.</a:t>
            </a:r>
            <a:r>
              <a:rPr lang="hu-HU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count()</a:t>
            </a:r>
            <a:r>
              <a:rPr lang="hu-HU" dirty="0">
                <a:solidFill>
                  <a:schemeClr val="accent5"/>
                </a:solidFill>
              </a:rPr>
              <a:t> </a:t>
            </a:r>
            <a:r>
              <a:rPr lang="hu-HU" dirty="0"/>
              <a:t>occurences in each group			</a:t>
            </a:r>
            <a:r>
              <a:rPr lang="hu-HU" sz="1400" dirty="0"/>
              <a:t>&lt;”apple”, 2&gt;, &lt;”banana”, 1&gt;</a:t>
            </a:r>
          </a:p>
          <a:p>
            <a:pPr marL="800100" lvl="1" indent="-342900">
              <a:buFont typeface="+mj-lt"/>
              <a:buAutoNum type="arabicPeriod"/>
            </a:pPr>
            <a:r>
              <a:rPr lang="hu-HU" dirty="0"/>
              <a:t> </a:t>
            </a:r>
            <a:r>
              <a:rPr lang="hu-HU" dirty="0">
                <a:solidFill>
                  <a:schemeClr val="accent5"/>
                </a:solidFill>
              </a:rPr>
              <a:t>.</a:t>
            </a:r>
            <a:r>
              <a:rPr lang="hu-HU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to()</a:t>
            </a:r>
            <a:r>
              <a:rPr lang="hu-HU" dirty="0">
                <a:solidFill>
                  <a:schemeClr val="accent5"/>
                </a:solidFill>
              </a:rPr>
              <a:t> </a:t>
            </a:r>
            <a:r>
              <a:rPr lang="hu-HU" dirty="0"/>
              <a:t>in order to write the results back to Kafka		</a:t>
            </a:r>
            <a:r>
              <a:rPr lang="hu-HU" sz="1400" dirty="0"/>
              <a:t>data point is written to Kafka</a:t>
            </a:r>
            <a:endParaRPr lang="hu-HU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26641E8-DEB3-4B2D-BEC0-7D06E959A2E0}"/>
              </a:ext>
            </a:extLst>
          </p:cNvPr>
          <p:cNvGrpSpPr/>
          <p:nvPr/>
        </p:nvGrpSpPr>
        <p:grpSpPr>
          <a:xfrm>
            <a:off x="11352584" y="94647"/>
            <a:ext cx="648072" cy="576064"/>
            <a:chOff x="10109844" y="1268760"/>
            <a:chExt cx="648072" cy="576064"/>
          </a:xfrm>
        </p:grpSpPr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91D63069-7750-DD71-F879-F8752D1B0385}"/>
                </a:ext>
              </a:extLst>
            </p:cNvPr>
            <p:cNvSpPr/>
            <p:nvPr/>
          </p:nvSpPr>
          <p:spPr>
            <a:xfrm>
              <a:off x="10128448" y="1268760"/>
              <a:ext cx="576064" cy="576064"/>
            </a:xfrm>
            <a:prstGeom prst="flowChartConnector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1286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4656E7E-5B8E-D314-EDA6-F88D06536FFB}"/>
                </a:ext>
              </a:extLst>
            </p:cNvPr>
            <p:cNvSpPr txBox="1"/>
            <p:nvPr/>
          </p:nvSpPr>
          <p:spPr>
            <a:xfrm>
              <a:off x="10109844" y="1402903"/>
              <a:ext cx="6480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Demo</a:t>
              </a:r>
              <a:endParaRPr lang="hu-HU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613113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C614F-1B09-7E42-1091-4C44D1FE7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5C33CB-CAD7-593C-265E-82F651504F52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Internal Topics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C29FA-F5E9-560C-3CFB-7141CB148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Kafka Streams App may eventually create internal intermediary topics</a:t>
            </a:r>
          </a:p>
          <a:p>
            <a:endParaRPr lang="hu-HU" dirty="0"/>
          </a:p>
          <a:p>
            <a:r>
              <a:rPr lang="hu-HU" dirty="0"/>
              <a:t>Two types:</a:t>
            </a:r>
          </a:p>
          <a:p>
            <a:pPr lvl="1"/>
            <a:r>
              <a:rPr lang="hu-HU" dirty="0"/>
              <a:t>Repartitioning topics: </a:t>
            </a:r>
          </a:p>
          <a:p>
            <a:pPr lvl="2"/>
            <a:r>
              <a:rPr lang="hu-HU" dirty="0"/>
              <a:t>In case you start transforming the key of your stream a repartitioning will happen at some processor</a:t>
            </a:r>
          </a:p>
          <a:p>
            <a:pPr lvl="2"/>
            <a:r>
              <a:rPr lang="en-US" dirty="0"/>
              <a:t>Repartitioning in Kafka Streams refers to the process of </a:t>
            </a:r>
            <a:r>
              <a:rPr lang="en-US" b="1" dirty="0"/>
              <a:t>redistributing the data in a topic to ensure that related records are grouped together in the same partition</a:t>
            </a:r>
            <a:r>
              <a:rPr lang="en-US" dirty="0"/>
              <a:t>. This is often necessary for stateful operations like aggregations, joins, and windowing, which require related records to be processed together. </a:t>
            </a:r>
            <a:endParaRPr lang="hu-HU" dirty="0"/>
          </a:p>
          <a:p>
            <a:pPr lvl="1"/>
            <a:endParaRPr lang="hu-HU" dirty="0"/>
          </a:p>
          <a:p>
            <a:pPr lvl="1"/>
            <a:r>
              <a:rPr lang="hu-HU" dirty="0"/>
              <a:t>Changelog topics: </a:t>
            </a:r>
          </a:p>
          <a:p>
            <a:pPr lvl="2"/>
            <a:r>
              <a:rPr lang="hu-HU" dirty="0"/>
              <a:t>in case you perform aggregations, Kafka Streams will save compacted data in these topics</a:t>
            </a:r>
          </a:p>
          <a:p>
            <a:pPr lvl="1"/>
            <a:endParaRPr lang="hu-HU" dirty="0"/>
          </a:p>
          <a:p>
            <a:r>
              <a:rPr lang="hu-HU" dirty="0"/>
              <a:t>These topics: </a:t>
            </a:r>
          </a:p>
          <a:p>
            <a:pPr lvl="1"/>
            <a:r>
              <a:rPr lang="hu-HU" dirty="0"/>
              <a:t>Managed by Kafka Streams</a:t>
            </a:r>
          </a:p>
          <a:p>
            <a:pPr lvl="1"/>
            <a:r>
              <a:rPr lang="hu-HU" dirty="0"/>
              <a:t>Used by Kafka Streams to save / restore state and re-partition data</a:t>
            </a:r>
          </a:p>
          <a:p>
            <a:pPr lvl="1"/>
            <a:r>
              <a:rPr lang="hu-HU" dirty="0"/>
              <a:t>Prefixed by </a:t>
            </a:r>
            <a:r>
              <a:rPr lang="hu-HU" i="1" dirty="0"/>
              <a:t>application.id</a:t>
            </a:r>
            <a:r>
              <a:rPr lang="hu-HU" dirty="0"/>
              <a:t> parameter</a:t>
            </a:r>
          </a:p>
        </p:txBody>
      </p:sp>
    </p:spTree>
    <p:extLst>
      <p:ext uri="{BB962C8B-B14F-4D97-AF65-F5344CB8AC3E}">
        <p14:creationId xmlns:p14="http://schemas.microsoft.com/office/powerpoint/2010/main" val="264459460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723EE-03F2-F462-9191-5C99637E8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75274F-05B9-4A41-49CF-C37B6D16C3AA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KStream, KTable and Duality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D8F52-4117-C13E-0732-0E8106609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KStream:</a:t>
            </a:r>
          </a:p>
          <a:p>
            <a:pPr lvl="1"/>
            <a:r>
              <a:rPr lang="hu-HU" dirty="0"/>
              <a:t>All </a:t>
            </a:r>
            <a:r>
              <a:rPr lang="hu-HU" b="1" dirty="0"/>
              <a:t>insterts</a:t>
            </a:r>
            <a:r>
              <a:rPr lang="hu-HU" dirty="0"/>
              <a:t> are kept</a:t>
            </a:r>
          </a:p>
          <a:p>
            <a:pPr lvl="1"/>
            <a:r>
              <a:rPr lang="hu-HU" dirty="0"/>
              <a:t>Similar to a log</a:t>
            </a:r>
          </a:p>
          <a:p>
            <a:pPr lvl="1"/>
            <a:r>
              <a:rPr lang="hu-HU" dirty="0"/>
              <a:t>Infinite</a:t>
            </a:r>
          </a:p>
          <a:p>
            <a:pPr lvl="1"/>
            <a:r>
              <a:rPr lang="hu-HU" dirty="0"/>
              <a:t>Unbounded data streams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036914-7829-1826-F99F-3B44A68F791E}"/>
              </a:ext>
            </a:extLst>
          </p:cNvPr>
          <p:cNvSpPr/>
          <p:nvPr/>
        </p:nvSpPr>
        <p:spPr>
          <a:xfrm>
            <a:off x="6494891" y="1354835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(alice, 1)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AEA100B-846C-A897-5258-52664284B06A}"/>
              </a:ext>
            </a:extLst>
          </p:cNvPr>
          <p:cNvCxnSpPr>
            <a:cxnSpLocks/>
          </p:cNvCxnSpPr>
          <p:nvPr/>
        </p:nvCxnSpPr>
        <p:spPr>
          <a:xfrm>
            <a:off x="9051774" y="1037063"/>
            <a:ext cx="0" cy="525222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4495279-37CE-C4D3-89DE-239384096C35}"/>
              </a:ext>
            </a:extLst>
          </p:cNvPr>
          <p:cNvCxnSpPr>
            <a:cxnSpLocks/>
            <a:stCxn id="4" idx="3"/>
            <a:endCxn id="17" idx="1"/>
          </p:cNvCxnSpPr>
          <p:nvPr/>
        </p:nvCxnSpPr>
        <p:spPr>
          <a:xfrm>
            <a:off x="8428566" y="1518559"/>
            <a:ext cx="13104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5D5B2A6-28E9-2917-6CA1-0C3115E1426D}"/>
              </a:ext>
            </a:extLst>
          </p:cNvPr>
          <p:cNvSpPr txBox="1"/>
          <p:nvPr/>
        </p:nvSpPr>
        <p:spPr>
          <a:xfrm>
            <a:off x="6862066" y="753483"/>
            <a:ext cx="1788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Topic (key, value)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00F9E2-9152-BB89-1884-300F6675D2C3}"/>
              </a:ext>
            </a:extLst>
          </p:cNvPr>
          <p:cNvSpPr txBox="1"/>
          <p:nvPr/>
        </p:nvSpPr>
        <p:spPr>
          <a:xfrm>
            <a:off x="8746974" y="6351069"/>
            <a:ext cx="12266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time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DA7CE7-8442-9431-C513-B133FAD306AD}"/>
              </a:ext>
            </a:extLst>
          </p:cNvPr>
          <p:cNvSpPr txBox="1"/>
          <p:nvPr/>
        </p:nvSpPr>
        <p:spPr>
          <a:xfrm>
            <a:off x="10092554" y="768610"/>
            <a:ext cx="12266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KStream</a:t>
            </a:r>
            <a:endParaRPr lang="en-US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8EE7684-BB30-18B8-9DC3-DA47812A0002}"/>
              </a:ext>
            </a:extLst>
          </p:cNvPr>
          <p:cNvSpPr/>
          <p:nvPr/>
        </p:nvSpPr>
        <p:spPr>
          <a:xfrm>
            <a:off x="6494890" y="2821481"/>
            <a:ext cx="1933675" cy="3274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(bob, 4)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DE8CC0C-8A85-DE3A-77AB-3F781A7D08B9}"/>
              </a:ext>
            </a:extLst>
          </p:cNvPr>
          <p:cNvSpPr/>
          <p:nvPr/>
        </p:nvSpPr>
        <p:spPr>
          <a:xfrm>
            <a:off x="6494889" y="4488227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(alice, 2)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0F30C6E-952E-D53C-00EF-F7B799C2D279}"/>
              </a:ext>
            </a:extLst>
          </p:cNvPr>
          <p:cNvSpPr/>
          <p:nvPr/>
        </p:nvSpPr>
        <p:spPr>
          <a:xfrm>
            <a:off x="9739031" y="1354835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(alice, 1)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958FE9A-7752-6BC5-7F16-2810B27EC57C}"/>
              </a:ext>
            </a:extLst>
          </p:cNvPr>
          <p:cNvSpPr/>
          <p:nvPr/>
        </p:nvSpPr>
        <p:spPr>
          <a:xfrm>
            <a:off x="9750879" y="2821481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(alice, 1)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C970DA4-5BF0-C88D-3807-0008386A321F}"/>
              </a:ext>
            </a:extLst>
          </p:cNvPr>
          <p:cNvSpPr/>
          <p:nvPr/>
        </p:nvSpPr>
        <p:spPr>
          <a:xfrm>
            <a:off x="9750879" y="3183565"/>
            <a:ext cx="1933675" cy="3274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(bob, 4)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7C33BEE-B647-B11E-77A7-13FF3285906D}"/>
              </a:ext>
            </a:extLst>
          </p:cNvPr>
          <p:cNvSpPr/>
          <p:nvPr/>
        </p:nvSpPr>
        <p:spPr>
          <a:xfrm>
            <a:off x="9750879" y="4489708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(alice, 1)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74C8CFE-209E-E0A2-8922-C9318BB8E975}"/>
              </a:ext>
            </a:extLst>
          </p:cNvPr>
          <p:cNvSpPr/>
          <p:nvPr/>
        </p:nvSpPr>
        <p:spPr>
          <a:xfrm>
            <a:off x="9750879" y="4851792"/>
            <a:ext cx="1933675" cy="3274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(bob, 4)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FEFF566-1B61-6F7A-41B8-0642F0C58F93}"/>
              </a:ext>
            </a:extLst>
          </p:cNvPr>
          <p:cNvSpPr/>
          <p:nvPr/>
        </p:nvSpPr>
        <p:spPr>
          <a:xfrm>
            <a:off x="9750879" y="5210331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(alice, 2)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87E7FB6A-970B-58F8-1D97-226AD505CF34}"/>
              </a:ext>
            </a:extLst>
          </p:cNvPr>
          <p:cNvCxnSpPr>
            <a:cxnSpLocks/>
            <a:stCxn id="15" idx="3"/>
            <a:endCxn id="19" idx="1"/>
          </p:cNvCxnSpPr>
          <p:nvPr/>
        </p:nvCxnSpPr>
        <p:spPr>
          <a:xfrm>
            <a:off x="8428565" y="2985205"/>
            <a:ext cx="1322314" cy="362084"/>
          </a:xfrm>
          <a:prstGeom prst="bentConnector3">
            <a:avLst>
              <a:gd name="adj1" fmla="val 50000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400180F-1107-790B-8E3B-B8331ECE3672}"/>
              </a:ext>
            </a:extLst>
          </p:cNvPr>
          <p:cNvCxnSpPr>
            <a:cxnSpLocks/>
            <a:stCxn id="16" idx="3"/>
            <a:endCxn id="22" idx="1"/>
          </p:cNvCxnSpPr>
          <p:nvPr/>
        </p:nvCxnSpPr>
        <p:spPr>
          <a:xfrm>
            <a:off x="8428564" y="4651951"/>
            <a:ext cx="1322315" cy="722104"/>
          </a:xfrm>
          <a:prstGeom prst="bentConnector3">
            <a:avLst>
              <a:gd name="adj1" fmla="val 50000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754927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F8DA8-487C-864E-B30F-C5199A0F1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9EF4237-7474-1E88-7911-808F56BA7CDF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KStream, KTable and Duality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B0672-609D-AD35-C004-EB938AB71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KTable:</a:t>
            </a:r>
          </a:p>
          <a:p>
            <a:pPr lvl="1"/>
            <a:r>
              <a:rPr lang="hu-HU" dirty="0"/>
              <a:t>All </a:t>
            </a:r>
            <a:r>
              <a:rPr lang="hu-HU" b="1" dirty="0"/>
              <a:t>upserts</a:t>
            </a:r>
            <a:r>
              <a:rPr lang="hu-HU" dirty="0"/>
              <a:t> on non null values are kept</a:t>
            </a:r>
          </a:p>
          <a:p>
            <a:pPr lvl="1"/>
            <a:r>
              <a:rPr lang="hu-HU" dirty="0"/>
              <a:t>Deletes on null values</a:t>
            </a:r>
          </a:p>
          <a:p>
            <a:pPr lvl="1"/>
            <a:r>
              <a:rPr lang="hu-HU" dirty="0"/>
              <a:t>Similar to a table</a:t>
            </a:r>
          </a:p>
          <a:p>
            <a:pPr lvl="1"/>
            <a:r>
              <a:rPr lang="hu-HU" dirty="0"/>
              <a:t>Analogy: log compacted topics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CEA484B-1B49-70D3-5D33-27ED0FF7056B}"/>
              </a:ext>
            </a:extLst>
          </p:cNvPr>
          <p:cNvSpPr/>
          <p:nvPr/>
        </p:nvSpPr>
        <p:spPr>
          <a:xfrm>
            <a:off x="6494891" y="1354835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(alice, 1)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3586966-42AB-4AD9-8C33-B0FD7D1466DB}"/>
              </a:ext>
            </a:extLst>
          </p:cNvPr>
          <p:cNvCxnSpPr>
            <a:cxnSpLocks/>
          </p:cNvCxnSpPr>
          <p:nvPr/>
        </p:nvCxnSpPr>
        <p:spPr>
          <a:xfrm>
            <a:off x="9051774" y="1037063"/>
            <a:ext cx="0" cy="525222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75C4692-00CE-8D20-CE89-987F93D807BC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8428566" y="1518559"/>
            <a:ext cx="13104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AFA9E62-1E75-656D-F450-718AE235715B}"/>
              </a:ext>
            </a:extLst>
          </p:cNvPr>
          <p:cNvSpPr txBox="1"/>
          <p:nvPr/>
        </p:nvSpPr>
        <p:spPr>
          <a:xfrm>
            <a:off x="6862066" y="753483"/>
            <a:ext cx="1788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Topic (key, value)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B22F32-10F4-756D-6169-286C1971BADE}"/>
              </a:ext>
            </a:extLst>
          </p:cNvPr>
          <p:cNvSpPr txBox="1"/>
          <p:nvPr/>
        </p:nvSpPr>
        <p:spPr>
          <a:xfrm>
            <a:off x="8746974" y="6351069"/>
            <a:ext cx="12266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time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449837-241B-0A67-2D2E-BDA1091D0F08}"/>
              </a:ext>
            </a:extLst>
          </p:cNvPr>
          <p:cNvSpPr txBox="1"/>
          <p:nvPr/>
        </p:nvSpPr>
        <p:spPr>
          <a:xfrm>
            <a:off x="10304427" y="768610"/>
            <a:ext cx="12266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KTable</a:t>
            </a:r>
            <a:endParaRPr lang="en-US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43FD6B-F24C-15F5-4178-2FFE4C1A904E}"/>
              </a:ext>
            </a:extLst>
          </p:cNvPr>
          <p:cNvSpPr/>
          <p:nvPr/>
        </p:nvSpPr>
        <p:spPr>
          <a:xfrm>
            <a:off x="6494890" y="2821481"/>
            <a:ext cx="1933675" cy="3274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(bob, 4)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A5CB06B-D19C-C602-AE57-A54951EFC0EF}"/>
              </a:ext>
            </a:extLst>
          </p:cNvPr>
          <p:cNvSpPr/>
          <p:nvPr/>
        </p:nvSpPr>
        <p:spPr>
          <a:xfrm>
            <a:off x="6494889" y="4488227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(alice, 2)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7BE8F50-4211-C2CC-540A-C36B84E7DFFC}"/>
              </a:ext>
            </a:extLst>
          </p:cNvPr>
          <p:cNvSpPr/>
          <p:nvPr/>
        </p:nvSpPr>
        <p:spPr>
          <a:xfrm>
            <a:off x="9739031" y="1354835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(alice, 1)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FA162F0-E2BE-AD1E-743C-A2422C7F2D58}"/>
              </a:ext>
            </a:extLst>
          </p:cNvPr>
          <p:cNvSpPr/>
          <p:nvPr/>
        </p:nvSpPr>
        <p:spPr>
          <a:xfrm>
            <a:off x="9750879" y="2821481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(alice, 1)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78EA92D-92AF-A9C1-165D-9C94F3A26EB4}"/>
              </a:ext>
            </a:extLst>
          </p:cNvPr>
          <p:cNvSpPr/>
          <p:nvPr/>
        </p:nvSpPr>
        <p:spPr>
          <a:xfrm>
            <a:off x="9750879" y="3183565"/>
            <a:ext cx="1933675" cy="3274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(bob, 4)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33FE188-3C88-3FBE-D474-F9B1591C844B}"/>
              </a:ext>
            </a:extLst>
          </p:cNvPr>
          <p:cNvSpPr/>
          <p:nvPr/>
        </p:nvSpPr>
        <p:spPr>
          <a:xfrm>
            <a:off x="9750879" y="4489708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(alice, 2)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E61CE0B-38AB-A3E1-1FBA-A1E5F84C0B16}"/>
              </a:ext>
            </a:extLst>
          </p:cNvPr>
          <p:cNvSpPr/>
          <p:nvPr/>
        </p:nvSpPr>
        <p:spPr>
          <a:xfrm>
            <a:off x="9750879" y="4851792"/>
            <a:ext cx="1933675" cy="3274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(bob, 4)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8AC6F453-92EF-4AA0-4CE7-84BA96E64D6E}"/>
              </a:ext>
            </a:extLst>
          </p:cNvPr>
          <p:cNvCxnSpPr>
            <a:cxnSpLocks/>
            <a:stCxn id="10" idx="3"/>
            <a:endCxn id="14" idx="1"/>
          </p:cNvCxnSpPr>
          <p:nvPr/>
        </p:nvCxnSpPr>
        <p:spPr>
          <a:xfrm>
            <a:off x="8428565" y="2985205"/>
            <a:ext cx="1322314" cy="362084"/>
          </a:xfrm>
          <a:prstGeom prst="bentConnector3">
            <a:avLst>
              <a:gd name="adj1" fmla="val 50000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435F8A11-5A72-1ECB-BCFA-7854A526ADBB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8428564" y="4651951"/>
            <a:ext cx="1322315" cy="1481"/>
          </a:xfrm>
          <a:prstGeom prst="bentConnector3">
            <a:avLst>
              <a:gd name="adj1" fmla="val 50000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8B71DC8-17CE-8D6C-E5D6-F0D434CB12C5}"/>
              </a:ext>
            </a:extLst>
          </p:cNvPr>
          <p:cNvSpPr/>
          <p:nvPr/>
        </p:nvSpPr>
        <p:spPr>
          <a:xfrm>
            <a:off x="6494891" y="5644504"/>
            <a:ext cx="1933675" cy="3274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(bob, null)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1CA2D9A-12C0-C3FD-207A-8EE583D36029}"/>
              </a:ext>
            </a:extLst>
          </p:cNvPr>
          <p:cNvSpPr/>
          <p:nvPr/>
        </p:nvSpPr>
        <p:spPr>
          <a:xfrm>
            <a:off x="9739031" y="5644504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(alice, 2)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1EC75E6-3A98-3B27-5B4A-FA8A1CCC54E4}"/>
              </a:ext>
            </a:extLst>
          </p:cNvPr>
          <p:cNvSpPr/>
          <p:nvPr/>
        </p:nvSpPr>
        <p:spPr>
          <a:xfrm>
            <a:off x="9739031" y="6006588"/>
            <a:ext cx="1933675" cy="327448"/>
          </a:xfrm>
          <a:prstGeom prst="roundRect">
            <a:avLst/>
          </a:prstGeom>
          <a:ln>
            <a:prstDash val="sysDash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bob is deleted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41E54FB-C0BA-765C-D141-7D1A475E6209}"/>
              </a:ext>
            </a:extLst>
          </p:cNvPr>
          <p:cNvCxnSpPr>
            <a:cxnSpLocks/>
            <a:stCxn id="21" idx="3"/>
            <a:endCxn id="24" idx="1"/>
          </p:cNvCxnSpPr>
          <p:nvPr/>
        </p:nvCxnSpPr>
        <p:spPr>
          <a:xfrm>
            <a:off x="8428566" y="5808228"/>
            <a:ext cx="1310465" cy="362084"/>
          </a:xfrm>
          <a:prstGeom prst="bentConnector3">
            <a:avLst>
              <a:gd name="adj1" fmla="val 50000"/>
            </a:avLst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970753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2CBDD-2913-7BEA-3679-27C525851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77D470F-8037-9FC9-C288-BD96D32A5822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KStream, KTable and Duality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707FC-4E5F-DA18-5588-CBB24E769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KStream: </a:t>
            </a:r>
          </a:p>
          <a:p>
            <a:pPr lvl="1"/>
            <a:r>
              <a:rPr lang="hu-HU" dirty="0"/>
              <a:t>reading from a topic that is not log compacted</a:t>
            </a:r>
          </a:p>
          <a:p>
            <a:r>
              <a:rPr lang="hu-HU" b="1" dirty="0"/>
              <a:t>KTable: </a:t>
            </a:r>
          </a:p>
          <a:p>
            <a:pPr lvl="1"/>
            <a:r>
              <a:rPr lang="hu-HU" dirty="0"/>
              <a:t>reading from a topic that is log compacted</a:t>
            </a:r>
          </a:p>
          <a:p>
            <a:pPr marL="457200" lvl="1" indent="0">
              <a:buNone/>
            </a:pPr>
            <a:endParaRPr lang="hu-HU" dirty="0"/>
          </a:p>
          <a:p>
            <a:r>
              <a:rPr lang="hu-HU" b="1" dirty="0"/>
              <a:t>KStream</a:t>
            </a:r>
          </a:p>
          <a:p>
            <a:pPr lvl="1"/>
            <a:r>
              <a:rPr lang="hu-HU" dirty="0"/>
              <a:t>if new data is partial / transactional</a:t>
            </a:r>
          </a:p>
          <a:p>
            <a:r>
              <a:rPr lang="hu-HU" b="1" dirty="0"/>
              <a:t>KTable</a:t>
            </a:r>
            <a:r>
              <a:rPr lang="hu-HU" dirty="0"/>
              <a:t> </a:t>
            </a:r>
          </a:p>
          <a:p>
            <a:pPr lvl="1"/>
            <a:r>
              <a:rPr lang="hu-HU" dirty="0"/>
              <a:t>if you need a „database table” where every update is self sufficient, and the actual state matters </a:t>
            </a:r>
          </a:p>
          <a:p>
            <a:pPr lvl="1"/>
            <a:r>
              <a:rPr lang="hu-HU" dirty="0"/>
              <a:t>e.g. total balance of a bank account</a:t>
            </a:r>
          </a:p>
          <a:p>
            <a:endParaRPr lang="hu-HU" dirty="0"/>
          </a:p>
          <a:p>
            <a:r>
              <a:rPr lang="hu-HU" b="1" dirty="0"/>
              <a:t>Duality:</a:t>
            </a:r>
            <a:r>
              <a:rPr lang="hu-HU" dirty="0"/>
              <a:t> </a:t>
            </a:r>
          </a:p>
          <a:p>
            <a:pPr lvl="1"/>
            <a:r>
              <a:rPr lang="hu-HU" dirty="0"/>
              <a:t>Stream as Table: </a:t>
            </a:r>
          </a:p>
          <a:p>
            <a:pPr lvl="2"/>
            <a:r>
              <a:rPr lang="hu-HU" dirty="0"/>
              <a:t>stream can be considered as changelog of a table</a:t>
            </a:r>
          </a:p>
          <a:p>
            <a:pPr lvl="2"/>
            <a:r>
              <a:rPr lang="hu-HU" dirty="0"/>
              <a:t>each record captures a state change</a:t>
            </a:r>
          </a:p>
          <a:p>
            <a:pPr lvl="1"/>
            <a:r>
              <a:rPr lang="hu-HU" dirty="0"/>
              <a:t>Table as Stream: </a:t>
            </a:r>
          </a:p>
          <a:p>
            <a:pPr lvl="2"/>
            <a:r>
              <a:rPr lang="hu-HU" dirty="0"/>
              <a:t>table can be considered as snapshot of a stream</a:t>
            </a:r>
          </a:p>
          <a:p>
            <a:pPr lvl="2"/>
            <a:r>
              <a:rPr lang="hu-HU" dirty="0"/>
              <a:t>at a point in time shows the latest value for each key</a:t>
            </a:r>
          </a:p>
          <a:p>
            <a:pPr marL="457200" lvl="1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8122058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3FAD0-7220-3CA1-C3B5-03D10AF75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E8A9D3-5E0F-03E8-5270-2DB4D4FD5121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Operations (Processing)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283CF-E7F9-A73E-D520-682D063A8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In Kafka </a:t>
            </a:r>
            <a:r>
              <a:rPr lang="en-US" dirty="0"/>
              <a:t>"stateless" and "stateful" refer to how the application processes data and whether it maintains any state between processing steps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b="1" dirty="0"/>
              <a:t>Stateless:</a:t>
            </a:r>
          </a:p>
          <a:p>
            <a:pPr lvl="1"/>
            <a:r>
              <a:rPr lang="hu-HU" dirty="0"/>
              <a:t>A</a:t>
            </a:r>
            <a:r>
              <a:rPr lang="en-US" dirty="0" err="1"/>
              <a:t>pplication</a:t>
            </a:r>
            <a:r>
              <a:rPr lang="en-US" dirty="0"/>
              <a:t> processes each record independently, without keeping track of any information from previous records</a:t>
            </a:r>
            <a:endParaRPr lang="hu-HU" dirty="0"/>
          </a:p>
          <a:p>
            <a:pPr lvl="1"/>
            <a:r>
              <a:rPr lang="hu-HU" dirty="0"/>
              <a:t>E</a:t>
            </a:r>
            <a:r>
              <a:rPr lang="en-US" dirty="0" err="1"/>
              <a:t>xamples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Filtering records (e.g., dropping messages that don't meet a certain criterion).</a:t>
            </a:r>
          </a:p>
          <a:p>
            <a:pPr lvl="2"/>
            <a:r>
              <a:rPr lang="en-US" dirty="0"/>
              <a:t>Mapping values (e.g., transforming each record independently).</a:t>
            </a:r>
          </a:p>
          <a:p>
            <a:endParaRPr lang="hu-HU" dirty="0"/>
          </a:p>
          <a:p>
            <a:r>
              <a:rPr lang="hu-HU" b="1" dirty="0"/>
              <a:t>Stateful:</a:t>
            </a:r>
          </a:p>
          <a:p>
            <a:pPr lvl="1"/>
            <a:r>
              <a:rPr lang="hu-HU" dirty="0"/>
              <a:t>A</a:t>
            </a:r>
            <a:r>
              <a:rPr lang="en-US" dirty="0" err="1"/>
              <a:t>pplication</a:t>
            </a:r>
            <a:r>
              <a:rPr lang="en-US" dirty="0"/>
              <a:t> keeps track of state information across multiple records, which can be used to influence the processing of future records.</a:t>
            </a:r>
            <a:endParaRPr lang="hu-HU" dirty="0"/>
          </a:p>
          <a:p>
            <a:pPr lvl="1"/>
            <a:r>
              <a:rPr lang="hu-HU" dirty="0"/>
              <a:t>Examples:</a:t>
            </a:r>
          </a:p>
          <a:p>
            <a:pPr lvl="2"/>
            <a:r>
              <a:rPr lang="en-US" dirty="0"/>
              <a:t>Counting occurrences of each word in a stream (maintaining a count of words).</a:t>
            </a:r>
          </a:p>
          <a:p>
            <a:pPr lvl="2"/>
            <a:r>
              <a:rPr lang="en-US" dirty="0"/>
              <a:t>Aggregating data over time (e.g., sum of values within a time window).</a:t>
            </a:r>
          </a:p>
          <a:p>
            <a:pPr lvl="2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9161007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71DB7-5FDF-5FD1-70E4-7FFD1F2E1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CDC4B4-931D-65A2-4784-830E5F736B7D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Stateless Operations (Processing)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DA62E-CBA1-1F21-B21C-FCF43F28D9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.mapValues</a:t>
            </a:r>
          </a:p>
          <a:p>
            <a:pPr lvl="1"/>
            <a:r>
              <a:rPr lang="en-US" dirty="0"/>
              <a:t>Transforms the values of the records in a stream, leaving the keys unchanged</a:t>
            </a:r>
            <a:endParaRPr lang="hu-HU" dirty="0"/>
          </a:p>
          <a:p>
            <a:pPr lvl="1"/>
            <a:r>
              <a:rPr lang="hu-HU" dirty="0"/>
              <a:t>Not trigger repartition</a:t>
            </a:r>
          </a:p>
          <a:p>
            <a:pPr lvl="1"/>
            <a:r>
              <a:rPr lang="hu-HU" dirty="0"/>
              <a:t>For KStreams and KTables</a:t>
            </a:r>
          </a:p>
          <a:p>
            <a:pPr lvl="1"/>
            <a:endParaRPr lang="hu-HU" b="1" dirty="0"/>
          </a:p>
          <a:p>
            <a:pPr lvl="1"/>
            <a:endParaRPr lang="hu-HU" b="1" dirty="0"/>
          </a:p>
          <a:p>
            <a:pPr marL="457200" lvl="1" indent="0">
              <a:buNone/>
            </a:pPr>
            <a:endParaRPr lang="hu-HU" b="1" dirty="0"/>
          </a:p>
          <a:p>
            <a:pPr marL="457200" lvl="1" indent="0">
              <a:buNone/>
            </a:pPr>
            <a:endParaRPr lang="hu-HU" b="1" dirty="0"/>
          </a:p>
          <a:p>
            <a:r>
              <a:rPr lang="hu-HU" b="1" dirty="0"/>
              <a:t>.map</a:t>
            </a:r>
          </a:p>
          <a:p>
            <a:pPr lvl="1"/>
            <a:r>
              <a:rPr lang="en-US" dirty="0"/>
              <a:t>Transforms both the keys and values of the records in a stream</a:t>
            </a:r>
            <a:endParaRPr lang="hu-HU" dirty="0"/>
          </a:p>
          <a:p>
            <a:pPr lvl="1"/>
            <a:r>
              <a:rPr lang="hu-HU" dirty="0"/>
              <a:t>Trigger repartition</a:t>
            </a:r>
          </a:p>
          <a:p>
            <a:pPr lvl="1"/>
            <a:r>
              <a:rPr lang="hu-HU" dirty="0"/>
              <a:t>For KStreams</a:t>
            </a:r>
            <a:endParaRPr lang="hu-HU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A93A87-3F39-F8ED-7F4A-BA5DDD2F9006}"/>
              </a:ext>
            </a:extLst>
          </p:cNvPr>
          <p:cNvSpPr txBox="1"/>
          <p:nvPr/>
        </p:nvSpPr>
        <p:spPr>
          <a:xfrm>
            <a:off x="457198" y="2320784"/>
            <a:ext cx="1148366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// Example: 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converts each value in the stream to uppercase, but the keys remain unchanged</a:t>
            </a:r>
            <a:endParaRPr lang="hu-HU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String&gt;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uppercasedValuesStream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originalStream.mapValues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(value -&gt;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value.toUpperCase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858FB8-3F24-9723-89E8-6D66F7350E30}"/>
              </a:ext>
            </a:extLst>
          </p:cNvPr>
          <p:cNvSpPr txBox="1"/>
          <p:nvPr/>
        </p:nvSpPr>
        <p:spPr>
          <a:xfrm>
            <a:off x="457197" y="4741382"/>
            <a:ext cx="1198756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// Example: 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creates a new stream where</a:t>
            </a:r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key is the original value and</a:t>
            </a:r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value is the length of the original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</a:t>
            </a:r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</a:p>
          <a:p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Integer&gt;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wordLengthStream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originalStream.map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((key, value) -&gt; new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KeyValue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&lt;&gt;(value,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value.length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()));</a:t>
            </a:r>
          </a:p>
        </p:txBody>
      </p:sp>
    </p:spTree>
    <p:extLst>
      <p:ext uri="{BB962C8B-B14F-4D97-AF65-F5344CB8AC3E}">
        <p14:creationId xmlns:p14="http://schemas.microsoft.com/office/powerpoint/2010/main" val="328131409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02E05-4384-251D-102E-65F39D0A9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B3427AF-30A0-BDE6-2C7B-E906366614B7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Stateless Operations (Processing)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20559-5B6D-3A55-FDEC-A0A5B79A9A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.filter</a:t>
            </a:r>
          </a:p>
          <a:p>
            <a:pPr lvl="1"/>
            <a:r>
              <a:rPr lang="hu-HU" dirty="0"/>
              <a:t>R</a:t>
            </a:r>
            <a:r>
              <a:rPr lang="en-US" dirty="0" err="1"/>
              <a:t>etain</a:t>
            </a:r>
            <a:r>
              <a:rPr lang="en-US" dirty="0"/>
              <a:t> only those records in a stream that match a given predicate</a:t>
            </a:r>
            <a:endParaRPr lang="hu-HU" dirty="0"/>
          </a:p>
          <a:p>
            <a:pPr lvl="1"/>
            <a:r>
              <a:rPr lang="hu-HU" dirty="0"/>
              <a:t>Not trigger repartition</a:t>
            </a:r>
          </a:p>
          <a:p>
            <a:pPr lvl="1"/>
            <a:r>
              <a:rPr lang="hu-HU" dirty="0"/>
              <a:t>For KStreams and KTables</a:t>
            </a:r>
          </a:p>
          <a:p>
            <a:pPr lvl="1"/>
            <a:endParaRPr lang="hu-HU" b="1" dirty="0"/>
          </a:p>
          <a:p>
            <a:pPr lvl="1"/>
            <a:endParaRPr lang="hu-HU" b="1" dirty="0"/>
          </a:p>
          <a:p>
            <a:pPr marL="457200" lvl="1" indent="0">
              <a:buNone/>
            </a:pPr>
            <a:endParaRPr lang="hu-HU" b="1" dirty="0"/>
          </a:p>
          <a:p>
            <a:pPr marL="457200" lvl="1" indent="0">
              <a:buNone/>
            </a:pPr>
            <a:endParaRPr lang="hu-HU" b="1" dirty="0"/>
          </a:p>
          <a:p>
            <a:r>
              <a:rPr lang="hu-HU" b="1" dirty="0"/>
              <a:t>.filterNot</a:t>
            </a:r>
          </a:p>
          <a:p>
            <a:pPr lvl="1"/>
            <a:r>
              <a:rPr lang="hu-HU" dirty="0"/>
              <a:t>Inverse of .filter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0EACFA-8FFE-9E16-A65A-B17C8F6C4335}"/>
              </a:ext>
            </a:extLst>
          </p:cNvPr>
          <p:cNvSpPr txBox="1"/>
          <p:nvPr/>
        </p:nvSpPr>
        <p:spPr>
          <a:xfrm>
            <a:off x="457198" y="2320784"/>
            <a:ext cx="1148366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// Example: 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retains only those records where the value contains the word "important"</a:t>
            </a:r>
            <a:endParaRPr lang="hu-HU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String&gt;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filteredStream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originalStream.filter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((key, value) -&gt;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value.contains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("important"));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87FA19-1C72-A796-1700-2F772D44A1BF}"/>
              </a:ext>
            </a:extLst>
          </p:cNvPr>
          <p:cNvSpPr txBox="1"/>
          <p:nvPr/>
        </p:nvSpPr>
        <p:spPr>
          <a:xfrm>
            <a:off x="457197" y="4741382"/>
            <a:ext cx="1198756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// Example: e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xcludes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records where the value contains the word "unimportant"</a:t>
            </a:r>
            <a:endParaRPr lang="hu-HU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String&gt;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filteredOutStream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originalStream.filterNot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((key, value) -&gt;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value.contains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("unimportant"));</a:t>
            </a:r>
          </a:p>
        </p:txBody>
      </p:sp>
    </p:spTree>
    <p:extLst>
      <p:ext uri="{BB962C8B-B14F-4D97-AF65-F5344CB8AC3E}">
        <p14:creationId xmlns:p14="http://schemas.microsoft.com/office/powerpoint/2010/main" val="394654858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12279-A7F3-94FB-AE65-114D54DA3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A388DD0-FEF8-1921-90A8-ECDE6B4299F8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Stateless Operations (Processing)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FA931-7CC3-8E42-CC47-5B839B731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1600" b="1" dirty="0"/>
              <a:t>.flatMapValues</a:t>
            </a:r>
          </a:p>
          <a:p>
            <a:pPr lvl="1"/>
            <a:r>
              <a:rPr lang="hu-HU" sz="1400" dirty="0"/>
              <a:t>M</a:t>
            </a:r>
            <a:r>
              <a:rPr lang="en-US" sz="1400" dirty="0" err="1"/>
              <a:t>apping</a:t>
            </a:r>
            <a:r>
              <a:rPr lang="en-US" sz="1400" dirty="0"/>
              <a:t> a single value to multiple values, effectively "flattening" the result</a:t>
            </a:r>
            <a:endParaRPr lang="hu-HU" sz="1400" dirty="0"/>
          </a:p>
          <a:p>
            <a:pPr lvl="1"/>
            <a:r>
              <a:rPr lang="hu-HU" sz="1400" dirty="0"/>
              <a:t>Not trigger repartition</a:t>
            </a:r>
          </a:p>
          <a:p>
            <a:pPr lvl="1"/>
            <a:r>
              <a:rPr lang="hu-HU" sz="1400" dirty="0"/>
              <a:t>For KStreams</a:t>
            </a:r>
          </a:p>
          <a:p>
            <a:pPr lvl="1"/>
            <a:endParaRPr lang="hu-HU" b="1" dirty="0"/>
          </a:p>
          <a:p>
            <a:pPr lvl="1"/>
            <a:endParaRPr lang="hu-HU" b="1" dirty="0"/>
          </a:p>
          <a:p>
            <a:pPr lvl="1"/>
            <a:endParaRPr lang="hu-HU" b="1" dirty="0"/>
          </a:p>
          <a:p>
            <a:pPr marL="457200" lvl="1" indent="0">
              <a:buNone/>
            </a:pPr>
            <a:endParaRPr lang="hu-HU" b="1" dirty="0"/>
          </a:p>
          <a:p>
            <a:pPr marL="457200" lvl="1" indent="0">
              <a:buNone/>
            </a:pPr>
            <a:endParaRPr lang="hu-HU" b="1" dirty="0"/>
          </a:p>
          <a:p>
            <a:r>
              <a:rPr lang="hu-HU" sz="1600" b="1" dirty="0"/>
              <a:t>.flatMap</a:t>
            </a:r>
          </a:p>
          <a:p>
            <a:pPr lvl="1"/>
            <a:r>
              <a:rPr lang="hu-HU" sz="1400" dirty="0"/>
              <a:t>M</a:t>
            </a:r>
            <a:r>
              <a:rPr lang="en-US" sz="1400" dirty="0" err="1"/>
              <a:t>apping</a:t>
            </a:r>
            <a:r>
              <a:rPr lang="en-US" sz="1400" dirty="0"/>
              <a:t> a single key-value pair to zero or more key-value pairs, effectively "flattening" the result.</a:t>
            </a:r>
            <a:endParaRPr lang="hu-HU" sz="1400" dirty="0"/>
          </a:p>
          <a:p>
            <a:pPr lvl="1"/>
            <a:r>
              <a:rPr lang="hu-HU" sz="1400" dirty="0"/>
              <a:t>Trigger repartition</a:t>
            </a:r>
          </a:p>
          <a:p>
            <a:pPr lvl="1"/>
            <a:r>
              <a:rPr lang="hu-HU" sz="1400" dirty="0"/>
              <a:t>For KStreams</a:t>
            </a:r>
            <a:endParaRPr lang="hu-HU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57C4B-CC56-3977-6D0E-E2BBF4A425A0}"/>
              </a:ext>
            </a:extLst>
          </p:cNvPr>
          <p:cNvSpPr txBox="1"/>
          <p:nvPr/>
        </p:nvSpPr>
        <p:spPr>
          <a:xfrm>
            <a:off x="457197" y="2009499"/>
            <a:ext cx="1148366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// Example: 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splits each value (a line of text) into multiple words and emits each word as a separate value</a:t>
            </a:r>
            <a:endParaRPr lang="hu-HU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String&gt;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textLines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builder.stream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("input-topic");</a:t>
            </a:r>
          </a:p>
          <a:p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String&gt;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wordsStream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textLines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.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flatMapValues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(value -&gt;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Arrays.asList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value.toLowerCase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().split(" ")));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9C488D-3216-4E61-7964-6AE26F391153}"/>
              </a:ext>
            </a:extLst>
          </p:cNvPr>
          <p:cNvSpPr txBox="1"/>
          <p:nvPr/>
        </p:nvSpPr>
        <p:spPr>
          <a:xfrm>
            <a:off x="457197" y="4551634"/>
            <a:ext cx="11987564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// Example: 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splits each value into multiple words and uses each word as both the new key and the new value</a:t>
            </a:r>
            <a:endParaRPr lang="hu-HU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String&gt;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textLines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builder.stream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("input-topic");</a:t>
            </a:r>
          </a:p>
          <a:p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String&gt;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wordsWithNewKeysStream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textLines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.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flatMap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((key, value) -&gt; {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List&lt;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KeyValue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String&gt;&gt; result = new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ArrayList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&lt;&gt;();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for (String word :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value.toLowerCase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().split(" ")) {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result.add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(new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KeyValue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&lt;&gt;(word, word));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result;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});</a:t>
            </a:r>
          </a:p>
        </p:txBody>
      </p:sp>
    </p:spTree>
    <p:extLst>
      <p:ext uri="{BB962C8B-B14F-4D97-AF65-F5344CB8AC3E}">
        <p14:creationId xmlns:p14="http://schemas.microsoft.com/office/powerpoint/2010/main" val="119154005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E1E06-2BE1-0416-2948-D51DC9FCB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719D327-8389-A41A-FB30-C31E1B73C76B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Stateless Operations (Processing)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AC09B-A192-259B-4A78-3DE516E1DB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1600" b="1" dirty="0"/>
              <a:t>.branch</a:t>
            </a:r>
          </a:p>
          <a:p>
            <a:pPr lvl="1"/>
            <a:r>
              <a:rPr lang="hu-HU" dirty="0"/>
              <a:t>C</a:t>
            </a:r>
            <a:r>
              <a:rPr lang="en-US" sz="1600" dirty="0" err="1"/>
              <a:t>reate</a:t>
            </a:r>
            <a:r>
              <a:rPr lang="en-US" sz="1600" dirty="0"/>
              <a:t> multiple </a:t>
            </a:r>
            <a:r>
              <a:rPr lang="en-US" sz="1600" dirty="0" err="1"/>
              <a:t>substreams</a:t>
            </a:r>
            <a:r>
              <a:rPr lang="en-US" sz="1600" dirty="0"/>
              <a:t> from a single stream based on predicate conditions.</a:t>
            </a:r>
            <a:endParaRPr lang="hu-HU" sz="1600" dirty="0"/>
          </a:p>
          <a:p>
            <a:pPr lvl="1"/>
            <a:r>
              <a:rPr lang="hu-HU" sz="1400" dirty="0"/>
              <a:t>You get multiple KStreams</a:t>
            </a:r>
          </a:p>
          <a:p>
            <a:pPr lvl="1"/>
            <a:endParaRPr lang="hu-HU" b="1" dirty="0"/>
          </a:p>
          <a:p>
            <a:pPr lvl="1"/>
            <a:endParaRPr lang="hu-HU" b="1" dirty="0"/>
          </a:p>
          <a:p>
            <a:pPr lvl="1"/>
            <a:endParaRPr lang="hu-HU" b="1" dirty="0"/>
          </a:p>
          <a:p>
            <a:pPr marL="457200" lvl="1" indent="0">
              <a:buNone/>
            </a:pPr>
            <a:endParaRPr lang="hu-HU" b="1" dirty="0"/>
          </a:p>
          <a:p>
            <a:pPr marL="457200" lvl="1" indent="0">
              <a:buNone/>
            </a:pPr>
            <a:endParaRPr lang="hu-HU" b="1" dirty="0"/>
          </a:p>
          <a:p>
            <a:endParaRPr lang="hu-HU" sz="1600" b="1" dirty="0"/>
          </a:p>
          <a:p>
            <a:r>
              <a:rPr lang="hu-HU" sz="1600" b="1" dirty="0"/>
              <a:t>.selectKey</a:t>
            </a:r>
          </a:p>
          <a:p>
            <a:pPr lvl="1"/>
            <a:r>
              <a:rPr lang="hu-HU" sz="1400" dirty="0"/>
              <a:t>Assign a new Key to the record (from old key and value) </a:t>
            </a:r>
          </a:p>
          <a:p>
            <a:pPr lvl="1"/>
            <a:r>
              <a:rPr lang="hu-HU" sz="1400" dirty="0"/>
              <a:t>Trigger repartition</a:t>
            </a:r>
          </a:p>
          <a:p>
            <a:pPr lvl="1"/>
            <a:r>
              <a:rPr lang="hu-HU" sz="1400" dirty="0"/>
              <a:t>For KStreams</a:t>
            </a:r>
            <a:endParaRPr lang="hu-HU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1AE574-8A0B-E298-FB13-5CEFE10C48B6}"/>
              </a:ext>
            </a:extLst>
          </p:cNvPr>
          <p:cNvSpPr txBox="1"/>
          <p:nvPr/>
        </p:nvSpPr>
        <p:spPr>
          <a:xfrm>
            <a:off x="457197" y="2009499"/>
            <a:ext cx="11483667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// Example: b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ranch the stream into three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substreams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based on the predicates</a:t>
            </a:r>
            <a:endParaRPr lang="hu-HU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String&gt;[] branches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stream.branch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(key, value) -&gt;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value.contains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("purchase"),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(key, value) -&gt;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value.contains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("refund"),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(key, value) -&gt; value != null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5BA872-CCBF-DF2C-EC62-7B68229157DB}"/>
              </a:ext>
            </a:extLst>
          </p:cNvPr>
          <p:cNvSpPr txBox="1"/>
          <p:nvPr/>
        </p:nvSpPr>
        <p:spPr>
          <a:xfrm>
            <a:off x="457197" y="4897322"/>
            <a:ext cx="1198756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// Example: use the first letter of the key as the new key</a:t>
            </a:r>
          </a:p>
          <a:p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String&gt;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textLines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</a:t>
            </a:r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stream</a:t>
            </a:r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.selectKey((key, value) -&gt; key.substring(0,1))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69081568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2F80C-C5F6-E2EB-B094-9B3557FE9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4FBB53-8EA0-EBFA-B7A5-43611350E9FE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Stateless Operations (Processing)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40012E-3B4F-D685-EEB2-FFAF03275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Reading  from Kafka: </a:t>
            </a:r>
          </a:p>
          <a:p>
            <a:endParaRPr lang="hu-HU" b="1" dirty="0"/>
          </a:p>
          <a:p>
            <a:endParaRPr lang="hu-HU" b="1" dirty="0"/>
          </a:p>
          <a:p>
            <a:endParaRPr lang="hu-HU" b="1" dirty="0"/>
          </a:p>
          <a:p>
            <a:endParaRPr lang="hu-HU" b="1" dirty="0"/>
          </a:p>
          <a:p>
            <a:endParaRPr lang="hu-HU" b="1" dirty="0"/>
          </a:p>
          <a:p>
            <a:endParaRPr lang="hu-HU" b="1" dirty="0"/>
          </a:p>
          <a:p>
            <a:endParaRPr lang="hu-HU" b="1" dirty="0"/>
          </a:p>
          <a:p>
            <a:r>
              <a:rPr lang="hu-HU" b="1" dirty="0"/>
              <a:t>Writing to Kafka:</a:t>
            </a:r>
          </a:p>
          <a:p>
            <a:pPr lvl="1"/>
            <a:r>
              <a:rPr lang="hu-HU" b="1" dirty="0"/>
              <a:t>.to</a:t>
            </a:r>
            <a:r>
              <a:rPr lang="hu-HU" dirty="0"/>
              <a:t>: terminal operation – write the record to a topic:</a:t>
            </a:r>
          </a:p>
          <a:p>
            <a:pPr lvl="1"/>
            <a:endParaRPr lang="hu-HU" b="1" dirty="0"/>
          </a:p>
          <a:p>
            <a:pPr lvl="1"/>
            <a:endParaRPr lang="hu-HU" b="1" dirty="0"/>
          </a:p>
          <a:p>
            <a:pPr lvl="1"/>
            <a:r>
              <a:rPr lang="hu-HU" b="1" dirty="0"/>
              <a:t>.through:</a:t>
            </a:r>
            <a:r>
              <a:rPr lang="hu-HU" dirty="0"/>
              <a:t> </a:t>
            </a:r>
            <a:endParaRPr lang="hu-HU" b="1" dirty="0"/>
          </a:p>
          <a:p>
            <a:pPr lvl="2"/>
            <a:endParaRPr lang="hu-H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48A508-27AF-AEBF-1372-3E38C14F03FA}"/>
              </a:ext>
            </a:extLst>
          </p:cNvPr>
          <p:cNvSpPr txBox="1"/>
          <p:nvPr/>
        </p:nvSpPr>
        <p:spPr>
          <a:xfrm>
            <a:off x="3048930" y="1344602"/>
            <a:ext cx="6094140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Long&gt;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wordCounts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builder.stream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Serdes.String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Serdes.Long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"input-topic");</a:t>
            </a:r>
          </a:p>
          <a:p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K</a:t>
            </a:r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Table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Long&gt;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wordCounts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builder.table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Serdes.String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Serdes.Long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"input-topic");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A4AD6F-9852-DF04-776E-74369F0253D6}"/>
              </a:ext>
            </a:extLst>
          </p:cNvPr>
          <p:cNvSpPr txBox="1"/>
          <p:nvPr/>
        </p:nvSpPr>
        <p:spPr>
          <a:xfrm>
            <a:off x="3048930" y="4318260"/>
            <a:ext cx="609414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hu-HU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stream.to("output-topic");</a:t>
            </a:r>
            <a:endParaRPr lang="hu-HU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table.to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("output-topic");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F8F2FF-5BBB-18F9-83FE-30BAFB9DA1FF}"/>
              </a:ext>
            </a:extLst>
          </p:cNvPr>
          <p:cNvSpPr txBox="1"/>
          <p:nvPr/>
        </p:nvSpPr>
        <p:spPr>
          <a:xfrm>
            <a:off x="3048930" y="5174451"/>
            <a:ext cx="609414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hu-HU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stream.</a:t>
            </a:r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through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intermediate-topic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");</a:t>
            </a:r>
            <a:endParaRPr lang="hu-HU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table.through(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intermediate-topic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");</a:t>
            </a:r>
          </a:p>
        </p:txBody>
      </p:sp>
    </p:spTree>
    <p:extLst>
      <p:ext uri="{BB962C8B-B14F-4D97-AF65-F5344CB8AC3E}">
        <p14:creationId xmlns:p14="http://schemas.microsoft.com/office/powerpoint/2010/main" val="257834902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E46BA-9B23-739E-64FA-678D4AA95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5D47AA-8AC8-E512-6AAA-AE2DDAB770DA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Stateful Operations (Processing)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F5EB2-760C-2FDD-72C2-C7D2905BE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.groupBy:</a:t>
            </a:r>
          </a:p>
          <a:p>
            <a:pPr lvl="1"/>
            <a:r>
              <a:rPr lang="hu-HU" dirty="0"/>
              <a:t>R</a:t>
            </a:r>
            <a:r>
              <a:rPr lang="en-US" dirty="0"/>
              <a:t>e-group records based on a new key, ensuring that related records are processed together</a:t>
            </a:r>
            <a:endParaRPr lang="hu-HU" dirty="0"/>
          </a:p>
          <a:p>
            <a:pPr lvl="1"/>
            <a:r>
              <a:rPr lang="en-US" dirty="0"/>
              <a:t>Often used before aggregations like count, sum, or windowed operations to ensure correct grouping of records</a:t>
            </a:r>
            <a:r>
              <a:rPr lang="hu-HU" b="1" dirty="0"/>
              <a:t> </a:t>
            </a:r>
          </a:p>
          <a:p>
            <a:pPr lvl="1"/>
            <a:r>
              <a:rPr lang="hu-HU" dirty="0"/>
              <a:t>Triggers repartition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r>
              <a:rPr lang="hu-HU" b="1" dirty="0"/>
              <a:t>.count</a:t>
            </a:r>
            <a:r>
              <a:rPr lang="hu-HU" dirty="0"/>
              <a:t>: </a:t>
            </a:r>
          </a:p>
          <a:p>
            <a:pPr lvl="1"/>
            <a:r>
              <a:rPr lang="hu-HU" dirty="0"/>
              <a:t>Counts the number of records by grouped keys</a:t>
            </a:r>
          </a:p>
          <a:p>
            <a:pPr lvl="1"/>
            <a:r>
              <a:rPr lang="hu-HU" dirty="0"/>
              <a:t>For KGroupedStream and KGroupedTable (they obtained e.g. after .groupBy)</a:t>
            </a:r>
          </a:p>
          <a:p>
            <a:pPr lvl="1"/>
            <a:endParaRPr lang="hu-HU" dirty="0"/>
          </a:p>
          <a:p>
            <a:endParaRPr lang="hu-HU" b="1" dirty="0"/>
          </a:p>
          <a:p>
            <a:endParaRPr lang="hu-HU" b="1" dirty="0"/>
          </a:p>
          <a:p>
            <a:endParaRPr lang="hu-HU" b="1" dirty="0"/>
          </a:p>
          <a:p>
            <a:endParaRPr lang="hu-HU" b="1" dirty="0"/>
          </a:p>
          <a:p>
            <a:pPr lvl="2"/>
            <a:endParaRPr lang="hu-H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A71D37-F5A3-4098-514C-B5424E88FDC6}"/>
              </a:ext>
            </a:extLst>
          </p:cNvPr>
          <p:cNvSpPr txBox="1"/>
          <p:nvPr/>
        </p:nvSpPr>
        <p:spPr>
          <a:xfrm>
            <a:off x="557560" y="2180944"/>
            <a:ext cx="1127388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Example: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Re-group the stream by a new key (the word itself) </a:t>
            </a:r>
            <a:endParaRPr lang="hu-HU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KGroupedStream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String&gt;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groupedStream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textLines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hu-HU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.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flatMapValues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ValueMapper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&lt;String&gt;&gt;) value -&gt;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Arrays.asList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value.toLowerCase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().split(" "))) </a:t>
            </a:r>
            <a:endParaRPr lang="hu-HU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hu-HU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groupBy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((key, word) -&gt; word);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DCB3D1-4F48-EC1B-0FA2-25CC70809702}"/>
              </a:ext>
            </a:extLst>
          </p:cNvPr>
          <p:cNvSpPr txBox="1"/>
          <p:nvPr/>
        </p:nvSpPr>
        <p:spPr>
          <a:xfrm>
            <a:off x="557560" y="4851891"/>
            <a:ext cx="116344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// Count occurrences of each word </a:t>
            </a:r>
            <a:endParaRPr lang="hu-HU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KTable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Long&gt;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wordCounts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groupedStream.count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(Materialized.as("word-counts-store")); </a:t>
            </a:r>
          </a:p>
        </p:txBody>
      </p:sp>
    </p:spTree>
    <p:extLst>
      <p:ext uri="{BB962C8B-B14F-4D97-AF65-F5344CB8AC3E}">
        <p14:creationId xmlns:p14="http://schemas.microsoft.com/office/powerpoint/2010/main" val="33843209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A5996-352E-715E-D0E0-9C6E182A0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83459A-DE0F-8BAE-9874-525CE0DBCB01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Stateful Operations (Processing)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1166F-E8AB-E3BB-B9E9-F29ECD8CE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.aggregate:</a:t>
            </a:r>
          </a:p>
          <a:p>
            <a:pPr lvl="1"/>
            <a:r>
              <a:rPr lang="hu-HU" dirty="0"/>
              <a:t>D</a:t>
            </a:r>
            <a:r>
              <a:rPr lang="en-US" dirty="0" err="1"/>
              <a:t>efine</a:t>
            </a:r>
            <a:r>
              <a:rPr lang="en-US" dirty="0"/>
              <a:t> complex aggregation logic that can combine records into a custom state object</a:t>
            </a:r>
            <a:endParaRPr lang="hu-HU" dirty="0"/>
          </a:p>
          <a:p>
            <a:pPr lvl="1"/>
            <a:r>
              <a:rPr lang="hu-HU" dirty="0"/>
              <a:t>Can be considered a complex .count or .sum</a:t>
            </a:r>
          </a:p>
          <a:p>
            <a:pPr lvl="1"/>
            <a:r>
              <a:rPr lang="en-US" dirty="0"/>
              <a:t>Components:</a:t>
            </a:r>
          </a:p>
          <a:p>
            <a:pPr lvl="2"/>
            <a:r>
              <a:rPr lang="en-US" i="1" dirty="0"/>
              <a:t>Initializer</a:t>
            </a:r>
            <a:r>
              <a:rPr lang="en-US" dirty="0"/>
              <a:t>: A function that provides the initial value for the aggregation.</a:t>
            </a:r>
          </a:p>
          <a:p>
            <a:pPr lvl="2"/>
            <a:r>
              <a:rPr lang="en-US" i="1" dirty="0"/>
              <a:t>Aggregator</a:t>
            </a:r>
            <a:r>
              <a:rPr lang="en-US" dirty="0"/>
              <a:t>: A function that specifies how to combine a new record with the current aggregation state.</a:t>
            </a:r>
          </a:p>
          <a:p>
            <a:pPr lvl="2"/>
            <a:r>
              <a:rPr lang="en-US" i="1" dirty="0"/>
              <a:t>Materialized</a:t>
            </a:r>
            <a:r>
              <a:rPr lang="en-US" dirty="0"/>
              <a:t>: Specifies the storage and serialization options for the aggregation state.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endParaRPr lang="hu-HU" b="1" dirty="0"/>
          </a:p>
          <a:p>
            <a:r>
              <a:rPr lang="hu-HU" b="1" dirty="0"/>
              <a:t>.reduce</a:t>
            </a:r>
            <a:r>
              <a:rPr lang="hu-HU" dirty="0"/>
              <a:t>: </a:t>
            </a:r>
          </a:p>
          <a:p>
            <a:pPr lvl="1"/>
            <a:r>
              <a:rPr lang="hu-HU" dirty="0"/>
              <a:t>Similar to .aggregate but the result type has to be the same as the input</a:t>
            </a:r>
          </a:p>
          <a:p>
            <a:endParaRPr lang="hu-HU" b="1" dirty="0"/>
          </a:p>
          <a:p>
            <a:endParaRPr lang="hu-HU" b="1" dirty="0"/>
          </a:p>
          <a:p>
            <a:endParaRPr lang="hu-HU" b="1" dirty="0"/>
          </a:p>
          <a:p>
            <a:endParaRPr lang="hu-HU" b="1" dirty="0"/>
          </a:p>
          <a:p>
            <a:pPr lvl="2"/>
            <a:endParaRPr lang="hu-H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A8C855-8522-144E-32EE-40314A59A9BD}"/>
              </a:ext>
            </a:extLst>
          </p:cNvPr>
          <p:cNvSpPr txBox="1"/>
          <p:nvPr/>
        </p:nvSpPr>
        <p:spPr>
          <a:xfrm>
            <a:off x="557560" y="2996621"/>
            <a:ext cx="11273883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// Aggregate the total length of words for each key</a:t>
            </a:r>
          </a:p>
          <a:p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KTable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&lt;String, Integer&gt;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wordLengths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groupedStream.aggregate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	() -&gt; 0,  // Initializer: start with 0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	(key, word, aggregate) -&gt; aggregate +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word.length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(),  // Aggregator: add the length of the word to the current aggregate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Materialized.with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Serdes.String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Serdes.Integer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())  // Materialized: store the state</a:t>
            </a:r>
          </a:p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09718446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E8E43-7DD7-782D-9D5A-694F7244F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74BE6D-54A9-CF4E-36FC-3B391496313C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Streams – Joins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6B3D0-5728-7F09-C7ED-9CCA70DB5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</a:t>
            </a:r>
            <a:r>
              <a:rPr lang="en-US" dirty="0"/>
              <a:t>o combine records from two or more streams or tables based on matching keys</a:t>
            </a:r>
            <a:endParaRPr lang="hu-HU" dirty="0"/>
          </a:p>
          <a:p>
            <a:r>
              <a:rPr lang="hu-HU" dirty="0"/>
              <a:t>A</a:t>
            </a:r>
            <a:r>
              <a:rPr lang="en-US" dirty="0" err="1"/>
              <a:t>llows</a:t>
            </a:r>
            <a:r>
              <a:rPr lang="en-US" dirty="0"/>
              <a:t> you to enrich data, correlate events, or merge information from different sources</a:t>
            </a:r>
            <a:endParaRPr lang="hu-HU" dirty="0"/>
          </a:p>
          <a:p>
            <a:r>
              <a:rPr lang="en-US" dirty="0"/>
              <a:t>Kafka Streams supports several types of joins, each suited to different use cases and requirements</a:t>
            </a:r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503B540B-A965-5F3B-CD48-192B3C225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95" y="2236180"/>
            <a:ext cx="10286769" cy="4043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313079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BE0AB-3BD1-BF0E-DB45-58126CFBF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 helye 1">
            <a:extLst>
              <a:ext uri="{FF2B5EF4-FFF2-40B4-BE49-F238E27FC236}">
                <a16:creationId xmlns:a16="http://schemas.microsoft.com/office/drawing/2014/main" id="{447C1B28-2AB5-C946-54D1-0AC2C6AAF340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hu-HU" dirty="0"/>
              <a:t>Cloud Native Architecture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3A75A80-44BA-324A-DB69-B7F9F7A92877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 algn="ctr"/>
            <a:r>
              <a:rPr lang="hu-HU" sz="4000" dirty="0">
                <a:solidFill>
                  <a:srgbClr val="012863"/>
                </a:solidFill>
              </a:rPr>
              <a:t>Kafka Operator</a:t>
            </a:r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108947DB-6D9E-3C01-6083-1F6B6F967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8829" y="939800"/>
            <a:ext cx="2111730" cy="1793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05986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47545-3AE5-B83A-9672-486F53CC6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9C83228-0450-B24B-126C-F40E7030B6B2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Kubernetes Architecture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58823-6F69-A4FD-C38C-DE808837BB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Lekerekített téglalap 2">
            <a:extLst>
              <a:ext uri="{FF2B5EF4-FFF2-40B4-BE49-F238E27FC236}">
                <a16:creationId xmlns:a16="http://schemas.microsoft.com/office/drawing/2014/main" id="{D11BD334-C183-4AED-21DA-C7461D5F99FF}"/>
              </a:ext>
            </a:extLst>
          </p:cNvPr>
          <p:cNvSpPr/>
          <p:nvPr/>
        </p:nvSpPr>
        <p:spPr>
          <a:xfrm>
            <a:off x="1523492" y="3040295"/>
            <a:ext cx="1944216" cy="720080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API server</a:t>
            </a:r>
            <a:endParaRPr lang="hu-HU" sz="1400" dirty="0">
              <a:solidFill>
                <a:schemeClr val="tx1"/>
              </a:solidFill>
            </a:endParaRPr>
          </a:p>
        </p:txBody>
      </p:sp>
      <p:sp>
        <p:nvSpPr>
          <p:cNvPr id="5" name="Henger 3">
            <a:extLst>
              <a:ext uri="{FF2B5EF4-FFF2-40B4-BE49-F238E27FC236}">
                <a16:creationId xmlns:a16="http://schemas.microsoft.com/office/drawing/2014/main" id="{6A822D6C-A49C-E976-B61B-A2A1186C0EB3}"/>
              </a:ext>
            </a:extLst>
          </p:cNvPr>
          <p:cNvSpPr/>
          <p:nvPr/>
        </p:nvSpPr>
        <p:spPr>
          <a:xfrm>
            <a:off x="911424" y="4227383"/>
            <a:ext cx="792088" cy="1080120"/>
          </a:xfrm>
          <a:prstGeom prst="can">
            <a:avLst>
              <a:gd name="adj" fmla="val 3958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etcd</a:t>
            </a:r>
            <a:endParaRPr lang="hu-HU" sz="1400" dirty="0">
              <a:solidFill>
                <a:schemeClr val="tx1"/>
              </a:solidFill>
            </a:endParaRPr>
          </a:p>
        </p:txBody>
      </p:sp>
      <p:sp>
        <p:nvSpPr>
          <p:cNvPr id="6" name="Lekerekített téglalap 4">
            <a:extLst>
              <a:ext uri="{FF2B5EF4-FFF2-40B4-BE49-F238E27FC236}">
                <a16:creationId xmlns:a16="http://schemas.microsoft.com/office/drawing/2014/main" id="{82889D7B-5077-FD6E-40CF-64B7E01439A1}"/>
              </a:ext>
            </a:extLst>
          </p:cNvPr>
          <p:cNvSpPr/>
          <p:nvPr/>
        </p:nvSpPr>
        <p:spPr>
          <a:xfrm>
            <a:off x="335360" y="908720"/>
            <a:ext cx="4320480" cy="4983229"/>
          </a:xfrm>
          <a:prstGeom prst="round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400"/>
          </a:p>
        </p:txBody>
      </p:sp>
      <p:sp>
        <p:nvSpPr>
          <p:cNvPr id="7" name="Lekerekített téglalap 6">
            <a:extLst>
              <a:ext uri="{FF2B5EF4-FFF2-40B4-BE49-F238E27FC236}">
                <a16:creationId xmlns:a16="http://schemas.microsoft.com/office/drawing/2014/main" id="{B027A8A4-EA73-3C6B-5165-1A05FEDF987A}"/>
              </a:ext>
            </a:extLst>
          </p:cNvPr>
          <p:cNvSpPr/>
          <p:nvPr/>
        </p:nvSpPr>
        <p:spPr>
          <a:xfrm>
            <a:off x="4871864" y="3420356"/>
            <a:ext cx="6912768" cy="2471595"/>
          </a:xfrm>
          <a:prstGeom prst="round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400"/>
          </a:p>
        </p:txBody>
      </p:sp>
      <p:sp>
        <p:nvSpPr>
          <p:cNvPr id="8" name="Lekerekített téglalap 7">
            <a:extLst>
              <a:ext uri="{FF2B5EF4-FFF2-40B4-BE49-F238E27FC236}">
                <a16:creationId xmlns:a16="http://schemas.microsoft.com/office/drawing/2014/main" id="{15DF0645-8A47-C47C-2E33-8D7432FBA214}"/>
              </a:ext>
            </a:extLst>
          </p:cNvPr>
          <p:cNvSpPr/>
          <p:nvPr/>
        </p:nvSpPr>
        <p:spPr>
          <a:xfrm>
            <a:off x="497379" y="1459372"/>
            <a:ext cx="1944216" cy="720080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Controller Manager</a:t>
            </a:r>
            <a:endParaRPr lang="hu-HU" sz="1400" dirty="0">
              <a:solidFill>
                <a:schemeClr val="tx1"/>
              </a:solidFill>
            </a:endParaRPr>
          </a:p>
        </p:txBody>
      </p:sp>
      <p:sp>
        <p:nvSpPr>
          <p:cNvPr id="9" name="Lekerekített téglalap 8">
            <a:extLst>
              <a:ext uri="{FF2B5EF4-FFF2-40B4-BE49-F238E27FC236}">
                <a16:creationId xmlns:a16="http://schemas.microsoft.com/office/drawing/2014/main" id="{B0D2593A-4C00-B47E-53FE-35E3F9AB12F5}"/>
              </a:ext>
            </a:extLst>
          </p:cNvPr>
          <p:cNvSpPr/>
          <p:nvPr/>
        </p:nvSpPr>
        <p:spPr>
          <a:xfrm>
            <a:off x="2603612" y="1459372"/>
            <a:ext cx="1944216" cy="720080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Cloud 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10" name="Lekerekített téglalap 9">
            <a:extLst>
              <a:ext uri="{FF2B5EF4-FFF2-40B4-BE49-F238E27FC236}">
                <a16:creationId xmlns:a16="http://schemas.microsoft.com/office/drawing/2014/main" id="{CAC12A0D-840E-A0B8-A002-5CFA7B7D27BD}"/>
              </a:ext>
            </a:extLst>
          </p:cNvPr>
          <p:cNvSpPr/>
          <p:nvPr/>
        </p:nvSpPr>
        <p:spPr>
          <a:xfrm>
            <a:off x="2503891" y="4179020"/>
            <a:ext cx="1944216" cy="720080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Scheduler</a:t>
            </a:r>
          </a:p>
        </p:txBody>
      </p:sp>
      <p:pic>
        <p:nvPicPr>
          <p:cNvPr id="11" name="Kép 5">
            <a:extLst>
              <a:ext uri="{FF2B5EF4-FFF2-40B4-BE49-F238E27FC236}">
                <a16:creationId xmlns:a16="http://schemas.microsoft.com/office/drawing/2014/main" id="{6264701E-B482-4BB5-EEAF-8899362338C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14818" y="4988493"/>
            <a:ext cx="1180783" cy="816843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E92A4EF8-EE90-71DF-46BC-3C29BF6373C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72477" y="4988493"/>
            <a:ext cx="1180783" cy="816843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99C0B0A-1F0F-34C5-9956-6692271EF00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125346" y="4994717"/>
            <a:ext cx="1180783" cy="816843"/>
          </a:xfrm>
          <a:prstGeom prst="rect">
            <a:avLst/>
          </a:prstGeom>
        </p:spPr>
      </p:pic>
      <p:sp>
        <p:nvSpPr>
          <p:cNvPr id="14" name="Lekerekített téglalap 13">
            <a:extLst>
              <a:ext uri="{FF2B5EF4-FFF2-40B4-BE49-F238E27FC236}">
                <a16:creationId xmlns:a16="http://schemas.microsoft.com/office/drawing/2014/main" id="{28656A40-087E-664F-F2E1-A912A33ACF43}"/>
              </a:ext>
            </a:extLst>
          </p:cNvPr>
          <p:cNvSpPr/>
          <p:nvPr/>
        </p:nvSpPr>
        <p:spPr>
          <a:xfrm>
            <a:off x="5231904" y="3509278"/>
            <a:ext cx="1512168" cy="374437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kube</a:t>
            </a:r>
            <a:r>
              <a:rPr lang="en-US" sz="1400" dirty="0">
                <a:solidFill>
                  <a:schemeClr val="tx1"/>
                </a:solidFill>
              </a:rPr>
              <a:t>-proxy</a:t>
            </a:r>
          </a:p>
        </p:txBody>
      </p:sp>
      <p:sp>
        <p:nvSpPr>
          <p:cNvPr id="15" name="Lekerekített téglalap 14">
            <a:extLst>
              <a:ext uri="{FF2B5EF4-FFF2-40B4-BE49-F238E27FC236}">
                <a16:creationId xmlns:a16="http://schemas.microsoft.com/office/drawing/2014/main" id="{85B66333-EBD4-DB98-1CF6-D53F46BC40EB}"/>
              </a:ext>
            </a:extLst>
          </p:cNvPr>
          <p:cNvSpPr/>
          <p:nvPr/>
        </p:nvSpPr>
        <p:spPr>
          <a:xfrm>
            <a:off x="5231904" y="4013334"/>
            <a:ext cx="1512168" cy="374437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kubelet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Lekerekített téglalap 15">
            <a:extLst>
              <a:ext uri="{FF2B5EF4-FFF2-40B4-BE49-F238E27FC236}">
                <a16:creationId xmlns:a16="http://schemas.microsoft.com/office/drawing/2014/main" id="{56408BC9-E8E1-9F6E-4914-A7EBA80F1232}"/>
              </a:ext>
            </a:extLst>
          </p:cNvPr>
          <p:cNvSpPr/>
          <p:nvPr/>
        </p:nvSpPr>
        <p:spPr>
          <a:xfrm>
            <a:off x="5229392" y="4513068"/>
            <a:ext cx="1512168" cy="374437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cont.runtime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Lekerekített téglalap 23">
            <a:extLst>
              <a:ext uri="{FF2B5EF4-FFF2-40B4-BE49-F238E27FC236}">
                <a16:creationId xmlns:a16="http://schemas.microsoft.com/office/drawing/2014/main" id="{6E476803-1721-91B7-592D-36F07CA764BA}"/>
              </a:ext>
            </a:extLst>
          </p:cNvPr>
          <p:cNvSpPr/>
          <p:nvPr/>
        </p:nvSpPr>
        <p:spPr>
          <a:xfrm>
            <a:off x="7610680" y="3507304"/>
            <a:ext cx="1512168" cy="374437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kube</a:t>
            </a:r>
            <a:r>
              <a:rPr lang="en-US" sz="1400" dirty="0">
                <a:solidFill>
                  <a:schemeClr val="tx1"/>
                </a:solidFill>
              </a:rPr>
              <a:t>-proxy</a:t>
            </a:r>
          </a:p>
        </p:txBody>
      </p:sp>
      <p:sp>
        <p:nvSpPr>
          <p:cNvPr id="18" name="Lekerekített téglalap 24">
            <a:extLst>
              <a:ext uri="{FF2B5EF4-FFF2-40B4-BE49-F238E27FC236}">
                <a16:creationId xmlns:a16="http://schemas.microsoft.com/office/drawing/2014/main" id="{7CF2BE3F-57A7-045D-4597-4791E467CC58}"/>
              </a:ext>
            </a:extLst>
          </p:cNvPr>
          <p:cNvSpPr/>
          <p:nvPr/>
        </p:nvSpPr>
        <p:spPr>
          <a:xfrm>
            <a:off x="7610680" y="4011360"/>
            <a:ext cx="1512168" cy="374437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kubelet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Lekerekített téglalap 25">
            <a:extLst>
              <a:ext uri="{FF2B5EF4-FFF2-40B4-BE49-F238E27FC236}">
                <a16:creationId xmlns:a16="http://schemas.microsoft.com/office/drawing/2014/main" id="{52D10B1F-E802-1FD7-2CD6-8E470805C7BC}"/>
              </a:ext>
            </a:extLst>
          </p:cNvPr>
          <p:cNvSpPr/>
          <p:nvPr/>
        </p:nvSpPr>
        <p:spPr>
          <a:xfrm>
            <a:off x="7608168" y="4511094"/>
            <a:ext cx="1512168" cy="374437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cont.runtime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0" name="Lekerekített téglalap 26">
            <a:extLst>
              <a:ext uri="{FF2B5EF4-FFF2-40B4-BE49-F238E27FC236}">
                <a16:creationId xmlns:a16="http://schemas.microsoft.com/office/drawing/2014/main" id="{455313C7-FEFB-10A6-40A0-49AA81876594}"/>
              </a:ext>
            </a:extLst>
          </p:cNvPr>
          <p:cNvSpPr/>
          <p:nvPr/>
        </p:nvSpPr>
        <p:spPr>
          <a:xfrm>
            <a:off x="9914936" y="3507304"/>
            <a:ext cx="1512168" cy="374437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kube</a:t>
            </a:r>
            <a:r>
              <a:rPr lang="en-US" sz="1400" dirty="0">
                <a:solidFill>
                  <a:schemeClr val="tx1"/>
                </a:solidFill>
              </a:rPr>
              <a:t>-proxy</a:t>
            </a:r>
          </a:p>
        </p:txBody>
      </p:sp>
      <p:sp>
        <p:nvSpPr>
          <p:cNvPr id="21" name="Lekerekített téglalap 27">
            <a:extLst>
              <a:ext uri="{FF2B5EF4-FFF2-40B4-BE49-F238E27FC236}">
                <a16:creationId xmlns:a16="http://schemas.microsoft.com/office/drawing/2014/main" id="{28DA9442-5831-0546-4E37-BCEADCFFC970}"/>
              </a:ext>
            </a:extLst>
          </p:cNvPr>
          <p:cNvSpPr/>
          <p:nvPr/>
        </p:nvSpPr>
        <p:spPr>
          <a:xfrm>
            <a:off x="9914936" y="4011360"/>
            <a:ext cx="1512168" cy="374437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kubelet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2" name="Lekerekített téglalap 28">
            <a:extLst>
              <a:ext uri="{FF2B5EF4-FFF2-40B4-BE49-F238E27FC236}">
                <a16:creationId xmlns:a16="http://schemas.microsoft.com/office/drawing/2014/main" id="{056A0A48-DBFB-7C77-C3B3-D1E4891A729B}"/>
              </a:ext>
            </a:extLst>
          </p:cNvPr>
          <p:cNvSpPr/>
          <p:nvPr/>
        </p:nvSpPr>
        <p:spPr>
          <a:xfrm>
            <a:off x="9912424" y="4511094"/>
            <a:ext cx="1512168" cy="374437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cont.runtime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Egyenes összekötő nyíllal 29">
            <a:extLst>
              <a:ext uri="{FF2B5EF4-FFF2-40B4-BE49-F238E27FC236}">
                <a16:creationId xmlns:a16="http://schemas.microsoft.com/office/drawing/2014/main" id="{05193D35-116C-5559-FAE4-4CEC54682C1D}"/>
              </a:ext>
            </a:extLst>
          </p:cNvPr>
          <p:cNvCxnSpPr>
            <a:stCxn id="14" idx="1"/>
            <a:endCxn id="4" idx="3"/>
          </p:cNvCxnSpPr>
          <p:nvPr/>
        </p:nvCxnSpPr>
        <p:spPr>
          <a:xfrm flipH="1" flipV="1">
            <a:off x="3467709" y="3400333"/>
            <a:ext cx="1764196" cy="296163"/>
          </a:xfrm>
          <a:prstGeom prst="straightConnector1">
            <a:avLst/>
          </a:prstGeom>
          <a:ln w="38100">
            <a:solidFill>
              <a:schemeClr val="accent3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gyenes összekötő nyíllal 31">
            <a:extLst>
              <a:ext uri="{FF2B5EF4-FFF2-40B4-BE49-F238E27FC236}">
                <a16:creationId xmlns:a16="http://schemas.microsoft.com/office/drawing/2014/main" id="{B16BB753-5A7B-0C7F-BA03-535082792B80}"/>
              </a:ext>
            </a:extLst>
          </p:cNvPr>
          <p:cNvCxnSpPr>
            <a:stCxn id="15" idx="1"/>
            <a:endCxn id="4" idx="3"/>
          </p:cNvCxnSpPr>
          <p:nvPr/>
        </p:nvCxnSpPr>
        <p:spPr>
          <a:xfrm flipH="1" flipV="1">
            <a:off x="3467709" y="3400333"/>
            <a:ext cx="1764196" cy="800219"/>
          </a:xfrm>
          <a:prstGeom prst="straightConnector1">
            <a:avLst/>
          </a:prstGeom>
          <a:ln w="38100">
            <a:solidFill>
              <a:schemeClr val="accent3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gyenes összekötő nyíllal 34">
            <a:extLst>
              <a:ext uri="{FF2B5EF4-FFF2-40B4-BE49-F238E27FC236}">
                <a16:creationId xmlns:a16="http://schemas.microsoft.com/office/drawing/2014/main" id="{EEEFCDC0-A67B-2ED7-6C08-E23B71D702A1}"/>
              </a:ext>
            </a:extLst>
          </p:cNvPr>
          <p:cNvCxnSpPr>
            <a:stCxn id="10" idx="0"/>
            <a:endCxn id="4" idx="2"/>
          </p:cNvCxnSpPr>
          <p:nvPr/>
        </p:nvCxnSpPr>
        <p:spPr>
          <a:xfrm flipH="1" flipV="1">
            <a:off x="2495601" y="3760374"/>
            <a:ext cx="980399" cy="418647"/>
          </a:xfrm>
          <a:prstGeom prst="straightConnector1">
            <a:avLst/>
          </a:prstGeom>
          <a:ln w="38100">
            <a:solidFill>
              <a:schemeClr val="accent3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gyenes összekötő nyíllal 37">
            <a:extLst>
              <a:ext uri="{FF2B5EF4-FFF2-40B4-BE49-F238E27FC236}">
                <a16:creationId xmlns:a16="http://schemas.microsoft.com/office/drawing/2014/main" id="{5E1A539D-7677-A059-E0DD-6E10F8A27A95}"/>
              </a:ext>
            </a:extLst>
          </p:cNvPr>
          <p:cNvCxnSpPr>
            <a:stCxn id="8" idx="2"/>
            <a:endCxn id="4" idx="0"/>
          </p:cNvCxnSpPr>
          <p:nvPr/>
        </p:nvCxnSpPr>
        <p:spPr>
          <a:xfrm>
            <a:off x="1469485" y="2179452"/>
            <a:ext cx="1026115" cy="860843"/>
          </a:xfrm>
          <a:prstGeom prst="straightConnector1">
            <a:avLst/>
          </a:prstGeom>
          <a:ln w="38100">
            <a:solidFill>
              <a:schemeClr val="accent3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Egyenes összekötő nyíllal 38">
            <a:extLst>
              <a:ext uri="{FF2B5EF4-FFF2-40B4-BE49-F238E27FC236}">
                <a16:creationId xmlns:a16="http://schemas.microsoft.com/office/drawing/2014/main" id="{4BE013EB-4257-9A71-0AC8-BA515AAAFA72}"/>
              </a:ext>
            </a:extLst>
          </p:cNvPr>
          <p:cNvCxnSpPr>
            <a:stCxn id="9" idx="2"/>
            <a:endCxn id="4" idx="0"/>
          </p:cNvCxnSpPr>
          <p:nvPr/>
        </p:nvCxnSpPr>
        <p:spPr>
          <a:xfrm flipH="1">
            <a:off x="2495600" y="2179452"/>
            <a:ext cx="1080120" cy="860843"/>
          </a:xfrm>
          <a:prstGeom prst="straightConnector1">
            <a:avLst/>
          </a:prstGeom>
          <a:ln w="38100">
            <a:solidFill>
              <a:schemeClr val="accent3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gyenes összekötő nyíllal 43">
            <a:extLst>
              <a:ext uri="{FF2B5EF4-FFF2-40B4-BE49-F238E27FC236}">
                <a16:creationId xmlns:a16="http://schemas.microsoft.com/office/drawing/2014/main" id="{1E3CDA9E-2582-340B-20EB-3B5E0AACB9C6}"/>
              </a:ext>
            </a:extLst>
          </p:cNvPr>
          <p:cNvCxnSpPr>
            <a:stCxn id="4" idx="2"/>
            <a:endCxn id="5" idx="1"/>
          </p:cNvCxnSpPr>
          <p:nvPr/>
        </p:nvCxnSpPr>
        <p:spPr>
          <a:xfrm flipH="1">
            <a:off x="1307469" y="3760376"/>
            <a:ext cx="1188132" cy="467009"/>
          </a:xfrm>
          <a:prstGeom prst="straightConnector1">
            <a:avLst/>
          </a:prstGeom>
          <a:ln w="38100">
            <a:solidFill>
              <a:schemeClr val="accent3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zögletes összekötő 46">
            <a:extLst>
              <a:ext uri="{FF2B5EF4-FFF2-40B4-BE49-F238E27FC236}">
                <a16:creationId xmlns:a16="http://schemas.microsoft.com/office/drawing/2014/main" id="{7F7020A5-7C41-DE93-1A35-D7DC75198C15}"/>
              </a:ext>
            </a:extLst>
          </p:cNvPr>
          <p:cNvCxnSpPr>
            <a:stCxn id="15" idx="3"/>
            <a:endCxn id="16" idx="3"/>
          </p:cNvCxnSpPr>
          <p:nvPr/>
        </p:nvCxnSpPr>
        <p:spPr>
          <a:xfrm flipH="1">
            <a:off x="6741560" y="4200553"/>
            <a:ext cx="2512" cy="499735"/>
          </a:xfrm>
          <a:prstGeom prst="bentConnector3">
            <a:avLst>
              <a:gd name="adj1" fmla="val -9100318"/>
            </a:avLst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elhő 47">
            <a:extLst>
              <a:ext uri="{FF2B5EF4-FFF2-40B4-BE49-F238E27FC236}">
                <a16:creationId xmlns:a16="http://schemas.microsoft.com/office/drawing/2014/main" id="{77E3F372-1A02-6E3F-9B9D-C31531E77AA6}"/>
              </a:ext>
            </a:extLst>
          </p:cNvPr>
          <p:cNvSpPr/>
          <p:nvPr/>
        </p:nvSpPr>
        <p:spPr>
          <a:xfrm>
            <a:off x="7608168" y="1099332"/>
            <a:ext cx="2376264" cy="1440160"/>
          </a:xfrm>
          <a:prstGeom prst="clou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4F81BD"/>
                </a:solidFill>
              </a:rPr>
              <a:t>Cloud Provider</a:t>
            </a:r>
            <a:endParaRPr lang="hu-HU" sz="1400" dirty="0">
              <a:solidFill>
                <a:srgbClr val="4F81BD"/>
              </a:solidFill>
            </a:endParaRPr>
          </a:p>
        </p:txBody>
      </p:sp>
      <p:cxnSp>
        <p:nvCxnSpPr>
          <p:cNvPr id="31" name="Egyenes összekötő nyíllal 49">
            <a:extLst>
              <a:ext uri="{FF2B5EF4-FFF2-40B4-BE49-F238E27FC236}">
                <a16:creationId xmlns:a16="http://schemas.microsoft.com/office/drawing/2014/main" id="{B453F4E0-3FE2-DB8C-EFC7-A2486DFF3629}"/>
              </a:ext>
            </a:extLst>
          </p:cNvPr>
          <p:cNvCxnSpPr>
            <a:stCxn id="9" idx="3"/>
            <a:endCxn id="30" idx="2"/>
          </p:cNvCxnSpPr>
          <p:nvPr/>
        </p:nvCxnSpPr>
        <p:spPr>
          <a:xfrm>
            <a:off x="4547830" y="1819412"/>
            <a:ext cx="3067711" cy="0"/>
          </a:xfrm>
          <a:prstGeom prst="straightConnector1">
            <a:avLst/>
          </a:prstGeom>
          <a:ln w="38100">
            <a:solidFill>
              <a:schemeClr val="accent3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Szövegdoboz 58">
            <a:extLst>
              <a:ext uri="{FF2B5EF4-FFF2-40B4-BE49-F238E27FC236}">
                <a16:creationId xmlns:a16="http://schemas.microsoft.com/office/drawing/2014/main" id="{9276D62F-BD67-350F-959D-FD3CD555438A}"/>
              </a:ext>
            </a:extLst>
          </p:cNvPr>
          <p:cNvSpPr txBox="1"/>
          <p:nvPr/>
        </p:nvSpPr>
        <p:spPr>
          <a:xfrm>
            <a:off x="335362" y="6091538"/>
            <a:ext cx="43204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Control Plane</a:t>
            </a:r>
            <a:endParaRPr lang="hu-HU" sz="2400" dirty="0"/>
          </a:p>
        </p:txBody>
      </p:sp>
      <p:sp>
        <p:nvSpPr>
          <p:cNvPr id="33" name="Szövegdoboz 60">
            <a:extLst>
              <a:ext uri="{FF2B5EF4-FFF2-40B4-BE49-F238E27FC236}">
                <a16:creationId xmlns:a16="http://schemas.microsoft.com/office/drawing/2014/main" id="{4748D17B-73B1-26E4-E9F5-E284F1A0FAA8}"/>
              </a:ext>
            </a:extLst>
          </p:cNvPr>
          <p:cNvSpPr txBox="1"/>
          <p:nvPr/>
        </p:nvSpPr>
        <p:spPr>
          <a:xfrm>
            <a:off x="4871864" y="6093297"/>
            <a:ext cx="69127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Worker Nodes</a:t>
            </a:r>
            <a:endParaRPr lang="hu-HU" sz="2400" dirty="0"/>
          </a:p>
        </p:txBody>
      </p:sp>
    </p:spTree>
    <p:extLst>
      <p:ext uri="{BB962C8B-B14F-4D97-AF65-F5344CB8AC3E}">
        <p14:creationId xmlns:p14="http://schemas.microsoft.com/office/powerpoint/2010/main" val="352880828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FE987B-466E-DF63-C427-6F7E1EE8C67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Control Loops</a:t>
            </a:r>
            <a:endParaRPr lang="en-US" dirty="0"/>
          </a:p>
        </p:txBody>
      </p:sp>
      <p:pic>
        <p:nvPicPr>
          <p:cNvPr id="4" name="Picture 4" descr="https://encrypted-tbn0.gstatic.com/images?q=tbn%3AANd9GcSyWGxmFLDP-yPtogTOu1_fiBCy-SjM1rCALokOfaDBzsRDGgCJEMUcj3G8RxDkUwnNsT9Vegk&amp;usqp=CAc">
            <a:extLst>
              <a:ext uri="{FF2B5EF4-FFF2-40B4-BE49-F238E27FC236}">
                <a16:creationId xmlns:a16="http://schemas.microsoft.com/office/drawing/2014/main" id="{707655BC-9097-8236-85F0-10D615229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360" y="2224649"/>
            <a:ext cx="1656184" cy="16561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Egyenes összekötő nyíllal 10">
            <a:extLst>
              <a:ext uri="{FF2B5EF4-FFF2-40B4-BE49-F238E27FC236}">
                <a16:creationId xmlns:a16="http://schemas.microsoft.com/office/drawing/2014/main" id="{8203B8BD-02E0-5286-2568-DBBBD26DBBAC}"/>
              </a:ext>
            </a:extLst>
          </p:cNvPr>
          <p:cNvCxnSpPr/>
          <p:nvPr/>
        </p:nvCxnSpPr>
        <p:spPr>
          <a:xfrm flipV="1">
            <a:off x="3935760" y="1936616"/>
            <a:ext cx="0" cy="2520280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gyenes összekötő nyíllal 23">
            <a:extLst>
              <a:ext uri="{FF2B5EF4-FFF2-40B4-BE49-F238E27FC236}">
                <a16:creationId xmlns:a16="http://schemas.microsoft.com/office/drawing/2014/main" id="{7BE98D47-CCE3-1570-E001-F22D51681B41}"/>
              </a:ext>
            </a:extLst>
          </p:cNvPr>
          <p:cNvCxnSpPr/>
          <p:nvPr/>
        </p:nvCxnSpPr>
        <p:spPr>
          <a:xfrm>
            <a:off x="3863752" y="4384888"/>
            <a:ext cx="5112568" cy="0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zövegdoboz 19">
            <a:extLst>
              <a:ext uri="{FF2B5EF4-FFF2-40B4-BE49-F238E27FC236}">
                <a16:creationId xmlns:a16="http://schemas.microsoft.com/office/drawing/2014/main" id="{8C08AFB0-15E1-9B51-FE97-4B97F74FB718}"/>
              </a:ext>
            </a:extLst>
          </p:cNvPr>
          <p:cNvSpPr txBox="1"/>
          <p:nvPr/>
        </p:nvSpPr>
        <p:spPr>
          <a:xfrm>
            <a:off x="3071664" y="1916833"/>
            <a:ext cx="583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Temp</a:t>
            </a:r>
            <a:endParaRPr lang="hu-HU" sz="1400" dirty="0"/>
          </a:p>
        </p:txBody>
      </p:sp>
      <p:sp>
        <p:nvSpPr>
          <p:cNvPr id="8" name="Szövegdoboz 29">
            <a:extLst>
              <a:ext uri="{FF2B5EF4-FFF2-40B4-BE49-F238E27FC236}">
                <a16:creationId xmlns:a16="http://schemas.microsoft.com/office/drawing/2014/main" id="{CF823200-CEDC-179E-2354-3C7D441D50D3}"/>
              </a:ext>
            </a:extLst>
          </p:cNvPr>
          <p:cNvSpPr txBox="1"/>
          <p:nvPr/>
        </p:nvSpPr>
        <p:spPr>
          <a:xfrm>
            <a:off x="6107067" y="4456897"/>
            <a:ext cx="546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Time</a:t>
            </a:r>
            <a:endParaRPr lang="hu-HU" sz="1400" dirty="0"/>
          </a:p>
        </p:txBody>
      </p:sp>
      <p:cxnSp>
        <p:nvCxnSpPr>
          <p:cNvPr id="9" name="Egyenes összekötő 22">
            <a:extLst>
              <a:ext uri="{FF2B5EF4-FFF2-40B4-BE49-F238E27FC236}">
                <a16:creationId xmlns:a16="http://schemas.microsoft.com/office/drawing/2014/main" id="{FF3DF02C-1FF8-86FF-BEEA-9E9A3068A34F}"/>
              </a:ext>
            </a:extLst>
          </p:cNvPr>
          <p:cNvCxnSpPr/>
          <p:nvPr/>
        </p:nvCxnSpPr>
        <p:spPr>
          <a:xfrm>
            <a:off x="3863752" y="2944728"/>
            <a:ext cx="5112568" cy="0"/>
          </a:xfrm>
          <a:prstGeom prst="line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zövegdoboz 33">
            <a:extLst>
              <a:ext uri="{FF2B5EF4-FFF2-40B4-BE49-F238E27FC236}">
                <a16:creationId xmlns:a16="http://schemas.microsoft.com/office/drawing/2014/main" id="{D5157AA9-7AEF-77C0-5B2A-A3273067322F}"/>
              </a:ext>
            </a:extLst>
          </p:cNvPr>
          <p:cNvSpPr txBox="1"/>
          <p:nvPr/>
        </p:nvSpPr>
        <p:spPr>
          <a:xfrm>
            <a:off x="3359696" y="2800713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22.5</a:t>
            </a:r>
            <a:endParaRPr lang="hu-HU" sz="1400" dirty="0"/>
          </a:p>
        </p:txBody>
      </p:sp>
      <p:sp>
        <p:nvSpPr>
          <p:cNvPr id="11" name="Szabadkézi sokszög 26">
            <a:extLst>
              <a:ext uri="{FF2B5EF4-FFF2-40B4-BE49-F238E27FC236}">
                <a16:creationId xmlns:a16="http://schemas.microsoft.com/office/drawing/2014/main" id="{D51E0718-29A9-C0B4-8272-69EDB55467DF}"/>
              </a:ext>
            </a:extLst>
          </p:cNvPr>
          <p:cNvSpPr/>
          <p:nvPr/>
        </p:nvSpPr>
        <p:spPr>
          <a:xfrm>
            <a:off x="4983480" y="2731078"/>
            <a:ext cx="990600" cy="244111"/>
          </a:xfrm>
          <a:custGeom>
            <a:avLst/>
            <a:gdLst>
              <a:gd name="connsiteX0" fmla="*/ 0 w 990600"/>
              <a:gd name="connsiteY0" fmla="*/ 244111 h 244111"/>
              <a:gd name="connsiteX1" fmla="*/ 358140 w 990600"/>
              <a:gd name="connsiteY1" fmla="*/ 271 h 244111"/>
              <a:gd name="connsiteX2" fmla="*/ 990600 w 990600"/>
              <a:gd name="connsiteY2" fmla="*/ 206011 h 244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90600" h="244111">
                <a:moveTo>
                  <a:pt x="0" y="244111"/>
                </a:moveTo>
                <a:cubicBezTo>
                  <a:pt x="96520" y="125366"/>
                  <a:pt x="193040" y="6621"/>
                  <a:pt x="358140" y="271"/>
                </a:cubicBezTo>
                <a:cubicBezTo>
                  <a:pt x="523240" y="-6079"/>
                  <a:pt x="756920" y="99966"/>
                  <a:pt x="990600" y="206011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400"/>
          </a:p>
        </p:txBody>
      </p:sp>
      <p:sp>
        <p:nvSpPr>
          <p:cNvPr id="12" name="Szabadkézi sokszög 28">
            <a:extLst>
              <a:ext uri="{FF2B5EF4-FFF2-40B4-BE49-F238E27FC236}">
                <a16:creationId xmlns:a16="http://schemas.microsoft.com/office/drawing/2014/main" id="{FCD83883-1948-3054-CBC8-5D01B42864BE}"/>
              </a:ext>
            </a:extLst>
          </p:cNvPr>
          <p:cNvSpPr/>
          <p:nvPr/>
        </p:nvSpPr>
        <p:spPr>
          <a:xfrm>
            <a:off x="5975350" y="2863965"/>
            <a:ext cx="1682751" cy="166647"/>
          </a:xfrm>
          <a:custGeom>
            <a:avLst/>
            <a:gdLst>
              <a:gd name="connsiteX0" fmla="*/ 0 w 1682750"/>
              <a:gd name="connsiteY0" fmla="*/ 66775 h 166647"/>
              <a:gd name="connsiteX1" fmla="*/ 469900 w 1682750"/>
              <a:gd name="connsiteY1" fmla="*/ 165200 h 166647"/>
              <a:gd name="connsiteX2" fmla="*/ 1044575 w 1682750"/>
              <a:gd name="connsiteY2" fmla="*/ 100 h 166647"/>
              <a:gd name="connsiteX3" fmla="*/ 1384300 w 1682750"/>
              <a:gd name="connsiteY3" fmla="*/ 139800 h 166647"/>
              <a:gd name="connsiteX4" fmla="*/ 1682750 w 1682750"/>
              <a:gd name="connsiteY4" fmla="*/ 82650 h 166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2750" h="166647">
                <a:moveTo>
                  <a:pt x="0" y="66775"/>
                </a:moveTo>
                <a:cubicBezTo>
                  <a:pt x="147902" y="121543"/>
                  <a:pt x="295804" y="176312"/>
                  <a:pt x="469900" y="165200"/>
                </a:cubicBezTo>
                <a:cubicBezTo>
                  <a:pt x="643996" y="154088"/>
                  <a:pt x="892175" y="4333"/>
                  <a:pt x="1044575" y="100"/>
                </a:cubicBezTo>
                <a:cubicBezTo>
                  <a:pt x="1196975" y="-4133"/>
                  <a:pt x="1277938" y="126042"/>
                  <a:pt x="1384300" y="139800"/>
                </a:cubicBezTo>
                <a:cubicBezTo>
                  <a:pt x="1490662" y="153558"/>
                  <a:pt x="1586706" y="118104"/>
                  <a:pt x="1682750" y="82650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400"/>
          </a:p>
        </p:txBody>
      </p:sp>
      <p:sp>
        <p:nvSpPr>
          <p:cNvPr id="13" name="Szabadkézi sokszög 31">
            <a:extLst>
              <a:ext uri="{FF2B5EF4-FFF2-40B4-BE49-F238E27FC236}">
                <a16:creationId xmlns:a16="http://schemas.microsoft.com/office/drawing/2014/main" id="{CEED5204-E179-2E7C-1C8C-2EDAFD2FB246}"/>
              </a:ext>
            </a:extLst>
          </p:cNvPr>
          <p:cNvSpPr/>
          <p:nvPr/>
        </p:nvSpPr>
        <p:spPr>
          <a:xfrm>
            <a:off x="7651750" y="2886267"/>
            <a:ext cx="1073151" cy="279868"/>
          </a:xfrm>
          <a:custGeom>
            <a:avLst/>
            <a:gdLst>
              <a:gd name="connsiteX0" fmla="*/ 0 w 1073150"/>
              <a:gd name="connsiteY0" fmla="*/ 50822 h 279868"/>
              <a:gd name="connsiteX1" fmla="*/ 50800 w 1073150"/>
              <a:gd name="connsiteY1" fmla="*/ 38122 h 279868"/>
              <a:gd name="connsiteX2" fmla="*/ 107950 w 1073150"/>
              <a:gd name="connsiteY2" fmla="*/ 133372 h 279868"/>
              <a:gd name="connsiteX3" fmla="*/ 234950 w 1073150"/>
              <a:gd name="connsiteY3" fmla="*/ 279422 h 279868"/>
              <a:gd name="connsiteX4" fmla="*/ 584200 w 1073150"/>
              <a:gd name="connsiteY4" fmla="*/ 82572 h 279868"/>
              <a:gd name="connsiteX5" fmla="*/ 762000 w 1073150"/>
              <a:gd name="connsiteY5" fmla="*/ 22 h 279868"/>
              <a:gd name="connsiteX6" fmla="*/ 1073150 w 1073150"/>
              <a:gd name="connsiteY6" fmla="*/ 88922 h 279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3150" h="279868">
                <a:moveTo>
                  <a:pt x="0" y="50822"/>
                </a:moveTo>
                <a:cubicBezTo>
                  <a:pt x="16404" y="37593"/>
                  <a:pt x="32808" y="24364"/>
                  <a:pt x="50800" y="38122"/>
                </a:cubicBezTo>
                <a:cubicBezTo>
                  <a:pt x="68792" y="51880"/>
                  <a:pt x="77258" y="93155"/>
                  <a:pt x="107950" y="133372"/>
                </a:cubicBezTo>
                <a:cubicBezTo>
                  <a:pt x="138642" y="173589"/>
                  <a:pt x="155575" y="287889"/>
                  <a:pt x="234950" y="279422"/>
                </a:cubicBezTo>
                <a:cubicBezTo>
                  <a:pt x="314325" y="270955"/>
                  <a:pt x="496358" y="129139"/>
                  <a:pt x="584200" y="82572"/>
                </a:cubicBezTo>
                <a:cubicBezTo>
                  <a:pt x="672042" y="36005"/>
                  <a:pt x="680508" y="-1036"/>
                  <a:pt x="762000" y="22"/>
                </a:cubicBezTo>
                <a:cubicBezTo>
                  <a:pt x="843492" y="1080"/>
                  <a:pt x="948267" y="63522"/>
                  <a:pt x="1073150" y="88922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400"/>
          </a:p>
        </p:txBody>
      </p:sp>
      <p:sp>
        <p:nvSpPr>
          <p:cNvPr id="14" name="Szabadkézi sokszög 32">
            <a:extLst>
              <a:ext uri="{FF2B5EF4-FFF2-40B4-BE49-F238E27FC236}">
                <a16:creationId xmlns:a16="http://schemas.microsoft.com/office/drawing/2014/main" id="{CFEDC605-0FAB-68AD-ACB9-2AACC6922CEC}"/>
              </a:ext>
            </a:extLst>
          </p:cNvPr>
          <p:cNvSpPr/>
          <p:nvPr/>
        </p:nvSpPr>
        <p:spPr>
          <a:xfrm>
            <a:off x="3962401" y="2952751"/>
            <a:ext cx="1047751" cy="542925"/>
          </a:xfrm>
          <a:custGeom>
            <a:avLst/>
            <a:gdLst>
              <a:gd name="connsiteX0" fmla="*/ 0 w 1047750"/>
              <a:gd name="connsiteY0" fmla="*/ 542925 h 542925"/>
              <a:gd name="connsiteX1" fmla="*/ 600075 w 1047750"/>
              <a:gd name="connsiteY1" fmla="*/ 428625 h 542925"/>
              <a:gd name="connsiteX2" fmla="*/ 1047750 w 1047750"/>
              <a:gd name="connsiteY2" fmla="*/ 0 h 542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47750" h="542925">
                <a:moveTo>
                  <a:pt x="0" y="542925"/>
                </a:moveTo>
                <a:cubicBezTo>
                  <a:pt x="212725" y="531018"/>
                  <a:pt x="425450" y="519112"/>
                  <a:pt x="600075" y="428625"/>
                </a:cubicBezTo>
                <a:cubicBezTo>
                  <a:pt x="774700" y="338138"/>
                  <a:pt x="841375" y="200025"/>
                  <a:pt x="1047750" y="0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400"/>
          </a:p>
        </p:txBody>
      </p:sp>
    </p:spTree>
    <p:extLst>
      <p:ext uri="{BB962C8B-B14F-4D97-AF65-F5344CB8AC3E}">
        <p14:creationId xmlns:p14="http://schemas.microsoft.com/office/powerpoint/2010/main" val="2277285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1" grpId="0" animBg="1"/>
      <p:bldP spid="12" grpId="0" animBg="1"/>
      <p:bldP spid="13" grpId="0" animBg="1"/>
      <p:bldP spid="1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2D2AF-180D-49B0-392D-2822E76E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023DB73-5C69-BA2E-F051-408627AABD8A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Control Loops in Kubernetes</a:t>
            </a:r>
          </a:p>
        </p:txBody>
      </p:sp>
      <p:sp>
        <p:nvSpPr>
          <p:cNvPr id="3" name="Lekerekített téglalap 2">
            <a:extLst>
              <a:ext uri="{FF2B5EF4-FFF2-40B4-BE49-F238E27FC236}">
                <a16:creationId xmlns:a16="http://schemas.microsoft.com/office/drawing/2014/main" id="{051B94DB-465A-81A0-3830-CFD6AE2F7858}"/>
              </a:ext>
            </a:extLst>
          </p:cNvPr>
          <p:cNvSpPr/>
          <p:nvPr/>
        </p:nvSpPr>
        <p:spPr>
          <a:xfrm>
            <a:off x="1523492" y="3040295"/>
            <a:ext cx="1944216" cy="720080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API server</a:t>
            </a:r>
            <a:endParaRPr lang="hu-HU" sz="1400" dirty="0">
              <a:solidFill>
                <a:schemeClr val="tx1"/>
              </a:solidFill>
            </a:endParaRPr>
          </a:p>
        </p:txBody>
      </p:sp>
      <p:sp>
        <p:nvSpPr>
          <p:cNvPr id="15" name="Henger 3">
            <a:extLst>
              <a:ext uri="{FF2B5EF4-FFF2-40B4-BE49-F238E27FC236}">
                <a16:creationId xmlns:a16="http://schemas.microsoft.com/office/drawing/2014/main" id="{DFA7A00A-C812-D170-A476-2E8C0461F498}"/>
              </a:ext>
            </a:extLst>
          </p:cNvPr>
          <p:cNvSpPr/>
          <p:nvPr/>
        </p:nvSpPr>
        <p:spPr>
          <a:xfrm>
            <a:off x="911424" y="4227383"/>
            <a:ext cx="792088" cy="1080120"/>
          </a:xfrm>
          <a:prstGeom prst="can">
            <a:avLst>
              <a:gd name="adj" fmla="val 3958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etcd</a:t>
            </a:r>
            <a:endParaRPr lang="hu-HU" sz="1400" dirty="0">
              <a:solidFill>
                <a:schemeClr val="tx1"/>
              </a:solidFill>
            </a:endParaRPr>
          </a:p>
        </p:txBody>
      </p:sp>
      <p:sp>
        <p:nvSpPr>
          <p:cNvPr id="16" name="Lekerekített téglalap 4">
            <a:extLst>
              <a:ext uri="{FF2B5EF4-FFF2-40B4-BE49-F238E27FC236}">
                <a16:creationId xmlns:a16="http://schemas.microsoft.com/office/drawing/2014/main" id="{E08F723F-6073-955E-9C2D-BAF67DF6A5BF}"/>
              </a:ext>
            </a:extLst>
          </p:cNvPr>
          <p:cNvSpPr/>
          <p:nvPr/>
        </p:nvSpPr>
        <p:spPr>
          <a:xfrm>
            <a:off x="335360" y="908720"/>
            <a:ext cx="4320480" cy="4983229"/>
          </a:xfrm>
          <a:prstGeom prst="round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400"/>
          </a:p>
        </p:txBody>
      </p:sp>
      <p:sp>
        <p:nvSpPr>
          <p:cNvPr id="17" name="Lekerekített téglalap 6">
            <a:extLst>
              <a:ext uri="{FF2B5EF4-FFF2-40B4-BE49-F238E27FC236}">
                <a16:creationId xmlns:a16="http://schemas.microsoft.com/office/drawing/2014/main" id="{A97AF8F2-C550-E44B-647E-FB4B1B9AED63}"/>
              </a:ext>
            </a:extLst>
          </p:cNvPr>
          <p:cNvSpPr/>
          <p:nvPr/>
        </p:nvSpPr>
        <p:spPr>
          <a:xfrm>
            <a:off x="4871864" y="3420356"/>
            <a:ext cx="2304256" cy="2471595"/>
          </a:xfrm>
          <a:prstGeom prst="round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400"/>
          </a:p>
        </p:txBody>
      </p:sp>
      <p:sp>
        <p:nvSpPr>
          <p:cNvPr id="18" name="Lekerekített téglalap 7">
            <a:extLst>
              <a:ext uri="{FF2B5EF4-FFF2-40B4-BE49-F238E27FC236}">
                <a16:creationId xmlns:a16="http://schemas.microsoft.com/office/drawing/2014/main" id="{C5EE06DE-9626-A342-8F51-AF00C3381656}"/>
              </a:ext>
            </a:extLst>
          </p:cNvPr>
          <p:cNvSpPr/>
          <p:nvPr/>
        </p:nvSpPr>
        <p:spPr>
          <a:xfrm>
            <a:off x="497379" y="1459372"/>
            <a:ext cx="1944216" cy="720080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Controller Manager</a:t>
            </a:r>
            <a:endParaRPr lang="hu-HU" sz="1400" dirty="0">
              <a:solidFill>
                <a:schemeClr val="tx1"/>
              </a:solidFill>
            </a:endParaRPr>
          </a:p>
        </p:txBody>
      </p:sp>
      <p:sp>
        <p:nvSpPr>
          <p:cNvPr id="19" name="Lekerekített téglalap 9">
            <a:extLst>
              <a:ext uri="{FF2B5EF4-FFF2-40B4-BE49-F238E27FC236}">
                <a16:creationId xmlns:a16="http://schemas.microsoft.com/office/drawing/2014/main" id="{C0A78851-61C4-C692-00DD-D5A6C5E2376C}"/>
              </a:ext>
            </a:extLst>
          </p:cNvPr>
          <p:cNvSpPr/>
          <p:nvPr/>
        </p:nvSpPr>
        <p:spPr>
          <a:xfrm>
            <a:off x="2503891" y="4179020"/>
            <a:ext cx="1944216" cy="720080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Scheduler</a:t>
            </a:r>
          </a:p>
        </p:txBody>
      </p:sp>
      <p:pic>
        <p:nvPicPr>
          <p:cNvPr id="20" name="Kép 5">
            <a:extLst>
              <a:ext uri="{FF2B5EF4-FFF2-40B4-BE49-F238E27FC236}">
                <a16:creationId xmlns:a16="http://schemas.microsoft.com/office/drawing/2014/main" id="{9D7F9775-8AF5-8E71-BF38-5D7882E336F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14818" y="4988493"/>
            <a:ext cx="1180783" cy="816843"/>
          </a:xfrm>
          <a:prstGeom prst="rect">
            <a:avLst/>
          </a:prstGeom>
        </p:spPr>
      </p:pic>
      <p:sp>
        <p:nvSpPr>
          <p:cNvPr id="21" name="Lekerekített téglalap 13">
            <a:extLst>
              <a:ext uri="{FF2B5EF4-FFF2-40B4-BE49-F238E27FC236}">
                <a16:creationId xmlns:a16="http://schemas.microsoft.com/office/drawing/2014/main" id="{0F6287A2-E8DA-65E8-74DE-E4C1533943A3}"/>
              </a:ext>
            </a:extLst>
          </p:cNvPr>
          <p:cNvSpPr/>
          <p:nvPr/>
        </p:nvSpPr>
        <p:spPr>
          <a:xfrm>
            <a:off x="5231904" y="3509278"/>
            <a:ext cx="1512168" cy="374437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kube</a:t>
            </a:r>
            <a:r>
              <a:rPr lang="en-US" sz="1400" dirty="0">
                <a:solidFill>
                  <a:schemeClr val="tx1"/>
                </a:solidFill>
              </a:rPr>
              <a:t>-proxy</a:t>
            </a:r>
          </a:p>
        </p:txBody>
      </p:sp>
      <p:sp>
        <p:nvSpPr>
          <p:cNvPr id="22" name="Lekerekített téglalap 14">
            <a:extLst>
              <a:ext uri="{FF2B5EF4-FFF2-40B4-BE49-F238E27FC236}">
                <a16:creationId xmlns:a16="http://schemas.microsoft.com/office/drawing/2014/main" id="{33A43077-5206-9A7E-F622-D27563493ACA}"/>
              </a:ext>
            </a:extLst>
          </p:cNvPr>
          <p:cNvSpPr/>
          <p:nvPr/>
        </p:nvSpPr>
        <p:spPr>
          <a:xfrm>
            <a:off x="5231904" y="4013334"/>
            <a:ext cx="1512168" cy="374437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kubelet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3" name="Lekerekített téglalap 15">
            <a:extLst>
              <a:ext uri="{FF2B5EF4-FFF2-40B4-BE49-F238E27FC236}">
                <a16:creationId xmlns:a16="http://schemas.microsoft.com/office/drawing/2014/main" id="{DDD3458A-18D9-EF17-A4F7-4A8FBF4F228D}"/>
              </a:ext>
            </a:extLst>
          </p:cNvPr>
          <p:cNvSpPr/>
          <p:nvPr/>
        </p:nvSpPr>
        <p:spPr>
          <a:xfrm>
            <a:off x="5229392" y="4513068"/>
            <a:ext cx="1512168" cy="374437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cont.runtime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4" name="Egyenes összekötő nyíllal 29">
            <a:extLst>
              <a:ext uri="{FF2B5EF4-FFF2-40B4-BE49-F238E27FC236}">
                <a16:creationId xmlns:a16="http://schemas.microsoft.com/office/drawing/2014/main" id="{827B7DDC-5067-FF36-AFA2-47F0A7EA2E9D}"/>
              </a:ext>
            </a:extLst>
          </p:cNvPr>
          <p:cNvCxnSpPr>
            <a:stCxn id="21" idx="1"/>
            <a:endCxn id="3" idx="3"/>
          </p:cNvCxnSpPr>
          <p:nvPr/>
        </p:nvCxnSpPr>
        <p:spPr>
          <a:xfrm flipH="1" flipV="1">
            <a:off x="3467709" y="3400333"/>
            <a:ext cx="1764196" cy="296163"/>
          </a:xfrm>
          <a:prstGeom prst="straightConnector1">
            <a:avLst/>
          </a:prstGeom>
          <a:ln w="38100">
            <a:solidFill>
              <a:schemeClr val="accent3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gyenes összekötő nyíllal 31">
            <a:extLst>
              <a:ext uri="{FF2B5EF4-FFF2-40B4-BE49-F238E27FC236}">
                <a16:creationId xmlns:a16="http://schemas.microsoft.com/office/drawing/2014/main" id="{254C0F6C-FE6A-29E2-7B15-DD587456CBD9}"/>
              </a:ext>
            </a:extLst>
          </p:cNvPr>
          <p:cNvCxnSpPr>
            <a:cxnSpLocks/>
            <a:stCxn id="22" idx="1"/>
            <a:endCxn id="3" idx="3"/>
          </p:cNvCxnSpPr>
          <p:nvPr/>
        </p:nvCxnSpPr>
        <p:spPr>
          <a:xfrm flipH="1" flipV="1">
            <a:off x="3467709" y="3400333"/>
            <a:ext cx="1764196" cy="800219"/>
          </a:xfrm>
          <a:prstGeom prst="straightConnector1">
            <a:avLst/>
          </a:prstGeom>
          <a:ln w="38100">
            <a:solidFill>
              <a:schemeClr val="accent3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gyenes összekötő nyíllal 34">
            <a:extLst>
              <a:ext uri="{FF2B5EF4-FFF2-40B4-BE49-F238E27FC236}">
                <a16:creationId xmlns:a16="http://schemas.microsoft.com/office/drawing/2014/main" id="{43FC280D-D09B-9CBB-2A31-0837A7629B40}"/>
              </a:ext>
            </a:extLst>
          </p:cNvPr>
          <p:cNvCxnSpPr>
            <a:stCxn id="19" idx="0"/>
            <a:endCxn id="3" idx="2"/>
          </p:cNvCxnSpPr>
          <p:nvPr/>
        </p:nvCxnSpPr>
        <p:spPr>
          <a:xfrm flipH="1" flipV="1">
            <a:off x="2495601" y="3760374"/>
            <a:ext cx="980399" cy="418647"/>
          </a:xfrm>
          <a:prstGeom prst="straightConnector1">
            <a:avLst/>
          </a:prstGeom>
          <a:ln w="38100">
            <a:solidFill>
              <a:schemeClr val="accent3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Egyenes összekötő nyíllal 37">
            <a:extLst>
              <a:ext uri="{FF2B5EF4-FFF2-40B4-BE49-F238E27FC236}">
                <a16:creationId xmlns:a16="http://schemas.microsoft.com/office/drawing/2014/main" id="{5FF3BDB4-CD6A-0B40-A07D-727859D74794}"/>
              </a:ext>
            </a:extLst>
          </p:cNvPr>
          <p:cNvCxnSpPr>
            <a:stCxn id="18" idx="2"/>
            <a:endCxn id="3" idx="0"/>
          </p:cNvCxnSpPr>
          <p:nvPr/>
        </p:nvCxnSpPr>
        <p:spPr>
          <a:xfrm>
            <a:off x="1469485" y="2179452"/>
            <a:ext cx="1026115" cy="860843"/>
          </a:xfrm>
          <a:prstGeom prst="straightConnector1">
            <a:avLst/>
          </a:prstGeom>
          <a:ln w="38100">
            <a:solidFill>
              <a:schemeClr val="accent3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gyenes összekötő nyíllal 43">
            <a:extLst>
              <a:ext uri="{FF2B5EF4-FFF2-40B4-BE49-F238E27FC236}">
                <a16:creationId xmlns:a16="http://schemas.microsoft.com/office/drawing/2014/main" id="{14A915DF-1F3A-0EB9-CFBC-89FB95DB9E00}"/>
              </a:ext>
            </a:extLst>
          </p:cNvPr>
          <p:cNvCxnSpPr>
            <a:stCxn id="3" idx="2"/>
            <a:endCxn id="15" idx="1"/>
          </p:cNvCxnSpPr>
          <p:nvPr/>
        </p:nvCxnSpPr>
        <p:spPr>
          <a:xfrm flipH="1">
            <a:off x="1307469" y="3760376"/>
            <a:ext cx="1188132" cy="467009"/>
          </a:xfrm>
          <a:prstGeom prst="straightConnector1">
            <a:avLst/>
          </a:prstGeom>
          <a:ln w="38100">
            <a:solidFill>
              <a:schemeClr val="accent3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zögletes összekötő 46">
            <a:extLst>
              <a:ext uri="{FF2B5EF4-FFF2-40B4-BE49-F238E27FC236}">
                <a16:creationId xmlns:a16="http://schemas.microsoft.com/office/drawing/2014/main" id="{F2BA7647-C779-09D5-A225-1416A142C639}"/>
              </a:ext>
            </a:extLst>
          </p:cNvPr>
          <p:cNvCxnSpPr>
            <a:stCxn id="22" idx="3"/>
            <a:endCxn id="23" idx="3"/>
          </p:cNvCxnSpPr>
          <p:nvPr/>
        </p:nvCxnSpPr>
        <p:spPr>
          <a:xfrm flipH="1">
            <a:off x="6741560" y="4200553"/>
            <a:ext cx="2512" cy="499735"/>
          </a:xfrm>
          <a:prstGeom prst="bentConnector3">
            <a:avLst>
              <a:gd name="adj1" fmla="val -9100318"/>
            </a:avLst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Szövegdoboz 58">
            <a:extLst>
              <a:ext uri="{FF2B5EF4-FFF2-40B4-BE49-F238E27FC236}">
                <a16:creationId xmlns:a16="http://schemas.microsoft.com/office/drawing/2014/main" id="{436A1801-5A2A-C2C2-83A6-4FC5CB174A5A}"/>
              </a:ext>
            </a:extLst>
          </p:cNvPr>
          <p:cNvSpPr txBox="1"/>
          <p:nvPr/>
        </p:nvSpPr>
        <p:spPr>
          <a:xfrm>
            <a:off x="335362" y="6091538"/>
            <a:ext cx="43204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Control Plane</a:t>
            </a:r>
            <a:endParaRPr lang="hu-HU" sz="2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1" name="Szövegdoboz 60">
            <a:extLst>
              <a:ext uri="{FF2B5EF4-FFF2-40B4-BE49-F238E27FC236}">
                <a16:creationId xmlns:a16="http://schemas.microsoft.com/office/drawing/2014/main" id="{EC044F68-E752-04C8-C908-A8926FE66EC1}"/>
              </a:ext>
            </a:extLst>
          </p:cNvPr>
          <p:cNvSpPr txBox="1"/>
          <p:nvPr/>
        </p:nvSpPr>
        <p:spPr>
          <a:xfrm>
            <a:off x="4871864" y="6093297"/>
            <a:ext cx="2304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Worker Node 1</a:t>
            </a:r>
            <a:endParaRPr lang="hu-HU" sz="2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Szövegdoboz 18">
            <a:extLst>
              <a:ext uri="{FF2B5EF4-FFF2-40B4-BE49-F238E27FC236}">
                <a16:creationId xmlns:a16="http://schemas.microsoft.com/office/drawing/2014/main" id="{65F5846A-A20F-ABE9-0D8A-10AE240D9823}"/>
              </a:ext>
            </a:extLst>
          </p:cNvPr>
          <p:cNvSpPr txBox="1"/>
          <p:nvPr/>
        </p:nvSpPr>
        <p:spPr>
          <a:xfrm rot="19722041">
            <a:off x="2584652" y="1848426"/>
            <a:ext cx="2737737" cy="307777"/>
          </a:xfrm>
          <a:prstGeom prst="rect">
            <a:avLst/>
          </a:prstGeom>
          <a:solidFill>
            <a:schemeClr val="bg1">
              <a:alpha val="77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kubectl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create –f </a:t>
            </a:r>
            <a:r>
              <a:rPr lang="hu-HU" sz="1400" dirty="0" err="1">
                <a:latin typeface="Arial" panose="020B0604020202020204" pitchFamily="34" charset="0"/>
                <a:cs typeface="Arial" panose="020B0604020202020204" pitchFamily="34" charset="0"/>
              </a:rPr>
              <a:t>deploy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yaml</a:t>
            </a:r>
            <a:r>
              <a:rPr lang="hu-HU" sz="1400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</a:p>
        </p:txBody>
      </p:sp>
      <p:sp>
        <p:nvSpPr>
          <p:cNvPr id="33" name="Ellipszis 19">
            <a:extLst>
              <a:ext uri="{FF2B5EF4-FFF2-40B4-BE49-F238E27FC236}">
                <a16:creationId xmlns:a16="http://schemas.microsoft.com/office/drawing/2014/main" id="{724114BC-4482-BFFB-E12D-3222C72A1C88}"/>
              </a:ext>
            </a:extLst>
          </p:cNvPr>
          <p:cNvSpPr/>
          <p:nvPr/>
        </p:nvSpPr>
        <p:spPr>
          <a:xfrm>
            <a:off x="3919435" y="2261689"/>
            <a:ext cx="216024" cy="216024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1</a:t>
            </a:r>
            <a:endParaRPr lang="hu-HU" sz="1600" dirty="0">
              <a:solidFill>
                <a:schemeClr val="tx1"/>
              </a:solidFill>
            </a:endParaRPr>
          </a:p>
        </p:txBody>
      </p:sp>
      <p:cxnSp>
        <p:nvCxnSpPr>
          <p:cNvPr id="34" name="Egyenes összekötő nyíllal 39">
            <a:extLst>
              <a:ext uri="{FF2B5EF4-FFF2-40B4-BE49-F238E27FC236}">
                <a16:creationId xmlns:a16="http://schemas.microsoft.com/office/drawing/2014/main" id="{21D3973C-71D4-537A-0F5E-4DF0FF295045}"/>
              </a:ext>
            </a:extLst>
          </p:cNvPr>
          <p:cNvCxnSpPr/>
          <p:nvPr/>
        </p:nvCxnSpPr>
        <p:spPr>
          <a:xfrm flipH="1">
            <a:off x="1127448" y="3800445"/>
            <a:ext cx="855096" cy="378577"/>
          </a:xfrm>
          <a:prstGeom prst="straightConnector1">
            <a:avLst/>
          </a:prstGeom>
          <a:ln w="381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Ellipszis 41">
            <a:extLst>
              <a:ext uri="{FF2B5EF4-FFF2-40B4-BE49-F238E27FC236}">
                <a16:creationId xmlns:a16="http://schemas.microsoft.com/office/drawing/2014/main" id="{CC94D1AA-6460-154C-A143-01D2AC1445A8}"/>
              </a:ext>
            </a:extLst>
          </p:cNvPr>
          <p:cNvSpPr/>
          <p:nvPr/>
        </p:nvSpPr>
        <p:spPr>
          <a:xfrm>
            <a:off x="1168287" y="3711664"/>
            <a:ext cx="216024" cy="216024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2</a:t>
            </a:r>
            <a:endParaRPr lang="hu-HU" sz="1600" dirty="0">
              <a:solidFill>
                <a:schemeClr val="tx1"/>
              </a:solidFill>
            </a:endParaRPr>
          </a:p>
        </p:txBody>
      </p:sp>
      <p:cxnSp>
        <p:nvCxnSpPr>
          <p:cNvPr id="36" name="Egyenes összekötő nyíllal 44">
            <a:extLst>
              <a:ext uri="{FF2B5EF4-FFF2-40B4-BE49-F238E27FC236}">
                <a16:creationId xmlns:a16="http://schemas.microsoft.com/office/drawing/2014/main" id="{AA529AF1-540E-2A07-C364-B0CC5CE87BAA}"/>
              </a:ext>
            </a:extLst>
          </p:cNvPr>
          <p:cNvCxnSpPr>
            <a:stCxn id="37" idx="2"/>
            <a:endCxn id="3" idx="0"/>
          </p:cNvCxnSpPr>
          <p:nvPr/>
        </p:nvCxnSpPr>
        <p:spPr>
          <a:xfrm>
            <a:off x="2491554" y="1699110"/>
            <a:ext cx="4047" cy="1341185"/>
          </a:xfrm>
          <a:prstGeom prst="straightConnector1">
            <a:avLst/>
          </a:prstGeom>
          <a:ln w="381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Lekerekített téglalap 45">
            <a:extLst>
              <a:ext uri="{FF2B5EF4-FFF2-40B4-BE49-F238E27FC236}">
                <a16:creationId xmlns:a16="http://schemas.microsoft.com/office/drawing/2014/main" id="{CD6034C5-5336-FEED-0D5F-144A1FD545D1}"/>
              </a:ext>
            </a:extLst>
          </p:cNvPr>
          <p:cNvSpPr/>
          <p:nvPr/>
        </p:nvSpPr>
        <p:spPr>
          <a:xfrm>
            <a:off x="1954206" y="1204442"/>
            <a:ext cx="1074695" cy="494668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067" dirty="0" err="1">
                <a:solidFill>
                  <a:schemeClr val="tx1"/>
                </a:solidFill>
              </a:rPr>
              <a:t>Deployment</a:t>
            </a:r>
            <a:r>
              <a:rPr lang="en-US" sz="1067" dirty="0">
                <a:solidFill>
                  <a:schemeClr val="tx1"/>
                </a:solidFill>
              </a:rPr>
              <a:t> Controller</a:t>
            </a:r>
            <a:endParaRPr lang="hu-HU" sz="1067" dirty="0">
              <a:solidFill>
                <a:schemeClr val="tx1"/>
              </a:solidFill>
            </a:endParaRPr>
          </a:p>
        </p:txBody>
      </p:sp>
      <p:pic>
        <p:nvPicPr>
          <p:cNvPr id="38" name="Kép 22">
            <a:extLst>
              <a:ext uri="{FF2B5EF4-FFF2-40B4-BE49-F238E27FC236}">
                <a16:creationId xmlns:a16="http://schemas.microsoft.com/office/drawing/2014/main" id="{16E78BF0-085B-224E-502A-20BA41F2ABA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553189" y="1722101"/>
            <a:ext cx="463060" cy="323235"/>
          </a:xfrm>
          <a:prstGeom prst="rect">
            <a:avLst/>
          </a:prstGeom>
        </p:spPr>
      </p:pic>
      <p:sp>
        <p:nvSpPr>
          <p:cNvPr id="39" name="Ellipszis 50">
            <a:extLst>
              <a:ext uri="{FF2B5EF4-FFF2-40B4-BE49-F238E27FC236}">
                <a16:creationId xmlns:a16="http://schemas.microsoft.com/office/drawing/2014/main" id="{7B7C9DB5-6760-3975-F13C-CFCC24911F9C}"/>
              </a:ext>
            </a:extLst>
          </p:cNvPr>
          <p:cNvSpPr/>
          <p:nvPr/>
        </p:nvSpPr>
        <p:spPr>
          <a:xfrm>
            <a:off x="2187385" y="2267009"/>
            <a:ext cx="216024" cy="216024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3</a:t>
            </a:r>
            <a:endParaRPr lang="hu-HU" sz="1600" dirty="0">
              <a:solidFill>
                <a:schemeClr val="tx1"/>
              </a:solidFill>
            </a:endParaRPr>
          </a:p>
        </p:txBody>
      </p:sp>
      <p:sp>
        <p:nvSpPr>
          <p:cNvPr id="40" name="Szövegdoboz 52">
            <a:extLst>
              <a:ext uri="{FF2B5EF4-FFF2-40B4-BE49-F238E27FC236}">
                <a16:creationId xmlns:a16="http://schemas.microsoft.com/office/drawing/2014/main" id="{F5B77195-C91F-03A1-3EF8-9246430E54AC}"/>
              </a:ext>
            </a:extLst>
          </p:cNvPr>
          <p:cNvSpPr txBox="1"/>
          <p:nvPr/>
        </p:nvSpPr>
        <p:spPr>
          <a:xfrm>
            <a:off x="7818690" y="1318530"/>
            <a:ext cx="36340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create a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deployment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via an </a:t>
            </a:r>
            <a:r>
              <a:rPr lang="en-US" sz="16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API call</a:t>
            </a:r>
            <a:endParaRPr lang="hu-HU" sz="16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1" name="Szövegdoboz 54">
            <a:extLst>
              <a:ext uri="{FF2B5EF4-FFF2-40B4-BE49-F238E27FC236}">
                <a16:creationId xmlns:a16="http://schemas.microsoft.com/office/drawing/2014/main" id="{3A57A9BA-BC43-8085-B60E-B3F2EC3A03E0}"/>
              </a:ext>
            </a:extLst>
          </p:cNvPr>
          <p:cNvSpPr txBox="1"/>
          <p:nvPr/>
        </p:nvSpPr>
        <p:spPr>
          <a:xfrm>
            <a:off x="7818691" y="1715296"/>
            <a:ext cx="3024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persist state to </a:t>
            </a:r>
            <a:r>
              <a:rPr lang="en-US" sz="1600" b="1" i="1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etcd</a:t>
            </a:r>
            <a:endParaRPr lang="hu-HU" sz="1600" b="1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2" name="Szövegdoboz 56">
            <a:extLst>
              <a:ext uri="{FF2B5EF4-FFF2-40B4-BE49-F238E27FC236}">
                <a16:creationId xmlns:a16="http://schemas.microsoft.com/office/drawing/2014/main" id="{D35863B5-906A-C24E-12E1-5D600FC0C213}"/>
              </a:ext>
            </a:extLst>
          </p:cNvPr>
          <p:cNvSpPr txBox="1"/>
          <p:nvPr/>
        </p:nvSpPr>
        <p:spPr>
          <a:xfrm>
            <a:off x="7818690" y="2112061"/>
            <a:ext cx="43259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</a:t>
            </a:r>
            <a:r>
              <a:rPr lang="hu-HU" sz="1600" b="1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deployment</a:t>
            </a:r>
            <a:r>
              <a:rPr lang="en-US" sz="16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controller 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sees the newly crated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deployment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creates a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replicaset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based on the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pod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template</a:t>
            </a:r>
            <a:endParaRPr lang="hu-HU" sz="16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43" name="Egyenes összekötő nyíllal 33">
            <a:extLst>
              <a:ext uri="{FF2B5EF4-FFF2-40B4-BE49-F238E27FC236}">
                <a16:creationId xmlns:a16="http://schemas.microsoft.com/office/drawing/2014/main" id="{445EC07A-5539-84A3-5B8D-569EE5CC1842}"/>
              </a:ext>
            </a:extLst>
          </p:cNvPr>
          <p:cNvCxnSpPr>
            <a:endCxn id="3" idx="0"/>
          </p:cNvCxnSpPr>
          <p:nvPr/>
        </p:nvCxnSpPr>
        <p:spPr>
          <a:xfrm flipH="1">
            <a:off x="2495600" y="1600924"/>
            <a:ext cx="2428936" cy="1439371"/>
          </a:xfrm>
          <a:prstGeom prst="straightConnector1">
            <a:avLst/>
          </a:prstGeom>
          <a:ln w="381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Kép 59">
            <a:extLst>
              <a:ext uri="{FF2B5EF4-FFF2-40B4-BE49-F238E27FC236}">
                <a16:creationId xmlns:a16="http://schemas.microsoft.com/office/drawing/2014/main" id="{07C480DB-324D-0195-CAFE-BDD4624E08C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467709" y="3826707"/>
            <a:ext cx="463060" cy="323235"/>
          </a:xfrm>
          <a:prstGeom prst="rect">
            <a:avLst/>
          </a:prstGeom>
        </p:spPr>
      </p:pic>
      <p:sp>
        <p:nvSpPr>
          <p:cNvPr id="45" name="Ellipszis 61">
            <a:extLst>
              <a:ext uri="{FF2B5EF4-FFF2-40B4-BE49-F238E27FC236}">
                <a16:creationId xmlns:a16="http://schemas.microsoft.com/office/drawing/2014/main" id="{781ACB03-B60B-DEBF-FA23-276A4CA85687}"/>
              </a:ext>
            </a:extLst>
          </p:cNvPr>
          <p:cNvSpPr/>
          <p:nvPr/>
        </p:nvSpPr>
        <p:spPr>
          <a:xfrm>
            <a:off x="3090037" y="2002267"/>
            <a:ext cx="216024" cy="216024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4</a:t>
            </a:r>
            <a:endParaRPr lang="hu-HU" sz="1600" dirty="0">
              <a:solidFill>
                <a:schemeClr val="tx1"/>
              </a:solidFill>
            </a:endParaRPr>
          </a:p>
        </p:txBody>
      </p:sp>
      <p:sp>
        <p:nvSpPr>
          <p:cNvPr id="46" name="Szövegdoboz 63">
            <a:extLst>
              <a:ext uri="{FF2B5EF4-FFF2-40B4-BE49-F238E27FC236}">
                <a16:creationId xmlns:a16="http://schemas.microsoft.com/office/drawing/2014/main" id="{38E6E546-487E-62FF-9A68-F4D7462F6364}"/>
              </a:ext>
            </a:extLst>
          </p:cNvPr>
          <p:cNvSpPr txBox="1"/>
          <p:nvPr/>
        </p:nvSpPr>
        <p:spPr>
          <a:xfrm>
            <a:off x="7824759" y="2867409"/>
            <a:ext cx="44584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600" b="1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replicaset</a:t>
            </a:r>
            <a:r>
              <a:rPr lang="hu-HU" sz="16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600" b="1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controller</a:t>
            </a:r>
            <a:r>
              <a:rPr lang="hu-HU" sz="16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sees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newly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created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RS, and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creates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pods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according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pod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tempate</a:t>
            </a:r>
            <a:endParaRPr lang="hu-HU" sz="16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7" name="Szövegdoboz 65">
            <a:extLst>
              <a:ext uri="{FF2B5EF4-FFF2-40B4-BE49-F238E27FC236}">
                <a16:creationId xmlns:a16="http://schemas.microsoft.com/office/drawing/2014/main" id="{82E913C5-B60E-AD5E-5D3C-77179B31056F}"/>
              </a:ext>
            </a:extLst>
          </p:cNvPr>
          <p:cNvSpPr txBox="1"/>
          <p:nvPr/>
        </p:nvSpPr>
        <p:spPr>
          <a:xfrm>
            <a:off x="7818690" y="3672569"/>
            <a:ext cx="43259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</a:t>
            </a:r>
            <a:r>
              <a:rPr lang="en-US" sz="16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scheduler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sees that there is a pod without an assigned node, so it does the assignment</a:t>
            </a:r>
            <a:endParaRPr lang="hu-HU" sz="16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48" name="Kép 66">
            <a:extLst>
              <a:ext uri="{FF2B5EF4-FFF2-40B4-BE49-F238E27FC236}">
                <a16:creationId xmlns:a16="http://schemas.microsoft.com/office/drawing/2014/main" id="{C9924BB4-3096-594F-F5DC-46EA2E03E5B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746221" y="3826707"/>
            <a:ext cx="463060" cy="323235"/>
          </a:xfrm>
          <a:prstGeom prst="rect">
            <a:avLst/>
          </a:prstGeom>
        </p:spPr>
      </p:pic>
      <p:sp>
        <p:nvSpPr>
          <p:cNvPr id="49" name="Ellipszis 67">
            <a:extLst>
              <a:ext uri="{FF2B5EF4-FFF2-40B4-BE49-F238E27FC236}">
                <a16:creationId xmlns:a16="http://schemas.microsoft.com/office/drawing/2014/main" id="{7FDB7FD7-E589-A6FF-4696-DCD381F73914}"/>
              </a:ext>
            </a:extLst>
          </p:cNvPr>
          <p:cNvSpPr/>
          <p:nvPr/>
        </p:nvSpPr>
        <p:spPr>
          <a:xfrm>
            <a:off x="3225460" y="3874867"/>
            <a:ext cx="216024" cy="216024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5</a:t>
            </a:r>
            <a:endParaRPr lang="hu-HU" sz="1600" dirty="0">
              <a:solidFill>
                <a:schemeClr val="tx1"/>
              </a:solidFill>
            </a:endParaRPr>
          </a:p>
        </p:txBody>
      </p:sp>
      <p:sp>
        <p:nvSpPr>
          <p:cNvPr id="50" name="Szövegdoboz 69">
            <a:extLst>
              <a:ext uri="{FF2B5EF4-FFF2-40B4-BE49-F238E27FC236}">
                <a16:creationId xmlns:a16="http://schemas.microsoft.com/office/drawing/2014/main" id="{7A2CCB42-8E0F-BFB0-C543-1DAEB12FBAB0}"/>
              </a:ext>
            </a:extLst>
          </p:cNvPr>
          <p:cNvSpPr txBox="1"/>
          <p:nvPr/>
        </p:nvSpPr>
        <p:spPr>
          <a:xfrm>
            <a:off x="7818690" y="4443211"/>
            <a:ext cx="43259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</a:t>
            </a:r>
            <a:r>
              <a:rPr lang="en-US" sz="1600" b="1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kubelet</a:t>
            </a:r>
            <a:r>
              <a:rPr lang="en-US" sz="16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on the node sees that there is a pod assigned to it, and starts it via the CRI </a:t>
            </a:r>
            <a:endParaRPr lang="hu-HU" sz="16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1" name="Ellipszis 70">
            <a:extLst>
              <a:ext uri="{FF2B5EF4-FFF2-40B4-BE49-F238E27FC236}">
                <a16:creationId xmlns:a16="http://schemas.microsoft.com/office/drawing/2014/main" id="{E24BD4D9-3F7F-8C6C-41D0-AD1C59176B1C}"/>
              </a:ext>
            </a:extLst>
          </p:cNvPr>
          <p:cNvSpPr/>
          <p:nvPr/>
        </p:nvSpPr>
        <p:spPr>
          <a:xfrm>
            <a:off x="6946368" y="4326589"/>
            <a:ext cx="216024" cy="216024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6</a:t>
            </a:r>
            <a:endParaRPr lang="hu-HU" sz="1600" dirty="0">
              <a:solidFill>
                <a:schemeClr val="tx1"/>
              </a:solidFill>
            </a:endParaRPr>
          </a:p>
        </p:txBody>
      </p:sp>
      <p:sp>
        <p:nvSpPr>
          <p:cNvPr id="52" name="Szövegdoboz 72">
            <a:extLst>
              <a:ext uri="{FF2B5EF4-FFF2-40B4-BE49-F238E27FC236}">
                <a16:creationId xmlns:a16="http://schemas.microsoft.com/office/drawing/2014/main" id="{771DE859-7D20-E639-330A-BF3294FDC5D2}"/>
              </a:ext>
            </a:extLst>
          </p:cNvPr>
          <p:cNvSpPr txBox="1"/>
          <p:nvPr/>
        </p:nvSpPr>
        <p:spPr>
          <a:xfrm>
            <a:off x="7818691" y="5027987"/>
            <a:ext cx="44644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if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the container 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has a status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change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(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exits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restarts, etc.)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en-US" sz="1600" b="1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kubelet</a:t>
            </a:r>
            <a:r>
              <a:rPr lang="en-US" sz="16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reports back 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 back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6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</a:t>
            </a:r>
            <a:r>
              <a:rPr lang="hu-HU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API server</a:t>
            </a:r>
            <a:endParaRPr lang="hu-HU" sz="16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" name="Ellipszis 73">
            <a:extLst>
              <a:ext uri="{FF2B5EF4-FFF2-40B4-BE49-F238E27FC236}">
                <a16:creationId xmlns:a16="http://schemas.microsoft.com/office/drawing/2014/main" id="{2E1DFB30-2864-C247-262E-6BFB8104B84B}"/>
              </a:ext>
            </a:extLst>
          </p:cNvPr>
          <p:cNvSpPr/>
          <p:nvPr/>
        </p:nvSpPr>
        <p:spPr>
          <a:xfrm>
            <a:off x="4678561" y="3993879"/>
            <a:ext cx="216024" cy="216024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7</a:t>
            </a:r>
            <a:endParaRPr lang="hu-HU" sz="1600" dirty="0">
              <a:solidFill>
                <a:schemeClr val="tx1"/>
              </a:solidFill>
            </a:endParaRPr>
          </a:p>
        </p:txBody>
      </p:sp>
      <p:sp>
        <p:nvSpPr>
          <p:cNvPr id="54" name="Ellipszis 51">
            <a:extLst>
              <a:ext uri="{FF2B5EF4-FFF2-40B4-BE49-F238E27FC236}">
                <a16:creationId xmlns:a16="http://schemas.microsoft.com/office/drawing/2014/main" id="{B8B56091-5FA3-4D60-C821-3303D4A21DCC}"/>
              </a:ext>
            </a:extLst>
          </p:cNvPr>
          <p:cNvSpPr/>
          <p:nvPr/>
        </p:nvSpPr>
        <p:spPr>
          <a:xfrm>
            <a:off x="7602100" y="1395183"/>
            <a:ext cx="216024" cy="216024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  <a:endParaRPr lang="hu-HU" sz="16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5" name="Ellipszis 53">
            <a:extLst>
              <a:ext uri="{FF2B5EF4-FFF2-40B4-BE49-F238E27FC236}">
                <a16:creationId xmlns:a16="http://schemas.microsoft.com/office/drawing/2014/main" id="{38F66323-0B28-618D-DA44-4EE8BDD3BF37}"/>
              </a:ext>
            </a:extLst>
          </p:cNvPr>
          <p:cNvSpPr/>
          <p:nvPr/>
        </p:nvSpPr>
        <p:spPr>
          <a:xfrm>
            <a:off x="7602100" y="1791949"/>
            <a:ext cx="216024" cy="216024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hu-HU" sz="16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6" name="Ellipszis 55">
            <a:extLst>
              <a:ext uri="{FF2B5EF4-FFF2-40B4-BE49-F238E27FC236}">
                <a16:creationId xmlns:a16="http://schemas.microsoft.com/office/drawing/2014/main" id="{58F07BE5-ED0A-E6F9-67FE-A685CEDF0C57}"/>
              </a:ext>
            </a:extLst>
          </p:cNvPr>
          <p:cNvSpPr/>
          <p:nvPr/>
        </p:nvSpPr>
        <p:spPr>
          <a:xfrm>
            <a:off x="7602100" y="2282404"/>
            <a:ext cx="216024" cy="216024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hu-HU" sz="16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7" name="Ellipszis 62">
            <a:extLst>
              <a:ext uri="{FF2B5EF4-FFF2-40B4-BE49-F238E27FC236}">
                <a16:creationId xmlns:a16="http://schemas.microsoft.com/office/drawing/2014/main" id="{82A07832-AAF3-D54E-A7F6-5F5F2EB6664C}"/>
              </a:ext>
            </a:extLst>
          </p:cNvPr>
          <p:cNvSpPr/>
          <p:nvPr/>
        </p:nvSpPr>
        <p:spPr>
          <a:xfrm>
            <a:off x="7608168" y="3037751"/>
            <a:ext cx="216024" cy="216024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endParaRPr lang="hu-HU" sz="16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8" name="Ellipszis 64">
            <a:extLst>
              <a:ext uri="{FF2B5EF4-FFF2-40B4-BE49-F238E27FC236}">
                <a16:creationId xmlns:a16="http://schemas.microsoft.com/office/drawing/2014/main" id="{D3612868-DE05-974E-D768-0F60897DC9DB}"/>
              </a:ext>
            </a:extLst>
          </p:cNvPr>
          <p:cNvSpPr/>
          <p:nvPr/>
        </p:nvSpPr>
        <p:spPr>
          <a:xfrm>
            <a:off x="7602100" y="3842911"/>
            <a:ext cx="216024" cy="216024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endParaRPr lang="hu-HU" sz="16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9" name="Ellipszis 68">
            <a:extLst>
              <a:ext uri="{FF2B5EF4-FFF2-40B4-BE49-F238E27FC236}">
                <a16:creationId xmlns:a16="http://schemas.microsoft.com/office/drawing/2014/main" id="{2883D329-E40B-D06A-AF0A-2B0EB174830B}"/>
              </a:ext>
            </a:extLst>
          </p:cNvPr>
          <p:cNvSpPr/>
          <p:nvPr/>
        </p:nvSpPr>
        <p:spPr>
          <a:xfrm>
            <a:off x="7602100" y="4613553"/>
            <a:ext cx="216024" cy="216024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6</a:t>
            </a:r>
            <a:endParaRPr lang="hu-HU" sz="16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0" name="Ellipszis 71">
            <a:extLst>
              <a:ext uri="{FF2B5EF4-FFF2-40B4-BE49-F238E27FC236}">
                <a16:creationId xmlns:a16="http://schemas.microsoft.com/office/drawing/2014/main" id="{10B6AB07-A2F5-5009-DF1A-6AF453AEE388}"/>
              </a:ext>
            </a:extLst>
          </p:cNvPr>
          <p:cNvSpPr/>
          <p:nvPr/>
        </p:nvSpPr>
        <p:spPr>
          <a:xfrm>
            <a:off x="7602100" y="5079361"/>
            <a:ext cx="216024" cy="216024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7</a:t>
            </a:r>
            <a:endParaRPr lang="hu-HU" sz="16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61" name="Kép 11">
            <a:extLst>
              <a:ext uri="{FF2B5EF4-FFF2-40B4-BE49-F238E27FC236}">
                <a16:creationId xmlns:a16="http://schemas.microsoft.com/office/drawing/2014/main" id="{1F617635-1C00-746D-9161-1ECF023FF3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075" y="767424"/>
            <a:ext cx="2304257" cy="2392397"/>
          </a:xfrm>
          <a:prstGeom prst="rect">
            <a:avLst/>
          </a:prstGeom>
        </p:spPr>
      </p:pic>
      <p:sp>
        <p:nvSpPr>
          <p:cNvPr id="62" name="Lekerekített téglalap 45">
            <a:extLst>
              <a:ext uri="{FF2B5EF4-FFF2-40B4-BE49-F238E27FC236}">
                <a16:creationId xmlns:a16="http://schemas.microsoft.com/office/drawing/2014/main" id="{5D1E915C-283D-1A4D-0D52-A0B28DBB9771}"/>
              </a:ext>
            </a:extLst>
          </p:cNvPr>
          <p:cNvSpPr/>
          <p:nvPr/>
        </p:nvSpPr>
        <p:spPr>
          <a:xfrm>
            <a:off x="2652781" y="1201595"/>
            <a:ext cx="1074695" cy="494668"/>
          </a:xfrm>
          <a:prstGeom prst="roundRect">
            <a:avLst>
              <a:gd name="adj" fmla="val 30034"/>
            </a:avLst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067" dirty="0" err="1">
                <a:solidFill>
                  <a:schemeClr val="tx1"/>
                </a:solidFill>
              </a:rPr>
              <a:t>ReplicaSet</a:t>
            </a:r>
            <a:r>
              <a:rPr lang="en-US" sz="1067" dirty="0">
                <a:solidFill>
                  <a:schemeClr val="tx1"/>
                </a:solidFill>
              </a:rPr>
              <a:t> Controller</a:t>
            </a:r>
            <a:endParaRPr lang="hu-HU" sz="1067" dirty="0">
              <a:solidFill>
                <a:schemeClr val="tx1"/>
              </a:solidFill>
            </a:endParaRPr>
          </a:p>
        </p:txBody>
      </p:sp>
      <p:cxnSp>
        <p:nvCxnSpPr>
          <p:cNvPr id="63" name="Egyenes összekötő nyíllal 16">
            <a:extLst>
              <a:ext uri="{FF2B5EF4-FFF2-40B4-BE49-F238E27FC236}">
                <a16:creationId xmlns:a16="http://schemas.microsoft.com/office/drawing/2014/main" id="{675843EB-9DA7-2487-2477-9B5FEBE5E1EC}"/>
              </a:ext>
            </a:extLst>
          </p:cNvPr>
          <p:cNvCxnSpPr>
            <a:cxnSpLocks/>
            <a:stCxn id="62" idx="2"/>
            <a:endCxn id="3" idx="0"/>
          </p:cNvCxnSpPr>
          <p:nvPr/>
        </p:nvCxnSpPr>
        <p:spPr>
          <a:xfrm flipH="1">
            <a:off x="2495600" y="1696263"/>
            <a:ext cx="694528" cy="1344032"/>
          </a:xfrm>
          <a:prstGeom prst="straightConnector1">
            <a:avLst/>
          </a:prstGeom>
          <a:ln w="381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2269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5" grpId="0" animBg="1"/>
      <p:bldP spid="37" grpId="0" animBg="1"/>
      <p:bldP spid="39" grpId="0" animBg="1"/>
      <p:bldP spid="40" grpId="0"/>
      <p:bldP spid="41" grpId="0"/>
      <p:bldP spid="42" grpId="0"/>
      <p:bldP spid="45" grpId="0" animBg="1"/>
      <p:bldP spid="46" grpId="0"/>
      <p:bldP spid="47" grpId="0"/>
      <p:bldP spid="49" grpId="0" animBg="1"/>
      <p:bldP spid="50" grpId="0"/>
      <p:bldP spid="51" grpId="0" animBg="1"/>
      <p:bldP spid="52" grpId="0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2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E1AA1-FB4C-09A3-6226-D6B7C3E43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F4927A-C0F7-6AA4-D25F-0F883AC86D99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Kubernetes Controllers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F68E856-4812-4829-3F9D-842E36AE63AD}"/>
              </a:ext>
            </a:extLst>
          </p:cNvPr>
          <p:cNvSpPr txBox="1">
            <a:spLocks/>
          </p:cNvSpPr>
          <p:nvPr/>
        </p:nvSpPr>
        <p:spPr>
          <a:xfrm>
            <a:off x="214282" y="928671"/>
            <a:ext cx="11977719" cy="9881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600"/>
              </a:spcBef>
            </a:pPr>
            <a:r>
              <a:rPr lang="en-US" sz="20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Watch the changes </a:t>
            </a:r>
            <a:r>
              <a:rPr lang="en-US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 the API server and compares the </a:t>
            </a:r>
            <a:r>
              <a:rPr lang="en-US" sz="20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desired state </a:t>
            </a:r>
            <a:r>
              <a:rPr lang="en-US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with the </a:t>
            </a:r>
            <a:r>
              <a:rPr lang="en-US" sz="20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current state</a:t>
            </a:r>
            <a:endParaRPr lang="en-US" sz="2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If these states </a:t>
            </a:r>
            <a:r>
              <a:rPr lang="en-US" sz="20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differ</a:t>
            </a:r>
            <a:r>
              <a:rPr lang="en-US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they </a:t>
            </a:r>
            <a:r>
              <a:rPr lang="en-US" sz="20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carry out actions </a:t>
            </a:r>
            <a:r>
              <a:rPr lang="en-US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 bring the current state closer to the desired state</a:t>
            </a:r>
            <a:endParaRPr lang="en-US" sz="2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9A7303D-711E-4DF0-06FC-B19CBFB10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61" y="1963665"/>
            <a:ext cx="3328595" cy="2257425"/>
          </a:xfrm>
          <a:prstGeom prst="rect">
            <a:avLst/>
          </a:prstGeom>
        </p:spPr>
      </p:pic>
      <p:sp>
        <p:nvSpPr>
          <p:cNvPr id="5" name="Lekerekített téglalap 4">
            <a:extLst>
              <a:ext uri="{FF2B5EF4-FFF2-40B4-BE49-F238E27FC236}">
                <a16:creationId xmlns:a16="http://schemas.microsoft.com/office/drawing/2014/main" id="{F50257B7-816D-A0E0-6863-F1D49B06CD2B}"/>
              </a:ext>
            </a:extLst>
          </p:cNvPr>
          <p:cNvSpPr/>
          <p:nvPr/>
        </p:nvSpPr>
        <p:spPr>
          <a:xfrm>
            <a:off x="245152" y="2564905"/>
            <a:ext cx="3330568" cy="1656185"/>
          </a:xfrm>
          <a:prstGeom prst="round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400"/>
          </a:p>
        </p:txBody>
      </p:sp>
      <p:cxnSp>
        <p:nvCxnSpPr>
          <p:cNvPr id="6" name="Egyenes összekötő nyíllal 5">
            <a:extLst>
              <a:ext uri="{FF2B5EF4-FFF2-40B4-BE49-F238E27FC236}">
                <a16:creationId xmlns:a16="http://schemas.microsoft.com/office/drawing/2014/main" id="{4B772274-7A28-2A64-5378-9C4614C8EDE7}"/>
              </a:ext>
            </a:extLst>
          </p:cNvPr>
          <p:cNvCxnSpPr/>
          <p:nvPr/>
        </p:nvCxnSpPr>
        <p:spPr>
          <a:xfrm>
            <a:off x="2063552" y="4221088"/>
            <a:ext cx="0" cy="648072"/>
          </a:xfrm>
          <a:prstGeom prst="straightConnector1">
            <a:avLst/>
          </a:prstGeom>
          <a:ln w="38100"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lcím 2">
            <a:extLst>
              <a:ext uri="{FF2B5EF4-FFF2-40B4-BE49-F238E27FC236}">
                <a16:creationId xmlns:a16="http://schemas.microsoft.com/office/drawing/2014/main" id="{C7CFC8BE-1ABE-D8FB-473A-E66C7299308B}"/>
              </a:ext>
            </a:extLst>
          </p:cNvPr>
          <p:cNvSpPr txBox="1">
            <a:spLocks/>
          </p:cNvSpPr>
          <p:nvPr/>
        </p:nvSpPr>
        <p:spPr>
          <a:xfrm>
            <a:off x="443372" y="4869161"/>
            <a:ext cx="3240360" cy="9361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>
              <a:spcBef>
                <a:spcPts val="600"/>
              </a:spcBef>
            </a:pPr>
            <a:r>
              <a:rPr lang="en-US" sz="2400" dirty="0"/>
              <a:t>The </a:t>
            </a:r>
            <a:r>
              <a:rPr lang="en-US" sz="2400" i="1" dirty="0"/>
              <a:t>spec</a:t>
            </a:r>
            <a:r>
              <a:rPr lang="en-US" sz="2400" dirty="0"/>
              <a:t> field describes </a:t>
            </a:r>
            <a:br>
              <a:rPr lang="en-US" sz="2400" dirty="0"/>
            </a:br>
            <a:r>
              <a:rPr lang="en-US" sz="2400" dirty="0"/>
              <a:t>the desired state</a:t>
            </a:r>
          </a:p>
        </p:txBody>
      </p:sp>
      <p:pic>
        <p:nvPicPr>
          <p:cNvPr id="8" name="Kép 10">
            <a:extLst>
              <a:ext uri="{FF2B5EF4-FFF2-40B4-BE49-F238E27FC236}">
                <a16:creationId xmlns:a16="http://schemas.microsoft.com/office/drawing/2014/main" id="{0EC8E267-149E-29EA-6246-0194221668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3752" y="1916832"/>
            <a:ext cx="5328592" cy="3892517"/>
          </a:xfrm>
          <a:prstGeom prst="rect">
            <a:avLst/>
          </a:prstGeom>
        </p:spPr>
      </p:pic>
      <p:sp>
        <p:nvSpPr>
          <p:cNvPr id="9" name="Lekerekített téglalap 11">
            <a:extLst>
              <a:ext uri="{FF2B5EF4-FFF2-40B4-BE49-F238E27FC236}">
                <a16:creationId xmlns:a16="http://schemas.microsoft.com/office/drawing/2014/main" id="{B523F0FD-B423-8189-C846-A66373ED3ED4}"/>
              </a:ext>
            </a:extLst>
          </p:cNvPr>
          <p:cNvSpPr/>
          <p:nvPr/>
        </p:nvSpPr>
        <p:spPr>
          <a:xfrm>
            <a:off x="3818647" y="5290382"/>
            <a:ext cx="3330568" cy="565797"/>
          </a:xfrm>
          <a:prstGeom prst="round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400"/>
          </a:p>
        </p:txBody>
      </p:sp>
      <p:sp>
        <p:nvSpPr>
          <p:cNvPr id="10" name="Alcím 2">
            <a:extLst>
              <a:ext uri="{FF2B5EF4-FFF2-40B4-BE49-F238E27FC236}">
                <a16:creationId xmlns:a16="http://schemas.microsoft.com/office/drawing/2014/main" id="{4C51C6A0-7737-3210-5475-BBB1E5305E65}"/>
              </a:ext>
            </a:extLst>
          </p:cNvPr>
          <p:cNvSpPr txBox="1">
            <a:spLocks/>
          </p:cNvSpPr>
          <p:nvPr/>
        </p:nvSpPr>
        <p:spPr>
          <a:xfrm>
            <a:off x="3818647" y="5921897"/>
            <a:ext cx="3240360" cy="74746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pPr algn="ctr">
              <a:spcBef>
                <a:spcPts val="600"/>
              </a:spcBef>
            </a:pPr>
            <a:r>
              <a:rPr lang="en-US" sz="2400" dirty="0"/>
              <a:t>The </a:t>
            </a:r>
            <a:r>
              <a:rPr lang="en-US" sz="2400" i="1" dirty="0"/>
              <a:t>status </a:t>
            </a:r>
            <a:r>
              <a:rPr lang="en-US" sz="2400" dirty="0"/>
              <a:t>field describes </a:t>
            </a:r>
            <a:br>
              <a:rPr lang="en-US" sz="2400" dirty="0"/>
            </a:br>
            <a:r>
              <a:rPr lang="en-US" sz="2400" dirty="0"/>
              <a:t>the current state</a:t>
            </a:r>
          </a:p>
        </p:txBody>
      </p:sp>
      <p:pic>
        <p:nvPicPr>
          <p:cNvPr id="11" name="Kép 14">
            <a:extLst>
              <a:ext uri="{FF2B5EF4-FFF2-40B4-BE49-F238E27FC236}">
                <a16:creationId xmlns:a16="http://schemas.microsoft.com/office/drawing/2014/main" id="{F95D8E89-9BB0-5717-666B-970081322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6500" y="1915696"/>
            <a:ext cx="4110181" cy="4942304"/>
          </a:xfrm>
          <a:prstGeom prst="rect">
            <a:avLst/>
          </a:prstGeom>
        </p:spPr>
      </p:pic>
      <p:sp>
        <p:nvSpPr>
          <p:cNvPr id="12" name="Lekerekített téglalap 15">
            <a:extLst>
              <a:ext uri="{FF2B5EF4-FFF2-40B4-BE49-F238E27FC236}">
                <a16:creationId xmlns:a16="http://schemas.microsoft.com/office/drawing/2014/main" id="{C56C6FD1-03E0-4455-8C0F-BD3926237DF0}"/>
              </a:ext>
            </a:extLst>
          </p:cNvPr>
          <p:cNvSpPr/>
          <p:nvPr/>
        </p:nvSpPr>
        <p:spPr>
          <a:xfrm>
            <a:off x="8083605" y="5290381"/>
            <a:ext cx="4108395" cy="1567619"/>
          </a:xfrm>
          <a:prstGeom prst="roundRect">
            <a:avLst>
              <a:gd name="adj" fmla="val 9118"/>
            </a:avLst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400"/>
          </a:p>
        </p:txBody>
      </p:sp>
    </p:spTree>
    <p:extLst>
      <p:ext uri="{BB962C8B-B14F-4D97-AF65-F5344CB8AC3E}">
        <p14:creationId xmlns:p14="http://schemas.microsoft.com/office/powerpoint/2010/main" val="1634943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9" grpId="0" animBg="1"/>
      <p:bldP spid="10" grpId="0"/>
      <p:bldP spid="12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E7EE4-28A9-0A3E-4599-9DE64DDCD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D5A782C-D98D-4BAF-9405-65A113DD449F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Kubernetes Controllers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041CAC5-9D5E-1EA0-6563-C3DDBE2A0258}"/>
              </a:ext>
            </a:extLst>
          </p:cNvPr>
          <p:cNvSpPr txBox="1">
            <a:spLocks/>
          </p:cNvSpPr>
          <p:nvPr/>
        </p:nvSpPr>
        <p:spPr>
          <a:xfrm>
            <a:off x="214282" y="928671"/>
            <a:ext cx="11977719" cy="9881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600"/>
              </a:spcBef>
            </a:pPr>
            <a:r>
              <a:rPr lang="en-US" sz="20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Watch the changes </a:t>
            </a:r>
            <a:r>
              <a:rPr lang="en-US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 the API server and compares the </a:t>
            </a:r>
            <a:r>
              <a:rPr lang="en-US" sz="20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desired state </a:t>
            </a:r>
            <a:r>
              <a:rPr lang="en-US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with the </a:t>
            </a:r>
            <a:r>
              <a:rPr lang="en-US" sz="20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current state</a:t>
            </a:r>
            <a:endParaRPr lang="en-US" sz="2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If these states </a:t>
            </a:r>
            <a:r>
              <a:rPr lang="en-US" sz="20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differ</a:t>
            </a:r>
            <a:r>
              <a:rPr lang="en-US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they </a:t>
            </a:r>
            <a:r>
              <a:rPr lang="en-US" sz="20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carry out actions </a:t>
            </a:r>
            <a:r>
              <a:rPr lang="en-US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 bring the current state closer to the desired state</a:t>
            </a:r>
            <a:endParaRPr lang="en-US" sz="2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Szövegdoboz 6">
            <a:extLst>
              <a:ext uri="{FF2B5EF4-FFF2-40B4-BE49-F238E27FC236}">
                <a16:creationId xmlns:a16="http://schemas.microsoft.com/office/drawing/2014/main" id="{40051970-54C8-37AA-F5B8-9E0E47157621}"/>
              </a:ext>
            </a:extLst>
          </p:cNvPr>
          <p:cNvSpPr txBox="1"/>
          <p:nvPr/>
        </p:nvSpPr>
        <p:spPr>
          <a:xfrm>
            <a:off x="2719563" y="2060849"/>
            <a:ext cx="67401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working with desired states is also referred as</a:t>
            </a:r>
            <a:br>
              <a:rPr lang="en-US" sz="2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2400" b="1" dirty="0">
                <a:solidFill>
                  <a:srgbClr val="FF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declarative infrastructure</a:t>
            </a:r>
            <a:endParaRPr lang="hu-HU" sz="2400" b="1" dirty="0">
              <a:solidFill>
                <a:srgbClr val="FF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Szövegdoboz 16">
            <a:extLst>
              <a:ext uri="{FF2B5EF4-FFF2-40B4-BE49-F238E27FC236}">
                <a16:creationId xmlns:a16="http://schemas.microsoft.com/office/drawing/2014/main" id="{2859DF23-A8C1-8E12-F0A8-8302E83D1B3B}"/>
              </a:ext>
            </a:extLst>
          </p:cNvPr>
          <p:cNvSpPr txBox="1"/>
          <p:nvPr/>
        </p:nvSpPr>
        <p:spPr>
          <a:xfrm>
            <a:off x="844712" y="3212977"/>
            <a:ext cx="104927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acting on the deference between the desired state and the current state</a:t>
            </a:r>
            <a:br>
              <a:rPr lang="en-US" sz="2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2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 also referred as</a:t>
            </a:r>
            <a:br>
              <a:rPr lang="en-US" sz="2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2400" b="1" dirty="0">
                <a:solidFill>
                  <a:srgbClr val="FF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reconcile pattern</a:t>
            </a:r>
            <a:endParaRPr lang="hu-HU" sz="2400" b="1" dirty="0">
              <a:solidFill>
                <a:srgbClr val="FF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Jobb oldali kapcsos zárójel 7">
            <a:extLst>
              <a:ext uri="{FF2B5EF4-FFF2-40B4-BE49-F238E27FC236}">
                <a16:creationId xmlns:a16="http://schemas.microsoft.com/office/drawing/2014/main" id="{FD389E04-D680-86DB-64B2-31B49A25CF30}"/>
              </a:ext>
            </a:extLst>
          </p:cNvPr>
          <p:cNvSpPr/>
          <p:nvPr/>
        </p:nvSpPr>
        <p:spPr>
          <a:xfrm rot="5400000">
            <a:off x="5928537" y="-295844"/>
            <a:ext cx="460433" cy="10644107"/>
          </a:xfrm>
          <a:prstGeom prst="rightBrace">
            <a:avLst>
              <a:gd name="adj1" fmla="val 31697"/>
              <a:gd name="adj2" fmla="val 50000"/>
            </a:avLst>
          </a:prstGeom>
          <a:ln/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 sz="1400"/>
          </a:p>
        </p:txBody>
      </p:sp>
      <p:sp>
        <p:nvSpPr>
          <p:cNvPr id="7" name="Szövegdoboz 17">
            <a:extLst>
              <a:ext uri="{FF2B5EF4-FFF2-40B4-BE49-F238E27FC236}">
                <a16:creationId xmlns:a16="http://schemas.microsoft.com/office/drawing/2014/main" id="{763C9E5E-C994-BB01-CC5E-910276B3BCF2}"/>
              </a:ext>
            </a:extLst>
          </p:cNvPr>
          <p:cNvSpPr txBox="1"/>
          <p:nvPr/>
        </p:nvSpPr>
        <p:spPr>
          <a:xfrm>
            <a:off x="2546642" y="5454447"/>
            <a:ext cx="72242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foundation of every </a:t>
            </a:r>
            <a:r>
              <a:rPr lang="en-US" sz="2400" b="1" dirty="0">
                <a:solidFill>
                  <a:srgbClr val="4F81B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cloud native infrastructure</a:t>
            </a:r>
            <a:endParaRPr lang="hu-HU" sz="2400" b="1" dirty="0">
              <a:solidFill>
                <a:srgbClr val="4F81BD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8" name="Picture 2" descr="Cloud Native Infrastructure: Patterns for Scalable Infrastructure ...">
            <a:extLst>
              <a:ext uri="{FF2B5EF4-FFF2-40B4-BE49-F238E27FC236}">
                <a16:creationId xmlns:a16="http://schemas.microsoft.com/office/drawing/2014/main" id="{2FAEDDBE-6AF3-783B-A5C5-9DEA6ED5E7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0521" y="4158409"/>
            <a:ext cx="1979119" cy="259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8974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 animBg="1"/>
      <p:bldP spid="7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89AB9-7353-6BCE-618B-698347B17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141E673-7500-AB15-2C03-8CBB736F2CF9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Custom Resources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04CDC0F-C327-842E-9138-259096A403B6}"/>
              </a:ext>
            </a:extLst>
          </p:cNvPr>
          <p:cNvSpPr txBox="1">
            <a:spLocks/>
          </p:cNvSpPr>
          <p:nvPr/>
        </p:nvSpPr>
        <p:spPr>
          <a:xfrm>
            <a:off x="214282" y="928669"/>
            <a:ext cx="11138303" cy="5308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6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Custom resources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 are extensions of the Kubernetes API</a:t>
            </a:r>
            <a:endParaRPr lang="en-US" sz="16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457189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sz="16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Built-in object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e.g. pod, job, deployment, service, ingress, persistent volume</a:t>
            </a:r>
          </a:p>
          <a:p>
            <a:pPr marL="457189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Custom resources </a:t>
            </a:r>
            <a:r>
              <a:rPr lang="en-US" sz="16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simply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let you </a:t>
            </a:r>
            <a:r>
              <a:rPr lang="en-US" sz="16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store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</a:t>
            </a:r>
            <a:r>
              <a:rPr lang="en-US" sz="16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retrieve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6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structured data</a:t>
            </a:r>
          </a:p>
          <a:p>
            <a:pPr marL="914377" lvl="1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endParaRPr lang="en-US" sz="16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4" name="Kép 8">
            <a:extLst>
              <a:ext uri="{FF2B5EF4-FFF2-40B4-BE49-F238E27FC236}">
                <a16:creationId xmlns:a16="http://schemas.microsoft.com/office/drawing/2014/main" id="{917553DB-15D2-7064-6986-5FD9CAC356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2" r="772"/>
          <a:stretch/>
        </p:blipFill>
        <p:spPr>
          <a:xfrm>
            <a:off x="8930794" y="423693"/>
            <a:ext cx="3235806" cy="6447601"/>
          </a:xfrm>
          <a:prstGeom prst="rect">
            <a:avLst/>
          </a:prstGeom>
        </p:spPr>
      </p:pic>
      <p:pic>
        <p:nvPicPr>
          <p:cNvPr id="5" name="Kép 18">
            <a:extLst>
              <a:ext uri="{FF2B5EF4-FFF2-40B4-BE49-F238E27FC236}">
                <a16:creationId xmlns:a16="http://schemas.microsoft.com/office/drawing/2014/main" id="{B42F0637-3C3D-958B-2327-7E3F47374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5" y="2636913"/>
            <a:ext cx="3328595" cy="2257425"/>
          </a:xfrm>
          <a:prstGeom prst="rect">
            <a:avLst/>
          </a:prstGeom>
        </p:spPr>
      </p:pic>
      <p:sp>
        <p:nvSpPr>
          <p:cNvPr id="6" name="Lekerekített téglalap 11">
            <a:extLst>
              <a:ext uri="{FF2B5EF4-FFF2-40B4-BE49-F238E27FC236}">
                <a16:creationId xmlns:a16="http://schemas.microsoft.com/office/drawing/2014/main" id="{A7875084-021F-87A4-BA65-1D0D7BC48F43}"/>
              </a:ext>
            </a:extLst>
          </p:cNvPr>
          <p:cNvSpPr/>
          <p:nvPr/>
        </p:nvSpPr>
        <p:spPr>
          <a:xfrm>
            <a:off x="8902080" y="873328"/>
            <a:ext cx="3096344" cy="785795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400"/>
          </a:p>
        </p:txBody>
      </p:sp>
      <p:sp>
        <p:nvSpPr>
          <p:cNvPr id="7" name="Lekerekített téglalap 24">
            <a:extLst>
              <a:ext uri="{FF2B5EF4-FFF2-40B4-BE49-F238E27FC236}">
                <a16:creationId xmlns:a16="http://schemas.microsoft.com/office/drawing/2014/main" id="{5D7456AE-5EA8-1B44-45D5-FA98C2321772}"/>
              </a:ext>
            </a:extLst>
          </p:cNvPr>
          <p:cNvSpPr/>
          <p:nvPr/>
        </p:nvSpPr>
        <p:spPr>
          <a:xfrm>
            <a:off x="9235590" y="3041955"/>
            <a:ext cx="2536703" cy="2025075"/>
          </a:xfrm>
          <a:prstGeom prst="roundRect">
            <a:avLst>
              <a:gd name="adj" fmla="val 10730"/>
            </a:avLst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400"/>
          </a:p>
        </p:txBody>
      </p:sp>
      <p:sp>
        <p:nvSpPr>
          <p:cNvPr id="8" name="Lekerekített téglalap 25">
            <a:extLst>
              <a:ext uri="{FF2B5EF4-FFF2-40B4-BE49-F238E27FC236}">
                <a16:creationId xmlns:a16="http://schemas.microsoft.com/office/drawing/2014/main" id="{D5FB1ADD-5C3E-B4D7-63CD-8799E8EE9896}"/>
              </a:ext>
            </a:extLst>
          </p:cNvPr>
          <p:cNvSpPr/>
          <p:nvPr/>
        </p:nvSpPr>
        <p:spPr>
          <a:xfrm>
            <a:off x="8956194" y="1638259"/>
            <a:ext cx="2297657" cy="785796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400"/>
          </a:p>
        </p:txBody>
      </p:sp>
      <p:sp>
        <p:nvSpPr>
          <p:cNvPr id="9" name="Szövegdoboz 2">
            <a:extLst>
              <a:ext uri="{FF2B5EF4-FFF2-40B4-BE49-F238E27FC236}">
                <a16:creationId xmlns:a16="http://schemas.microsoft.com/office/drawing/2014/main" id="{152CDDC1-3CF2-C349-4D7A-A5C2A3636269}"/>
              </a:ext>
            </a:extLst>
          </p:cNvPr>
          <p:cNvSpPr txBox="1"/>
          <p:nvPr/>
        </p:nvSpPr>
        <p:spPr>
          <a:xfrm>
            <a:off x="1127450" y="5661247"/>
            <a:ext cx="2313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kubectl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create –f </a:t>
            </a:r>
            <a:r>
              <a:rPr lang="hu-HU" sz="1400" dirty="0" err="1">
                <a:latin typeface="Arial" panose="020B0604020202020204" pitchFamily="34" charset="0"/>
                <a:cs typeface="Arial" panose="020B0604020202020204" pitchFamily="34" charset="0"/>
              </a:rPr>
              <a:t>shirt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yaml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kubectl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get </a:t>
            </a:r>
            <a:r>
              <a:rPr lang="hu-HU" sz="1400" dirty="0" err="1">
                <a:latin typeface="Arial" panose="020B0604020202020204" pitchFamily="34" charset="0"/>
                <a:cs typeface="Arial" panose="020B0604020202020204" pitchFamily="34" charset="0"/>
              </a:rPr>
              <a:t>shirts</a:t>
            </a:r>
            <a:endParaRPr lang="hu-HU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zövegdoboz 10">
            <a:extLst>
              <a:ext uri="{FF2B5EF4-FFF2-40B4-BE49-F238E27FC236}">
                <a16:creationId xmlns:a16="http://schemas.microsoft.com/office/drawing/2014/main" id="{96F4C081-4CBA-97BF-A7B8-EF038C6B8493}"/>
              </a:ext>
            </a:extLst>
          </p:cNvPr>
          <p:cNvSpPr txBox="1"/>
          <p:nvPr/>
        </p:nvSpPr>
        <p:spPr>
          <a:xfrm>
            <a:off x="4904515" y="5661245"/>
            <a:ext cx="21948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kubectl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get </a:t>
            </a:r>
            <a:r>
              <a:rPr lang="hu-HU" sz="1400" dirty="0" err="1">
                <a:latin typeface="Arial" panose="020B0604020202020204" pitchFamily="34" charset="0"/>
                <a:cs typeface="Arial" panose="020B0604020202020204" pitchFamily="34" charset="0"/>
              </a:rPr>
              <a:t>shirt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1400" dirty="0" err="1">
                <a:latin typeface="Arial" panose="020B0604020202020204" pitchFamily="34" charset="0"/>
                <a:cs typeface="Arial" panose="020B0604020202020204" pitchFamily="34" charset="0"/>
              </a:rPr>
              <a:t>metallica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kubectl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get </a:t>
            </a:r>
            <a:r>
              <a:rPr lang="hu-HU" sz="1400" dirty="0" err="1">
                <a:latin typeface="Arial" panose="020B0604020202020204" pitchFamily="34" charset="0"/>
                <a:cs typeface="Arial" panose="020B0604020202020204" pitchFamily="34" charset="0"/>
              </a:rPr>
              <a:t>shirts</a:t>
            </a:r>
            <a:endParaRPr lang="hu-HU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Kép 12">
            <a:extLst>
              <a:ext uri="{FF2B5EF4-FFF2-40B4-BE49-F238E27FC236}">
                <a16:creationId xmlns:a16="http://schemas.microsoft.com/office/drawing/2014/main" id="{5ECB6B14-7D6A-E43E-E245-381CA8332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515" y="2638189"/>
            <a:ext cx="2668621" cy="143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215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/>
      <p:bldP spid="10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53913A-72F3-693B-9F76-4FA79871527C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Custom Resources + Custom Controllers = Operators</a:t>
            </a:r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95CDE-710A-FBF0-353F-908687DE4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lang="en-US" sz="2000" dirty="0"/>
              <a:t>You can write your own controller logic</a:t>
            </a:r>
          </a:p>
          <a:p>
            <a:pPr marL="457189" indent="-206370">
              <a:spcBef>
                <a:spcPts val="600"/>
              </a:spcBef>
              <a:buSzPct val="100000"/>
            </a:pPr>
            <a:r>
              <a:rPr lang="en-US" dirty="0"/>
              <a:t>Works the same way as built in controllers:</a:t>
            </a:r>
          </a:p>
          <a:p>
            <a:pPr marL="914377" lvl="1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sz="1800" dirty="0"/>
              <a:t>watches resources in the Kubernetes API</a:t>
            </a:r>
          </a:p>
          <a:p>
            <a:pPr marL="914377" lvl="1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sz="1800" dirty="0"/>
              <a:t>carry out action if there are changes in either the </a:t>
            </a:r>
            <a:r>
              <a:rPr lang="en-US" sz="1800" i="1" dirty="0"/>
              <a:t>spec</a:t>
            </a:r>
            <a:r>
              <a:rPr lang="en-US" sz="1800" dirty="0"/>
              <a:t> (desired state) or the </a:t>
            </a:r>
            <a:r>
              <a:rPr lang="en-US" sz="1800" i="1" dirty="0"/>
              <a:t>status</a:t>
            </a:r>
            <a:r>
              <a:rPr lang="en-US" sz="1800" dirty="0"/>
              <a:t> (current state)</a:t>
            </a:r>
          </a:p>
          <a:p>
            <a:pPr marL="1371566" lvl="2" indent="-206370">
              <a:lnSpc>
                <a:spcPct val="120000"/>
              </a:lnSpc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sz="1800" dirty="0"/>
              <a:t>change the behavior of your software based on a CRD </a:t>
            </a:r>
            <a:r>
              <a:rPr lang="en-US" sz="1800" dirty="0">
                <a:sym typeface="Wingdings" panose="05000000000000000000" pitchFamily="2" charset="2"/>
              </a:rPr>
              <a:t> use the Kubernetes API as your API</a:t>
            </a:r>
            <a:br>
              <a:rPr lang="en-US" sz="1800" dirty="0">
                <a:sym typeface="Wingdings" panose="05000000000000000000" pitchFamily="2" charset="2"/>
              </a:rPr>
            </a:br>
            <a:r>
              <a:rPr lang="en-US" sz="1800" dirty="0">
                <a:sym typeface="Wingdings" panose="05000000000000000000" pitchFamily="2" charset="2"/>
              </a:rPr>
              <a:t>e.g. Calico,</a:t>
            </a:r>
            <a:r>
              <a:rPr lang="hu-HU" sz="1800" dirty="0">
                <a:sym typeface="Wingdings" panose="05000000000000000000" pitchFamily="2" charset="2"/>
              </a:rPr>
              <a:t> Cilium,</a:t>
            </a:r>
            <a:r>
              <a:rPr lang="en-US" sz="1800" dirty="0">
                <a:sym typeface="Wingdings" panose="05000000000000000000" pitchFamily="2" charset="2"/>
              </a:rPr>
              <a:t> OpenShift, Istio</a:t>
            </a:r>
          </a:p>
          <a:p>
            <a:pPr marL="1371566" lvl="2" indent="-206370">
              <a:lnSpc>
                <a:spcPct val="120000"/>
              </a:lnSpc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sz="1800" dirty="0">
                <a:sym typeface="Wingdings" panose="05000000000000000000" pitchFamily="2" charset="2"/>
              </a:rPr>
              <a:t>interact with external systems / APIs</a:t>
            </a:r>
            <a:br>
              <a:rPr lang="en-US" sz="1800" dirty="0">
                <a:sym typeface="Wingdings" panose="05000000000000000000" pitchFamily="2" charset="2"/>
              </a:rPr>
            </a:br>
            <a:r>
              <a:rPr lang="en-US" sz="1800" dirty="0">
                <a:sym typeface="Wingdings" panose="05000000000000000000" pitchFamily="2" charset="2"/>
              </a:rPr>
              <a:t>e.g. Azure Service Operator</a:t>
            </a:r>
            <a:r>
              <a:rPr lang="hu-HU" sz="1800" dirty="0">
                <a:sym typeface="Wingdings" panose="05000000000000000000" pitchFamily="2" charset="2"/>
              </a:rPr>
              <a:t>, Crossplane</a:t>
            </a:r>
            <a:endParaRPr lang="en-US" sz="1800" dirty="0"/>
          </a:p>
          <a:p>
            <a:pPr marL="1371566" lvl="2" indent="-206370">
              <a:lnSpc>
                <a:spcPct val="120000"/>
              </a:lnSpc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sz="1800" dirty="0"/>
              <a:t>create other Kubernetes resources (e.g. pods, deployments, </a:t>
            </a:r>
            <a:r>
              <a:rPr lang="en-US" sz="1800" dirty="0" err="1"/>
              <a:t>statefulsets</a:t>
            </a:r>
            <a:r>
              <a:rPr lang="en-US" sz="1800" dirty="0"/>
              <a:t>, services, ingresses)</a:t>
            </a:r>
            <a:br>
              <a:rPr lang="en-US" sz="1800" dirty="0"/>
            </a:br>
            <a:r>
              <a:rPr lang="en-US" sz="1800" dirty="0"/>
              <a:t>e.g. MySQL operator, GitLab operator</a:t>
            </a:r>
            <a:endParaRPr lang="hu-HU" sz="1800" dirty="0"/>
          </a:p>
          <a:p>
            <a:pPr marL="1371566" lvl="2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endParaRPr lang="en-US" sz="2000" dirty="0"/>
          </a:p>
          <a:p>
            <a:pPr marL="1371566" lvl="2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endParaRPr lang="en-US" sz="2000" dirty="0"/>
          </a:p>
          <a:p>
            <a:pPr marL="250819">
              <a:spcBef>
                <a:spcPts val="600"/>
              </a:spcBef>
              <a:buSzPct val="100000"/>
            </a:pPr>
            <a:r>
              <a:rPr lang="hu-HU" sz="2000" dirty="0">
                <a:solidFill>
                  <a:srgbClr val="C00000"/>
                </a:solidFill>
              </a:rPr>
              <a:t>An </a:t>
            </a:r>
            <a:r>
              <a:rPr lang="en-US" sz="2000" dirty="0">
                <a:solidFill>
                  <a:srgbClr val="C00000"/>
                </a:solidFill>
              </a:rPr>
              <a:t>Operator combines a Controller with custom and domain-specific resources to encapsulate operational knowledge in an automated form</a:t>
            </a:r>
            <a:endParaRPr lang="en-US" sz="2000" b="1" dirty="0">
              <a:solidFill>
                <a:srgbClr val="C00000"/>
              </a:solidFill>
            </a:endParaRPr>
          </a:p>
          <a:p>
            <a:pPr marL="914377" lvl="1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endParaRPr lang="en-US" sz="22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943558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49C70-6EA6-2058-4AAE-659DA2BCD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794B78-3841-500A-DBC8-8F12143F0A6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Example: Zalando Postgres Operator</a:t>
            </a:r>
          </a:p>
        </p:txBody>
      </p:sp>
      <p:grpSp>
        <p:nvGrpSpPr>
          <p:cNvPr id="3" name="Csoportba foglalás 77">
            <a:extLst>
              <a:ext uri="{FF2B5EF4-FFF2-40B4-BE49-F238E27FC236}">
                <a16:creationId xmlns:a16="http://schemas.microsoft.com/office/drawing/2014/main" id="{9C125B60-009C-58AC-152F-B788A95595AE}"/>
              </a:ext>
            </a:extLst>
          </p:cNvPr>
          <p:cNvGrpSpPr/>
          <p:nvPr/>
        </p:nvGrpSpPr>
        <p:grpSpPr>
          <a:xfrm>
            <a:off x="4871864" y="1071433"/>
            <a:ext cx="2232248" cy="1756179"/>
            <a:chOff x="4871864" y="1071434"/>
            <a:chExt cx="2232248" cy="1756178"/>
          </a:xfrm>
        </p:grpSpPr>
        <p:sp>
          <p:nvSpPr>
            <p:cNvPr id="4" name="Téglalap 4">
              <a:extLst>
                <a:ext uri="{FF2B5EF4-FFF2-40B4-BE49-F238E27FC236}">
                  <a16:creationId xmlns:a16="http://schemas.microsoft.com/office/drawing/2014/main" id="{7545BD2E-7B1A-3BCF-FF94-25316B0C16D8}"/>
                </a:ext>
              </a:extLst>
            </p:cNvPr>
            <p:cNvSpPr/>
            <p:nvPr/>
          </p:nvSpPr>
          <p:spPr>
            <a:xfrm>
              <a:off x="5303912" y="1071434"/>
              <a:ext cx="1800200" cy="1368152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5" name="Téglalap 5">
              <a:extLst>
                <a:ext uri="{FF2B5EF4-FFF2-40B4-BE49-F238E27FC236}">
                  <a16:creationId xmlns:a16="http://schemas.microsoft.com/office/drawing/2014/main" id="{0D3C896E-1B0F-418D-33F0-50D08DCE4B41}"/>
                </a:ext>
              </a:extLst>
            </p:cNvPr>
            <p:cNvSpPr/>
            <p:nvPr/>
          </p:nvSpPr>
          <p:spPr>
            <a:xfrm>
              <a:off x="5087888" y="1265447"/>
              <a:ext cx="1800200" cy="1368152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" name="Téglalap 6">
              <a:extLst>
                <a:ext uri="{FF2B5EF4-FFF2-40B4-BE49-F238E27FC236}">
                  <a16:creationId xmlns:a16="http://schemas.microsoft.com/office/drawing/2014/main" id="{482EB759-B50B-5BC9-CEAC-BA6B25589A8B}"/>
                </a:ext>
              </a:extLst>
            </p:cNvPr>
            <p:cNvSpPr/>
            <p:nvPr/>
          </p:nvSpPr>
          <p:spPr>
            <a:xfrm>
              <a:off x="4871864" y="1459460"/>
              <a:ext cx="1800200" cy="1368152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  <a:p>
              <a:pPr algn="ctr"/>
              <a:r>
                <a:rPr lang="en-US" sz="1600" dirty="0"/>
                <a:t>Kubernetes API</a:t>
              </a:r>
            </a:p>
          </p:txBody>
        </p:sp>
        <p:pic>
          <p:nvPicPr>
            <p:cNvPr id="7" name="Picture 6" descr="Image result for kubernetes icon">
              <a:extLst>
                <a:ext uri="{FF2B5EF4-FFF2-40B4-BE49-F238E27FC236}">
                  <a16:creationId xmlns:a16="http://schemas.microsoft.com/office/drawing/2014/main" id="{115F1581-408C-3572-799E-9A37071EB0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02051" y="1619208"/>
              <a:ext cx="539825" cy="5243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8" name="Egyenes összekötő nyíllal 8">
            <a:extLst>
              <a:ext uri="{FF2B5EF4-FFF2-40B4-BE49-F238E27FC236}">
                <a16:creationId xmlns:a16="http://schemas.microsoft.com/office/drawing/2014/main" id="{31D9EF28-9DBE-F3DD-6323-09923633593A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377906" y="2143536"/>
            <a:ext cx="1493959" cy="0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églalap 10">
            <a:extLst>
              <a:ext uri="{FF2B5EF4-FFF2-40B4-BE49-F238E27FC236}">
                <a16:creationId xmlns:a16="http://schemas.microsoft.com/office/drawing/2014/main" id="{C863A35D-9FAE-2A2A-9377-E1523F14B400}"/>
              </a:ext>
            </a:extLst>
          </p:cNvPr>
          <p:cNvSpPr/>
          <p:nvPr/>
        </p:nvSpPr>
        <p:spPr>
          <a:xfrm>
            <a:off x="8040217" y="1052737"/>
            <a:ext cx="1926743" cy="5260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Postgres Operator</a:t>
            </a:r>
          </a:p>
        </p:txBody>
      </p:sp>
      <p:cxnSp>
        <p:nvCxnSpPr>
          <p:cNvPr id="10" name="Szögletes összekötő 12">
            <a:extLst>
              <a:ext uri="{FF2B5EF4-FFF2-40B4-BE49-F238E27FC236}">
                <a16:creationId xmlns:a16="http://schemas.microsoft.com/office/drawing/2014/main" id="{6A599B3A-448C-3A74-C897-EB99CE35E23D}"/>
              </a:ext>
            </a:extLst>
          </p:cNvPr>
          <p:cNvCxnSpPr>
            <a:stCxn id="4" idx="3"/>
            <a:endCxn id="9" idx="1"/>
          </p:cNvCxnSpPr>
          <p:nvPr/>
        </p:nvCxnSpPr>
        <p:spPr>
          <a:xfrm flipV="1">
            <a:off x="7104112" y="1315771"/>
            <a:ext cx="936104" cy="439740"/>
          </a:xfrm>
          <a:prstGeom prst="bentConnector3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églalap 17">
            <a:extLst>
              <a:ext uri="{FF2B5EF4-FFF2-40B4-BE49-F238E27FC236}">
                <a16:creationId xmlns:a16="http://schemas.microsoft.com/office/drawing/2014/main" id="{D62D522D-BEDB-A595-6CAC-96A48E7DED10}"/>
              </a:ext>
            </a:extLst>
          </p:cNvPr>
          <p:cNvSpPr/>
          <p:nvPr/>
        </p:nvSpPr>
        <p:spPr>
          <a:xfrm>
            <a:off x="9480378" y="1772817"/>
            <a:ext cx="2664295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Secrets</a:t>
            </a:r>
          </a:p>
          <a:p>
            <a:pPr algn="r"/>
            <a:endParaRPr lang="en-US" sz="2000" dirty="0">
              <a:solidFill>
                <a:schemeClr val="tx1"/>
              </a:solidFill>
            </a:endParaRPr>
          </a:p>
          <a:p>
            <a:pPr algn="r"/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2" name="Téglalap 18">
            <a:extLst>
              <a:ext uri="{FF2B5EF4-FFF2-40B4-BE49-F238E27FC236}">
                <a16:creationId xmlns:a16="http://schemas.microsoft.com/office/drawing/2014/main" id="{F75ED4B9-76A0-2C25-C1B5-3E68548415C9}"/>
              </a:ext>
            </a:extLst>
          </p:cNvPr>
          <p:cNvSpPr/>
          <p:nvPr/>
        </p:nvSpPr>
        <p:spPr>
          <a:xfrm>
            <a:off x="9552385" y="2116398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Users</a:t>
            </a:r>
          </a:p>
        </p:txBody>
      </p:sp>
      <p:cxnSp>
        <p:nvCxnSpPr>
          <p:cNvPr id="13" name="Szögletes összekötő 23">
            <a:extLst>
              <a:ext uri="{FF2B5EF4-FFF2-40B4-BE49-F238E27FC236}">
                <a16:creationId xmlns:a16="http://schemas.microsoft.com/office/drawing/2014/main" id="{8FA5D716-4803-6605-268C-42E3DEBBD8E3}"/>
              </a:ext>
            </a:extLst>
          </p:cNvPr>
          <p:cNvCxnSpPr>
            <a:stCxn id="9" idx="3"/>
            <a:endCxn id="11" idx="0"/>
          </p:cNvCxnSpPr>
          <p:nvPr/>
        </p:nvCxnSpPr>
        <p:spPr>
          <a:xfrm>
            <a:off x="9966958" y="1315770"/>
            <a:ext cx="845567" cy="457047"/>
          </a:xfrm>
          <a:prstGeom prst="bentConnector2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Szövegdoboz 24">
            <a:extLst>
              <a:ext uri="{FF2B5EF4-FFF2-40B4-BE49-F238E27FC236}">
                <a16:creationId xmlns:a16="http://schemas.microsoft.com/office/drawing/2014/main" id="{5CE1CD11-2600-FE2A-71C7-035120115713}"/>
              </a:ext>
            </a:extLst>
          </p:cNvPr>
          <p:cNvSpPr txBox="1"/>
          <p:nvPr/>
        </p:nvSpPr>
        <p:spPr>
          <a:xfrm>
            <a:off x="3506822" y="1764858"/>
            <a:ext cx="1219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err="1"/>
              <a:t>kubectl</a:t>
            </a:r>
            <a:r>
              <a:rPr lang="en-US" sz="1400" dirty="0"/>
              <a:t> create</a:t>
            </a:r>
          </a:p>
        </p:txBody>
      </p:sp>
      <p:sp>
        <p:nvSpPr>
          <p:cNvPr id="15" name="Téglalap 29">
            <a:extLst>
              <a:ext uri="{FF2B5EF4-FFF2-40B4-BE49-F238E27FC236}">
                <a16:creationId xmlns:a16="http://schemas.microsoft.com/office/drawing/2014/main" id="{E9245593-B1B5-4898-F8EF-6D5449D33619}"/>
              </a:ext>
            </a:extLst>
          </p:cNvPr>
          <p:cNvSpPr/>
          <p:nvPr/>
        </p:nvSpPr>
        <p:spPr>
          <a:xfrm>
            <a:off x="10416481" y="2116398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33" dirty="0">
                <a:solidFill>
                  <a:schemeClr val="tx1"/>
                </a:solidFill>
              </a:rPr>
              <a:t>Robots</a:t>
            </a:r>
          </a:p>
        </p:txBody>
      </p:sp>
      <p:sp>
        <p:nvSpPr>
          <p:cNvPr id="16" name="Téglalap 30">
            <a:extLst>
              <a:ext uri="{FF2B5EF4-FFF2-40B4-BE49-F238E27FC236}">
                <a16:creationId xmlns:a16="http://schemas.microsoft.com/office/drawing/2014/main" id="{0BBA759F-F7AF-4C26-BFEB-191041D2F29A}"/>
              </a:ext>
            </a:extLst>
          </p:cNvPr>
          <p:cNvSpPr/>
          <p:nvPr/>
        </p:nvSpPr>
        <p:spPr>
          <a:xfrm>
            <a:off x="11280575" y="2116398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7" dirty="0">
                <a:solidFill>
                  <a:schemeClr val="tx1"/>
                </a:solidFill>
              </a:rPr>
              <a:t>Standby</a:t>
            </a:r>
          </a:p>
        </p:txBody>
      </p:sp>
      <p:sp>
        <p:nvSpPr>
          <p:cNvPr id="17" name="Téglalap 35">
            <a:extLst>
              <a:ext uri="{FF2B5EF4-FFF2-40B4-BE49-F238E27FC236}">
                <a16:creationId xmlns:a16="http://schemas.microsoft.com/office/drawing/2014/main" id="{03C83516-7440-D714-1497-E5332DFAA10D}"/>
              </a:ext>
            </a:extLst>
          </p:cNvPr>
          <p:cNvSpPr/>
          <p:nvPr/>
        </p:nvSpPr>
        <p:spPr>
          <a:xfrm>
            <a:off x="8040217" y="2780929"/>
            <a:ext cx="1926743" cy="5260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StatefulSet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Téglalap 36">
            <a:extLst>
              <a:ext uri="{FF2B5EF4-FFF2-40B4-BE49-F238E27FC236}">
                <a16:creationId xmlns:a16="http://schemas.microsoft.com/office/drawing/2014/main" id="{906D8BB0-964A-C29F-4BD2-5E0942AC8EC1}"/>
              </a:ext>
            </a:extLst>
          </p:cNvPr>
          <p:cNvSpPr/>
          <p:nvPr/>
        </p:nvSpPr>
        <p:spPr>
          <a:xfrm>
            <a:off x="5303913" y="3284985"/>
            <a:ext cx="1785924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Services</a:t>
            </a:r>
          </a:p>
          <a:p>
            <a:pPr algn="r"/>
            <a:endParaRPr lang="en-US" sz="2000" dirty="0">
              <a:solidFill>
                <a:schemeClr val="tx1"/>
              </a:solidFill>
            </a:endParaRPr>
          </a:p>
          <a:p>
            <a:pPr algn="r"/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9" name="Téglalap 38">
            <a:extLst>
              <a:ext uri="{FF2B5EF4-FFF2-40B4-BE49-F238E27FC236}">
                <a16:creationId xmlns:a16="http://schemas.microsoft.com/office/drawing/2014/main" id="{AD0436E1-5CF7-D0D7-D419-A14F0EFC1629}"/>
              </a:ext>
            </a:extLst>
          </p:cNvPr>
          <p:cNvSpPr/>
          <p:nvPr/>
        </p:nvSpPr>
        <p:spPr>
          <a:xfrm>
            <a:off x="5361646" y="3628566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Primary</a:t>
            </a:r>
          </a:p>
        </p:txBody>
      </p:sp>
      <p:sp>
        <p:nvSpPr>
          <p:cNvPr id="20" name="Téglalap 39">
            <a:extLst>
              <a:ext uri="{FF2B5EF4-FFF2-40B4-BE49-F238E27FC236}">
                <a16:creationId xmlns:a16="http://schemas.microsoft.com/office/drawing/2014/main" id="{2AFA531D-97C7-021C-C0B4-7367CBAEFF82}"/>
              </a:ext>
            </a:extLst>
          </p:cNvPr>
          <p:cNvSpPr/>
          <p:nvPr/>
        </p:nvSpPr>
        <p:spPr>
          <a:xfrm>
            <a:off x="6225741" y="3628566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Replica</a:t>
            </a:r>
          </a:p>
        </p:txBody>
      </p:sp>
      <p:sp>
        <p:nvSpPr>
          <p:cNvPr id="21" name="Téglalap 41">
            <a:extLst>
              <a:ext uri="{FF2B5EF4-FFF2-40B4-BE49-F238E27FC236}">
                <a16:creationId xmlns:a16="http://schemas.microsoft.com/office/drawing/2014/main" id="{E7ACE37F-72FB-A309-C71D-037049674677}"/>
              </a:ext>
            </a:extLst>
          </p:cNvPr>
          <p:cNvSpPr/>
          <p:nvPr/>
        </p:nvSpPr>
        <p:spPr>
          <a:xfrm>
            <a:off x="5303913" y="4662216"/>
            <a:ext cx="1785924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Endpoints</a:t>
            </a:r>
          </a:p>
          <a:p>
            <a:pPr algn="r"/>
            <a:endParaRPr lang="en-US" sz="1600" dirty="0">
              <a:solidFill>
                <a:schemeClr val="tx1"/>
              </a:solidFill>
            </a:endParaRPr>
          </a:p>
          <a:p>
            <a:pPr algn="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2" name="Téglalap 42">
            <a:extLst>
              <a:ext uri="{FF2B5EF4-FFF2-40B4-BE49-F238E27FC236}">
                <a16:creationId xmlns:a16="http://schemas.microsoft.com/office/drawing/2014/main" id="{E503B14C-7A77-AF42-2FDE-CE54C3B6CF0B}"/>
              </a:ext>
            </a:extLst>
          </p:cNvPr>
          <p:cNvSpPr/>
          <p:nvPr/>
        </p:nvSpPr>
        <p:spPr>
          <a:xfrm>
            <a:off x="5361646" y="5005795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Primary</a:t>
            </a:r>
          </a:p>
        </p:txBody>
      </p:sp>
      <p:sp>
        <p:nvSpPr>
          <p:cNvPr id="23" name="Téglalap 43">
            <a:extLst>
              <a:ext uri="{FF2B5EF4-FFF2-40B4-BE49-F238E27FC236}">
                <a16:creationId xmlns:a16="http://schemas.microsoft.com/office/drawing/2014/main" id="{8973BB03-1BAD-7E53-F03D-C0868D2C34BB}"/>
              </a:ext>
            </a:extLst>
          </p:cNvPr>
          <p:cNvSpPr/>
          <p:nvPr/>
        </p:nvSpPr>
        <p:spPr>
          <a:xfrm>
            <a:off x="6225741" y="5005795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7" dirty="0">
                <a:solidFill>
                  <a:schemeClr val="tx1"/>
                </a:solidFill>
              </a:rPr>
              <a:t>Replicas</a:t>
            </a:r>
          </a:p>
        </p:txBody>
      </p:sp>
      <p:sp>
        <p:nvSpPr>
          <p:cNvPr id="24" name="Téglalap 44">
            <a:extLst>
              <a:ext uri="{FF2B5EF4-FFF2-40B4-BE49-F238E27FC236}">
                <a16:creationId xmlns:a16="http://schemas.microsoft.com/office/drawing/2014/main" id="{5CB16F25-D0DC-9AFE-599E-9955A52BD356}"/>
              </a:ext>
            </a:extLst>
          </p:cNvPr>
          <p:cNvSpPr/>
          <p:nvPr/>
        </p:nvSpPr>
        <p:spPr>
          <a:xfrm>
            <a:off x="8040217" y="3648453"/>
            <a:ext cx="1926743" cy="5260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Pod Template</a:t>
            </a:r>
          </a:p>
        </p:txBody>
      </p:sp>
      <p:sp>
        <p:nvSpPr>
          <p:cNvPr id="25" name="Téglalap 45">
            <a:extLst>
              <a:ext uri="{FF2B5EF4-FFF2-40B4-BE49-F238E27FC236}">
                <a16:creationId xmlns:a16="http://schemas.microsoft.com/office/drawing/2014/main" id="{F0FDAB61-0018-68AE-E2C5-84ECA8F82DEA}"/>
              </a:ext>
            </a:extLst>
          </p:cNvPr>
          <p:cNvSpPr/>
          <p:nvPr/>
        </p:nvSpPr>
        <p:spPr>
          <a:xfrm>
            <a:off x="7680178" y="4462553"/>
            <a:ext cx="2664295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Pods</a:t>
            </a:r>
          </a:p>
          <a:p>
            <a:pPr algn="r"/>
            <a:endParaRPr lang="en-US" sz="1600" dirty="0">
              <a:solidFill>
                <a:schemeClr val="tx1"/>
              </a:solidFill>
            </a:endParaRPr>
          </a:p>
          <a:p>
            <a:pPr algn="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6" name="Téglalap 46">
            <a:extLst>
              <a:ext uri="{FF2B5EF4-FFF2-40B4-BE49-F238E27FC236}">
                <a16:creationId xmlns:a16="http://schemas.microsoft.com/office/drawing/2014/main" id="{4812B0DB-2028-6FFA-91BB-71FFB1620F44}"/>
              </a:ext>
            </a:extLst>
          </p:cNvPr>
          <p:cNvSpPr/>
          <p:nvPr/>
        </p:nvSpPr>
        <p:spPr>
          <a:xfrm>
            <a:off x="7752185" y="4806133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Primary</a:t>
            </a:r>
          </a:p>
        </p:txBody>
      </p:sp>
      <p:sp>
        <p:nvSpPr>
          <p:cNvPr id="27" name="Téglalap 47">
            <a:extLst>
              <a:ext uri="{FF2B5EF4-FFF2-40B4-BE49-F238E27FC236}">
                <a16:creationId xmlns:a16="http://schemas.microsoft.com/office/drawing/2014/main" id="{FA27C498-D34E-C75D-C465-EC044E99006F}"/>
              </a:ext>
            </a:extLst>
          </p:cNvPr>
          <p:cNvSpPr/>
          <p:nvPr/>
        </p:nvSpPr>
        <p:spPr>
          <a:xfrm>
            <a:off x="8616281" y="4806133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Replica</a:t>
            </a:r>
          </a:p>
        </p:txBody>
      </p:sp>
      <p:sp>
        <p:nvSpPr>
          <p:cNvPr id="28" name="Téglalap 48">
            <a:extLst>
              <a:ext uri="{FF2B5EF4-FFF2-40B4-BE49-F238E27FC236}">
                <a16:creationId xmlns:a16="http://schemas.microsoft.com/office/drawing/2014/main" id="{462B3D69-8212-83F1-0E18-C7580A87B27E}"/>
              </a:ext>
            </a:extLst>
          </p:cNvPr>
          <p:cNvSpPr/>
          <p:nvPr/>
        </p:nvSpPr>
        <p:spPr>
          <a:xfrm>
            <a:off x="9480375" y="4806133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Replica</a:t>
            </a:r>
          </a:p>
        </p:txBody>
      </p:sp>
      <p:sp>
        <p:nvSpPr>
          <p:cNvPr id="29" name="Téglalap 49">
            <a:extLst>
              <a:ext uri="{FF2B5EF4-FFF2-40B4-BE49-F238E27FC236}">
                <a16:creationId xmlns:a16="http://schemas.microsoft.com/office/drawing/2014/main" id="{D06947C0-8E37-8131-D3B8-3740C8C5E043}"/>
              </a:ext>
            </a:extLst>
          </p:cNvPr>
          <p:cNvSpPr/>
          <p:nvPr/>
        </p:nvSpPr>
        <p:spPr>
          <a:xfrm>
            <a:off x="7680178" y="5677657"/>
            <a:ext cx="2664295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Persistent Volume Claims</a:t>
            </a:r>
            <a:endParaRPr lang="en-US" sz="1600" dirty="0">
              <a:solidFill>
                <a:schemeClr val="tx1"/>
              </a:solidFill>
            </a:endParaRPr>
          </a:p>
          <a:p>
            <a:pPr algn="r"/>
            <a:endParaRPr lang="en-US" sz="1600" dirty="0">
              <a:solidFill>
                <a:schemeClr val="tx1"/>
              </a:solidFill>
            </a:endParaRPr>
          </a:p>
          <a:p>
            <a:pPr algn="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0" name="Téglalap 50">
            <a:extLst>
              <a:ext uri="{FF2B5EF4-FFF2-40B4-BE49-F238E27FC236}">
                <a16:creationId xmlns:a16="http://schemas.microsoft.com/office/drawing/2014/main" id="{59CAC9B2-D9F9-F987-794B-3804A380321D}"/>
              </a:ext>
            </a:extLst>
          </p:cNvPr>
          <p:cNvSpPr/>
          <p:nvPr/>
        </p:nvSpPr>
        <p:spPr>
          <a:xfrm>
            <a:off x="7752185" y="6021237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Primary</a:t>
            </a:r>
          </a:p>
        </p:txBody>
      </p:sp>
      <p:sp>
        <p:nvSpPr>
          <p:cNvPr id="31" name="Téglalap 51">
            <a:extLst>
              <a:ext uri="{FF2B5EF4-FFF2-40B4-BE49-F238E27FC236}">
                <a16:creationId xmlns:a16="http://schemas.microsoft.com/office/drawing/2014/main" id="{CA3A0B4A-4412-64E2-ACBE-AAE7CD4DF683}"/>
              </a:ext>
            </a:extLst>
          </p:cNvPr>
          <p:cNvSpPr/>
          <p:nvPr/>
        </p:nvSpPr>
        <p:spPr>
          <a:xfrm>
            <a:off x="8616281" y="6021237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Replica</a:t>
            </a:r>
          </a:p>
        </p:txBody>
      </p:sp>
      <p:sp>
        <p:nvSpPr>
          <p:cNvPr id="32" name="Téglalap 52">
            <a:extLst>
              <a:ext uri="{FF2B5EF4-FFF2-40B4-BE49-F238E27FC236}">
                <a16:creationId xmlns:a16="http://schemas.microsoft.com/office/drawing/2014/main" id="{D204D9FE-ACB1-14A7-4D8A-2B3AD93C3247}"/>
              </a:ext>
            </a:extLst>
          </p:cNvPr>
          <p:cNvSpPr/>
          <p:nvPr/>
        </p:nvSpPr>
        <p:spPr>
          <a:xfrm>
            <a:off x="9480375" y="6021237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Replica</a:t>
            </a:r>
          </a:p>
        </p:txBody>
      </p:sp>
      <p:cxnSp>
        <p:nvCxnSpPr>
          <p:cNvPr id="33" name="Egyenes összekötő nyíllal 59">
            <a:extLst>
              <a:ext uri="{FF2B5EF4-FFF2-40B4-BE49-F238E27FC236}">
                <a16:creationId xmlns:a16="http://schemas.microsoft.com/office/drawing/2014/main" id="{73E1A772-4A57-FB6F-9A65-0775C2A4FD28}"/>
              </a:ext>
            </a:extLst>
          </p:cNvPr>
          <p:cNvCxnSpPr>
            <a:stCxn id="18" idx="0"/>
            <a:endCxn id="9" idx="2"/>
          </p:cNvCxnSpPr>
          <p:nvPr/>
        </p:nvCxnSpPr>
        <p:spPr>
          <a:xfrm flipV="1">
            <a:off x="6196876" y="1578804"/>
            <a:ext cx="2806713" cy="1706181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gyenes összekötő nyíllal 62">
            <a:extLst>
              <a:ext uri="{FF2B5EF4-FFF2-40B4-BE49-F238E27FC236}">
                <a16:creationId xmlns:a16="http://schemas.microsoft.com/office/drawing/2014/main" id="{96F1FEB1-FD33-DD9E-FF62-0D9A8FC47378}"/>
              </a:ext>
            </a:extLst>
          </p:cNvPr>
          <p:cNvCxnSpPr>
            <a:stCxn id="17" idx="0"/>
            <a:endCxn id="9" idx="2"/>
          </p:cNvCxnSpPr>
          <p:nvPr/>
        </p:nvCxnSpPr>
        <p:spPr>
          <a:xfrm flipV="1">
            <a:off x="9003587" y="1578804"/>
            <a:ext cx="0" cy="1202125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gyenes összekötő nyíllal 65">
            <a:extLst>
              <a:ext uri="{FF2B5EF4-FFF2-40B4-BE49-F238E27FC236}">
                <a16:creationId xmlns:a16="http://schemas.microsoft.com/office/drawing/2014/main" id="{43AEBD66-C698-0A0E-37A9-BE859CAFB713}"/>
              </a:ext>
            </a:extLst>
          </p:cNvPr>
          <p:cNvCxnSpPr>
            <a:stCxn id="24" idx="0"/>
            <a:endCxn id="17" idx="2"/>
          </p:cNvCxnSpPr>
          <p:nvPr/>
        </p:nvCxnSpPr>
        <p:spPr>
          <a:xfrm flipV="1">
            <a:off x="9003587" y="3306997"/>
            <a:ext cx="0" cy="341457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gyenes összekötő nyíllal 68">
            <a:extLst>
              <a:ext uri="{FF2B5EF4-FFF2-40B4-BE49-F238E27FC236}">
                <a16:creationId xmlns:a16="http://schemas.microsoft.com/office/drawing/2014/main" id="{F2B691EA-B677-D034-9949-30C1A172CCD6}"/>
              </a:ext>
            </a:extLst>
          </p:cNvPr>
          <p:cNvCxnSpPr>
            <a:stCxn id="25" idx="0"/>
            <a:endCxn id="24" idx="2"/>
          </p:cNvCxnSpPr>
          <p:nvPr/>
        </p:nvCxnSpPr>
        <p:spPr>
          <a:xfrm flipH="1" flipV="1">
            <a:off x="9003589" y="4174519"/>
            <a:ext cx="8737" cy="288032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gyenes összekötő nyíllal 71">
            <a:extLst>
              <a:ext uri="{FF2B5EF4-FFF2-40B4-BE49-F238E27FC236}">
                <a16:creationId xmlns:a16="http://schemas.microsoft.com/office/drawing/2014/main" id="{70C80592-ED45-4A33-310D-28F52D791378}"/>
              </a:ext>
            </a:extLst>
          </p:cNvPr>
          <p:cNvCxnSpPr>
            <a:stCxn id="29" idx="0"/>
            <a:endCxn id="25" idx="2"/>
          </p:cNvCxnSpPr>
          <p:nvPr/>
        </p:nvCxnSpPr>
        <p:spPr>
          <a:xfrm flipV="1">
            <a:off x="9012324" y="5310242"/>
            <a:ext cx="0" cy="367415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Egyenes összekötő nyíllal 74">
            <a:extLst>
              <a:ext uri="{FF2B5EF4-FFF2-40B4-BE49-F238E27FC236}">
                <a16:creationId xmlns:a16="http://schemas.microsoft.com/office/drawing/2014/main" id="{872B2A73-2811-FE53-2F72-68A4CD847EC0}"/>
              </a:ext>
            </a:extLst>
          </p:cNvPr>
          <p:cNvCxnSpPr>
            <a:stCxn id="21" idx="0"/>
            <a:endCxn id="18" idx="2"/>
          </p:cNvCxnSpPr>
          <p:nvPr/>
        </p:nvCxnSpPr>
        <p:spPr>
          <a:xfrm flipV="1">
            <a:off x="6196875" y="4132674"/>
            <a:ext cx="0" cy="529541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Kereszt 40">
            <a:extLst>
              <a:ext uri="{FF2B5EF4-FFF2-40B4-BE49-F238E27FC236}">
                <a16:creationId xmlns:a16="http://schemas.microsoft.com/office/drawing/2014/main" id="{CF68885A-2CD7-34D9-8E3A-B9857F1583FB}"/>
              </a:ext>
            </a:extLst>
          </p:cNvPr>
          <p:cNvSpPr/>
          <p:nvPr/>
        </p:nvSpPr>
        <p:spPr>
          <a:xfrm rot="18939333">
            <a:off x="7896200" y="4756612"/>
            <a:ext cx="504056" cy="510347"/>
          </a:xfrm>
          <a:prstGeom prst="plus">
            <a:avLst>
              <a:gd name="adj" fmla="val 39557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200">
              <a:solidFill>
                <a:schemeClr val="tx1"/>
              </a:solidFill>
            </a:endParaRPr>
          </a:p>
        </p:txBody>
      </p:sp>
      <p:pic>
        <p:nvPicPr>
          <p:cNvPr id="40" name="Kép 14">
            <a:extLst>
              <a:ext uri="{FF2B5EF4-FFF2-40B4-BE49-F238E27FC236}">
                <a16:creationId xmlns:a16="http://schemas.microsoft.com/office/drawing/2014/main" id="{C05970A0-BB86-FB54-1526-C87F06928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3" y="1590364"/>
            <a:ext cx="3354681" cy="3296033"/>
          </a:xfrm>
          <a:prstGeom prst="rect">
            <a:avLst/>
          </a:prstGeom>
          <a:ln>
            <a:solidFill>
              <a:schemeClr val="accent3"/>
            </a:solidFill>
          </a:ln>
        </p:spPr>
      </p:pic>
    </p:spTree>
    <p:extLst>
      <p:ext uri="{BB962C8B-B14F-4D97-AF65-F5344CB8AC3E}">
        <p14:creationId xmlns:p14="http://schemas.microsoft.com/office/powerpoint/2010/main" val="3808180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4" grpId="0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7C3A1-66FD-CED5-632B-FDCE851F1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601A247-7271-B2FB-BFDE-706EBE1BF973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Example: Zalando Postgres Operator</a:t>
            </a:r>
          </a:p>
        </p:txBody>
      </p:sp>
      <p:grpSp>
        <p:nvGrpSpPr>
          <p:cNvPr id="41" name="Csoportba foglalás 77">
            <a:extLst>
              <a:ext uri="{FF2B5EF4-FFF2-40B4-BE49-F238E27FC236}">
                <a16:creationId xmlns:a16="http://schemas.microsoft.com/office/drawing/2014/main" id="{F4C86B39-55B1-31B1-661C-826DC3E4D419}"/>
              </a:ext>
            </a:extLst>
          </p:cNvPr>
          <p:cNvGrpSpPr/>
          <p:nvPr/>
        </p:nvGrpSpPr>
        <p:grpSpPr>
          <a:xfrm>
            <a:off x="4871864" y="1071433"/>
            <a:ext cx="2232248" cy="1756179"/>
            <a:chOff x="4871864" y="1071434"/>
            <a:chExt cx="2232248" cy="1756178"/>
          </a:xfrm>
        </p:grpSpPr>
        <p:sp>
          <p:nvSpPr>
            <p:cNvPr id="42" name="Téglalap 4">
              <a:extLst>
                <a:ext uri="{FF2B5EF4-FFF2-40B4-BE49-F238E27FC236}">
                  <a16:creationId xmlns:a16="http://schemas.microsoft.com/office/drawing/2014/main" id="{559274D2-22B3-5132-63CE-D157E12CC2D2}"/>
                </a:ext>
              </a:extLst>
            </p:cNvPr>
            <p:cNvSpPr/>
            <p:nvPr/>
          </p:nvSpPr>
          <p:spPr>
            <a:xfrm>
              <a:off x="5303912" y="1071434"/>
              <a:ext cx="1800200" cy="1368152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3" name="Téglalap 5">
              <a:extLst>
                <a:ext uri="{FF2B5EF4-FFF2-40B4-BE49-F238E27FC236}">
                  <a16:creationId xmlns:a16="http://schemas.microsoft.com/office/drawing/2014/main" id="{CD2E47E5-F17A-E8EC-6324-4F8841BD80CB}"/>
                </a:ext>
              </a:extLst>
            </p:cNvPr>
            <p:cNvSpPr/>
            <p:nvPr/>
          </p:nvSpPr>
          <p:spPr>
            <a:xfrm>
              <a:off x="5087888" y="1265447"/>
              <a:ext cx="1800200" cy="1368152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4" name="Téglalap 6">
              <a:extLst>
                <a:ext uri="{FF2B5EF4-FFF2-40B4-BE49-F238E27FC236}">
                  <a16:creationId xmlns:a16="http://schemas.microsoft.com/office/drawing/2014/main" id="{F5823DDE-8510-93F9-86C5-5BCEC772BDC0}"/>
                </a:ext>
              </a:extLst>
            </p:cNvPr>
            <p:cNvSpPr/>
            <p:nvPr/>
          </p:nvSpPr>
          <p:spPr>
            <a:xfrm>
              <a:off x="4871864" y="1459460"/>
              <a:ext cx="1800200" cy="1368152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  <a:p>
              <a:pPr algn="ctr"/>
              <a:r>
                <a:rPr lang="en-US" sz="1600" dirty="0"/>
                <a:t>Kubernetes API</a:t>
              </a:r>
            </a:p>
          </p:txBody>
        </p:sp>
        <p:pic>
          <p:nvPicPr>
            <p:cNvPr id="45" name="Picture 6" descr="Image result for kubernetes icon">
              <a:extLst>
                <a:ext uri="{FF2B5EF4-FFF2-40B4-BE49-F238E27FC236}">
                  <a16:creationId xmlns:a16="http://schemas.microsoft.com/office/drawing/2014/main" id="{A6F3282E-230E-B12E-D17D-98F23FA5D0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02051" y="1619208"/>
              <a:ext cx="539825" cy="5243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46" name="Egyenes összekötő nyíllal 8">
            <a:extLst>
              <a:ext uri="{FF2B5EF4-FFF2-40B4-BE49-F238E27FC236}">
                <a16:creationId xmlns:a16="http://schemas.microsoft.com/office/drawing/2014/main" id="{9B35DE4B-7AF0-41B3-39C6-DADA4231A8FA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3377906" y="2143536"/>
            <a:ext cx="1493959" cy="0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églalap 10">
            <a:extLst>
              <a:ext uri="{FF2B5EF4-FFF2-40B4-BE49-F238E27FC236}">
                <a16:creationId xmlns:a16="http://schemas.microsoft.com/office/drawing/2014/main" id="{3DC5BB86-033E-24AE-37B2-1D0371AB15ED}"/>
              </a:ext>
            </a:extLst>
          </p:cNvPr>
          <p:cNvSpPr/>
          <p:nvPr/>
        </p:nvSpPr>
        <p:spPr>
          <a:xfrm>
            <a:off x="8040217" y="1052737"/>
            <a:ext cx="1926743" cy="5260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Postgres Operator</a:t>
            </a:r>
          </a:p>
        </p:txBody>
      </p:sp>
      <p:cxnSp>
        <p:nvCxnSpPr>
          <p:cNvPr id="48" name="Szögletes összekötő 12">
            <a:extLst>
              <a:ext uri="{FF2B5EF4-FFF2-40B4-BE49-F238E27FC236}">
                <a16:creationId xmlns:a16="http://schemas.microsoft.com/office/drawing/2014/main" id="{112C06F7-AA3E-A820-7E7A-CF4595C8ED61}"/>
              </a:ext>
            </a:extLst>
          </p:cNvPr>
          <p:cNvCxnSpPr>
            <a:stCxn id="42" idx="3"/>
            <a:endCxn id="47" idx="1"/>
          </p:cNvCxnSpPr>
          <p:nvPr/>
        </p:nvCxnSpPr>
        <p:spPr>
          <a:xfrm flipV="1">
            <a:off x="7104112" y="1315771"/>
            <a:ext cx="936104" cy="439740"/>
          </a:xfrm>
          <a:prstGeom prst="bentConnector3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églalap 17">
            <a:extLst>
              <a:ext uri="{FF2B5EF4-FFF2-40B4-BE49-F238E27FC236}">
                <a16:creationId xmlns:a16="http://schemas.microsoft.com/office/drawing/2014/main" id="{E2F37A12-D103-9312-C0B9-9ED904BDDEF7}"/>
              </a:ext>
            </a:extLst>
          </p:cNvPr>
          <p:cNvSpPr/>
          <p:nvPr/>
        </p:nvSpPr>
        <p:spPr>
          <a:xfrm>
            <a:off x="9480378" y="1772817"/>
            <a:ext cx="2664295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Secrets</a:t>
            </a:r>
          </a:p>
          <a:p>
            <a:pPr algn="r"/>
            <a:endParaRPr lang="en-US" sz="2000" dirty="0">
              <a:solidFill>
                <a:schemeClr val="tx1"/>
              </a:solidFill>
            </a:endParaRPr>
          </a:p>
          <a:p>
            <a:pPr algn="r"/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50" name="Téglalap 18">
            <a:extLst>
              <a:ext uri="{FF2B5EF4-FFF2-40B4-BE49-F238E27FC236}">
                <a16:creationId xmlns:a16="http://schemas.microsoft.com/office/drawing/2014/main" id="{54C861CF-FD4D-9F62-5E4A-947C087E7F6C}"/>
              </a:ext>
            </a:extLst>
          </p:cNvPr>
          <p:cNvSpPr/>
          <p:nvPr/>
        </p:nvSpPr>
        <p:spPr>
          <a:xfrm>
            <a:off x="9552385" y="2116398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Users</a:t>
            </a:r>
          </a:p>
        </p:txBody>
      </p:sp>
      <p:cxnSp>
        <p:nvCxnSpPr>
          <p:cNvPr id="51" name="Szögletes összekötő 23">
            <a:extLst>
              <a:ext uri="{FF2B5EF4-FFF2-40B4-BE49-F238E27FC236}">
                <a16:creationId xmlns:a16="http://schemas.microsoft.com/office/drawing/2014/main" id="{3A4A1C5D-7EA8-113E-E660-001EE71F9B60}"/>
              </a:ext>
            </a:extLst>
          </p:cNvPr>
          <p:cNvCxnSpPr>
            <a:stCxn id="47" idx="3"/>
            <a:endCxn id="49" idx="0"/>
          </p:cNvCxnSpPr>
          <p:nvPr/>
        </p:nvCxnSpPr>
        <p:spPr>
          <a:xfrm>
            <a:off x="9966958" y="1315770"/>
            <a:ext cx="845567" cy="457047"/>
          </a:xfrm>
          <a:prstGeom prst="bentConnector2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Szövegdoboz 24">
            <a:extLst>
              <a:ext uri="{FF2B5EF4-FFF2-40B4-BE49-F238E27FC236}">
                <a16:creationId xmlns:a16="http://schemas.microsoft.com/office/drawing/2014/main" id="{6C32D16F-E224-3B68-720A-361B4998D19B}"/>
              </a:ext>
            </a:extLst>
          </p:cNvPr>
          <p:cNvSpPr txBox="1"/>
          <p:nvPr/>
        </p:nvSpPr>
        <p:spPr>
          <a:xfrm>
            <a:off x="3506822" y="1764858"/>
            <a:ext cx="1219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err="1"/>
              <a:t>kubectl</a:t>
            </a:r>
            <a:r>
              <a:rPr lang="en-US" sz="1400" dirty="0"/>
              <a:t> create</a:t>
            </a:r>
          </a:p>
        </p:txBody>
      </p:sp>
      <p:sp>
        <p:nvSpPr>
          <p:cNvPr id="53" name="Téglalap 29">
            <a:extLst>
              <a:ext uri="{FF2B5EF4-FFF2-40B4-BE49-F238E27FC236}">
                <a16:creationId xmlns:a16="http://schemas.microsoft.com/office/drawing/2014/main" id="{068C4257-83C2-7DDC-8D06-6801AA7AAA22}"/>
              </a:ext>
            </a:extLst>
          </p:cNvPr>
          <p:cNvSpPr/>
          <p:nvPr/>
        </p:nvSpPr>
        <p:spPr>
          <a:xfrm>
            <a:off x="10416481" y="2116398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33" dirty="0">
                <a:solidFill>
                  <a:schemeClr val="tx1"/>
                </a:solidFill>
              </a:rPr>
              <a:t>Robots</a:t>
            </a:r>
          </a:p>
        </p:txBody>
      </p:sp>
      <p:sp>
        <p:nvSpPr>
          <p:cNvPr id="54" name="Téglalap 30">
            <a:extLst>
              <a:ext uri="{FF2B5EF4-FFF2-40B4-BE49-F238E27FC236}">
                <a16:creationId xmlns:a16="http://schemas.microsoft.com/office/drawing/2014/main" id="{B8D690C3-09C3-3958-C9A1-71C931D4540F}"/>
              </a:ext>
            </a:extLst>
          </p:cNvPr>
          <p:cNvSpPr/>
          <p:nvPr/>
        </p:nvSpPr>
        <p:spPr>
          <a:xfrm>
            <a:off x="11280575" y="2116398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7" dirty="0">
                <a:solidFill>
                  <a:schemeClr val="tx1"/>
                </a:solidFill>
              </a:rPr>
              <a:t>Standby</a:t>
            </a:r>
          </a:p>
        </p:txBody>
      </p:sp>
      <p:sp>
        <p:nvSpPr>
          <p:cNvPr id="55" name="Téglalap 35">
            <a:extLst>
              <a:ext uri="{FF2B5EF4-FFF2-40B4-BE49-F238E27FC236}">
                <a16:creationId xmlns:a16="http://schemas.microsoft.com/office/drawing/2014/main" id="{A29CA58D-F25E-15C9-B35E-F0CB24C1B579}"/>
              </a:ext>
            </a:extLst>
          </p:cNvPr>
          <p:cNvSpPr/>
          <p:nvPr/>
        </p:nvSpPr>
        <p:spPr>
          <a:xfrm>
            <a:off x="8040217" y="2780929"/>
            <a:ext cx="1926743" cy="5260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StatefulSet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6" name="Téglalap 36">
            <a:extLst>
              <a:ext uri="{FF2B5EF4-FFF2-40B4-BE49-F238E27FC236}">
                <a16:creationId xmlns:a16="http://schemas.microsoft.com/office/drawing/2014/main" id="{4ABC5738-B385-5C17-488D-31716E77C348}"/>
              </a:ext>
            </a:extLst>
          </p:cNvPr>
          <p:cNvSpPr/>
          <p:nvPr/>
        </p:nvSpPr>
        <p:spPr>
          <a:xfrm>
            <a:off x="5303913" y="3284985"/>
            <a:ext cx="1785924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Services</a:t>
            </a:r>
          </a:p>
          <a:p>
            <a:pPr algn="r"/>
            <a:endParaRPr lang="en-US" sz="2000" dirty="0">
              <a:solidFill>
                <a:schemeClr val="tx1"/>
              </a:solidFill>
            </a:endParaRPr>
          </a:p>
          <a:p>
            <a:pPr algn="r"/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57" name="Téglalap 38">
            <a:extLst>
              <a:ext uri="{FF2B5EF4-FFF2-40B4-BE49-F238E27FC236}">
                <a16:creationId xmlns:a16="http://schemas.microsoft.com/office/drawing/2014/main" id="{899EA765-294A-1D03-221C-3884DEB92268}"/>
              </a:ext>
            </a:extLst>
          </p:cNvPr>
          <p:cNvSpPr/>
          <p:nvPr/>
        </p:nvSpPr>
        <p:spPr>
          <a:xfrm>
            <a:off x="5361646" y="3628566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Primary</a:t>
            </a:r>
          </a:p>
        </p:txBody>
      </p:sp>
      <p:sp>
        <p:nvSpPr>
          <p:cNvPr id="58" name="Téglalap 39">
            <a:extLst>
              <a:ext uri="{FF2B5EF4-FFF2-40B4-BE49-F238E27FC236}">
                <a16:creationId xmlns:a16="http://schemas.microsoft.com/office/drawing/2014/main" id="{AF6FA762-68C9-98A5-9FC7-EF9AE77EE773}"/>
              </a:ext>
            </a:extLst>
          </p:cNvPr>
          <p:cNvSpPr/>
          <p:nvPr/>
        </p:nvSpPr>
        <p:spPr>
          <a:xfrm>
            <a:off x="6225741" y="3628566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Replica</a:t>
            </a:r>
          </a:p>
        </p:txBody>
      </p:sp>
      <p:sp>
        <p:nvSpPr>
          <p:cNvPr id="59" name="Téglalap 41">
            <a:extLst>
              <a:ext uri="{FF2B5EF4-FFF2-40B4-BE49-F238E27FC236}">
                <a16:creationId xmlns:a16="http://schemas.microsoft.com/office/drawing/2014/main" id="{7EA54C49-EB85-C347-DF2D-C08436C6C29A}"/>
              </a:ext>
            </a:extLst>
          </p:cNvPr>
          <p:cNvSpPr/>
          <p:nvPr/>
        </p:nvSpPr>
        <p:spPr>
          <a:xfrm>
            <a:off x="5303913" y="4662216"/>
            <a:ext cx="1785924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Endpoints</a:t>
            </a:r>
          </a:p>
          <a:p>
            <a:pPr algn="r"/>
            <a:endParaRPr lang="en-US" sz="1600" dirty="0">
              <a:solidFill>
                <a:schemeClr val="tx1"/>
              </a:solidFill>
            </a:endParaRPr>
          </a:p>
          <a:p>
            <a:pPr algn="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0" name="Téglalap 42">
            <a:extLst>
              <a:ext uri="{FF2B5EF4-FFF2-40B4-BE49-F238E27FC236}">
                <a16:creationId xmlns:a16="http://schemas.microsoft.com/office/drawing/2014/main" id="{7726B510-B365-53B4-79FF-B2418623ACCA}"/>
              </a:ext>
            </a:extLst>
          </p:cNvPr>
          <p:cNvSpPr/>
          <p:nvPr/>
        </p:nvSpPr>
        <p:spPr>
          <a:xfrm>
            <a:off x="5361646" y="5005795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Primary</a:t>
            </a:r>
          </a:p>
        </p:txBody>
      </p:sp>
      <p:sp>
        <p:nvSpPr>
          <p:cNvPr id="61" name="Téglalap 43">
            <a:extLst>
              <a:ext uri="{FF2B5EF4-FFF2-40B4-BE49-F238E27FC236}">
                <a16:creationId xmlns:a16="http://schemas.microsoft.com/office/drawing/2014/main" id="{1742ADD9-A13A-339A-AC1D-F5FB137B5C76}"/>
              </a:ext>
            </a:extLst>
          </p:cNvPr>
          <p:cNvSpPr/>
          <p:nvPr/>
        </p:nvSpPr>
        <p:spPr>
          <a:xfrm>
            <a:off x="6225741" y="5005795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7" dirty="0">
                <a:solidFill>
                  <a:schemeClr val="tx1"/>
                </a:solidFill>
              </a:rPr>
              <a:t>Replicas</a:t>
            </a:r>
          </a:p>
        </p:txBody>
      </p:sp>
      <p:sp>
        <p:nvSpPr>
          <p:cNvPr id="62" name="Téglalap 44">
            <a:extLst>
              <a:ext uri="{FF2B5EF4-FFF2-40B4-BE49-F238E27FC236}">
                <a16:creationId xmlns:a16="http://schemas.microsoft.com/office/drawing/2014/main" id="{8FFF5B16-D331-DD32-0318-5C80FDFABCC9}"/>
              </a:ext>
            </a:extLst>
          </p:cNvPr>
          <p:cNvSpPr/>
          <p:nvPr/>
        </p:nvSpPr>
        <p:spPr>
          <a:xfrm>
            <a:off x="8040217" y="3648453"/>
            <a:ext cx="1926743" cy="5260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Pod Template</a:t>
            </a:r>
          </a:p>
        </p:txBody>
      </p:sp>
      <p:sp>
        <p:nvSpPr>
          <p:cNvPr id="63" name="Téglalap 45">
            <a:extLst>
              <a:ext uri="{FF2B5EF4-FFF2-40B4-BE49-F238E27FC236}">
                <a16:creationId xmlns:a16="http://schemas.microsoft.com/office/drawing/2014/main" id="{961FC0CA-3C96-C3A0-DEAF-74942471485D}"/>
              </a:ext>
            </a:extLst>
          </p:cNvPr>
          <p:cNvSpPr/>
          <p:nvPr/>
        </p:nvSpPr>
        <p:spPr>
          <a:xfrm>
            <a:off x="7680178" y="4462553"/>
            <a:ext cx="2664295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Pods</a:t>
            </a:r>
          </a:p>
          <a:p>
            <a:pPr algn="r"/>
            <a:endParaRPr lang="en-US" sz="1600" dirty="0">
              <a:solidFill>
                <a:schemeClr val="tx1"/>
              </a:solidFill>
            </a:endParaRPr>
          </a:p>
          <a:p>
            <a:pPr algn="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4" name="Téglalap 46">
            <a:extLst>
              <a:ext uri="{FF2B5EF4-FFF2-40B4-BE49-F238E27FC236}">
                <a16:creationId xmlns:a16="http://schemas.microsoft.com/office/drawing/2014/main" id="{7DA18B31-DFD3-595B-E7EC-088B746C5C18}"/>
              </a:ext>
            </a:extLst>
          </p:cNvPr>
          <p:cNvSpPr/>
          <p:nvPr/>
        </p:nvSpPr>
        <p:spPr>
          <a:xfrm>
            <a:off x="7752185" y="4806133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Primary</a:t>
            </a:r>
          </a:p>
        </p:txBody>
      </p:sp>
      <p:sp>
        <p:nvSpPr>
          <p:cNvPr id="65" name="Téglalap 47">
            <a:extLst>
              <a:ext uri="{FF2B5EF4-FFF2-40B4-BE49-F238E27FC236}">
                <a16:creationId xmlns:a16="http://schemas.microsoft.com/office/drawing/2014/main" id="{7D059DFE-459A-731D-8BF5-93C121BD198E}"/>
              </a:ext>
            </a:extLst>
          </p:cNvPr>
          <p:cNvSpPr/>
          <p:nvPr/>
        </p:nvSpPr>
        <p:spPr>
          <a:xfrm>
            <a:off x="8616281" y="4806133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Primary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6" name="Téglalap 48">
            <a:extLst>
              <a:ext uri="{FF2B5EF4-FFF2-40B4-BE49-F238E27FC236}">
                <a16:creationId xmlns:a16="http://schemas.microsoft.com/office/drawing/2014/main" id="{79DC8006-0AF9-F083-44B9-8A71D1622A27}"/>
              </a:ext>
            </a:extLst>
          </p:cNvPr>
          <p:cNvSpPr/>
          <p:nvPr/>
        </p:nvSpPr>
        <p:spPr>
          <a:xfrm>
            <a:off x="9480375" y="4806133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Replica</a:t>
            </a:r>
          </a:p>
        </p:txBody>
      </p:sp>
      <p:sp>
        <p:nvSpPr>
          <p:cNvPr id="67" name="Téglalap 49">
            <a:extLst>
              <a:ext uri="{FF2B5EF4-FFF2-40B4-BE49-F238E27FC236}">
                <a16:creationId xmlns:a16="http://schemas.microsoft.com/office/drawing/2014/main" id="{5B3837C0-58AF-FE0F-D0BF-9421A4EA8522}"/>
              </a:ext>
            </a:extLst>
          </p:cNvPr>
          <p:cNvSpPr/>
          <p:nvPr/>
        </p:nvSpPr>
        <p:spPr>
          <a:xfrm>
            <a:off x="7680178" y="5677657"/>
            <a:ext cx="2664295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Persistent Volume Claims</a:t>
            </a:r>
            <a:endParaRPr lang="en-US" sz="1600" dirty="0">
              <a:solidFill>
                <a:schemeClr val="tx1"/>
              </a:solidFill>
            </a:endParaRPr>
          </a:p>
          <a:p>
            <a:pPr algn="r"/>
            <a:endParaRPr lang="en-US" sz="1600" dirty="0">
              <a:solidFill>
                <a:schemeClr val="tx1"/>
              </a:solidFill>
            </a:endParaRPr>
          </a:p>
          <a:p>
            <a:pPr algn="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8" name="Téglalap 50">
            <a:extLst>
              <a:ext uri="{FF2B5EF4-FFF2-40B4-BE49-F238E27FC236}">
                <a16:creationId xmlns:a16="http://schemas.microsoft.com/office/drawing/2014/main" id="{C5371973-63D9-2E2F-36AD-1D9D35525B3F}"/>
              </a:ext>
            </a:extLst>
          </p:cNvPr>
          <p:cNvSpPr/>
          <p:nvPr/>
        </p:nvSpPr>
        <p:spPr>
          <a:xfrm>
            <a:off x="7752185" y="6021237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Primary</a:t>
            </a:r>
          </a:p>
        </p:txBody>
      </p:sp>
      <p:sp>
        <p:nvSpPr>
          <p:cNvPr id="69" name="Téglalap 51">
            <a:extLst>
              <a:ext uri="{FF2B5EF4-FFF2-40B4-BE49-F238E27FC236}">
                <a16:creationId xmlns:a16="http://schemas.microsoft.com/office/drawing/2014/main" id="{475FC2B2-D3E1-1D03-EF70-4C50849DAD8D}"/>
              </a:ext>
            </a:extLst>
          </p:cNvPr>
          <p:cNvSpPr/>
          <p:nvPr/>
        </p:nvSpPr>
        <p:spPr>
          <a:xfrm>
            <a:off x="8616281" y="6021237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Replica</a:t>
            </a:r>
          </a:p>
        </p:txBody>
      </p:sp>
      <p:sp>
        <p:nvSpPr>
          <p:cNvPr id="70" name="Téglalap 52">
            <a:extLst>
              <a:ext uri="{FF2B5EF4-FFF2-40B4-BE49-F238E27FC236}">
                <a16:creationId xmlns:a16="http://schemas.microsoft.com/office/drawing/2014/main" id="{302C3117-C418-B704-CB1B-7F2CF9F35776}"/>
              </a:ext>
            </a:extLst>
          </p:cNvPr>
          <p:cNvSpPr/>
          <p:nvPr/>
        </p:nvSpPr>
        <p:spPr>
          <a:xfrm>
            <a:off x="9480375" y="6021237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Replica</a:t>
            </a:r>
          </a:p>
        </p:txBody>
      </p:sp>
      <p:cxnSp>
        <p:nvCxnSpPr>
          <p:cNvPr id="71" name="Egyenes összekötő nyíllal 59">
            <a:extLst>
              <a:ext uri="{FF2B5EF4-FFF2-40B4-BE49-F238E27FC236}">
                <a16:creationId xmlns:a16="http://schemas.microsoft.com/office/drawing/2014/main" id="{AC9F2F2F-3966-8D03-003E-AE03E9D9CA06}"/>
              </a:ext>
            </a:extLst>
          </p:cNvPr>
          <p:cNvCxnSpPr>
            <a:stCxn id="56" idx="0"/>
            <a:endCxn id="47" idx="2"/>
          </p:cNvCxnSpPr>
          <p:nvPr/>
        </p:nvCxnSpPr>
        <p:spPr>
          <a:xfrm flipV="1">
            <a:off x="6196876" y="1578804"/>
            <a:ext cx="2806713" cy="1706181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gyenes összekötő nyíllal 62">
            <a:extLst>
              <a:ext uri="{FF2B5EF4-FFF2-40B4-BE49-F238E27FC236}">
                <a16:creationId xmlns:a16="http://schemas.microsoft.com/office/drawing/2014/main" id="{893A157E-D00E-1D1E-D919-7420C7B2C289}"/>
              </a:ext>
            </a:extLst>
          </p:cNvPr>
          <p:cNvCxnSpPr>
            <a:stCxn id="55" idx="0"/>
            <a:endCxn id="47" idx="2"/>
          </p:cNvCxnSpPr>
          <p:nvPr/>
        </p:nvCxnSpPr>
        <p:spPr>
          <a:xfrm flipV="1">
            <a:off x="9003587" y="1578804"/>
            <a:ext cx="0" cy="1202125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gyenes összekötő nyíllal 65">
            <a:extLst>
              <a:ext uri="{FF2B5EF4-FFF2-40B4-BE49-F238E27FC236}">
                <a16:creationId xmlns:a16="http://schemas.microsoft.com/office/drawing/2014/main" id="{80A5400F-6521-D65D-D13A-D140DC57623F}"/>
              </a:ext>
            </a:extLst>
          </p:cNvPr>
          <p:cNvCxnSpPr>
            <a:stCxn id="62" idx="0"/>
            <a:endCxn id="55" idx="2"/>
          </p:cNvCxnSpPr>
          <p:nvPr/>
        </p:nvCxnSpPr>
        <p:spPr>
          <a:xfrm flipV="1">
            <a:off x="9003587" y="3306997"/>
            <a:ext cx="0" cy="341457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Egyenes összekötő nyíllal 68">
            <a:extLst>
              <a:ext uri="{FF2B5EF4-FFF2-40B4-BE49-F238E27FC236}">
                <a16:creationId xmlns:a16="http://schemas.microsoft.com/office/drawing/2014/main" id="{FAC6161A-188B-6485-CB8C-11FA3D5ECC9F}"/>
              </a:ext>
            </a:extLst>
          </p:cNvPr>
          <p:cNvCxnSpPr>
            <a:stCxn id="63" idx="0"/>
            <a:endCxn id="62" idx="2"/>
          </p:cNvCxnSpPr>
          <p:nvPr/>
        </p:nvCxnSpPr>
        <p:spPr>
          <a:xfrm flipH="1" flipV="1">
            <a:off x="9003589" y="4174519"/>
            <a:ext cx="8737" cy="288032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Egyenes összekötő nyíllal 71">
            <a:extLst>
              <a:ext uri="{FF2B5EF4-FFF2-40B4-BE49-F238E27FC236}">
                <a16:creationId xmlns:a16="http://schemas.microsoft.com/office/drawing/2014/main" id="{84B5DE6E-D577-AAE8-A962-A6799A7992B4}"/>
              </a:ext>
            </a:extLst>
          </p:cNvPr>
          <p:cNvCxnSpPr>
            <a:stCxn id="67" idx="0"/>
            <a:endCxn id="63" idx="2"/>
          </p:cNvCxnSpPr>
          <p:nvPr/>
        </p:nvCxnSpPr>
        <p:spPr>
          <a:xfrm flipV="1">
            <a:off x="9012324" y="5310242"/>
            <a:ext cx="0" cy="367415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gyenes összekötő nyíllal 74">
            <a:extLst>
              <a:ext uri="{FF2B5EF4-FFF2-40B4-BE49-F238E27FC236}">
                <a16:creationId xmlns:a16="http://schemas.microsoft.com/office/drawing/2014/main" id="{1686A3B0-3673-F233-ACCA-5270B6C38B74}"/>
              </a:ext>
            </a:extLst>
          </p:cNvPr>
          <p:cNvCxnSpPr>
            <a:stCxn id="59" idx="0"/>
            <a:endCxn id="56" idx="2"/>
          </p:cNvCxnSpPr>
          <p:nvPr/>
        </p:nvCxnSpPr>
        <p:spPr>
          <a:xfrm flipV="1">
            <a:off x="6196875" y="4132674"/>
            <a:ext cx="0" cy="529541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Kereszt 40">
            <a:extLst>
              <a:ext uri="{FF2B5EF4-FFF2-40B4-BE49-F238E27FC236}">
                <a16:creationId xmlns:a16="http://schemas.microsoft.com/office/drawing/2014/main" id="{D981B17C-4EF1-96A9-A238-AB0F5FD3147B}"/>
              </a:ext>
            </a:extLst>
          </p:cNvPr>
          <p:cNvSpPr/>
          <p:nvPr/>
        </p:nvSpPr>
        <p:spPr>
          <a:xfrm rot="18939333">
            <a:off x="7896200" y="4756612"/>
            <a:ext cx="504056" cy="510347"/>
          </a:xfrm>
          <a:prstGeom prst="plus">
            <a:avLst>
              <a:gd name="adj" fmla="val 39557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1200">
              <a:solidFill>
                <a:schemeClr val="tx1"/>
              </a:solidFill>
            </a:endParaRPr>
          </a:p>
        </p:txBody>
      </p:sp>
      <p:pic>
        <p:nvPicPr>
          <p:cNvPr id="78" name="Kép 14">
            <a:extLst>
              <a:ext uri="{FF2B5EF4-FFF2-40B4-BE49-F238E27FC236}">
                <a16:creationId xmlns:a16="http://schemas.microsoft.com/office/drawing/2014/main" id="{097B3594-A7F6-0C24-49AA-2031C8E8A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3" y="1590364"/>
            <a:ext cx="3354681" cy="3296033"/>
          </a:xfrm>
          <a:prstGeom prst="rect">
            <a:avLst/>
          </a:prstGeom>
          <a:ln>
            <a:solidFill>
              <a:schemeClr val="accent3"/>
            </a:solidFill>
          </a:ln>
        </p:spPr>
      </p:pic>
      <p:sp>
        <p:nvSpPr>
          <p:cNvPr id="79" name="Téglalap 9">
            <a:extLst>
              <a:ext uri="{FF2B5EF4-FFF2-40B4-BE49-F238E27FC236}">
                <a16:creationId xmlns:a16="http://schemas.microsoft.com/office/drawing/2014/main" id="{CCD27E5B-9775-7D06-D441-1031F646255F}"/>
              </a:ext>
            </a:extLst>
          </p:cNvPr>
          <p:cNvSpPr/>
          <p:nvPr/>
        </p:nvSpPr>
        <p:spPr>
          <a:xfrm>
            <a:off x="7752183" y="4811371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Replica</a:t>
            </a:r>
          </a:p>
        </p:txBody>
      </p:sp>
      <p:cxnSp>
        <p:nvCxnSpPr>
          <p:cNvPr id="80" name="Szögletes összekötő 14">
            <a:extLst>
              <a:ext uri="{FF2B5EF4-FFF2-40B4-BE49-F238E27FC236}">
                <a16:creationId xmlns:a16="http://schemas.microsoft.com/office/drawing/2014/main" id="{DB43DCE3-A1B9-D6D1-9B64-0A50679A930B}"/>
              </a:ext>
            </a:extLst>
          </p:cNvPr>
          <p:cNvCxnSpPr/>
          <p:nvPr/>
        </p:nvCxnSpPr>
        <p:spPr>
          <a:xfrm rot="5400000" flipH="1" flipV="1">
            <a:off x="7118369" y="3678413"/>
            <a:ext cx="201787" cy="3254635"/>
          </a:xfrm>
          <a:prstGeom prst="bentConnector3">
            <a:avLst>
              <a:gd name="adj1" fmla="val -113288"/>
            </a:avLst>
          </a:prstGeom>
          <a:ln w="25400">
            <a:prstDash val="sysDash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876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584AC-4572-788F-0680-A5CB1F906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D27DE8B-4252-8946-958B-A163EDE8028A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Strimzi Kafka</a:t>
            </a:r>
            <a:r>
              <a:rPr lang="en-US" dirty="0"/>
              <a:t> Operator</a:t>
            </a:r>
          </a:p>
        </p:txBody>
      </p:sp>
      <p:cxnSp>
        <p:nvCxnSpPr>
          <p:cNvPr id="3" name="Egyenes összekötő nyíllal 59">
            <a:extLst>
              <a:ext uri="{FF2B5EF4-FFF2-40B4-BE49-F238E27FC236}">
                <a16:creationId xmlns:a16="http://schemas.microsoft.com/office/drawing/2014/main" id="{82A48301-B84A-057C-257A-86A9149231FA}"/>
              </a:ext>
            </a:extLst>
          </p:cNvPr>
          <p:cNvCxnSpPr>
            <a:stCxn id="19" idx="0"/>
            <a:endCxn id="11" idx="2"/>
          </p:cNvCxnSpPr>
          <p:nvPr/>
        </p:nvCxnSpPr>
        <p:spPr>
          <a:xfrm flipV="1">
            <a:off x="4987835" y="1578804"/>
            <a:ext cx="4015754" cy="1873821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Egyenes összekötő nyíllal 32">
            <a:extLst>
              <a:ext uri="{FF2B5EF4-FFF2-40B4-BE49-F238E27FC236}">
                <a16:creationId xmlns:a16="http://schemas.microsoft.com/office/drawing/2014/main" id="{8D7ECA0E-03C9-3430-F329-20CEF63C227D}"/>
              </a:ext>
            </a:extLst>
          </p:cNvPr>
          <p:cNvCxnSpPr>
            <a:cxnSpLocks/>
            <a:stCxn id="40" idx="0"/>
            <a:endCxn id="11" idx="2"/>
          </p:cNvCxnSpPr>
          <p:nvPr/>
        </p:nvCxnSpPr>
        <p:spPr>
          <a:xfrm flipH="1" flipV="1">
            <a:off x="9003589" y="1578804"/>
            <a:ext cx="1768179" cy="1369765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Csoportba foglalás 77">
            <a:extLst>
              <a:ext uri="{FF2B5EF4-FFF2-40B4-BE49-F238E27FC236}">
                <a16:creationId xmlns:a16="http://schemas.microsoft.com/office/drawing/2014/main" id="{DD0A3265-85A6-E3AE-3576-B8BD2321F38A}"/>
              </a:ext>
            </a:extLst>
          </p:cNvPr>
          <p:cNvGrpSpPr/>
          <p:nvPr/>
        </p:nvGrpSpPr>
        <p:grpSpPr>
          <a:xfrm>
            <a:off x="4871864" y="1071433"/>
            <a:ext cx="2232248" cy="1756179"/>
            <a:chOff x="4871864" y="1071434"/>
            <a:chExt cx="2232248" cy="1756178"/>
          </a:xfrm>
        </p:grpSpPr>
        <p:sp>
          <p:nvSpPr>
            <p:cNvPr id="6" name="Téglalap 4">
              <a:extLst>
                <a:ext uri="{FF2B5EF4-FFF2-40B4-BE49-F238E27FC236}">
                  <a16:creationId xmlns:a16="http://schemas.microsoft.com/office/drawing/2014/main" id="{9967377C-0808-8653-71F2-AC3D7ED849DE}"/>
                </a:ext>
              </a:extLst>
            </p:cNvPr>
            <p:cNvSpPr/>
            <p:nvPr/>
          </p:nvSpPr>
          <p:spPr>
            <a:xfrm>
              <a:off x="5303912" y="1071434"/>
              <a:ext cx="1800200" cy="1368152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7" name="Téglalap 5">
              <a:extLst>
                <a:ext uri="{FF2B5EF4-FFF2-40B4-BE49-F238E27FC236}">
                  <a16:creationId xmlns:a16="http://schemas.microsoft.com/office/drawing/2014/main" id="{4CCAF5C6-4CE8-44E6-6AE3-A556143519A5}"/>
                </a:ext>
              </a:extLst>
            </p:cNvPr>
            <p:cNvSpPr/>
            <p:nvPr/>
          </p:nvSpPr>
          <p:spPr>
            <a:xfrm>
              <a:off x="5087888" y="1265447"/>
              <a:ext cx="1800200" cy="1368152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8" name="Téglalap 6">
              <a:extLst>
                <a:ext uri="{FF2B5EF4-FFF2-40B4-BE49-F238E27FC236}">
                  <a16:creationId xmlns:a16="http://schemas.microsoft.com/office/drawing/2014/main" id="{BAE7E941-7F1D-7869-B144-10C3611A9F48}"/>
                </a:ext>
              </a:extLst>
            </p:cNvPr>
            <p:cNvSpPr/>
            <p:nvPr/>
          </p:nvSpPr>
          <p:spPr>
            <a:xfrm>
              <a:off x="4871864" y="1459460"/>
              <a:ext cx="1800200" cy="1368152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  <a:p>
              <a:pPr algn="ctr"/>
              <a:r>
                <a:rPr lang="en-US" sz="1600" dirty="0"/>
                <a:t>Kubernetes API</a:t>
              </a:r>
            </a:p>
          </p:txBody>
        </p:sp>
        <p:pic>
          <p:nvPicPr>
            <p:cNvPr id="9" name="Picture 6" descr="Image result for kubernetes icon">
              <a:extLst>
                <a:ext uri="{FF2B5EF4-FFF2-40B4-BE49-F238E27FC236}">
                  <a16:creationId xmlns:a16="http://schemas.microsoft.com/office/drawing/2014/main" id="{89C75792-1080-76B3-E638-C5B9CAF832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02051" y="1619208"/>
              <a:ext cx="539825" cy="5243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0" name="Egyenes összekötő nyíllal 8">
            <a:extLst>
              <a:ext uri="{FF2B5EF4-FFF2-40B4-BE49-F238E27FC236}">
                <a16:creationId xmlns:a16="http://schemas.microsoft.com/office/drawing/2014/main" id="{5C2F812B-9B36-EA5B-4A7C-ADCFB830C6C2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3377906" y="2143536"/>
            <a:ext cx="1493959" cy="0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églalap 10">
            <a:extLst>
              <a:ext uri="{FF2B5EF4-FFF2-40B4-BE49-F238E27FC236}">
                <a16:creationId xmlns:a16="http://schemas.microsoft.com/office/drawing/2014/main" id="{A44FF8A6-170D-9A2B-134C-8EF9EEB53066}"/>
              </a:ext>
            </a:extLst>
          </p:cNvPr>
          <p:cNvSpPr/>
          <p:nvPr/>
        </p:nvSpPr>
        <p:spPr>
          <a:xfrm>
            <a:off x="8040217" y="1052737"/>
            <a:ext cx="1926743" cy="5260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 err="1">
                <a:solidFill>
                  <a:schemeClr val="tx1"/>
                </a:solidFill>
              </a:rPr>
              <a:t>Strimzi</a:t>
            </a:r>
            <a:r>
              <a:rPr lang="en-US" sz="1400" dirty="0">
                <a:solidFill>
                  <a:schemeClr val="tx1"/>
                </a:solidFill>
              </a:rPr>
              <a:t> Operator</a:t>
            </a:r>
          </a:p>
        </p:txBody>
      </p:sp>
      <p:cxnSp>
        <p:nvCxnSpPr>
          <p:cNvPr id="12" name="Szögletes összekötő 12">
            <a:extLst>
              <a:ext uri="{FF2B5EF4-FFF2-40B4-BE49-F238E27FC236}">
                <a16:creationId xmlns:a16="http://schemas.microsoft.com/office/drawing/2014/main" id="{CEAA8148-416B-7406-5434-8AC34790EE94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7104112" y="1315771"/>
            <a:ext cx="936104" cy="439740"/>
          </a:xfrm>
          <a:prstGeom prst="bentConnector3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églalap 17">
            <a:extLst>
              <a:ext uri="{FF2B5EF4-FFF2-40B4-BE49-F238E27FC236}">
                <a16:creationId xmlns:a16="http://schemas.microsoft.com/office/drawing/2014/main" id="{FC5A11E5-5124-8EE9-824D-126FFC87FB36}"/>
              </a:ext>
            </a:extLst>
          </p:cNvPr>
          <p:cNvSpPr/>
          <p:nvPr/>
        </p:nvSpPr>
        <p:spPr>
          <a:xfrm>
            <a:off x="9480378" y="1772817"/>
            <a:ext cx="2664295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000" dirty="0" err="1">
                <a:solidFill>
                  <a:schemeClr val="tx1"/>
                </a:solidFill>
              </a:rPr>
              <a:t>ConfigMaps</a:t>
            </a:r>
            <a:endParaRPr lang="en-US" sz="2000" dirty="0">
              <a:solidFill>
                <a:schemeClr val="tx1"/>
              </a:solidFill>
            </a:endParaRPr>
          </a:p>
          <a:p>
            <a:pPr algn="r"/>
            <a:endParaRPr lang="en-US" sz="2000" dirty="0">
              <a:solidFill>
                <a:schemeClr val="tx1"/>
              </a:solidFill>
            </a:endParaRPr>
          </a:p>
          <a:p>
            <a:pPr algn="r"/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4" name="Téglalap 18">
            <a:extLst>
              <a:ext uri="{FF2B5EF4-FFF2-40B4-BE49-F238E27FC236}">
                <a16:creationId xmlns:a16="http://schemas.microsoft.com/office/drawing/2014/main" id="{F79AC0A5-6EBE-E29A-2FFD-E6D5A82F1BD6}"/>
              </a:ext>
            </a:extLst>
          </p:cNvPr>
          <p:cNvSpPr/>
          <p:nvPr/>
        </p:nvSpPr>
        <p:spPr>
          <a:xfrm>
            <a:off x="9552384" y="2116398"/>
            <a:ext cx="1219379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 err="1">
                <a:solidFill>
                  <a:schemeClr val="tx1"/>
                </a:solidFill>
              </a:rPr>
              <a:t>kafka</a:t>
            </a:r>
            <a:r>
              <a:rPr lang="hu-HU" sz="1400" dirty="0">
                <a:solidFill>
                  <a:schemeClr val="tx1"/>
                </a:solidFill>
              </a:rPr>
              <a:t>.</a:t>
            </a:r>
            <a:br>
              <a:rPr lang="hu-HU" sz="1400" dirty="0">
                <a:solidFill>
                  <a:schemeClr val="tx1"/>
                </a:solidFill>
              </a:rPr>
            </a:br>
            <a:r>
              <a:rPr lang="hu-HU" sz="1400" dirty="0" err="1">
                <a:solidFill>
                  <a:schemeClr val="tx1"/>
                </a:solidFill>
              </a:rPr>
              <a:t>properties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zögletes összekötő 23">
            <a:extLst>
              <a:ext uri="{FF2B5EF4-FFF2-40B4-BE49-F238E27FC236}">
                <a16:creationId xmlns:a16="http://schemas.microsoft.com/office/drawing/2014/main" id="{4AAC7AD8-91D7-01A4-1E88-45DA87CD18B3}"/>
              </a:ext>
            </a:extLst>
          </p:cNvPr>
          <p:cNvCxnSpPr>
            <a:stCxn id="11" idx="3"/>
            <a:endCxn id="13" idx="0"/>
          </p:cNvCxnSpPr>
          <p:nvPr/>
        </p:nvCxnSpPr>
        <p:spPr>
          <a:xfrm>
            <a:off x="9966958" y="1315770"/>
            <a:ext cx="845567" cy="457047"/>
          </a:xfrm>
          <a:prstGeom prst="bentConnector2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zövegdoboz 24">
            <a:extLst>
              <a:ext uri="{FF2B5EF4-FFF2-40B4-BE49-F238E27FC236}">
                <a16:creationId xmlns:a16="http://schemas.microsoft.com/office/drawing/2014/main" id="{4F9E6A94-68B1-4018-28BA-E6A0AE4CC315}"/>
              </a:ext>
            </a:extLst>
          </p:cNvPr>
          <p:cNvSpPr txBox="1"/>
          <p:nvPr/>
        </p:nvSpPr>
        <p:spPr>
          <a:xfrm>
            <a:off x="3506822" y="1764858"/>
            <a:ext cx="1219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err="1"/>
              <a:t>kubectl</a:t>
            </a:r>
            <a:r>
              <a:rPr lang="en-US" sz="1400" dirty="0"/>
              <a:t> create</a:t>
            </a:r>
          </a:p>
        </p:txBody>
      </p:sp>
      <p:sp>
        <p:nvSpPr>
          <p:cNvPr id="17" name="Téglalap 29">
            <a:extLst>
              <a:ext uri="{FF2B5EF4-FFF2-40B4-BE49-F238E27FC236}">
                <a16:creationId xmlns:a16="http://schemas.microsoft.com/office/drawing/2014/main" id="{B9E49D69-160B-647F-335D-B444C96642E0}"/>
              </a:ext>
            </a:extLst>
          </p:cNvPr>
          <p:cNvSpPr/>
          <p:nvPr/>
        </p:nvSpPr>
        <p:spPr>
          <a:xfrm>
            <a:off x="10843774" y="2116398"/>
            <a:ext cx="1228889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zookeeper</a:t>
            </a:r>
            <a:r>
              <a:rPr lang="hu-HU" sz="1200" dirty="0">
                <a:solidFill>
                  <a:schemeClr val="tx1"/>
                </a:solidFill>
              </a:rPr>
              <a:t>.</a:t>
            </a:r>
            <a:br>
              <a:rPr lang="hu-HU" sz="1200" dirty="0">
                <a:solidFill>
                  <a:schemeClr val="tx1"/>
                </a:solidFill>
              </a:rPr>
            </a:br>
            <a:r>
              <a:rPr lang="hu-HU" sz="1200" dirty="0" err="1">
                <a:solidFill>
                  <a:schemeClr val="tx1"/>
                </a:solidFill>
              </a:rPr>
              <a:t>properties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" name="Téglalap 35">
            <a:extLst>
              <a:ext uri="{FF2B5EF4-FFF2-40B4-BE49-F238E27FC236}">
                <a16:creationId xmlns:a16="http://schemas.microsoft.com/office/drawing/2014/main" id="{863CDBEA-FAC0-AFD6-6616-E848F2852BAF}"/>
              </a:ext>
            </a:extLst>
          </p:cNvPr>
          <p:cNvSpPr/>
          <p:nvPr/>
        </p:nvSpPr>
        <p:spPr>
          <a:xfrm>
            <a:off x="6831177" y="2948569"/>
            <a:ext cx="1926743" cy="5260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StatefulSet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Téglalap 36">
            <a:extLst>
              <a:ext uri="{FF2B5EF4-FFF2-40B4-BE49-F238E27FC236}">
                <a16:creationId xmlns:a16="http://schemas.microsoft.com/office/drawing/2014/main" id="{7BAB4AAA-3CC9-700B-394C-59CE0CD55BD2}"/>
              </a:ext>
            </a:extLst>
          </p:cNvPr>
          <p:cNvSpPr/>
          <p:nvPr/>
        </p:nvSpPr>
        <p:spPr>
          <a:xfrm>
            <a:off x="4094873" y="3452625"/>
            <a:ext cx="1785924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Services</a:t>
            </a:r>
          </a:p>
          <a:p>
            <a:pPr algn="r"/>
            <a:endParaRPr lang="en-US" sz="2000" dirty="0">
              <a:solidFill>
                <a:schemeClr val="tx1"/>
              </a:solidFill>
            </a:endParaRPr>
          </a:p>
          <a:p>
            <a:pPr algn="r"/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20" name="Téglalap 38">
            <a:extLst>
              <a:ext uri="{FF2B5EF4-FFF2-40B4-BE49-F238E27FC236}">
                <a16:creationId xmlns:a16="http://schemas.microsoft.com/office/drawing/2014/main" id="{85F078C0-A79C-74A6-E124-55B6E331602A}"/>
              </a:ext>
            </a:extLst>
          </p:cNvPr>
          <p:cNvSpPr/>
          <p:nvPr/>
        </p:nvSpPr>
        <p:spPr>
          <a:xfrm>
            <a:off x="4152606" y="3796206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Bootstrap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1" name="Téglalap 39">
            <a:extLst>
              <a:ext uri="{FF2B5EF4-FFF2-40B4-BE49-F238E27FC236}">
                <a16:creationId xmlns:a16="http://schemas.microsoft.com/office/drawing/2014/main" id="{E824831F-95BB-1730-954C-E09DCAC43C82}"/>
              </a:ext>
            </a:extLst>
          </p:cNvPr>
          <p:cNvSpPr/>
          <p:nvPr/>
        </p:nvSpPr>
        <p:spPr>
          <a:xfrm>
            <a:off x="5016701" y="3796206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Listeners</a:t>
            </a:r>
            <a:r>
              <a:rPr lang="hu-HU" sz="1200" dirty="0">
                <a:solidFill>
                  <a:schemeClr val="tx1"/>
                </a:solidFill>
              </a:rPr>
              <a:t> </a:t>
            </a:r>
            <a:r>
              <a:rPr lang="hu-HU" sz="1100" dirty="0">
                <a:solidFill>
                  <a:schemeClr val="tx1"/>
                </a:solidFill>
              </a:rPr>
              <a:t>(</a:t>
            </a:r>
            <a:r>
              <a:rPr lang="hu-HU" sz="1100" dirty="0" err="1">
                <a:solidFill>
                  <a:schemeClr val="tx1"/>
                </a:solidFill>
              </a:rPr>
              <a:t>headless</a:t>
            </a:r>
            <a:r>
              <a:rPr lang="hu-HU" sz="1100" dirty="0">
                <a:solidFill>
                  <a:schemeClr val="tx1"/>
                </a:solidFill>
              </a:rPr>
              <a:t>)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2" name="Téglalap 41">
            <a:extLst>
              <a:ext uri="{FF2B5EF4-FFF2-40B4-BE49-F238E27FC236}">
                <a16:creationId xmlns:a16="http://schemas.microsoft.com/office/drawing/2014/main" id="{0E1EF5BF-7C0C-70CF-4136-05F8DC8DE20B}"/>
              </a:ext>
            </a:extLst>
          </p:cNvPr>
          <p:cNvSpPr/>
          <p:nvPr/>
        </p:nvSpPr>
        <p:spPr>
          <a:xfrm>
            <a:off x="4094873" y="4829856"/>
            <a:ext cx="1785924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Endpoints</a:t>
            </a:r>
          </a:p>
          <a:p>
            <a:pPr algn="r"/>
            <a:endParaRPr lang="en-US" sz="1600" dirty="0">
              <a:solidFill>
                <a:schemeClr val="tx1"/>
              </a:solidFill>
            </a:endParaRPr>
          </a:p>
          <a:p>
            <a:pPr algn="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3" name="Téglalap 42">
            <a:extLst>
              <a:ext uri="{FF2B5EF4-FFF2-40B4-BE49-F238E27FC236}">
                <a16:creationId xmlns:a16="http://schemas.microsoft.com/office/drawing/2014/main" id="{CF2E6BE0-23F8-2BD2-81FC-75A7BB6602BD}"/>
              </a:ext>
            </a:extLst>
          </p:cNvPr>
          <p:cNvSpPr/>
          <p:nvPr/>
        </p:nvSpPr>
        <p:spPr>
          <a:xfrm>
            <a:off x="4152606" y="5173435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Bootstrap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4" name="Téglalap 43">
            <a:extLst>
              <a:ext uri="{FF2B5EF4-FFF2-40B4-BE49-F238E27FC236}">
                <a16:creationId xmlns:a16="http://schemas.microsoft.com/office/drawing/2014/main" id="{8F9795FC-D62E-3642-3E5B-0E593F1B1CF5}"/>
              </a:ext>
            </a:extLst>
          </p:cNvPr>
          <p:cNvSpPr/>
          <p:nvPr/>
        </p:nvSpPr>
        <p:spPr>
          <a:xfrm>
            <a:off x="5016701" y="5173435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100" dirty="0" err="1">
                <a:solidFill>
                  <a:schemeClr val="tx1"/>
                </a:solidFill>
              </a:rPr>
              <a:t>Listeners</a:t>
            </a:r>
            <a:r>
              <a:rPr lang="hu-HU" sz="1100" dirty="0">
                <a:solidFill>
                  <a:schemeClr val="tx1"/>
                </a:solidFill>
              </a:rPr>
              <a:t> </a:t>
            </a:r>
            <a:r>
              <a:rPr lang="hu-HU" sz="1050" dirty="0">
                <a:solidFill>
                  <a:schemeClr val="tx1"/>
                </a:solidFill>
              </a:rPr>
              <a:t>(</a:t>
            </a:r>
            <a:r>
              <a:rPr lang="hu-HU" sz="1050" dirty="0" err="1">
                <a:solidFill>
                  <a:schemeClr val="tx1"/>
                </a:solidFill>
              </a:rPr>
              <a:t>headless</a:t>
            </a:r>
            <a:r>
              <a:rPr lang="hu-HU" sz="1050" dirty="0">
                <a:solidFill>
                  <a:schemeClr val="tx1"/>
                </a:solidFill>
              </a:rPr>
              <a:t>)</a:t>
            </a:r>
            <a:endParaRPr lang="en-US" sz="1050" dirty="0">
              <a:solidFill>
                <a:schemeClr val="tx1"/>
              </a:solidFill>
            </a:endParaRPr>
          </a:p>
        </p:txBody>
      </p:sp>
      <p:sp>
        <p:nvSpPr>
          <p:cNvPr id="25" name="Téglalap 44">
            <a:extLst>
              <a:ext uri="{FF2B5EF4-FFF2-40B4-BE49-F238E27FC236}">
                <a16:creationId xmlns:a16="http://schemas.microsoft.com/office/drawing/2014/main" id="{00638551-5581-AD50-A69F-040B460BB9B9}"/>
              </a:ext>
            </a:extLst>
          </p:cNvPr>
          <p:cNvSpPr/>
          <p:nvPr/>
        </p:nvSpPr>
        <p:spPr>
          <a:xfrm>
            <a:off x="6831177" y="3816093"/>
            <a:ext cx="1926743" cy="5260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Pod Template</a:t>
            </a:r>
          </a:p>
        </p:txBody>
      </p:sp>
      <p:sp>
        <p:nvSpPr>
          <p:cNvPr id="26" name="Téglalap 45">
            <a:extLst>
              <a:ext uri="{FF2B5EF4-FFF2-40B4-BE49-F238E27FC236}">
                <a16:creationId xmlns:a16="http://schemas.microsoft.com/office/drawing/2014/main" id="{8AF36376-8D08-0296-96D1-7C8C2C7402EF}"/>
              </a:ext>
            </a:extLst>
          </p:cNvPr>
          <p:cNvSpPr/>
          <p:nvPr/>
        </p:nvSpPr>
        <p:spPr>
          <a:xfrm>
            <a:off x="6471138" y="4630193"/>
            <a:ext cx="2664295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>
                <a:solidFill>
                  <a:schemeClr val="tx1"/>
                </a:solidFill>
              </a:rPr>
              <a:t>Kafka </a:t>
            </a:r>
            <a:r>
              <a:rPr lang="en-US" sz="1600" dirty="0">
                <a:solidFill>
                  <a:schemeClr val="tx1"/>
                </a:solidFill>
              </a:rPr>
              <a:t>Pods</a:t>
            </a:r>
          </a:p>
          <a:p>
            <a:pPr algn="r"/>
            <a:endParaRPr lang="en-US" sz="1600" dirty="0">
              <a:solidFill>
                <a:schemeClr val="tx1"/>
              </a:solidFill>
            </a:endParaRPr>
          </a:p>
          <a:p>
            <a:pPr algn="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7" name="Téglalap 46">
            <a:extLst>
              <a:ext uri="{FF2B5EF4-FFF2-40B4-BE49-F238E27FC236}">
                <a16:creationId xmlns:a16="http://schemas.microsoft.com/office/drawing/2014/main" id="{C50AF1D1-AE2A-0DDF-E37E-51314BC3B31E}"/>
              </a:ext>
            </a:extLst>
          </p:cNvPr>
          <p:cNvSpPr/>
          <p:nvPr/>
        </p:nvSpPr>
        <p:spPr>
          <a:xfrm>
            <a:off x="6543145" y="4973773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Broker</a:t>
            </a:r>
            <a:r>
              <a:rPr lang="hu-HU" sz="1200" dirty="0">
                <a:solidFill>
                  <a:schemeClr val="tx1"/>
                </a:solidFill>
              </a:rPr>
              <a:t> 0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8" name="Téglalap 47">
            <a:extLst>
              <a:ext uri="{FF2B5EF4-FFF2-40B4-BE49-F238E27FC236}">
                <a16:creationId xmlns:a16="http://schemas.microsoft.com/office/drawing/2014/main" id="{B33F8AFC-9236-9A97-6893-C9D78C71FDA7}"/>
              </a:ext>
            </a:extLst>
          </p:cNvPr>
          <p:cNvSpPr/>
          <p:nvPr/>
        </p:nvSpPr>
        <p:spPr>
          <a:xfrm>
            <a:off x="7407241" y="4973773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Broker</a:t>
            </a:r>
            <a:r>
              <a:rPr lang="hu-HU" sz="1200" dirty="0">
                <a:solidFill>
                  <a:schemeClr val="tx1"/>
                </a:solidFill>
              </a:rPr>
              <a:t> 1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9" name="Téglalap 48">
            <a:extLst>
              <a:ext uri="{FF2B5EF4-FFF2-40B4-BE49-F238E27FC236}">
                <a16:creationId xmlns:a16="http://schemas.microsoft.com/office/drawing/2014/main" id="{5D73C519-E1CB-768C-CABD-83D9DCDFD216}"/>
              </a:ext>
            </a:extLst>
          </p:cNvPr>
          <p:cNvSpPr/>
          <p:nvPr/>
        </p:nvSpPr>
        <p:spPr>
          <a:xfrm>
            <a:off x="8271335" y="4973773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Broker</a:t>
            </a:r>
            <a:r>
              <a:rPr lang="hu-HU" sz="1200" dirty="0">
                <a:solidFill>
                  <a:schemeClr val="tx1"/>
                </a:solidFill>
              </a:rPr>
              <a:t> 2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0" name="Téglalap 49">
            <a:extLst>
              <a:ext uri="{FF2B5EF4-FFF2-40B4-BE49-F238E27FC236}">
                <a16:creationId xmlns:a16="http://schemas.microsoft.com/office/drawing/2014/main" id="{94251022-B762-8130-8F00-A7E4AFDD7780}"/>
              </a:ext>
            </a:extLst>
          </p:cNvPr>
          <p:cNvSpPr/>
          <p:nvPr/>
        </p:nvSpPr>
        <p:spPr>
          <a:xfrm>
            <a:off x="6471138" y="5845297"/>
            <a:ext cx="2664295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Persistent Volume Claims</a:t>
            </a:r>
            <a:endParaRPr lang="en-US" sz="1600" dirty="0">
              <a:solidFill>
                <a:schemeClr val="tx1"/>
              </a:solidFill>
            </a:endParaRPr>
          </a:p>
          <a:p>
            <a:pPr algn="r"/>
            <a:endParaRPr lang="en-US" sz="1600" dirty="0">
              <a:solidFill>
                <a:schemeClr val="tx1"/>
              </a:solidFill>
            </a:endParaRPr>
          </a:p>
          <a:p>
            <a:pPr algn="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1" name="Téglalap 50">
            <a:extLst>
              <a:ext uri="{FF2B5EF4-FFF2-40B4-BE49-F238E27FC236}">
                <a16:creationId xmlns:a16="http://schemas.microsoft.com/office/drawing/2014/main" id="{CE7B7214-5855-13B0-F93F-0C05134F2BE7}"/>
              </a:ext>
            </a:extLst>
          </p:cNvPr>
          <p:cNvSpPr/>
          <p:nvPr/>
        </p:nvSpPr>
        <p:spPr>
          <a:xfrm>
            <a:off x="6543145" y="6188877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Broker</a:t>
            </a:r>
            <a:r>
              <a:rPr lang="hu-HU" sz="1200" dirty="0">
                <a:solidFill>
                  <a:schemeClr val="tx1"/>
                </a:solidFill>
              </a:rPr>
              <a:t> 0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2" name="Téglalap 51">
            <a:extLst>
              <a:ext uri="{FF2B5EF4-FFF2-40B4-BE49-F238E27FC236}">
                <a16:creationId xmlns:a16="http://schemas.microsoft.com/office/drawing/2014/main" id="{3D98FBA6-0857-9BEC-F667-48B6877A6BD5}"/>
              </a:ext>
            </a:extLst>
          </p:cNvPr>
          <p:cNvSpPr/>
          <p:nvPr/>
        </p:nvSpPr>
        <p:spPr>
          <a:xfrm>
            <a:off x="7407241" y="6188877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Broker</a:t>
            </a:r>
            <a:r>
              <a:rPr lang="hu-HU" sz="1200" dirty="0">
                <a:solidFill>
                  <a:schemeClr val="tx1"/>
                </a:solidFill>
              </a:rPr>
              <a:t> 1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3" name="Téglalap 52">
            <a:extLst>
              <a:ext uri="{FF2B5EF4-FFF2-40B4-BE49-F238E27FC236}">
                <a16:creationId xmlns:a16="http://schemas.microsoft.com/office/drawing/2014/main" id="{4F85F14F-051A-EF6A-0B5D-D19FCE55B559}"/>
              </a:ext>
            </a:extLst>
          </p:cNvPr>
          <p:cNvSpPr/>
          <p:nvPr/>
        </p:nvSpPr>
        <p:spPr>
          <a:xfrm>
            <a:off x="8271335" y="6188877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Broker</a:t>
            </a:r>
            <a:r>
              <a:rPr lang="hu-HU" sz="1200" dirty="0">
                <a:solidFill>
                  <a:schemeClr val="tx1"/>
                </a:solidFill>
              </a:rPr>
              <a:t> 2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34" name="Egyenes összekötő nyíllal 62">
            <a:extLst>
              <a:ext uri="{FF2B5EF4-FFF2-40B4-BE49-F238E27FC236}">
                <a16:creationId xmlns:a16="http://schemas.microsoft.com/office/drawing/2014/main" id="{7C54B6D4-47BC-7921-6AFE-7C7A9B2CCF10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flipV="1">
            <a:off x="7794549" y="1578804"/>
            <a:ext cx="1209040" cy="1369765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gyenes összekötő nyíllal 65">
            <a:extLst>
              <a:ext uri="{FF2B5EF4-FFF2-40B4-BE49-F238E27FC236}">
                <a16:creationId xmlns:a16="http://schemas.microsoft.com/office/drawing/2014/main" id="{586E6E54-12B0-BF7C-608B-136D55EAB713}"/>
              </a:ext>
            </a:extLst>
          </p:cNvPr>
          <p:cNvCxnSpPr>
            <a:stCxn id="25" idx="0"/>
            <a:endCxn id="18" idx="2"/>
          </p:cNvCxnSpPr>
          <p:nvPr/>
        </p:nvCxnSpPr>
        <p:spPr>
          <a:xfrm flipV="1">
            <a:off x="7794547" y="3474637"/>
            <a:ext cx="0" cy="341457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gyenes összekötő nyíllal 68">
            <a:extLst>
              <a:ext uri="{FF2B5EF4-FFF2-40B4-BE49-F238E27FC236}">
                <a16:creationId xmlns:a16="http://schemas.microsoft.com/office/drawing/2014/main" id="{875827D9-D475-D04B-8F8D-CFFF463A386C}"/>
              </a:ext>
            </a:extLst>
          </p:cNvPr>
          <p:cNvCxnSpPr>
            <a:stCxn id="26" idx="0"/>
            <a:endCxn id="25" idx="2"/>
          </p:cNvCxnSpPr>
          <p:nvPr/>
        </p:nvCxnSpPr>
        <p:spPr>
          <a:xfrm flipH="1" flipV="1">
            <a:off x="7794549" y="4342159"/>
            <a:ext cx="8737" cy="288032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gyenes összekötő nyíllal 71">
            <a:extLst>
              <a:ext uri="{FF2B5EF4-FFF2-40B4-BE49-F238E27FC236}">
                <a16:creationId xmlns:a16="http://schemas.microsoft.com/office/drawing/2014/main" id="{30345199-23D4-EB3B-CA6F-99D44D3B18ED}"/>
              </a:ext>
            </a:extLst>
          </p:cNvPr>
          <p:cNvCxnSpPr>
            <a:stCxn id="30" idx="0"/>
            <a:endCxn id="26" idx="2"/>
          </p:cNvCxnSpPr>
          <p:nvPr/>
        </p:nvCxnSpPr>
        <p:spPr>
          <a:xfrm flipV="1">
            <a:off x="7803284" y="5477882"/>
            <a:ext cx="0" cy="367415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Egyenes összekötő nyíllal 74">
            <a:extLst>
              <a:ext uri="{FF2B5EF4-FFF2-40B4-BE49-F238E27FC236}">
                <a16:creationId xmlns:a16="http://schemas.microsoft.com/office/drawing/2014/main" id="{1F492857-4AAE-CC3D-D4B3-652E9E4A46C8}"/>
              </a:ext>
            </a:extLst>
          </p:cNvPr>
          <p:cNvCxnSpPr>
            <a:stCxn id="22" idx="0"/>
            <a:endCxn id="19" idx="2"/>
          </p:cNvCxnSpPr>
          <p:nvPr/>
        </p:nvCxnSpPr>
        <p:spPr>
          <a:xfrm flipV="1">
            <a:off x="4987835" y="4300314"/>
            <a:ext cx="0" cy="529541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Kép 3">
            <a:extLst>
              <a:ext uri="{FF2B5EF4-FFF2-40B4-BE49-F238E27FC236}">
                <a16:creationId xmlns:a16="http://schemas.microsoft.com/office/drawing/2014/main" id="{9FEE8F82-E1EC-0F99-E634-AE71A8D5B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94055"/>
            <a:ext cx="3373013" cy="45613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0" name="Téglalap 9">
            <a:extLst>
              <a:ext uri="{FF2B5EF4-FFF2-40B4-BE49-F238E27FC236}">
                <a16:creationId xmlns:a16="http://schemas.microsoft.com/office/drawing/2014/main" id="{A2660AF4-0BD7-DF19-B0F9-DD9C1E77D504}"/>
              </a:ext>
            </a:extLst>
          </p:cNvPr>
          <p:cNvSpPr/>
          <p:nvPr/>
        </p:nvSpPr>
        <p:spPr>
          <a:xfrm>
            <a:off x="9808396" y="2948569"/>
            <a:ext cx="1926743" cy="5260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StatefulSet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81" name="Téglalap 11">
            <a:extLst>
              <a:ext uri="{FF2B5EF4-FFF2-40B4-BE49-F238E27FC236}">
                <a16:creationId xmlns:a16="http://schemas.microsoft.com/office/drawing/2014/main" id="{B5E5ED8D-B073-F4AC-6CAA-A213A022D8DB}"/>
              </a:ext>
            </a:extLst>
          </p:cNvPr>
          <p:cNvSpPr/>
          <p:nvPr/>
        </p:nvSpPr>
        <p:spPr>
          <a:xfrm>
            <a:off x="9808396" y="3816093"/>
            <a:ext cx="1926743" cy="5260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Pod Template</a:t>
            </a:r>
          </a:p>
        </p:txBody>
      </p:sp>
      <p:sp>
        <p:nvSpPr>
          <p:cNvPr id="82" name="Téglalap 13">
            <a:extLst>
              <a:ext uri="{FF2B5EF4-FFF2-40B4-BE49-F238E27FC236}">
                <a16:creationId xmlns:a16="http://schemas.microsoft.com/office/drawing/2014/main" id="{9974690E-42EC-7402-C235-E3AD7880F17C}"/>
              </a:ext>
            </a:extLst>
          </p:cNvPr>
          <p:cNvSpPr/>
          <p:nvPr/>
        </p:nvSpPr>
        <p:spPr>
          <a:xfrm>
            <a:off x="9448357" y="4630193"/>
            <a:ext cx="2664295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dirty="0" err="1">
                <a:solidFill>
                  <a:schemeClr val="tx1"/>
                </a:solidFill>
              </a:rPr>
              <a:t>Zookeeper</a:t>
            </a:r>
            <a:r>
              <a:rPr lang="hu-HU" sz="1600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Pods</a:t>
            </a:r>
          </a:p>
          <a:p>
            <a:pPr algn="r"/>
            <a:endParaRPr lang="en-US" sz="1600" dirty="0">
              <a:solidFill>
                <a:schemeClr val="tx1"/>
              </a:solidFill>
            </a:endParaRPr>
          </a:p>
          <a:p>
            <a:pPr algn="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83" name="Téglalap 15">
            <a:extLst>
              <a:ext uri="{FF2B5EF4-FFF2-40B4-BE49-F238E27FC236}">
                <a16:creationId xmlns:a16="http://schemas.microsoft.com/office/drawing/2014/main" id="{9D1BFDEA-1998-DD88-269E-30C6058B2F01}"/>
              </a:ext>
            </a:extLst>
          </p:cNvPr>
          <p:cNvSpPr/>
          <p:nvPr/>
        </p:nvSpPr>
        <p:spPr>
          <a:xfrm>
            <a:off x="9520364" y="4973773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Node</a:t>
            </a:r>
            <a:r>
              <a:rPr lang="hu-HU" sz="1200" dirty="0">
                <a:solidFill>
                  <a:schemeClr val="tx1"/>
                </a:solidFill>
              </a:rPr>
              <a:t> 0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4" name="Téglalap 16">
            <a:extLst>
              <a:ext uri="{FF2B5EF4-FFF2-40B4-BE49-F238E27FC236}">
                <a16:creationId xmlns:a16="http://schemas.microsoft.com/office/drawing/2014/main" id="{D5AAD41B-1300-826B-17EA-35BF98A3D8DD}"/>
              </a:ext>
            </a:extLst>
          </p:cNvPr>
          <p:cNvSpPr/>
          <p:nvPr/>
        </p:nvSpPr>
        <p:spPr>
          <a:xfrm>
            <a:off x="10384460" y="4973773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Node</a:t>
            </a:r>
            <a:r>
              <a:rPr lang="hu-HU" sz="1200" dirty="0">
                <a:solidFill>
                  <a:schemeClr val="tx1"/>
                </a:solidFill>
              </a:rPr>
              <a:t> 1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5" name="Téglalap 19">
            <a:extLst>
              <a:ext uri="{FF2B5EF4-FFF2-40B4-BE49-F238E27FC236}">
                <a16:creationId xmlns:a16="http://schemas.microsoft.com/office/drawing/2014/main" id="{DA2DFA60-3E7C-3297-77E7-561B407C464D}"/>
              </a:ext>
            </a:extLst>
          </p:cNvPr>
          <p:cNvSpPr/>
          <p:nvPr/>
        </p:nvSpPr>
        <p:spPr>
          <a:xfrm>
            <a:off x="11248554" y="4973773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Node</a:t>
            </a:r>
            <a:r>
              <a:rPr lang="hu-HU" sz="1200" dirty="0">
                <a:solidFill>
                  <a:schemeClr val="tx1"/>
                </a:solidFill>
              </a:rPr>
              <a:t> 2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6" name="Téglalap 20">
            <a:extLst>
              <a:ext uri="{FF2B5EF4-FFF2-40B4-BE49-F238E27FC236}">
                <a16:creationId xmlns:a16="http://schemas.microsoft.com/office/drawing/2014/main" id="{2A0CF8E8-404B-93B0-1CE7-33ECA7C97746}"/>
              </a:ext>
            </a:extLst>
          </p:cNvPr>
          <p:cNvSpPr/>
          <p:nvPr/>
        </p:nvSpPr>
        <p:spPr>
          <a:xfrm>
            <a:off x="9448357" y="5845297"/>
            <a:ext cx="2664295" cy="84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Persistent Volume Claims</a:t>
            </a:r>
            <a:endParaRPr lang="en-US" sz="1600" dirty="0">
              <a:solidFill>
                <a:schemeClr val="tx1"/>
              </a:solidFill>
            </a:endParaRPr>
          </a:p>
          <a:p>
            <a:pPr algn="r"/>
            <a:endParaRPr lang="en-US" sz="1600" dirty="0">
              <a:solidFill>
                <a:schemeClr val="tx1"/>
              </a:solidFill>
            </a:endParaRPr>
          </a:p>
          <a:p>
            <a:pPr algn="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87" name="Téglalap 21">
            <a:extLst>
              <a:ext uri="{FF2B5EF4-FFF2-40B4-BE49-F238E27FC236}">
                <a16:creationId xmlns:a16="http://schemas.microsoft.com/office/drawing/2014/main" id="{F1ABF498-0860-6855-B3FD-8A0588F917B5}"/>
              </a:ext>
            </a:extLst>
          </p:cNvPr>
          <p:cNvSpPr/>
          <p:nvPr/>
        </p:nvSpPr>
        <p:spPr>
          <a:xfrm>
            <a:off x="9520364" y="6188877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Node</a:t>
            </a:r>
            <a:r>
              <a:rPr lang="hu-HU" sz="1200" dirty="0">
                <a:solidFill>
                  <a:schemeClr val="tx1"/>
                </a:solidFill>
              </a:rPr>
              <a:t> 0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8" name="Téglalap 22">
            <a:extLst>
              <a:ext uri="{FF2B5EF4-FFF2-40B4-BE49-F238E27FC236}">
                <a16:creationId xmlns:a16="http://schemas.microsoft.com/office/drawing/2014/main" id="{3F72C0AB-F37A-8B08-BE0E-50107C774365}"/>
              </a:ext>
            </a:extLst>
          </p:cNvPr>
          <p:cNvSpPr/>
          <p:nvPr/>
        </p:nvSpPr>
        <p:spPr>
          <a:xfrm>
            <a:off x="10384460" y="6188877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Node</a:t>
            </a:r>
            <a:r>
              <a:rPr lang="hu-HU" sz="1200" dirty="0">
                <a:solidFill>
                  <a:schemeClr val="tx1"/>
                </a:solidFill>
              </a:rPr>
              <a:t> 1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9" name="Téglalap 25">
            <a:extLst>
              <a:ext uri="{FF2B5EF4-FFF2-40B4-BE49-F238E27FC236}">
                <a16:creationId xmlns:a16="http://schemas.microsoft.com/office/drawing/2014/main" id="{7E0964A8-09EA-CD1A-87D8-B98368F6214E}"/>
              </a:ext>
            </a:extLst>
          </p:cNvPr>
          <p:cNvSpPr/>
          <p:nvPr/>
        </p:nvSpPr>
        <p:spPr>
          <a:xfrm>
            <a:off x="11248554" y="6188877"/>
            <a:ext cx="801148" cy="40082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dirty="0" err="1">
                <a:solidFill>
                  <a:schemeClr val="tx1"/>
                </a:solidFill>
              </a:rPr>
              <a:t>Node</a:t>
            </a:r>
            <a:r>
              <a:rPr lang="hu-HU" sz="1200" dirty="0">
                <a:solidFill>
                  <a:schemeClr val="tx1"/>
                </a:solidFill>
              </a:rPr>
              <a:t> 2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90" name="Egyenes összekötő nyíllal 26">
            <a:extLst>
              <a:ext uri="{FF2B5EF4-FFF2-40B4-BE49-F238E27FC236}">
                <a16:creationId xmlns:a16="http://schemas.microsoft.com/office/drawing/2014/main" id="{2582447E-E2F4-D8CF-830C-0FD6C16FD2F3}"/>
              </a:ext>
            </a:extLst>
          </p:cNvPr>
          <p:cNvCxnSpPr>
            <a:stCxn id="81" idx="0"/>
            <a:endCxn id="40" idx="2"/>
          </p:cNvCxnSpPr>
          <p:nvPr/>
        </p:nvCxnSpPr>
        <p:spPr>
          <a:xfrm flipV="1">
            <a:off x="10771766" y="3474637"/>
            <a:ext cx="0" cy="341457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Egyenes összekötő nyíllal 27">
            <a:extLst>
              <a:ext uri="{FF2B5EF4-FFF2-40B4-BE49-F238E27FC236}">
                <a16:creationId xmlns:a16="http://schemas.microsoft.com/office/drawing/2014/main" id="{DA10F332-0D59-BED3-81BA-0154EB99DC21}"/>
              </a:ext>
            </a:extLst>
          </p:cNvPr>
          <p:cNvCxnSpPr>
            <a:stCxn id="82" idx="0"/>
            <a:endCxn id="81" idx="2"/>
          </p:cNvCxnSpPr>
          <p:nvPr/>
        </p:nvCxnSpPr>
        <p:spPr>
          <a:xfrm flipH="1" flipV="1">
            <a:off x="10771768" y="4342159"/>
            <a:ext cx="8737" cy="288032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Egyenes összekötő nyíllal 28">
            <a:extLst>
              <a:ext uri="{FF2B5EF4-FFF2-40B4-BE49-F238E27FC236}">
                <a16:creationId xmlns:a16="http://schemas.microsoft.com/office/drawing/2014/main" id="{E585E19D-C1D5-9C1D-6B3B-93DD6BFBCD4A}"/>
              </a:ext>
            </a:extLst>
          </p:cNvPr>
          <p:cNvCxnSpPr>
            <a:stCxn id="86" idx="0"/>
            <a:endCxn id="82" idx="2"/>
          </p:cNvCxnSpPr>
          <p:nvPr/>
        </p:nvCxnSpPr>
        <p:spPr>
          <a:xfrm flipV="1">
            <a:off x="10780503" y="5477882"/>
            <a:ext cx="0" cy="367415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424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16" grpId="0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4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13BAA36-DD97-BAF4-11BE-17625C1EE806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Strimzi 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F34A4-AB80-F6FC-BD64-2FE5383A53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177" indent="-206370">
              <a:spcBef>
                <a:spcPts val="600"/>
              </a:spcBef>
              <a:buSzPct val="100000"/>
            </a:pPr>
            <a:r>
              <a:rPr lang="en-US" sz="1600" dirty="0"/>
              <a:t>Cluster management:</a:t>
            </a:r>
          </a:p>
          <a:p>
            <a:pPr marL="914377" lvl="1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dirty="0"/>
              <a:t>Deploys and manages all of the components of this complex application</a:t>
            </a:r>
          </a:p>
          <a:p>
            <a:pPr marL="914377" lvl="1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dirty="0"/>
              <a:t>Supports both Zookeeper mode and </a:t>
            </a:r>
            <a:r>
              <a:rPr lang="en-US" dirty="0" err="1"/>
              <a:t>KRaft</a:t>
            </a:r>
            <a:r>
              <a:rPr lang="en-US" dirty="0"/>
              <a:t> </a:t>
            </a:r>
          </a:p>
          <a:p>
            <a:pPr marL="914377" lvl="1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dirty="0"/>
              <a:t>Managed cluster upgrades</a:t>
            </a:r>
          </a:p>
          <a:p>
            <a:pPr marL="914377" lvl="1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dirty="0"/>
              <a:t>Topic partition rebalancing </a:t>
            </a:r>
          </a:p>
          <a:p>
            <a:pPr marL="914377" lvl="1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dirty="0"/>
              <a:t>Topic and user config management using Kubernetes </a:t>
            </a:r>
            <a:r>
              <a:rPr lang="en-US" dirty="0" err="1"/>
              <a:t>cutom</a:t>
            </a:r>
            <a:r>
              <a:rPr lang="en-US" dirty="0"/>
              <a:t> resources</a:t>
            </a:r>
          </a:p>
          <a:p>
            <a:pPr marL="457177" indent="-206370">
              <a:spcBef>
                <a:spcPts val="600"/>
              </a:spcBef>
              <a:buSzPct val="100000"/>
            </a:pPr>
            <a:r>
              <a:rPr lang="en-US" sz="1600" dirty="0"/>
              <a:t>Storage:</a:t>
            </a:r>
          </a:p>
          <a:p>
            <a:pPr marL="914377" lvl="1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dirty="0"/>
              <a:t>Support for many modes: </a:t>
            </a:r>
          </a:p>
          <a:p>
            <a:pPr marL="1371577" lvl="2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sz="1600" dirty="0"/>
              <a:t>Ephemeral (for development)</a:t>
            </a:r>
          </a:p>
          <a:p>
            <a:pPr marL="1371577" lvl="2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sz="1600" dirty="0"/>
              <a:t>Persistent</a:t>
            </a:r>
          </a:p>
          <a:p>
            <a:pPr marL="1371577" lvl="2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sz="1600" dirty="0"/>
              <a:t>JBOD – for using multiple disks (including adding and removing them without downtime)</a:t>
            </a:r>
          </a:p>
          <a:p>
            <a:pPr marL="914377" lvl="1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dirty="0"/>
              <a:t>Tiered storage - Offloads older, less critical data to a lower-cost, lower-performance storage tier, such as object storage</a:t>
            </a:r>
          </a:p>
          <a:p>
            <a:pPr marL="457177" indent="-206370">
              <a:spcBef>
                <a:spcPts val="600"/>
              </a:spcBef>
              <a:buSzPct val="100000"/>
            </a:pPr>
            <a:r>
              <a:rPr lang="en-US" sz="1600" dirty="0"/>
              <a:t>Many supported integrations:</a:t>
            </a:r>
          </a:p>
          <a:p>
            <a:pPr marL="914377" lvl="1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dirty="0"/>
              <a:t>Kafka Connect – run and manage Connect clusters and connectors</a:t>
            </a:r>
          </a:p>
          <a:p>
            <a:pPr marL="914377" lvl="1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dirty="0"/>
              <a:t>Kafka Mirror Maker - for mirroring data between different Apache Kafka clusters</a:t>
            </a:r>
          </a:p>
          <a:p>
            <a:pPr marL="914377" lvl="1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dirty="0"/>
              <a:t>HTTP Kafka Bridge - clients to send and receive messages via HTTP protocol, an alternative to REST Proxy</a:t>
            </a:r>
          </a:p>
          <a:p>
            <a:pPr marL="457177" indent="-206370">
              <a:spcBef>
                <a:spcPts val="600"/>
              </a:spcBef>
              <a:buSzPct val="100000"/>
            </a:pPr>
            <a:r>
              <a:rPr lang="en-US" sz="1600" dirty="0"/>
              <a:t>Monitoring:</a:t>
            </a:r>
          </a:p>
          <a:p>
            <a:pPr marL="914377" lvl="1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r>
              <a:rPr lang="en-US" dirty="0"/>
              <a:t>Built-in support for monitoring using Prometheus and provided Grafana dashboards</a:t>
            </a:r>
          </a:p>
          <a:p>
            <a:endParaRPr lang="en-US" sz="1200" dirty="0"/>
          </a:p>
        </p:txBody>
      </p:sp>
      <p:pic>
        <p:nvPicPr>
          <p:cNvPr id="4" name="Kép 2">
            <a:extLst>
              <a:ext uri="{FF2B5EF4-FFF2-40B4-BE49-F238E27FC236}">
                <a16:creationId xmlns:a16="http://schemas.microsoft.com/office/drawing/2014/main" id="{7BFD00FD-8657-ADC0-E737-075AA97B7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4362" y="847420"/>
            <a:ext cx="1805714" cy="1533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428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2DBE9-E300-B9AD-FB68-AF68FCAE3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16E496-404D-3A2D-8156-2FB75A5C6A3C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Where to Find Other Operators</a:t>
            </a:r>
            <a:endParaRPr lang="en-US" dirty="0"/>
          </a:p>
        </p:txBody>
      </p:sp>
      <p:pic>
        <p:nvPicPr>
          <p:cNvPr id="5" name="Kép 5">
            <a:extLst>
              <a:ext uri="{FF2B5EF4-FFF2-40B4-BE49-F238E27FC236}">
                <a16:creationId xmlns:a16="http://schemas.microsoft.com/office/drawing/2014/main" id="{CC2BCBD1-3B87-C447-81B1-83B83EBCF5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4357" y="847725"/>
            <a:ext cx="10172811" cy="579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21652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B77EC-6B10-8CB3-8401-76383C4ED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39FD306-6FE6-FECE-D789-1816F57BE7B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Write Your Own Operator</a:t>
            </a:r>
            <a:endParaRPr lang="en-US" dirty="0"/>
          </a:p>
        </p:txBody>
      </p:sp>
      <p:pic>
        <p:nvPicPr>
          <p:cNvPr id="6" name="Picture 2" descr="Introducing the Operator Framework: Building Apps on Kubernetes ...">
            <a:extLst>
              <a:ext uri="{FF2B5EF4-FFF2-40B4-BE49-F238E27FC236}">
                <a16:creationId xmlns:a16="http://schemas.microsoft.com/office/drawing/2014/main" id="{2D4EC957-B1D7-78CA-AEFA-540F45658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6090" y="1177785"/>
            <a:ext cx="4096455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Kép 2">
            <a:extLst>
              <a:ext uri="{FF2B5EF4-FFF2-40B4-BE49-F238E27FC236}">
                <a16:creationId xmlns:a16="http://schemas.microsoft.com/office/drawing/2014/main" id="{0379AEEC-AED3-D632-7ABE-530FC0D4B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915" y="1474574"/>
            <a:ext cx="4417575" cy="592047"/>
          </a:xfrm>
          <a:prstGeom prst="rect">
            <a:avLst/>
          </a:prstGeom>
        </p:spPr>
      </p:pic>
      <p:pic>
        <p:nvPicPr>
          <p:cNvPr id="8" name="Picture 4" descr="https://camo.githubusercontent.com/d8a10931c27cf1f883871a4e71125e035e0e92cb/68747470733a2f2f6b75646f2e6465762f696d616765732f6b75646f5f686f72697a6f6e74616c5f636f6c6f724032782e706e67">
            <a:extLst>
              <a:ext uri="{FF2B5EF4-FFF2-40B4-BE49-F238E27FC236}">
                <a16:creationId xmlns:a16="http://schemas.microsoft.com/office/drawing/2014/main" id="{4A46EF7B-69CB-9E76-A4AA-BFB14DD52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606" y="2663936"/>
            <a:ext cx="3852193" cy="963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Kép 3">
            <a:extLst>
              <a:ext uri="{FF2B5EF4-FFF2-40B4-BE49-F238E27FC236}">
                <a16:creationId xmlns:a16="http://schemas.microsoft.com/office/drawing/2014/main" id="{AB8E825F-1B24-866C-0FB5-6E775AAFC9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6090" y="2886961"/>
            <a:ext cx="4008661" cy="723131"/>
          </a:xfrm>
          <a:prstGeom prst="rect">
            <a:avLst/>
          </a:prstGeom>
        </p:spPr>
      </p:pic>
      <p:sp>
        <p:nvSpPr>
          <p:cNvPr id="10" name="Téglalap 4">
            <a:extLst>
              <a:ext uri="{FF2B5EF4-FFF2-40B4-BE49-F238E27FC236}">
                <a16:creationId xmlns:a16="http://schemas.microsoft.com/office/drawing/2014/main" id="{43218E96-3D09-A5CA-12B6-91333B613B28}"/>
              </a:ext>
            </a:extLst>
          </p:cNvPr>
          <p:cNvSpPr/>
          <p:nvPr/>
        </p:nvSpPr>
        <p:spPr>
          <a:xfrm>
            <a:off x="245153" y="4180497"/>
            <a:ext cx="5578707" cy="113877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hu-HU" sz="2400" b="1" dirty="0">
                <a:solidFill>
                  <a:srgbClr val="24292E"/>
                </a:solidFill>
                <a:latin typeface="-apple-system"/>
              </a:rPr>
              <a:t>K</a:t>
            </a:r>
            <a:r>
              <a:rPr lang="en-US" sz="2400" b="1" dirty="0">
                <a:solidFill>
                  <a:srgbClr val="24292E"/>
                </a:solidFill>
                <a:latin typeface="-apple-system"/>
              </a:rPr>
              <a:t>OPF</a:t>
            </a:r>
          </a:p>
          <a:p>
            <a:pPr algn="ctr"/>
            <a:r>
              <a:rPr lang="hu-HU" sz="2400" b="1" dirty="0"/>
              <a:t>Kubernetes Operator </a:t>
            </a:r>
            <a:r>
              <a:rPr lang="hu-HU" sz="2400" b="1" dirty="0" err="1"/>
              <a:t>Pythonic</a:t>
            </a:r>
            <a:r>
              <a:rPr lang="hu-HU" sz="2400" b="1" dirty="0"/>
              <a:t> Framework</a:t>
            </a:r>
          </a:p>
          <a:p>
            <a:pPr algn="ctr"/>
            <a:r>
              <a:rPr lang="hu-HU" sz="2000" dirty="0">
                <a:hlinkClick r:id="rId6"/>
              </a:rPr>
              <a:t>https</a:t>
            </a:r>
            <a:r>
              <a:rPr lang="hu-HU" sz="2000">
                <a:hlinkClick r:id="rId6"/>
              </a:rPr>
              <a:t>://github.com/nolar/kopf</a:t>
            </a:r>
            <a:endParaRPr lang="hu-HU" sz="2000" b="1" dirty="0">
              <a:solidFill>
                <a:srgbClr val="24292E"/>
              </a:solidFill>
              <a:latin typeface="-apple-system"/>
            </a:endParaRPr>
          </a:p>
        </p:txBody>
      </p:sp>
      <p:sp>
        <p:nvSpPr>
          <p:cNvPr id="11" name="Téglalap 7">
            <a:extLst>
              <a:ext uri="{FF2B5EF4-FFF2-40B4-BE49-F238E27FC236}">
                <a16:creationId xmlns:a16="http://schemas.microsoft.com/office/drawing/2014/main" id="{8240EE05-2FCC-FCA2-2BD3-6108B15510CD}"/>
              </a:ext>
            </a:extLst>
          </p:cNvPr>
          <p:cNvSpPr/>
          <p:nvPr/>
        </p:nvSpPr>
        <p:spPr>
          <a:xfrm>
            <a:off x="3870710" y="5539880"/>
            <a:ext cx="6185732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hu-HU" sz="2400" b="1" dirty="0" err="1"/>
              <a:t>java-operator-sdk</a:t>
            </a:r>
            <a:endParaRPr lang="hu-HU" sz="2400" b="1" dirty="0"/>
          </a:p>
          <a:p>
            <a:pPr algn="ctr"/>
            <a:r>
              <a:rPr lang="hu-HU" sz="2000" dirty="0">
                <a:hlinkClick r:id="rId7"/>
              </a:rPr>
              <a:t>https://github.com/ContainerSolutions/java-operator-sdk</a:t>
            </a:r>
            <a:endParaRPr lang="hu-HU" sz="2000" b="1" dirty="0">
              <a:solidFill>
                <a:srgbClr val="24292E"/>
              </a:solidFill>
              <a:latin typeface="-apple-system"/>
            </a:endParaRPr>
          </a:p>
        </p:txBody>
      </p:sp>
      <p:pic>
        <p:nvPicPr>
          <p:cNvPr id="12" name="Picture 4" descr="Kubernetes Patterns: Reusable Elements for Designing Cloud-Native ...">
            <a:extLst>
              <a:ext uri="{FF2B5EF4-FFF2-40B4-BE49-F238E27FC236}">
                <a16:creationId xmlns:a16="http://schemas.microsoft.com/office/drawing/2014/main" id="{2045C664-B087-F570-5764-EAD090167D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6442" y="3765664"/>
            <a:ext cx="2068199" cy="2708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9612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EBAE8-4A93-4D3D-D9EF-325697ECC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23AB0E-EA6D-423A-1311-DABEECE1EC47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Remember: Custom Resources + Custom Controllers = Operators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EA346AB-E1FB-EDC7-BBE2-FA0CCD519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lang="en-US" i="1" dirty="0"/>
              <a:t>Custom resources</a:t>
            </a:r>
            <a:r>
              <a:rPr lang="en-US" dirty="0"/>
              <a:t> are extensions of the Kubernetes API</a:t>
            </a:r>
            <a:endParaRPr lang="en-US" i="1" dirty="0"/>
          </a:p>
          <a:p>
            <a:pPr marL="457189" indent="-206370">
              <a:spcBef>
                <a:spcPts val="600"/>
              </a:spcBef>
              <a:buSzPct val="100000"/>
            </a:pPr>
            <a:r>
              <a:rPr lang="en-US" b="1" dirty="0"/>
              <a:t>Built-in object </a:t>
            </a:r>
            <a:r>
              <a:rPr lang="en-US" dirty="0"/>
              <a:t>with</a:t>
            </a:r>
            <a:r>
              <a:rPr lang="en-US" b="1" dirty="0"/>
              <a:t> controllers</a:t>
            </a:r>
            <a:r>
              <a:rPr lang="en-US" dirty="0"/>
              <a:t>: e.g. pod, job, deployment, service, ingress, persistent volume</a:t>
            </a:r>
          </a:p>
          <a:p>
            <a:pPr marL="457189" indent="-206370">
              <a:spcBef>
                <a:spcPts val="600"/>
              </a:spcBef>
              <a:buSzPct val="100000"/>
            </a:pPr>
            <a:r>
              <a:rPr lang="en-US" dirty="0"/>
              <a:t>Custom resources </a:t>
            </a:r>
            <a:r>
              <a:rPr lang="en-US" b="1" dirty="0"/>
              <a:t>simply</a:t>
            </a:r>
            <a:r>
              <a:rPr lang="en-US" dirty="0"/>
              <a:t> let you </a:t>
            </a:r>
            <a:r>
              <a:rPr lang="en-US" b="1" dirty="0"/>
              <a:t>store</a:t>
            </a:r>
            <a:r>
              <a:rPr lang="en-US" dirty="0"/>
              <a:t> and </a:t>
            </a:r>
            <a:r>
              <a:rPr lang="en-US" b="1" dirty="0"/>
              <a:t>retrieve</a:t>
            </a:r>
            <a:r>
              <a:rPr lang="en-US" dirty="0"/>
              <a:t> </a:t>
            </a:r>
            <a:r>
              <a:rPr lang="en-US" b="1" dirty="0"/>
              <a:t>structured data</a:t>
            </a:r>
          </a:p>
          <a:p>
            <a:pPr marL="457189" indent="-206370">
              <a:spcBef>
                <a:spcPts val="600"/>
              </a:spcBef>
              <a:buSzPct val="100000"/>
            </a:pPr>
            <a:r>
              <a:rPr lang="en-US" dirty="0"/>
              <a:t>Schema is defined with </a:t>
            </a:r>
            <a:r>
              <a:rPr lang="en-US" b="1" dirty="0" err="1"/>
              <a:t>OpenAPI</a:t>
            </a:r>
            <a:r>
              <a:rPr lang="en-US" dirty="0"/>
              <a:t> spec</a:t>
            </a:r>
          </a:p>
          <a:p>
            <a:pPr marL="457189" indent="-206370">
              <a:spcBef>
                <a:spcPts val="600"/>
              </a:spcBef>
              <a:buSzPct val="100000"/>
            </a:pPr>
            <a:r>
              <a:rPr lang="en-US" dirty="0"/>
              <a:t>But you can write </a:t>
            </a:r>
            <a:r>
              <a:rPr lang="en-US" b="1" dirty="0"/>
              <a:t>custom controllers </a:t>
            </a:r>
            <a:r>
              <a:rPr lang="en-US" dirty="0"/>
              <a:t>over </a:t>
            </a:r>
            <a:r>
              <a:rPr lang="en-US" b="1" dirty="0"/>
              <a:t>custom resources</a:t>
            </a:r>
            <a:r>
              <a:rPr lang="en-US" dirty="0"/>
              <a:t>: </a:t>
            </a:r>
            <a:r>
              <a:rPr lang="en-US" b="1" dirty="0"/>
              <a:t>operator pattern</a:t>
            </a:r>
          </a:p>
          <a:p>
            <a:pPr marL="457189" indent="-206370">
              <a:spcBef>
                <a:spcPts val="600"/>
              </a:spcBef>
              <a:buSzPct val="100000"/>
            </a:pPr>
            <a:endParaRPr lang="en-US" dirty="0"/>
          </a:p>
          <a:p>
            <a:pPr>
              <a:spcBef>
                <a:spcPts val="1800"/>
              </a:spcBef>
            </a:pPr>
            <a:r>
              <a:rPr lang="en-US" dirty="0"/>
              <a:t>Example operators:</a:t>
            </a:r>
            <a:endParaRPr lang="en-US" i="1" dirty="0"/>
          </a:p>
          <a:p>
            <a:pPr marL="914377" lvl="1" indent="-206370">
              <a:spcBef>
                <a:spcPts val="600"/>
              </a:spcBef>
              <a:buSzPct val="100000"/>
              <a:buFont typeface="Wingdings" pitchFamily="2" charset="2"/>
              <a:buChar char="§"/>
            </a:pPr>
            <a:endParaRPr lang="en-US" sz="1800" dirty="0"/>
          </a:p>
          <a:p>
            <a:endParaRPr lang="en-US" sz="1200" dirty="0"/>
          </a:p>
        </p:txBody>
      </p:sp>
      <p:pic>
        <p:nvPicPr>
          <p:cNvPr id="71" name="Kép 2">
            <a:extLst>
              <a:ext uri="{FF2B5EF4-FFF2-40B4-BE49-F238E27FC236}">
                <a16:creationId xmlns:a16="http://schemas.microsoft.com/office/drawing/2014/main" id="{2978EDB2-99FF-56DB-94B3-E10B4E13A2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5" y="4149081"/>
            <a:ext cx="1362075" cy="1047751"/>
          </a:xfrm>
          <a:prstGeom prst="rect">
            <a:avLst/>
          </a:prstGeom>
        </p:spPr>
      </p:pic>
      <p:pic>
        <p:nvPicPr>
          <p:cNvPr id="72" name="Picture 4" descr="Crunchy Data">
            <a:extLst>
              <a:ext uri="{FF2B5EF4-FFF2-40B4-BE49-F238E27FC236}">
                <a16:creationId xmlns:a16="http://schemas.microsoft.com/office/drawing/2014/main" id="{1C473D26-FDAC-7932-6BCA-3DAACD66CD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3951" y="4005065"/>
            <a:ext cx="1027883" cy="1027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6" descr="Strimzi">
            <a:extLst>
              <a:ext uri="{FF2B5EF4-FFF2-40B4-BE49-F238E27FC236}">
                <a16:creationId xmlns:a16="http://schemas.microsoft.com/office/drawing/2014/main" id="{2F2ADE98-C7B3-C146-6391-D450AF020F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7557" y="4586042"/>
            <a:ext cx="1910732" cy="499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Szövegdoboz 3">
            <a:extLst>
              <a:ext uri="{FF2B5EF4-FFF2-40B4-BE49-F238E27FC236}">
                <a16:creationId xmlns:a16="http://schemas.microsoft.com/office/drawing/2014/main" id="{36AC6861-59A2-6821-B85B-D518C8D6CF8D}"/>
              </a:ext>
            </a:extLst>
          </p:cNvPr>
          <p:cNvSpPr txBox="1"/>
          <p:nvPr/>
        </p:nvSpPr>
        <p:spPr>
          <a:xfrm>
            <a:off x="407368" y="6156013"/>
            <a:ext cx="11521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MySQL</a:t>
            </a:r>
            <a:endParaRPr lang="hu-HU" sz="1400" dirty="0"/>
          </a:p>
        </p:txBody>
      </p:sp>
      <p:sp>
        <p:nvSpPr>
          <p:cNvPr id="75" name="Szövegdoboz 8">
            <a:extLst>
              <a:ext uri="{FF2B5EF4-FFF2-40B4-BE49-F238E27FC236}">
                <a16:creationId xmlns:a16="http://schemas.microsoft.com/office/drawing/2014/main" id="{59F7869A-D3ED-3495-F8B2-B580770FEEB9}"/>
              </a:ext>
            </a:extLst>
          </p:cNvPr>
          <p:cNvSpPr txBox="1"/>
          <p:nvPr/>
        </p:nvSpPr>
        <p:spPr>
          <a:xfrm>
            <a:off x="1631505" y="6156013"/>
            <a:ext cx="13727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/>
              <a:t>PostgreSQL</a:t>
            </a:r>
            <a:endParaRPr lang="hu-HU" sz="1400" dirty="0"/>
          </a:p>
        </p:txBody>
      </p:sp>
      <p:sp>
        <p:nvSpPr>
          <p:cNvPr id="76" name="Szövegdoboz 9">
            <a:extLst>
              <a:ext uri="{FF2B5EF4-FFF2-40B4-BE49-F238E27FC236}">
                <a16:creationId xmlns:a16="http://schemas.microsoft.com/office/drawing/2014/main" id="{7F0DF799-D7AD-6277-CC02-CB417F03E39C}"/>
              </a:ext>
            </a:extLst>
          </p:cNvPr>
          <p:cNvSpPr txBox="1"/>
          <p:nvPr/>
        </p:nvSpPr>
        <p:spPr>
          <a:xfrm>
            <a:off x="7171498" y="6156013"/>
            <a:ext cx="13727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Kafka</a:t>
            </a:r>
            <a:endParaRPr lang="hu-HU" sz="1400" dirty="0"/>
          </a:p>
        </p:txBody>
      </p:sp>
      <p:pic>
        <p:nvPicPr>
          <p:cNvPr id="77" name="Picture 10" descr="Weeks 1–3 Getting started with the project - Arthur Silva Sens ...">
            <a:extLst>
              <a:ext uri="{FF2B5EF4-FFF2-40B4-BE49-F238E27FC236}">
                <a16:creationId xmlns:a16="http://schemas.microsoft.com/office/drawing/2014/main" id="{4308456A-E90B-DBC7-D493-3CABDA73C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3912" y="3308442"/>
            <a:ext cx="2202101" cy="499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8" name="Szövegdoboz 12">
            <a:extLst>
              <a:ext uri="{FF2B5EF4-FFF2-40B4-BE49-F238E27FC236}">
                <a16:creationId xmlns:a16="http://schemas.microsoft.com/office/drawing/2014/main" id="{E7AB9D40-083F-E31C-7E8F-57164C3360F9}"/>
              </a:ext>
            </a:extLst>
          </p:cNvPr>
          <p:cNvSpPr txBox="1"/>
          <p:nvPr/>
        </p:nvSpPr>
        <p:spPr>
          <a:xfrm>
            <a:off x="5303912" y="3867086"/>
            <a:ext cx="2202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Virtual Machines</a:t>
            </a:r>
            <a:endParaRPr lang="hu-HU" sz="1400" dirty="0"/>
          </a:p>
        </p:txBody>
      </p:sp>
      <p:pic>
        <p:nvPicPr>
          <p:cNvPr id="79" name="Picture 12" descr="Kubeflow | Crunchbase">
            <a:extLst>
              <a:ext uri="{FF2B5EF4-FFF2-40B4-BE49-F238E27FC236}">
                <a16:creationId xmlns:a16="http://schemas.microsoft.com/office/drawing/2014/main" id="{CEAA436C-9153-10B6-E0B2-F0F3933181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9013" y="3233786"/>
            <a:ext cx="702649" cy="702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0" name="Szövegdoboz 14">
            <a:extLst>
              <a:ext uri="{FF2B5EF4-FFF2-40B4-BE49-F238E27FC236}">
                <a16:creationId xmlns:a16="http://schemas.microsoft.com/office/drawing/2014/main" id="{FF46DDED-B790-D97E-22B4-58C5C12C0DD6}"/>
              </a:ext>
            </a:extLst>
          </p:cNvPr>
          <p:cNvSpPr txBox="1"/>
          <p:nvPr/>
        </p:nvSpPr>
        <p:spPr>
          <a:xfrm>
            <a:off x="7464152" y="3866752"/>
            <a:ext cx="2202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Machine Learning</a:t>
            </a:r>
            <a:endParaRPr lang="hu-HU" sz="1400" dirty="0"/>
          </a:p>
        </p:txBody>
      </p:sp>
      <p:pic>
        <p:nvPicPr>
          <p:cNvPr id="81" name="Picture 14" descr="Tekton: A Modern Approach to Continuous Delivery | IBM">
            <a:extLst>
              <a:ext uri="{FF2B5EF4-FFF2-40B4-BE49-F238E27FC236}">
                <a16:creationId xmlns:a16="http://schemas.microsoft.com/office/drawing/2014/main" id="{19D60DE1-7BD9-9E7D-305E-F3FDA3799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4106" y="2907258"/>
            <a:ext cx="1557207" cy="953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2" name="Szövegdoboz 17">
            <a:extLst>
              <a:ext uri="{FF2B5EF4-FFF2-40B4-BE49-F238E27FC236}">
                <a16:creationId xmlns:a16="http://schemas.microsoft.com/office/drawing/2014/main" id="{D7E8592F-6730-1E9B-D5B1-0C4EA29616B8}"/>
              </a:ext>
            </a:extLst>
          </p:cNvPr>
          <p:cNvSpPr txBox="1"/>
          <p:nvPr/>
        </p:nvSpPr>
        <p:spPr>
          <a:xfrm>
            <a:off x="10302612" y="3863900"/>
            <a:ext cx="2202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CI/CD</a:t>
            </a:r>
            <a:endParaRPr lang="hu-HU" sz="1400" dirty="0"/>
          </a:p>
        </p:txBody>
      </p:sp>
      <p:pic>
        <p:nvPicPr>
          <p:cNvPr id="83" name="Kép 5">
            <a:extLst>
              <a:ext uri="{FF2B5EF4-FFF2-40B4-BE49-F238E27FC236}">
                <a16:creationId xmlns:a16="http://schemas.microsoft.com/office/drawing/2014/main" id="{095F60A0-42A8-AD7F-C55F-AF251E923A8C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800547" y="3200034"/>
            <a:ext cx="769735" cy="699383"/>
          </a:xfrm>
          <a:prstGeom prst="rect">
            <a:avLst/>
          </a:prstGeom>
        </p:spPr>
      </p:pic>
      <p:sp>
        <p:nvSpPr>
          <p:cNvPr id="84" name="Szövegdoboz 20">
            <a:extLst>
              <a:ext uri="{FF2B5EF4-FFF2-40B4-BE49-F238E27FC236}">
                <a16:creationId xmlns:a16="http://schemas.microsoft.com/office/drawing/2014/main" id="{3F759D30-46B2-9E45-A37C-0D06689E8BE7}"/>
              </a:ext>
            </a:extLst>
          </p:cNvPr>
          <p:cNvSpPr txBox="1"/>
          <p:nvPr/>
        </p:nvSpPr>
        <p:spPr>
          <a:xfrm>
            <a:off x="9078476" y="3861049"/>
            <a:ext cx="2202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/>
              <a:t>Serverless</a:t>
            </a:r>
            <a:endParaRPr lang="hu-HU" sz="1400" dirty="0"/>
          </a:p>
        </p:txBody>
      </p:sp>
      <p:pic>
        <p:nvPicPr>
          <p:cNvPr id="85" name="Picture 20" descr="Image result for oracle logo">
            <a:extLst>
              <a:ext uri="{FF2B5EF4-FFF2-40B4-BE49-F238E27FC236}">
                <a16:creationId xmlns:a16="http://schemas.microsoft.com/office/drawing/2014/main" id="{C3D1D0F6-5D6F-D970-7A13-DD9F6FB8D5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385" y="5196831"/>
            <a:ext cx="740011" cy="740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Jobs with Zalando | page 4">
            <a:extLst>
              <a:ext uri="{FF2B5EF4-FFF2-40B4-BE49-F238E27FC236}">
                <a16:creationId xmlns:a16="http://schemas.microsoft.com/office/drawing/2014/main" id="{8B98856D-3621-AF67-DEB3-C14EFA5DA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5018" y="5085184"/>
            <a:ext cx="2145748" cy="1072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7" name="Picture 30" descr="Image result for banzai cloud logo">
            <a:extLst>
              <a:ext uri="{FF2B5EF4-FFF2-40B4-BE49-F238E27FC236}">
                <a16:creationId xmlns:a16="http://schemas.microsoft.com/office/drawing/2014/main" id="{1782E876-4439-EA8F-A12A-704CC2A73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7742" y="5273389"/>
            <a:ext cx="1338623" cy="819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8" name="Szövegdoboz 23">
            <a:extLst>
              <a:ext uri="{FF2B5EF4-FFF2-40B4-BE49-F238E27FC236}">
                <a16:creationId xmlns:a16="http://schemas.microsoft.com/office/drawing/2014/main" id="{0016A30E-A770-09BB-0BD5-BEC70CE891C5}"/>
              </a:ext>
            </a:extLst>
          </p:cNvPr>
          <p:cNvSpPr txBox="1"/>
          <p:nvPr/>
        </p:nvSpPr>
        <p:spPr>
          <a:xfrm>
            <a:off x="3290962" y="6165305"/>
            <a:ext cx="13727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Cassandra</a:t>
            </a:r>
            <a:endParaRPr lang="hu-HU" sz="1400" dirty="0"/>
          </a:p>
        </p:txBody>
      </p:sp>
      <p:pic>
        <p:nvPicPr>
          <p:cNvPr id="89" name="Picture 6" descr="Jetstack cert-manager by Jetstack | Venafi Technology Network ...">
            <a:extLst>
              <a:ext uri="{FF2B5EF4-FFF2-40B4-BE49-F238E27FC236}">
                <a16:creationId xmlns:a16="http://schemas.microsoft.com/office/drawing/2014/main" id="{CB8D63CF-2549-C31F-F6DE-AAEBBF7BF0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3672" y="4437112"/>
            <a:ext cx="1667352" cy="327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0" name="Picture 8" descr="File:Orange logo.svg - Wikimedia Commons">
            <a:extLst>
              <a:ext uri="{FF2B5EF4-FFF2-40B4-BE49-F238E27FC236}">
                <a16:creationId xmlns:a16="http://schemas.microsoft.com/office/drawing/2014/main" id="{B8AC9864-5D29-0ED7-58A1-C6356A014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4507" y="5085185"/>
            <a:ext cx="925685" cy="928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1" name="Picture 12" descr="MongoDB logo – Infinapps">
            <a:extLst>
              <a:ext uri="{FF2B5EF4-FFF2-40B4-BE49-F238E27FC236}">
                <a16:creationId xmlns:a16="http://schemas.microsoft.com/office/drawing/2014/main" id="{1F22AC24-51B0-DF21-30CE-7643C5312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2111" y="4203012"/>
            <a:ext cx="1007048" cy="1180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" name="Picture 14" descr="Elastic | Smile.eu">
            <a:extLst>
              <a:ext uri="{FF2B5EF4-FFF2-40B4-BE49-F238E27FC236}">
                <a16:creationId xmlns:a16="http://schemas.microsoft.com/office/drawing/2014/main" id="{9D488A47-9EBB-1284-7230-76EB43B4D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833" y="5413252"/>
            <a:ext cx="1047179" cy="1047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" name="Picture 16" descr="File:NATS-logo.png - Wikimedia Commons">
            <a:extLst>
              <a:ext uri="{FF2B5EF4-FFF2-40B4-BE49-F238E27FC236}">
                <a16:creationId xmlns:a16="http://schemas.microsoft.com/office/drawing/2014/main" id="{D8E23699-BEBB-7B18-3F26-E60091D2F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9661" y="4684051"/>
            <a:ext cx="2124001" cy="568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4" name="Picture 18" descr="Hervé Beraud | FOSS Hacker at Red Hat / Science Lover">
            <a:extLst>
              <a:ext uri="{FF2B5EF4-FFF2-40B4-BE49-F238E27FC236}">
                <a16:creationId xmlns:a16="http://schemas.microsoft.com/office/drawing/2014/main" id="{0249E1A1-D9C9-56A1-CF95-8EA6BEE0CC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7508" y="5401498"/>
            <a:ext cx="1070685" cy="1070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5" name="Picture 20" descr="Upcoming events | Apache Camel São Paulo (São Paulo, Brazil) | Meetup">
            <a:extLst>
              <a:ext uri="{FF2B5EF4-FFF2-40B4-BE49-F238E27FC236}">
                <a16:creationId xmlns:a16="http://schemas.microsoft.com/office/drawing/2014/main" id="{D9AEF727-3025-2C20-4912-3313A9BA6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5415" y="5337867"/>
            <a:ext cx="1925597" cy="108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ture 22" descr="Serverless computing on Kubernetes with Knative - Cloudlets">
            <a:extLst>
              <a:ext uri="{FF2B5EF4-FFF2-40B4-BE49-F238E27FC236}">
                <a16:creationId xmlns:a16="http://schemas.microsoft.com/office/drawing/2014/main" id="{BD6E8E7B-7A98-3F02-CDC6-33C28611C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0547" y="2139835"/>
            <a:ext cx="867886" cy="700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2" descr="CNCF Branding | Flux">
            <a:extLst>
              <a:ext uri="{FF2B5EF4-FFF2-40B4-BE49-F238E27FC236}">
                <a16:creationId xmlns:a16="http://schemas.microsoft.com/office/drawing/2014/main" id="{482651FC-C51A-72BE-94C2-9FD9D2955D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8353" y="1844825"/>
            <a:ext cx="624419" cy="983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8" name="Picture 97" descr="Argo CD - XebiaLabs">
            <a:extLst>
              <a:ext uri="{FF2B5EF4-FFF2-40B4-BE49-F238E27FC236}">
                <a16:creationId xmlns:a16="http://schemas.microsoft.com/office/drawing/2014/main" id="{0F53F90B-2778-7422-37E4-C2CA1B6FC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781" y="692697"/>
            <a:ext cx="1314169" cy="1314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0906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/>
      <p:bldP spid="75" grpId="0"/>
      <p:bldP spid="76" grpId="0"/>
      <p:bldP spid="78" grpId="0"/>
      <p:bldP spid="80" grpId="0"/>
      <p:bldP spid="82" grpId="0"/>
      <p:bldP spid="84" grpId="0"/>
      <p:bldP spid="88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7E832-F88D-43EE-A683-EE68343C3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 helye 1">
            <a:extLst>
              <a:ext uri="{FF2B5EF4-FFF2-40B4-BE49-F238E27FC236}">
                <a16:creationId xmlns:a16="http://schemas.microsoft.com/office/drawing/2014/main" id="{3CAA275F-4DB8-FA88-C520-5F1FEFACB925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hu-HU" dirty="0"/>
              <a:t>Cloud Native Architecture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4FD9A7D-E95F-B798-7E3B-1BE46845173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 algn="ctr"/>
            <a:r>
              <a:rPr lang="hu-HU" sz="4000" dirty="0">
                <a:solidFill>
                  <a:srgbClr val="012863"/>
                </a:solidFill>
              </a:rPr>
              <a:t>Kafka Monitoring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2113174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F8F73BD-78C2-F3F2-D55D-CCD9B0D0B6C2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Why Monitoring</a:t>
            </a:r>
            <a:r>
              <a:rPr lang="hu-HU" dirty="0"/>
              <a:t> Kafka</a:t>
            </a:r>
            <a:r>
              <a:rPr lang="en-US" dirty="0"/>
              <a:t>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D856A6-937F-44ED-2AA2-324C874AB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Know when things go wrong</a:t>
            </a:r>
          </a:p>
          <a:p>
            <a:pPr lvl="1"/>
            <a:r>
              <a:rPr lang="en-US" sz="1800" dirty="0"/>
              <a:t>To call in a human to prevent a business-level issue, or prevent an issue in advance</a:t>
            </a:r>
          </a:p>
          <a:p>
            <a:pPr lvl="1"/>
            <a:endParaRPr lang="en-US" sz="1800" dirty="0"/>
          </a:p>
          <a:p>
            <a:r>
              <a:rPr lang="en-US" sz="2000" dirty="0"/>
              <a:t>Be able to debug and gain insight</a:t>
            </a:r>
          </a:p>
          <a:p>
            <a:endParaRPr lang="en-US" sz="2000" dirty="0"/>
          </a:p>
          <a:p>
            <a:r>
              <a:rPr lang="en-US" sz="2000" dirty="0"/>
              <a:t>Trending to see changes over time, and drive technical/business decisions</a:t>
            </a:r>
          </a:p>
          <a:p>
            <a:endParaRPr lang="en-US" sz="2000" dirty="0"/>
          </a:p>
          <a:p>
            <a:r>
              <a:rPr lang="en-US" sz="2000" dirty="0"/>
              <a:t>To feed into other systems/processes (e.g. QA, security, automation)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48036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9B2B944-E05A-20E5-5B82-7CEA6DE55868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</a:t>
            </a:r>
            <a:r>
              <a:rPr lang="en-US" dirty="0"/>
              <a:t> Monitoring</a:t>
            </a:r>
            <a:r>
              <a:rPr lang="hu-HU" dirty="0"/>
              <a:t> Basics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28BC0-9270-141C-4477-F22B0CF775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Kafka uses </a:t>
            </a:r>
            <a:r>
              <a:rPr kumimoji="0" lang="hu-HU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JMX</a:t>
            </a:r>
            <a:r>
              <a:rPr kumimoji="0" lang="hu-H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(</a:t>
            </a: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Java Management Extensions</a:t>
            </a:r>
            <a:r>
              <a:rPr kumimoji="0" lang="hu-H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) for exposing metrics data: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JMX is a built-in Java technology for monitoring and managing applications, devices, and services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Provides a way to expose internal metrics, configurations, and runtime information via </a:t>
            </a:r>
            <a:r>
              <a:rPr kumimoji="0" lang="en-GB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MBeans</a:t>
            </a: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(Managed Beans)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Allows administrators and monitoring tools to interact with and configure applications without modifying code</a:t>
            </a:r>
            <a:endParaRPr kumimoji="0" lang="hu-H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You can also use JMX in Zookeeper </a:t>
            </a:r>
            <a:endParaRPr kumimoji="0" lang="en-GB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hu-H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JMX in Kafka</a:t>
            </a:r>
            <a:r>
              <a:rPr kumimoji="0" lang="hu-H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:</a:t>
            </a:r>
            <a:endParaRPr kumimoji="0" lang="en-GB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Kafka brokers expose a wide range of metrics (e.g., topic, partition, producer, and consumer metrics) via JMX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JMX metrics can be collected by tools like </a:t>
            </a:r>
            <a:r>
              <a:rPr kumimoji="0" lang="en-GB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Prometheus</a:t>
            </a: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JMX Exporter, or enterprise monitoring systems</a:t>
            </a:r>
            <a:endParaRPr kumimoji="0" lang="hu-H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ELK (</a:t>
            </a:r>
            <a:r>
              <a:rPr kumimoji="0" lang="en-GB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ElasticSearch</a:t>
            </a: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+ Kibana)</a:t>
            </a:r>
            <a:r>
              <a:rPr kumimoji="0" lang="hu-H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, </a:t>
            </a: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Datadog</a:t>
            </a:r>
            <a:r>
              <a:rPr kumimoji="0" lang="hu-H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, </a:t>
            </a:r>
            <a:r>
              <a:rPr kumimoji="0" lang="en-GB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NewRelic</a:t>
            </a:r>
            <a:r>
              <a:rPr kumimoji="0" lang="hu-H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, </a:t>
            </a: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Confluent Control Centre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Monitoring broker health, replication status, resource usage, consumer lag, etc</a:t>
            </a:r>
            <a:endParaRPr kumimoji="0" lang="hu-H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Benefits of JMX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Supports on-the-fly changes to application settings during runtime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Widely supported and used in Java-based applications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Custom </a:t>
            </a:r>
            <a:r>
              <a:rPr kumimoji="0" lang="en-GB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MBeans</a:t>
            </a: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can be created for application-specific metrics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7163743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75D6C3-50A4-6E40-EE10-DA75C696C965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So What is Prometheus?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5D7CA-4FF1-B660-D613-9139D17E6C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Prometheus is a monitoring system and metrics-based time series database, designed for </a:t>
            </a:r>
            <a:r>
              <a:rPr lang="en-US" dirty="0" err="1"/>
              <a:t>whitebox</a:t>
            </a:r>
            <a:r>
              <a:rPr lang="en-US" dirty="0"/>
              <a:t> monitoring</a:t>
            </a:r>
          </a:p>
          <a:p>
            <a:endParaRPr lang="en-US" dirty="0"/>
          </a:p>
          <a:p>
            <a:r>
              <a:rPr lang="en-US" dirty="0"/>
              <a:t>It supports labels (dimensions/tags)</a:t>
            </a:r>
          </a:p>
          <a:p>
            <a:endParaRPr lang="en-US" dirty="0"/>
          </a:p>
          <a:p>
            <a:r>
              <a:rPr lang="en-US" dirty="0"/>
              <a:t>Alerting and graphing are unified, using the same query language (</a:t>
            </a:r>
            <a:r>
              <a:rPr lang="en-US" dirty="0" err="1"/>
              <a:t>PromQL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pic>
        <p:nvPicPr>
          <p:cNvPr id="6" name="Picture 2" descr="Prometheus Monitoring System Logo PNG Vector (SVG) Free Download">
            <a:extLst>
              <a:ext uri="{FF2B5EF4-FFF2-40B4-BE49-F238E27FC236}">
                <a16:creationId xmlns:a16="http://schemas.microsoft.com/office/drawing/2014/main" id="{99495DC6-83EF-0CD7-6677-F0B9F24545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9658" y="5246112"/>
            <a:ext cx="1451262" cy="1248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378217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F720A0-4E1C-EA4C-29D6-4259EC178A2F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So What is Prometheus?</a:t>
            </a:r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DCDDC-BF01-E57C-F12A-A92E27AEF6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Inspired by Google’s </a:t>
            </a:r>
            <a:r>
              <a:rPr lang="en-US" dirty="0" err="1"/>
              <a:t>Borgmon</a:t>
            </a:r>
            <a:r>
              <a:rPr lang="en-US" dirty="0"/>
              <a:t> monitoring system</a:t>
            </a:r>
          </a:p>
          <a:p>
            <a:endParaRPr lang="en-US" dirty="0"/>
          </a:p>
          <a:p>
            <a:r>
              <a:rPr lang="en-US" dirty="0"/>
              <a:t>Started in 2012 by ex-Googlers working in Soundcloud as an open source project, mainly written in Go</a:t>
            </a:r>
          </a:p>
          <a:p>
            <a:endParaRPr lang="en-US" dirty="0"/>
          </a:p>
          <a:p>
            <a:r>
              <a:rPr lang="en-US" dirty="0" err="1"/>
              <a:t>Publically</a:t>
            </a:r>
            <a:r>
              <a:rPr lang="en-US" dirty="0"/>
              <a:t> launched in early 2015, 1.0 released in July 2016</a:t>
            </a:r>
          </a:p>
          <a:p>
            <a:pPr lvl="1"/>
            <a:r>
              <a:rPr lang="en-US" dirty="0"/>
              <a:t>Current version is </a:t>
            </a:r>
            <a:r>
              <a:rPr lang="hu-HU" dirty="0"/>
              <a:t>3</a:t>
            </a:r>
            <a:r>
              <a:rPr lang="en-US" dirty="0"/>
              <a:t>.</a:t>
            </a:r>
            <a:r>
              <a:rPr lang="hu-HU" dirty="0"/>
              <a:t>0</a:t>
            </a:r>
            <a:r>
              <a:rPr lang="en-US" dirty="0"/>
              <a:t>.0 (202</a:t>
            </a:r>
            <a:r>
              <a:rPr lang="hu-HU" dirty="0"/>
              <a:t>4</a:t>
            </a:r>
            <a:r>
              <a:rPr lang="en-US" dirty="0"/>
              <a:t>-</a:t>
            </a:r>
            <a:r>
              <a:rPr lang="hu-HU" dirty="0"/>
              <a:t>11</a:t>
            </a:r>
            <a:r>
              <a:rPr lang="en-US" dirty="0"/>
              <a:t>-14)</a:t>
            </a:r>
          </a:p>
          <a:p>
            <a:endParaRPr lang="en-US" dirty="0"/>
          </a:p>
          <a:p>
            <a:r>
              <a:rPr lang="en-US" dirty="0"/>
              <a:t>Code was contributed to the CNCF, which ensures vendor independent and long-term development</a:t>
            </a:r>
          </a:p>
          <a:p>
            <a:pPr lvl="1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project to become “CNCF graduated” (August 9, 2018)</a:t>
            </a:r>
          </a:p>
          <a:p>
            <a:endParaRPr lang="en-US" sz="1600" dirty="0"/>
          </a:p>
        </p:txBody>
      </p:sp>
      <p:pic>
        <p:nvPicPr>
          <p:cNvPr id="4" name="Picture 2" descr="Prometheus Monitoring System Logo PNG Vector (SVG) Free Download">
            <a:extLst>
              <a:ext uri="{FF2B5EF4-FFF2-40B4-BE49-F238E27FC236}">
                <a16:creationId xmlns:a16="http://schemas.microsoft.com/office/drawing/2014/main" id="{47A56850-DEB8-882F-8CD9-E412A3FBB3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9658" y="5246112"/>
            <a:ext cx="1451262" cy="1248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0902988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24EBDD-6B14-599B-ACAD-13094729F133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Prometheus Architecture</a:t>
            </a:r>
          </a:p>
        </p:txBody>
      </p:sp>
      <p:pic>
        <p:nvPicPr>
          <p:cNvPr id="4" name="Picture 2" descr="Prometheus architecture">
            <a:extLst>
              <a:ext uri="{FF2B5EF4-FFF2-40B4-BE49-F238E27FC236}">
                <a16:creationId xmlns:a16="http://schemas.microsoft.com/office/drawing/2014/main" id="{41FEE4DC-9FB4-F91A-E4DB-1A7A459EB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1504" y="1124744"/>
            <a:ext cx="8928992" cy="5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églalap 3">
            <a:extLst>
              <a:ext uri="{FF2B5EF4-FFF2-40B4-BE49-F238E27FC236}">
                <a16:creationId xmlns:a16="http://schemas.microsoft.com/office/drawing/2014/main" id="{3FD91F8F-FC9E-9191-0832-1712B5950A9E}"/>
              </a:ext>
            </a:extLst>
          </p:cNvPr>
          <p:cNvSpPr/>
          <p:nvPr/>
        </p:nvSpPr>
        <p:spPr>
          <a:xfrm>
            <a:off x="1271464" y="980728"/>
            <a:ext cx="2088232" cy="25922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u-H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églalap 6">
            <a:extLst>
              <a:ext uri="{FF2B5EF4-FFF2-40B4-BE49-F238E27FC236}">
                <a16:creationId xmlns:a16="http://schemas.microsoft.com/office/drawing/2014/main" id="{81D1F65C-8C4D-19CC-3D44-01388E9CC662}"/>
              </a:ext>
            </a:extLst>
          </p:cNvPr>
          <p:cNvSpPr/>
          <p:nvPr/>
        </p:nvSpPr>
        <p:spPr>
          <a:xfrm>
            <a:off x="1271464" y="3573016"/>
            <a:ext cx="2088232" cy="280831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u-H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églalap 7">
            <a:extLst>
              <a:ext uri="{FF2B5EF4-FFF2-40B4-BE49-F238E27FC236}">
                <a16:creationId xmlns:a16="http://schemas.microsoft.com/office/drawing/2014/main" id="{97C59889-33BD-74CA-FFB8-147D034E11DF}"/>
              </a:ext>
            </a:extLst>
          </p:cNvPr>
          <p:cNvSpPr/>
          <p:nvPr/>
        </p:nvSpPr>
        <p:spPr>
          <a:xfrm>
            <a:off x="3503712" y="957888"/>
            <a:ext cx="3168352" cy="16790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u-H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églalap 9">
            <a:extLst>
              <a:ext uri="{FF2B5EF4-FFF2-40B4-BE49-F238E27FC236}">
                <a16:creationId xmlns:a16="http://schemas.microsoft.com/office/drawing/2014/main" id="{C3F03A23-B8EB-E0DE-D17C-6979E03442E3}"/>
              </a:ext>
            </a:extLst>
          </p:cNvPr>
          <p:cNvSpPr/>
          <p:nvPr/>
        </p:nvSpPr>
        <p:spPr>
          <a:xfrm>
            <a:off x="6816080" y="960730"/>
            <a:ext cx="3888432" cy="29723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u-H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églalap 10">
            <a:extLst>
              <a:ext uri="{FF2B5EF4-FFF2-40B4-BE49-F238E27FC236}">
                <a16:creationId xmlns:a16="http://schemas.microsoft.com/office/drawing/2014/main" id="{F298DD85-DE5B-6373-1AFC-1240F4F2146A}"/>
              </a:ext>
            </a:extLst>
          </p:cNvPr>
          <p:cNvSpPr/>
          <p:nvPr/>
        </p:nvSpPr>
        <p:spPr>
          <a:xfrm>
            <a:off x="6744072" y="4077072"/>
            <a:ext cx="3888432" cy="240771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u-H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326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E1730B-8047-5E73-3CEE-9330F67539A3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Exporters </a:t>
            </a:r>
            <a:r>
              <a:rPr lang="en-US" dirty="0"/>
              <a:t>a</a:t>
            </a:r>
            <a:r>
              <a:rPr lang="hu-HU" dirty="0"/>
              <a:t>nd Integrations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8BB14-2E56-305B-E214-B99BB656B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Exporters are used to scrape metrics from various systems/software and expose them to Prometheus</a:t>
            </a:r>
          </a:p>
          <a:p>
            <a:pPr lvl="1"/>
            <a:r>
              <a:rPr lang="en-US" dirty="0"/>
              <a:t>There are 200+ exporters</a:t>
            </a:r>
          </a:p>
          <a:p>
            <a:pPr lvl="1"/>
            <a:r>
              <a:rPr lang="en-US" dirty="0"/>
              <a:t>Check out the full list: </a:t>
            </a:r>
            <a:r>
              <a:rPr lang="en-US" dirty="0">
                <a:hlinkClick r:id="rId2"/>
              </a:rPr>
              <a:t>https://prometheus.io/docs/instrumenting/exporters/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r>
              <a:rPr lang="en-US" dirty="0"/>
              <a:t>Many (cloud native) software directly exposes metrics for Prometheus</a:t>
            </a:r>
          </a:p>
          <a:p>
            <a:pPr lvl="1"/>
            <a:r>
              <a:rPr lang="en-US" dirty="0"/>
              <a:t>E.g. Prometheus </a:t>
            </a:r>
            <a:r>
              <a:rPr lang="en-US" dirty="0">
                <a:sym typeface="Wingdings" panose="05000000000000000000" pitchFamily="2" charset="2"/>
              </a:rPr>
              <a:t>, Kubernetes, Docker Daemon, ETCD, Envoy, </a:t>
            </a:r>
            <a:r>
              <a:rPr lang="en-US" dirty="0" err="1">
                <a:sym typeface="Wingdings" panose="05000000000000000000" pitchFamily="2" charset="2"/>
              </a:rPr>
              <a:t>CoreDNS</a:t>
            </a:r>
            <a:r>
              <a:rPr lang="en-US" dirty="0">
                <a:sym typeface="Wingdings" panose="05000000000000000000" pitchFamily="2" charset="2"/>
              </a:rPr>
              <a:t>, Grafana, etc.</a:t>
            </a:r>
            <a:endParaRPr lang="en-US" dirty="0"/>
          </a:p>
          <a:p>
            <a:endParaRPr lang="en-US" dirty="0"/>
          </a:p>
          <a:p>
            <a:r>
              <a:rPr lang="en-US" dirty="0"/>
              <a:t>You can instrument you application to directly expose metrics using Prometheus client libs:</a:t>
            </a:r>
          </a:p>
          <a:p>
            <a:pPr lvl="1"/>
            <a:r>
              <a:rPr lang="en-US" dirty="0"/>
              <a:t>Official: Go, Java, Python, Ruby</a:t>
            </a:r>
          </a:p>
          <a:p>
            <a:pPr lvl="1"/>
            <a:r>
              <a:rPr lang="en-US" dirty="0"/>
              <a:t>Many other community libs (e.g. Bash, C, C++, .NET/C#, PHP, Rust, etc.)</a:t>
            </a:r>
          </a:p>
          <a:p>
            <a:endParaRPr lang="en-US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08889037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838301-FD12-9828-1E76-EAD683E280B3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Monitoring with JMX Exporter</a:t>
            </a:r>
            <a:endParaRPr lang="en-US" dirty="0"/>
          </a:p>
        </p:txBody>
      </p:sp>
      <p:pic>
        <p:nvPicPr>
          <p:cNvPr id="4" name="Picture 2" descr="Liferay Savvy: Kafka Monitoring with Prometheus">
            <a:extLst>
              <a:ext uri="{FF2B5EF4-FFF2-40B4-BE49-F238E27FC236}">
                <a16:creationId xmlns:a16="http://schemas.microsoft.com/office/drawing/2014/main" id="{4185E5F2-84E0-1AE6-F99C-B9E680E91F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E5E5E5"/>
              </a:clrFrom>
              <a:clrTo>
                <a:srgbClr val="E5E5E5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4376" y="1461246"/>
            <a:ext cx="8743248" cy="4978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404584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025B88-91EA-2C35-F7FA-F489E7544561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Basics of the Prometheus Data Model</a:t>
            </a: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2A89EA59-5AFD-75A3-607C-DC5B950E96A2}"/>
              </a:ext>
            </a:extLst>
          </p:cNvPr>
          <p:cNvSpPr txBox="1">
            <a:spLocks/>
          </p:cNvSpPr>
          <p:nvPr/>
        </p:nvSpPr>
        <p:spPr>
          <a:xfrm>
            <a:off x="119336" y="918432"/>
            <a:ext cx="11953328" cy="5688631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Wingdings" panose="05000000000000000000" pitchFamily="2" charset="2"/>
              <a:buChar char="q"/>
              <a:defRPr sz="16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Prometheus fundamentally stores all data as time series: streams of timestamped values belonging to the same metric and the same set of labeled dimensions</a:t>
            </a:r>
          </a:p>
          <a:p>
            <a:r>
              <a:rPr lang="hu-HU" dirty="0"/>
              <a:t>Metric names and labels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Every time series is uniquely identified by its </a:t>
            </a:r>
            <a:r>
              <a:rPr lang="en-US" i="1" dirty="0"/>
              <a:t>metric name</a:t>
            </a:r>
            <a:r>
              <a:rPr lang="en-US" dirty="0"/>
              <a:t> and optional key-value pairs called </a:t>
            </a:r>
            <a:r>
              <a:rPr lang="en-US" i="1" dirty="0"/>
              <a:t>labels</a:t>
            </a:r>
          </a:p>
          <a:p>
            <a:pPr lvl="2"/>
            <a:r>
              <a:rPr lang="en-US" dirty="0"/>
              <a:t>e.g. </a:t>
            </a:r>
            <a:r>
              <a:rPr lang="en-US" dirty="0" err="1"/>
              <a:t>http_requests_total</a:t>
            </a:r>
            <a:endParaRPr lang="en-US" dirty="0"/>
          </a:p>
          <a:p>
            <a:pPr lvl="2"/>
            <a:r>
              <a:rPr lang="en-US" dirty="0"/>
              <a:t>Must match: [a-</a:t>
            </a:r>
            <a:r>
              <a:rPr lang="en-US" dirty="0" err="1"/>
              <a:t>zA</a:t>
            </a:r>
            <a:r>
              <a:rPr lang="en-US" dirty="0"/>
              <a:t>-Z_:][a-zA-Z0-9_:]*</a:t>
            </a:r>
          </a:p>
          <a:p>
            <a:pPr lvl="1"/>
            <a:r>
              <a:rPr lang="en-US" dirty="0"/>
              <a:t>Labels enable Prometheus's dimensional data model: any given combination of labels for the same metric name identifies a particular dimensional instantiation of that metric</a:t>
            </a:r>
          </a:p>
          <a:p>
            <a:pPr lvl="2"/>
            <a:r>
              <a:rPr lang="en-US" dirty="0"/>
              <a:t>e.g. </a:t>
            </a:r>
            <a:r>
              <a:rPr lang="en-US" dirty="0" err="1"/>
              <a:t>node_cpu_seconds_total</a:t>
            </a:r>
            <a:r>
              <a:rPr lang="en-US" dirty="0"/>
              <a:t>{mode="system"} vs. </a:t>
            </a:r>
            <a:r>
              <a:rPr lang="en-US" dirty="0" err="1"/>
              <a:t>node_cpu_seconds_total</a:t>
            </a:r>
            <a:r>
              <a:rPr lang="en-US" dirty="0"/>
              <a:t>{mode="idle"}</a:t>
            </a:r>
          </a:p>
          <a:p>
            <a:pPr lvl="2"/>
            <a:r>
              <a:rPr lang="en-US" dirty="0"/>
              <a:t>Must match: [a-</a:t>
            </a:r>
            <a:r>
              <a:rPr lang="en-US" dirty="0" err="1"/>
              <a:t>zA</a:t>
            </a:r>
            <a:r>
              <a:rPr lang="en-US" dirty="0"/>
              <a:t>-Z_][a-zA-Z0-9_]*   (</a:t>
            </a:r>
            <a:r>
              <a:rPr lang="en-US" dirty="0">
                <a:sym typeface="Wingdings" panose="05000000000000000000" pitchFamily="2" charset="2"/>
              </a:rPr>
              <a:t> Unicode is accepted)</a:t>
            </a:r>
            <a:endParaRPr lang="en-US" dirty="0"/>
          </a:p>
          <a:p>
            <a:pPr lvl="2"/>
            <a:r>
              <a:rPr lang="en-US" dirty="0"/>
              <a:t>Label names beginning with "_</a:t>
            </a:r>
            <a:r>
              <a:rPr lang="en-US" sz="900" dirty="0"/>
              <a:t> </a:t>
            </a:r>
            <a:r>
              <a:rPr lang="en-US" dirty="0"/>
              <a:t>_" are reserved for internal use</a:t>
            </a:r>
          </a:p>
          <a:p>
            <a:r>
              <a:rPr lang="hu-HU" dirty="0"/>
              <a:t>Samples</a:t>
            </a:r>
          </a:p>
          <a:p>
            <a:pPr lvl="1"/>
            <a:r>
              <a:rPr lang="en-US" dirty="0"/>
              <a:t>Samples form the actual time series data. Each sample consists of:</a:t>
            </a:r>
          </a:p>
          <a:p>
            <a:pPr lvl="2"/>
            <a:r>
              <a:rPr lang="en-US" dirty="0"/>
              <a:t>a float64 value</a:t>
            </a:r>
          </a:p>
          <a:p>
            <a:pPr lvl="2"/>
            <a:r>
              <a:rPr lang="en-US" dirty="0"/>
              <a:t>a millisecond-precision timestamp (omitting the timestamp means “now”)</a:t>
            </a:r>
          </a:p>
          <a:p>
            <a:pPr lvl="1"/>
            <a:endParaRPr lang="en-US" dirty="0"/>
          </a:p>
          <a:p>
            <a:pPr lvl="2"/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799377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B0C17F-92E8-DD44-2ED9-CC32BB5997CC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Basics of the Prometheus Data Model</a:t>
            </a:r>
          </a:p>
        </p:txBody>
      </p:sp>
      <p:sp>
        <p:nvSpPr>
          <p:cNvPr id="5" name="Tartalom helye 2">
            <a:extLst>
              <a:ext uri="{FF2B5EF4-FFF2-40B4-BE49-F238E27FC236}">
                <a16:creationId xmlns:a16="http://schemas.microsoft.com/office/drawing/2014/main" id="{40EB63C1-0896-E216-3D73-C0261E5A26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336" y="1052737"/>
            <a:ext cx="11953328" cy="43159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# HELP 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go_gc_duration_seconds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A summary of the pause duration of garbage collection cycles.</a:t>
            </a:r>
          </a:p>
          <a:p>
            <a:pPr marL="0" indent="0">
              <a:buNone/>
            </a:pP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# TYPE 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go_gc_duration_seconds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summary</a:t>
            </a:r>
          </a:p>
          <a:p>
            <a:pPr marL="0" indent="0">
              <a:buNone/>
            </a:pP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go_gc_duration_seconds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{quantile="0"} 3.8098e-05</a:t>
            </a:r>
          </a:p>
          <a:p>
            <a:pPr marL="0" indent="0">
              <a:buNone/>
            </a:pP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go_gc_duration_seconds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{quantile="0.25"} 5.3019e-05</a:t>
            </a:r>
          </a:p>
          <a:p>
            <a:pPr marL="0" indent="0">
              <a:buNone/>
            </a:pP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go_gc_duration_seconds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{quantile="0.5"} 0.000149801</a:t>
            </a:r>
          </a:p>
          <a:p>
            <a:pPr marL="0" indent="0">
              <a:buNone/>
            </a:pP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go_gc_duration_seconds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{quantile="0.75"} 0.00024753</a:t>
            </a:r>
          </a:p>
          <a:p>
            <a:pPr marL="0" indent="0">
              <a:buNone/>
            </a:pP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go_gc_duration_seconds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{quantile="1"} 0.0002941</a:t>
            </a:r>
          </a:p>
          <a:p>
            <a:pPr marL="0" indent="0">
              <a:buNone/>
            </a:pP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go_gc_duration_seconds_sum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0.00089808</a:t>
            </a:r>
          </a:p>
          <a:p>
            <a:pPr marL="0" indent="0">
              <a:buNone/>
            </a:pP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go_gc_duration_seconds_count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6</a:t>
            </a:r>
            <a:endParaRPr lang="hu-HU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Ellipszis 4">
            <a:extLst>
              <a:ext uri="{FF2B5EF4-FFF2-40B4-BE49-F238E27FC236}">
                <a16:creationId xmlns:a16="http://schemas.microsoft.com/office/drawing/2014/main" id="{02887548-2982-91AD-82A4-2B9BCAF9E810}"/>
              </a:ext>
            </a:extLst>
          </p:cNvPr>
          <p:cNvSpPr/>
          <p:nvPr/>
        </p:nvSpPr>
        <p:spPr>
          <a:xfrm>
            <a:off x="0" y="3933056"/>
            <a:ext cx="4871864" cy="12961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u-H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7" name="Egyenes összekötő nyíllal 6">
            <a:extLst>
              <a:ext uri="{FF2B5EF4-FFF2-40B4-BE49-F238E27FC236}">
                <a16:creationId xmlns:a16="http://schemas.microsoft.com/office/drawing/2014/main" id="{FBF128E9-7398-EEEF-A326-108C51AB301A}"/>
              </a:ext>
            </a:extLst>
          </p:cNvPr>
          <p:cNvCxnSpPr>
            <a:stCxn id="6" idx="4"/>
          </p:cNvCxnSpPr>
          <p:nvPr/>
        </p:nvCxnSpPr>
        <p:spPr>
          <a:xfrm>
            <a:off x="2435932" y="5229200"/>
            <a:ext cx="419708" cy="86409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zövegdoboz 8">
            <a:extLst>
              <a:ext uri="{FF2B5EF4-FFF2-40B4-BE49-F238E27FC236}">
                <a16:creationId xmlns:a16="http://schemas.microsoft.com/office/drawing/2014/main" id="{69682DFD-22B6-23DD-7025-3F69A4D0DB02}"/>
              </a:ext>
            </a:extLst>
          </p:cNvPr>
          <p:cNvSpPr txBox="1"/>
          <p:nvPr/>
        </p:nvSpPr>
        <p:spPr>
          <a:xfrm>
            <a:off x="2135560" y="6165304"/>
            <a:ext cx="1376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metric name</a:t>
            </a:r>
            <a:endParaRPr kumimoji="0" lang="hu-H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Ellipszis 11">
            <a:extLst>
              <a:ext uri="{FF2B5EF4-FFF2-40B4-BE49-F238E27FC236}">
                <a16:creationId xmlns:a16="http://schemas.microsoft.com/office/drawing/2014/main" id="{7F1B581C-E10E-E345-7269-1F4E6F3C546C}"/>
              </a:ext>
            </a:extLst>
          </p:cNvPr>
          <p:cNvSpPr/>
          <p:nvPr/>
        </p:nvSpPr>
        <p:spPr>
          <a:xfrm>
            <a:off x="3935760" y="2178352"/>
            <a:ext cx="2880320" cy="12961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u-H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0" name="Egyenes összekötő nyíllal 12">
            <a:extLst>
              <a:ext uri="{FF2B5EF4-FFF2-40B4-BE49-F238E27FC236}">
                <a16:creationId xmlns:a16="http://schemas.microsoft.com/office/drawing/2014/main" id="{4DA20AE9-23E3-CC66-3C56-3F84819D9523}"/>
              </a:ext>
            </a:extLst>
          </p:cNvPr>
          <p:cNvCxnSpPr>
            <a:stCxn id="9" idx="4"/>
          </p:cNvCxnSpPr>
          <p:nvPr/>
        </p:nvCxnSpPr>
        <p:spPr>
          <a:xfrm>
            <a:off x="5375920" y="3474496"/>
            <a:ext cx="792088" cy="204273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zövegdoboz 13">
            <a:extLst>
              <a:ext uri="{FF2B5EF4-FFF2-40B4-BE49-F238E27FC236}">
                <a16:creationId xmlns:a16="http://schemas.microsoft.com/office/drawing/2014/main" id="{409F6305-3C78-781E-3A17-E29F51AF9239}"/>
              </a:ext>
            </a:extLst>
          </p:cNvPr>
          <p:cNvSpPr txBox="1"/>
          <p:nvPr/>
        </p:nvSpPr>
        <p:spPr>
          <a:xfrm>
            <a:off x="5739754" y="5517232"/>
            <a:ext cx="81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labels</a:t>
            </a:r>
            <a:endParaRPr kumimoji="0" lang="hu-H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Ellipszis 19">
            <a:extLst>
              <a:ext uri="{FF2B5EF4-FFF2-40B4-BE49-F238E27FC236}">
                <a16:creationId xmlns:a16="http://schemas.microsoft.com/office/drawing/2014/main" id="{665AF68A-F7BC-D7E3-A6AC-1E64DDA8E387}"/>
              </a:ext>
            </a:extLst>
          </p:cNvPr>
          <p:cNvSpPr/>
          <p:nvPr/>
        </p:nvSpPr>
        <p:spPr>
          <a:xfrm>
            <a:off x="6816080" y="2925114"/>
            <a:ext cx="1872208" cy="12961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u-H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3" name="Egyenes összekötő nyíllal 20">
            <a:extLst>
              <a:ext uri="{FF2B5EF4-FFF2-40B4-BE49-F238E27FC236}">
                <a16:creationId xmlns:a16="http://schemas.microsoft.com/office/drawing/2014/main" id="{EF3D8AD5-0DDD-BC76-0198-4B35B38C62D8}"/>
              </a:ext>
            </a:extLst>
          </p:cNvPr>
          <p:cNvCxnSpPr>
            <a:stCxn id="12" idx="4"/>
          </p:cNvCxnSpPr>
          <p:nvPr/>
        </p:nvCxnSpPr>
        <p:spPr>
          <a:xfrm>
            <a:off x="7752184" y="4221258"/>
            <a:ext cx="2304256" cy="152485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Szövegdoboz 21">
            <a:extLst>
              <a:ext uri="{FF2B5EF4-FFF2-40B4-BE49-F238E27FC236}">
                <a16:creationId xmlns:a16="http://schemas.microsoft.com/office/drawing/2014/main" id="{4593D323-6F35-769E-1D7F-80CC3360F909}"/>
              </a:ext>
            </a:extLst>
          </p:cNvPr>
          <p:cNvSpPr txBox="1"/>
          <p:nvPr/>
        </p:nvSpPr>
        <p:spPr>
          <a:xfrm>
            <a:off x="9840416" y="5746112"/>
            <a:ext cx="10081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sample values</a:t>
            </a:r>
            <a:endParaRPr kumimoji="0" lang="hu-H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Szövegdoboz 24">
            <a:extLst>
              <a:ext uri="{FF2B5EF4-FFF2-40B4-BE49-F238E27FC236}">
                <a16:creationId xmlns:a16="http://schemas.microsoft.com/office/drawing/2014/main" id="{85C4CC5A-7C4B-9BF5-0CE4-3446CC8E8B60}"/>
              </a:ext>
            </a:extLst>
          </p:cNvPr>
          <p:cNvSpPr txBox="1"/>
          <p:nvPr/>
        </p:nvSpPr>
        <p:spPr>
          <a:xfrm>
            <a:off x="9480376" y="1844824"/>
            <a:ext cx="22205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Timestamp is omitted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which means “now”</a:t>
            </a:r>
            <a:endParaRPr kumimoji="0" lang="hu-HU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Téglalap 25">
            <a:extLst>
              <a:ext uri="{FF2B5EF4-FFF2-40B4-BE49-F238E27FC236}">
                <a16:creationId xmlns:a16="http://schemas.microsoft.com/office/drawing/2014/main" id="{BAADCF20-D18E-96D1-E9DC-A87A428AB371}"/>
              </a:ext>
            </a:extLst>
          </p:cNvPr>
          <p:cNvSpPr/>
          <p:nvPr/>
        </p:nvSpPr>
        <p:spPr>
          <a:xfrm>
            <a:off x="4269845" y="6165304"/>
            <a:ext cx="50577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Open Sans"/>
                <a:ea typeface="+mn-ea"/>
                <a:cs typeface="+mn-cs"/>
              </a:rPr>
              <a:t>This is the same notation that 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337AB7"/>
                </a:solidFill>
                <a:effectLst/>
                <a:uLnTx/>
                <a:uFillTx/>
                <a:latin typeface="Open Sans"/>
                <a:ea typeface="+mn-ea"/>
                <a:cs typeface="+mn-cs"/>
                <a:hlinkClick r:id="rId2"/>
              </a:rPr>
              <a:t>OpenTSDB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Open Sans"/>
                <a:ea typeface="+mn-ea"/>
                <a:cs typeface="+mn-cs"/>
              </a:rPr>
              <a:t> uses.</a:t>
            </a:r>
            <a:endParaRPr kumimoji="0" lang="hu-H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487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/>
      <p:bldP spid="9" grpId="0" animBg="1"/>
      <p:bldP spid="11" grpId="0"/>
      <p:bldP spid="12" grpId="0" animBg="1"/>
      <p:bldP spid="14" grpId="0"/>
      <p:bldP spid="15" grpId="0"/>
      <p:bldP spid="16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27E556-9C3B-55E1-30E8-1123B946FD66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Metric Types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F1EC34-DD15-86FD-BFCE-D160179E1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336" y="895983"/>
            <a:ext cx="11953328" cy="5303614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Counter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A counter is a cumulative metric that represents a single monotonically increasing counter whose value can only increase or be reset to zero on restart. For example, you can use a counter to represent the number of requests served, tasks completed, or errors.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Do not use a counter to expose a value that can decrease. For example, do not use a counter for the number of currently running processes; instead use a gauge.</a:t>
            </a:r>
          </a:p>
          <a:p>
            <a:pPr>
              <a:lnSpc>
                <a:spcPct val="120000"/>
              </a:lnSpc>
            </a:pPr>
            <a:r>
              <a:rPr lang="en-US" dirty="0"/>
              <a:t>Gauge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A gauge is a metric that represents a single numerical value that can arbitrarily go up and down.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Gauges are typically used for measured values like temperatures or current memory usage, but also "counts" that can go up and down, like the number of concurrent requests.</a:t>
            </a:r>
          </a:p>
          <a:p>
            <a:pPr>
              <a:lnSpc>
                <a:spcPct val="120000"/>
              </a:lnSpc>
            </a:pPr>
            <a:r>
              <a:rPr lang="en-US" dirty="0"/>
              <a:t>Histogram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A histogram samples observations (usually things like request durations or response sizes) and counts them in configurable buckets. It also provides a sum of all observed values.</a:t>
            </a:r>
          </a:p>
          <a:p>
            <a:pPr>
              <a:lnSpc>
                <a:spcPct val="120000"/>
              </a:lnSpc>
            </a:pPr>
            <a:r>
              <a:rPr lang="en-US" dirty="0"/>
              <a:t>Summary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Similar to a histogram, a summary samples observations (usually things like request durations and response sizes). While it also provides a total count of observations and a sum of all observed values, it calculates configurable quantiles over a sliding time window.</a:t>
            </a:r>
          </a:p>
        </p:txBody>
      </p:sp>
      <p:pic>
        <p:nvPicPr>
          <p:cNvPr id="5" name="Picture 2" descr="What is the difference between a CDF and a PDF? - Quora">
            <a:extLst>
              <a:ext uri="{FF2B5EF4-FFF2-40B4-BE49-F238E27FC236}">
                <a16:creationId xmlns:a16="http://schemas.microsoft.com/office/drawing/2014/main" id="{475AFB6E-8E7A-6B04-4AA9-C5D46BAFF3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9977" y="790011"/>
            <a:ext cx="5663519" cy="4273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Egyenes összekötő nyíllal 4">
            <a:extLst>
              <a:ext uri="{FF2B5EF4-FFF2-40B4-BE49-F238E27FC236}">
                <a16:creationId xmlns:a16="http://schemas.microsoft.com/office/drawing/2014/main" id="{4AC67B93-6AFC-D0DD-9AFF-7A1313F96A60}"/>
              </a:ext>
            </a:extLst>
          </p:cNvPr>
          <p:cNvCxnSpPr>
            <a:cxnSpLocks/>
          </p:cNvCxnSpPr>
          <p:nvPr/>
        </p:nvCxnSpPr>
        <p:spPr>
          <a:xfrm flipV="1">
            <a:off x="1775520" y="3789040"/>
            <a:ext cx="6696744" cy="36004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gyenes összekötő nyíllal 7">
            <a:extLst>
              <a:ext uri="{FF2B5EF4-FFF2-40B4-BE49-F238E27FC236}">
                <a16:creationId xmlns:a16="http://schemas.microsoft.com/office/drawing/2014/main" id="{20BEB261-83A8-306C-8C1A-6D189A2F11BD}"/>
              </a:ext>
            </a:extLst>
          </p:cNvPr>
          <p:cNvCxnSpPr>
            <a:cxnSpLocks/>
          </p:cNvCxnSpPr>
          <p:nvPr/>
        </p:nvCxnSpPr>
        <p:spPr>
          <a:xfrm flipV="1">
            <a:off x="1731625" y="1988840"/>
            <a:ext cx="7200800" cy="307487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073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E1584F-43B5-6901-DE40-A5D029A72DCE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Jobs </a:t>
            </a:r>
            <a:r>
              <a:rPr lang="en-US" dirty="0"/>
              <a:t>a</a:t>
            </a:r>
            <a:r>
              <a:rPr lang="hu-HU" dirty="0"/>
              <a:t>nd Instances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9BF6FCD-43C8-7CF9-2797-07C006ECE65C}"/>
              </a:ext>
            </a:extLst>
          </p:cNvPr>
          <p:cNvSpPr txBox="1">
            <a:spLocks/>
          </p:cNvSpPr>
          <p:nvPr/>
        </p:nvSpPr>
        <p:spPr>
          <a:xfrm>
            <a:off x="119336" y="833281"/>
            <a:ext cx="11593288" cy="58052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Wingdings" panose="05000000000000000000" pitchFamily="2" charset="2"/>
              <a:buChar char="q"/>
              <a:defRPr sz="16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Instance:</a:t>
            </a:r>
          </a:p>
          <a:p>
            <a:pPr lvl="1"/>
            <a:r>
              <a:rPr lang="en-US" sz="1800" dirty="0"/>
              <a:t>An endpoint you can scrape is called </a:t>
            </a:r>
          </a:p>
          <a:p>
            <a:pPr lvl="1"/>
            <a:r>
              <a:rPr lang="en-US" sz="1800" dirty="0"/>
              <a:t>Usually corresponding to a single process</a:t>
            </a:r>
          </a:p>
          <a:p>
            <a:pPr lvl="1"/>
            <a:endParaRPr lang="en-US" sz="1800" dirty="0"/>
          </a:p>
          <a:p>
            <a:r>
              <a:rPr lang="en-US" sz="2000" dirty="0"/>
              <a:t>Job:</a:t>
            </a:r>
          </a:p>
          <a:p>
            <a:pPr lvl="1"/>
            <a:r>
              <a:rPr lang="en-US" sz="1800" dirty="0"/>
              <a:t>A collection of instances with the same purpose</a:t>
            </a:r>
          </a:p>
          <a:p>
            <a:pPr lvl="1"/>
            <a:r>
              <a:rPr lang="en-US" sz="1800" dirty="0"/>
              <a:t>A process replicated for scalability or reliability</a:t>
            </a:r>
          </a:p>
          <a:p>
            <a:pPr lvl="1"/>
            <a:endParaRPr lang="en-US" sz="1800" dirty="0"/>
          </a:p>
          <a:p>
            <a:r>
              <a:rPr lang="en-US" sz="2000" dirty="0"/>
              <a:t>Example:</a:t>
            </a:r>
          </a:p>
          <a:p>
            <a:pPr lvl="1"/>
            <a:r>
              <a:rPr lang="en-US" sz="1800" dirty="0"/>
              <a:t>job: </a:t>
            </a:r>
            <a:r>
              <a:rPr lang="hu-HU" sz="1800" dirty="0"/>
              <a:t>kafka</a:t>
            </a:r>
            <a:endParaRPr lang="en-US" sz="1800" dirty="0"/>
          </a:p>
          <a:p>
            <a:pPr lvl="2"/>
            <a:r>
              <a:rPr lang="en-US" sz="1600" dirty="0"/>
              <a:t>instance 1: 1.2.3.4:5670</a:t>
            </a:r>
          </a:p>
          <a:p>
            <a:pPr lvl="2"/>
            <a:r>
              <a:rPr lang="en-US" sz="1600" dirty="0"/>
              <a:t>instance 2: 1.2.3.4:5671</a:t>
            </a:r>
          </a:p>
          <a:p>
            <a:pPr lvl="2"/>
            <a:r>
              <a:rPr lang="en-US" sz="1600" dirty="0"/>
              <a:t>instance 3: 5.6.7.8:5670</a:t>
            </a:r>
          </a:p>
          <a:p>
            <a:pPr lvl="2"/>
            <a:r>
              <a:rPr lang="en-US" sz="1600" dirty="0"/>
              <a:t>instance 4: 5.6.7.8:5671</a:t>
            </a:r>
          </a:p>
          <a:p>
            <a:pPr lvl="1"/>
            <a:endParaRPr lang="en-US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A0F016-8CFF-0FC1-64A9-0A74824D6C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1590" y="3735912"/>
            <a:ext cx="2743583" cy="191479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4467CE1-A801-D230-C6E8-96761F784DEF}"/>
              </a:ext>
            </a:extLst>
          </p:cNvPr>
          <p:cNvCxnSpPr/>
          <p:nvPr/>
        </p:nvCxnSpPr>
        <p:spPr>
          <a:xfrm>
            <a:off x="3853543" y="4650377"/>
            <a:ext cx="9666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1258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8D11699-58C2-5AD6-BDE3-BB341329BF53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Automatically Generated Labels and Time Series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B858C2D-3DE6-EDFC-FFBA-8388B741AB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336" y="840988"/>
            <a:ext cx="11593288" cy="5805263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dirty="0"/>
              <a:t>When Prometheus scrapes a target, it attaches some labels automatically to the scraped time series which serve to identify the scraped target</a:t>
            </a:r>
          </a:p>
          <a:p>
            <a:pPr>
              <a:lnSpc>
                <a:spcPct val="120000"/>
              </a:lnSpc>
            </a:pPr>
            <a:endParaRPr lang="en-US" dirty="0"/>
          </a:p>
          <a:p>
            <a:pPr>
              <a:lnSpc>
                <a:spcPct val="120000"/>
              </a:lnSpc>
            </a:pPr>
            <a:r>
              <a:rPr lang="en-US" dirty="0"/>
              <a:t>For each instance scrape, Prometheus stores a sample in the following time series:</a:t>
            </a:r>
          </a:p>
          <a:p>
            <a:pPr lvl="1">
              <a:lnSpc>
                <a:spcPct val="12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up{job="&lt;job-name&gt;", instance="&lt;instance-id&gt;"}: </a:t>
            </a:r>
            <a:endParaRPr lang="hu-HU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>
              <a:lnSpc>
                <a:spcPct val="120000"/>
              </a:lnSpc>
            </a:pPr>
            <a:r>
              <a:rPr lang="en-US" dirty="0"/>
              <a:t>1 if the instance is healthy, i.e. reachable, or 0 if the scrape failed.</a:t>
            </a:r>
          </a:p>
          <a:p>
            <a:pPr lvl="1">
              <a:lnSpc>
                <a:spcPct val="120000"/>
              </a:lnSpc>
            </a:pP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scrape_duration_seconds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{job="&lt;job-name&gt;", instance="&lt;instance-id&gt;"}: </a:t>
            </a:r>
            <a:endParaRPr lang="hu-HU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>
              <a:lnSpc>
                <a:spcPct val="120000"/>
              </a:lnSpc>
            </a:pPr>
            <a:r>
              <a:rPr lang="en-US" dirty="0"/>
              <a:t>duration of the scrape.</a:t>
            </a:r>
          </a:p>
          <a:p>
            <a:pPr lvl="1">
              <a:lnSpc>
                <a:spcPct val="120000"/>
              </a:lnSpc>
            </a:pP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scrape_samples_post_metric_relabeling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{job="&lt;job-name&gt;", instance="&lt;instance-id&gt;"}: </a:t>
            </a:r>
            <a:endParaRPr lang="hu-HU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>
              <a:lnSpc>
                <a:spcPct val="120000"/>
              </a:lnSpc>
            </a:pPr>
            <a:r>
              <a:rPr lang="en-US" dirty="0"/>
              <a:t>the number of samples remaining after metric relabeling was applied.</a:t>
            </a:r>
          </a:p>
          <a:p>
            <a:pPr lvl="1">
              <a:lnSpc>
                <a:spcPct val="120000"/>
              </a:lnSpc>
            </a:pP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scrape_samples_scraped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{job="&lt;job-name&gt;", instance="&lt;instance-id&gt;"}:</a:t>
            </a:r>
            <a:r>
              <a:rPr lang="en-US" dirty="0"/>
              <a:t> </a:t>
            </a:r>
            <a:endParaRPr lang="hu-HU" dirty="0"/>
          </a:p>
          <a:p>
            <a:pPr lvl="2">
              <a:lnSpc>
                <a:spcPct val="120000"/>
              </a:lnSpc>
            </a:pPr>
            <a:r>
              <a:rPr lang="en-US" dirty="0"/>
              <a:t>the number of samples the target exposed.</a:t>
            </a:r>
          </a:p>
          <a:p>
            <a:pPr lvl="1">
              <a:lnSpc>
                <a:spcPct val="120000"/>
              </a:lnSpc>
            </a:pP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scrape_series_added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{job="&lt;job-name&gt;", instance="&lt;instance-id&gt;"}: </a:t>
            </a:r>
            <a:endParaRPr lang="hu-HU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>
              <a:lnSpc>
                <a:spcPct val="120000"/>
              </a:lnSpc>
            </a:pPr>
            <a:r>
              <a:rPr lang="en-US" dirty="0"/>
              <a:t>the approximate number of new series in this scrape.</a:t>
            </a:r>
          </a:p>
          <a:p>
            <a:pPr lvl="1">
              <a:lnSpc>
                <a:spcPct val="120000"/>
              </a:lnSpc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39121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A96D7-67AC-5856-4ABB-719842873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EEDFB8-B6E3-3982-C01B-1EC6C48E3D8E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 err="1"/>
              <a:t>PromQL</a:t>
            </a:r>
            <a:r>
              <a:rPr lang="en-US" dirty="0"/>
              <a:t> Basics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5159621-C252-8AAB-5DE4-53E4D52FD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336" y="840988"/>
            <a:ext cx="11593288" cy="5805263"/>
          </a:xfrm>
        </p:spPr>
        <p:txBody>
          <a:bodyPr>
            <a:normAutofit/>
          </a:bodyPr>
          <a:lstStyle/>
          <a:p>
            <a:r>
              <a:rPr lang="en-US" sz="2000" dirty="0" err="1"/>
              <a:t>PromQL</a:t>
            </a:r>
            <a:r>
              <a:rPr lang="en-US" sz="2000" dirty="0"/>
              <a:t> expressions can evaluate to one of these types:</a:t>
            </a:r>
          </a:p>
          <a:p>
            <a:pPr lvl="1"/>
            <a:r>
              <a:rPr lang="en-US" sz="1800" b="1" dirty="0"/>
              <a:t>Instant Vector</a:t>
            </a:r>
            <a:r>
              <a:rPr lang="en-US" sz="1800" dirty="0"/>
              <a:t>: A set of time series, each with </a:t>
            </a:r>
            <a:r>
              <a:rPr lang="en-US" sz="1800" b="1" dirty="0"/>
              <a:t>a single sample</a:t>
            </a:r>
            <a:r>
              <a:rPr lang="en-US" sz="1800" dirty="0"/>
              <a:t> at a </a:t>
            </a:r>
            <a:r>
              <a:rPr lang="en-US" sz="1800" b="1" dirty="0"/>
              <a:t>specific timestamp</a:t>
            </a:r>
            <a:r>
              <a:rPr lang="en-US" sz="1800" dirty="0"/>
              <a:t>. → Used for querying the current value or a snapshot in time.</a:t>
            </a:r>
          </a:p>
          <a:p>
            <a:pPr lvl="1"/>
            <a:r>
              <a:rPr lang="en-US" sz="1800" b="1" dirty="0"/>
              <a:t>Range Vector</a:t>
            </a:r>
            <a:r>
              <a:rPr lang="en-US" sz="1800" dirty="0"/>
              <a:t>: A set of time series, each with </a:t>
            </a:r>
            <a:r>
              <a:rPr lang="en-US" sz="1800" b="1" dirty="0"/>
              <a:t>multiple samples</a:t>
            </a:r>
            <a:r>
              <a:rPr lang="en-US" sz="1800" dirty="0"/>
              <a:t> over a </a:t>
            </a:r>
            <a:r>
              <a:rPr lang="en-US" sz="1800" b="1" dirty="0"/>
              <a:t>time range</a:t>
            </a:r>
            <a:r>
              <a:rPr lang="en-US" sz="1800" dirty="0"/>
              <a:t>. → Used for time-based analysis like rates, averages, etc.</a:t>
            </a:r>
          </a:p>
          <a:p>
            <a:pPr lvl="1"/>
            <a:r>
              <a:rPr lang="en-US" sz="1800" b="1" dirty="0"/>
              <a:t>Scalar</a:t>
            </a:r>
            <a:r>
              <a:rPr lang="en-US" sz="1800" dirty="0"/>
              <a:t>: A single </a:t>
            </a:r>
            <a:r>
              <a:rPr lang="en-US" sz="1800" b="1" dirty="0"/>
              <a:t>floating-point number</a:t>
            </a:r>
            <a:r>
              <a:rPr lang="en-US" sz="1800" dirty="0"/>
              <a:t>. → Often used in comparisons or as thresholds.</a:t>
            </a:r>
          </a:p>
          <a:p>
            <a:pPr lvl="1"/>
            <a:r>
              <a:rPr lang="en-US" sz="1800" b="1" dirty="0"/>
              <a:t>String</a:t>
            </a:r>
            <a:r>
              <a:rPr lang="en-US" sz="1800" dirty="0"/>
              <a:t> </a:t>
            </a:r>
            <a:r>
              <a:rPr lang="en-US" sz="1800" i="1" dirty="0"/>
              <a:t>(rarely used)</a:t>
            </a:r>
            <a:r>
              <a:rPr lang="en-US" sz="1800" dirty="0"/>
              <a:t>: A simple string value, mostly for internal or literal use.</a:t>
            </a:r>
          </a:p>
          <a:p>
            <a:endParaRPr lang="en-US" sz="2000" dirty="0"/>
          </a:p>
          <a:p>
            <a:r>
              <a:rPr lang="en-US" sz="2000" dirty="0"/>
              <a:t>Basics concept:</a:t>
            </a:r>
          </a:p>
          <a:p>
            <a:pPr lvl="1"/>
            <a:r>
              <a:rPr lang="en-US" b="1" dirty="0"/>
              <a:t>Metric Name</a:t>
            </a:r>
            <a:r>
              <a:rPr lang="en-US" dirty="0"/>
              <a:t>: The base identifier of the time series (e.g.,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http_requests_total</a:t>
            </a:r>
            <a:r>
              <a:rPr lang="en-US" dirty="0"/>
              <a:t>).</a:t>
            </a:r>
          </a:p>
          <a:p>
            <a:pPr lvl="1"/>
            <a:r>
              <a:rPr lang="en-US" b="1" dirty="0"/>
              <a:t>Label Filtering</a:t>
            </a:r>
            <a:r>
              <a:rPr lang="en-US" dirty="0"/>
              <a:t>: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{label="value"}</a:t>
            </a:r>
            <a:r>
              <a:rPr lang="en-US" dirty="0"/>
              <a:t> or regex matchers like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{label=~"regex"}</a:t>
            </a:r>
            <a:r>
              <a:rPr lang="en-US" dirty="0"/>
              <a:t> to filter series.</a:t>
            </a:r>
          </a:p>
          <a:p>
            <a:pPr lvl="1"/>
            <a:r>
              <a:rPr lang="en-US" b="1" dirty="0"/>
              <a:t>Operators &amp; Functions</a:t>
            </a:r>
            <a:r>
              <a:rPr lang="en-US" dirty="0"/>
              <a:t>: Apply math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(+, -, /, *)</a:t>
            </a:r>
            <a:r>
              <a:rPr lang="en-US" dirty="0"/>
              <a:t>, comparisons, and built-in functions like:</a:t>
            </a:r>
          </a:p>
          <a:p>
            <a:pPr lvl="2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rate(), sum(), avg(), max(), min(), count()</a:t>
            </a:r>
            <a:r>
              <a:rPr lang="en-US" sz="1600" dirty="0"/>
              <a:t>, etc.</a:t>
            </a:r>
          </a:p>
          <a:p>
            <a:endParaRPr lang="en-US" dirty="0"/>
          </a:p>
          <a:p>
            <a:endParaRPr lang="en-US" sz="2000" dirty="0"/>
          </a:p>
          <a:p>
            <a:r>
              <a:rPr lang="en-US" sz="2000" dirty="0"/>
              <a:t>Both alerting and graphing uses </a:t>
            </a:r>
            <a:r>
              <a:rPr lang="en-US" sz="2000" dirty="0" err="1"/>
              <a:t>PromQL</a:t>
            </a: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920682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0CF2D-3F29-3FA9-0C0F-F5AD65319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A435466-FE5D-37E7-4657-2EC0C59080DA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Kafka Most Important Metrics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DC2E4E4-9DE0-C470-1527-7991593095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336" y="840988"/>
            <a:ext cx="11593288" cy="5805263"/>
          </a:xfrm>
        </p:spPr>
        <p:txBody>
          <a:bodyPr>
            <a:normAutofit/>
          </a:bodyPr>
          <a:lstStyle/>
          <a:p>
            <a:r>
              <a:rPr lang="en-US" sz="2000" dirty="0"/>
              <a:t>A few metrics are very important:</a:t>
            </a:r>
          </a:p>
          <a:p>
            <a:pPr lvl="1"/>
            <a:r>
              <a:rPr lang="en-US" sz="1800" b="1" dirty="0"/>
              <a:t>Number of active controllers</a:t>
            </a:r>
            <a:r>
              <a:rPr lang="en-US" sz="1800" dirty="0"/>
              <a:t>: should </a:t>
            </a:r>
            <a:r>
              <a:rPr lang="en-US" sz="1800" u="sng" dirty="0"/>
              <a:t>always be 1</a:t>
            </a:r>
            <a:endParaRPr lang="hu-HU" sz="1800" u="sng" dirty="0"/>
          </a:p>
          <a:p>
            <a:pPr lvl="2"/>
            <a:r>
              <a:rPr lang="en-US" sz="1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kafka_controller_kafkacontroller_activecontrollercount</a:t>
            </a:r>
            <a:endParaRPr lang="en-US" sz="16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b="1" dirty="0"/>
              <a:t>Number of </a:t>
            </a:r>
            <a:r>
              <a:rPr lang="en-US" sz="1800" b="1" dirty="0" err="1"/>
              <a:t>underreplicated</a:t>
            </a:r>
            <a:r>
              <a:rPr lang="en-US" sz="1800" b="1" dirty="0"/>
              <a:t> </a:t>
            </a:r>
            <a:r>
              <a:rPr lang="hu-HU" sz="1800" b="1" dirty="0"/>
              <a:t>partitions</a:t>
            </a:r>
            <a:r>
              <a:rPr lang="en-US" sz="1800" dirty="0"/>
              <a:t>: should </a:t>
            </a:r>
            <a:r>
              <a:rPr lang="en-US" sz="1800" u="sng" dirty="0"/>
              <a:t>always be 0</a:t>
            </a:r>
            <a:endParaRPr lang="hu-HU" sz="1800" u="sng" dirty="0"/>
          </a:p>
          <a:p>
            <a:pPr lvl="2"/>
            <a:r>
              <a:rPr lang="en-US" sz="1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kafka_server_replicamanager_underreplicatedpartitions</a:t>
            </a:r>
            <a:endParaRPr lang="en-US" sz="16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b="1" dirty="0"/>
              <a:t>Number of offline partitions</a:t>
            </a:r>
            <a:r>
              <a:rPr lang="en-US" sz="1800" dirty="0"/>
              <a:t>: should </a:t>
            </a:r>
            <a:r>
              <a:rPr lang="en-US" sz="1800" u="sng" dirty="0"/>
              <a:t>always be 0</a:t>
            </a:r>
            <a:endParaRPr lang="hu-HU" sz="1800" u="sng" dirty="0"/>
          </a:p>
          <a:p>
            <a:pPr lvl="2"/>
            <a:r>
              <a:rPr lang="en-US" sz="1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kafka_controller_kafkacontroller_offlinepartitionscount</a:t>
            </a:r>
            <a:endParaRPr lang="en-US" sz="16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sz="1800" dirty="0"/>
          </a:p>
          <a:p>
            <a:r>
              <a:rPr lang="en-US" sz="2000" dirty="0"/>
              <a:t>Read more here:</a:t>
            </a:r>
          </a:p>
          <a:p>
            <a:pPr lvl="1"/>
            <a:r>
              <a:rPr lang="en-US" sz="1800" dirty="0">
                <a:hlinkClick r:id="rId3"/>
              </a:rPr>
              <a:t>https://kafka.apache.org/documentation/#monitoring</a:t>
            </a:r>
            <a:endParaRPr lang="en-US" sz="1800" dirty="0"/>
          </a:p>
          <a:p>
            <a:pPr lvl="1"/>
            <a:r>
              <a:rPr lang="en-US" sz="1800" dirty="0">
                <a:hlinkClick r:id="rId4"/>
              </a:rPr>
              <a:t>https://docs.confluent.io/platform/current/kafka/monitoring.html</a:t>
            </a:r>
            <a:endParaRPr lang="en-US" sz="1800" dirty="0"/>
          </a:p>
          <a:p>
            <a:pPr lvl="1"/>
            <a:endParaRPr lang="en-US" sz="1800" dirty="0"/>
          </a:p>
          <a:p>
            <a:r>
              <a:rPr lang="en-US" sz="2000" dirty="0">
                <a:solidFill>
                  <a:srgbClr val="FF0000"/>
                </a:solidFill>
              </a:rPr>
              <a:t>It’s always better to monitor more metrics then miss an important one!</a:t>
            </a:r>
          </a:p>
        </p:txBody>
      </p:sp>
    </p:spTree>
    <p:extLst>
      <p:ext uri="{BB962C8B-B14F-4D97-AF65-F5344CB8AC3E}">
        <p14:creationId xmlns:p14="http://schemas.microsoft.com/office/powerpoint/2010/main" val="2396108621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88080BE-E597-6296-EA02-0E4681373CE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Prometheus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CBA3C-F618-78AB-2C95-389ECA5E9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Record rules</a:t>
            </a:r>
          </a:p>
          <a:p>
            <a:pPr lvl="1"/>
            <a:r>
              <a:rPr lang="en-US" dirty="0"/>
              <a:t>Precompute frequently needed or </a:t>
            </a:r>
            <a:br>
              <a:rPr lang="hu-HU" dirty="0"/>
            </a:br>
            <a:r>
              <a:rPr lang="en-US" dirty="0"/>
              <a:t>computationally expensive expressions</a:t>
            </a:r>
          </a:p>
          <a:p>
            <a:pPr lvl="1"/>
            <a:r>
              <a:rPr lang="en-US" dirty="0"/>
              <a:t>Save their result as a new set of time series</a:t>
            </a:r>
          </a:p>
          <a:p>
            <a:pPr lvl="1"/>
            <a:r>
              <a:rPr lang="hu-HU" dirty="0"/>
              <a:t>R</a:t>
            </a:r>
            <a:r>
              <a:rPr lang="en-US" dirty="0" err="1"/>
              <a:t>esult</a:t>
            </a:r>
            <a:r>
              <a:rPr lang="hu-HU" dirty="0"/>
              <a:t>s</a:t>
            </a:r>
            <a:r>
              <a:rPr lang="en-US" dirty="0"/>
              <a:t> will then often be much faster to query</a:t>
            </a:r>
          </a:p>
          <a:p>
            <a:pPr marL="457200" lvl="1" indent="0">
              <a:buNone/>
            </a:pPr>
            <a:endParaRPr lang="hu-HU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Alert rules</a:t>
            </a:r>
          </a:p>
          <a:p>
            <a:pPr lvl="1"/>
            <a:r>
              <a:rPr lang="en-US" dirty="0"/>
              <a:t>Define alert conditions based on </a:t>
            </a:r>
            <a:r>
              <a:rPr lang="en-US" dirty="0" err="1"/>
              <a:t>PromQL</a:t>
            </a:r>
            <a:r>
              <a:rPr lang="en-US" dirty="0"/>
              <a:t> expressions </a:t>
            </a:r>
          </a:p>
          <a:p>
            <a:pPr lvl="1"/>
            <a:r>
              <a:rPr lang="en-US" dirty="0"/>
              <a:t>Send notifications about firing alerts to an external service (usually </a:t>
            </a:r>
            <a:r>
              <a:rPr lang="en-US" dirty="0" err="1"/>
              <a:t>Alertmanager</a:t>
            </a:r>
            <a:r>
              <a:rPr lang="en-US" dirty="0"/>
              <a:t>)</a:t>
            </a:r>
          </a:p>
          <a:p>
            <a:endParaRPr lang="en-US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012AB-F334-12A1-306C-6D7B6B6E3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344" y="1050201"/>
            <a:ext cx="5487166" cy="12670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4072AE-8DBB-426C-9A1E-98D02A45CE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079" y="4088223"/>
            <a:ext cx="7211431" cy="241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64665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9FB943-72C8-ABE6-1AA2-DB82C8D8A6B9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 err="1"/>
              <a:t>Alertmanager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7EA53-36A2-DC7C-6139-3E9FB716A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Handles alerts sent by client applications such as the Prometheus server</a:t>
            </a:r>
          </a:p>
          <a:p>
            <a:pPr lvl="1"/>
            <a:r>
              <a:rPr lang="en-US" dirty="0"/>
              <a:t>T</a:t>
            </a:r>
            <a:r>
              <a:rPr lang="hu-HU" dirty="0"/>
              <a:t>akes care of deduplicating</a:t>
            </a:r>
            <a:r>
              <a:rPr lang="en-US" dirty="0"/>
              <a:t> (e.g. two Prometheus server sending the same alert)</a:t>
            </a:r>
          </a:p>
          <a:p>
            <a:pPr lvl="1"/>
            <a:r>
              <a:rPr lang="en-US" dirty="0"/>
              <a:t>Can work in HA clustered mode</a:t>
            </a:r>
          </a:p>
          <a:p>
            <a:pPr lvl="1"/>
            <a:r>
              <a:rPr lang="en-US" dirty="0"/>
              <a:t>Many receiver integration such as email, Slack, PagerDuty, </a:t>
            </a:r>
            <a:r>
              <a:rPr lang="en-US" dirty="0" err="1"/>
              <a:t>OpsGenie</a:t>
            </a:r>
            <a:r>
              <a:rPr lang="en-US" dirty="0"/>
              <a:t> or general webhook</a:t>
            </a:r>
          </a:p>
          <a:p>
            <a:pPr lvl="1"/>
            <a:endParaRPr lang="en-US" dirty="0"/>
          </a:p>
          <a:p>
            <a:r>
              <a:rPr lang="en-US" dirty="0"/>
              <a:t>3 built in routing mechanisms:</a:t>
            </a:r>
          </a:p>
          <a:p>
            <a:pPr lvl="1"/>
            <a:r>
              <a:rPr lang="en-US" b="1" dirty="0"/>
              <a:t>Grouping:</a:t>
            </a:r>
            <a:r>
              <a:rPr lang="en-US" dirty="0"/>
              <a:t> categorizes alerts of similar nature into a single notification</a:t>
            </a:r>
          </a:p>
          <a:p>
            <a:pPr lvl="1"/>
            <a:r>
              <a:rPr lang="en-US" b="1" dirty="0"/>
              <a:t>Inhibition:</a:t>
            </a:r>
            <a:r>
              <a:rPr lang="en-US" dirty="0"/>
              <a:t> a concept of suppressing notifications for certain alerts if certain other alerts are already firing</a:t>
            </a:r>
          </a:p>
          <a:p>
            <a:pPr lvl="1"/>
            <a:r>
              <a:rPr lang="en-US" b="1" dirty="0"/>
              <a:t>Silences: </a:t>
            </a:r>
            <a:r>
              <a:rPr lang="en-US" dirty="0"/>
              <a:t>a straightforward way to simply mute alerts for a given time. </a:t>
            </a:r>
          </a:p>
          <a:p>
            <a:endParaRPr lang="en-US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239054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DAA9DBE-87CB-EA99-01BA-9C0776F28B1E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Prometheus: Powerful but Intentionally Limited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D7F816-B17A-2245-FC2F-25EB93E0B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Prometheus is not trying to be a fully fledged enterprise software that can do everything</a:t>
            </a:r>
          </a:p>
          <a:p>
            <a:pPr lvl="1"/>
            <a:r>
              <a:rPr lang="en-US" sz="1800" dirty="0"/>
              <a:t>It’s really good in what it can do: scrape and store metrics, with an advanced query language</a:t>
            </a:r>
          </a:p>
          <a:p>
            <a:pPr lvl="1"/>
            <a:r>
              <a:rPr lang="en-US" sz="1800" dirty="0"/>
              <a:t>The developers are very clear on what </a:t>
            </a:r>
            <a:r>
              <a:rPr lang="hu-HU" sz="1800" dirty="0"/>
              <a:t>Prometheus</a:t>
            </a:r>
            <a:r>
              <a:rPr lang="en-US" sz="1800" dirty="0"/>
              <a:t> will never do:</a:t>
            </a:r>
          </a:p>
          <a:p>
            <a:pPr lvl="2"/>
            <a:r>
              <a:rPr lang="hu-HU" sz="1600" dirty="0"/>
              <a:t>multi-tenancy</a:t>
            </a:r>
            <a:endParaRPr lang="en-US" sz="1600" dirty="0"/>
          </a:p>
          <a:p>
            <a:pPr lvl="2"/>
            <a:r>
              <a:rPr lang="hu-HU" sz="1600" dirty="0"/>
              <a:t>authentication and authorization</a:t>
            </a:r>
            <a:endParaRPr lang="en-US" sz="1600" dirty="0"/>
          </a:p>
          <a:p>
            <a:pPr lvl="2"/>
            <a:r>
              <a:rPr lang="hu-HU" sz="1600" dirty="0"/>
              <a:t>built-in long-term storage</a:t>
            </a:r>
            <a:r>
              <a:rPr lang="en-US" sz="1600" dirty="0"/>
              <a:t> (e.g. TB scale)</a:t>
            </a:r>
          </a:p>
          <a:p>
            <a:pPr lvl="2"/>
            <a:r>
              <a:rPr lang="en-US" sz="1600" dirty="0"/>
              <a:t>clustering / built-in HA</a:t>
            </a:r>
          </a:p>
          <a:p>
            <a:pPr lvl="1"/>
            <a:endParaRPr lang="en-US" sz="1800" dirty="0"/>
          </a:p>
          <a:p>
            <a:r>
              <a:rPr lang="en-US" sz="2000" dirty="0"/>
              <a:t>There are many interesting project that builds on Prometheus and add these high-level capabilities:</a:t>
            </a:r>
          </a:p>
          <a:p>
            <a:pPr lvl="1"/>
            <a:r>
              <a:rPr lang="en-US" sz="1800" b="1" dirty="0"/>
              <a:t>Thanos:</a:t>
            </a:r>
            <a:r>
              <a:rPr lang="en-US" sz="1800" dirty="0"/>
              <a:t> CNCF Incubating project</a:t>
            </a:r>
          </a:p>
          <a:p>
            <a:pPr lvl="1"/>
            <a:r>
              <a:rPr lang="en-US" sz="1800" b="1" dirty="0"/>
              <a:t>Cortex: </a:t>
            </a:r>
            <a:r>
              <a:rPr lang="en-US" sz="1800" dirty="0"/>
              <a:t>CNCF Incubating project</a:t>
            </a:r>
          </a:p>
          <a:p>
            <a:pPr lvl="1"/>
            <a:r>
              <a:rPr lang="en-US" sz="1800" b="1" dirty="0"/>
              <a:t>M3: </a:t>
            </a:r>
            <a:r>
              <a:rPr lang="en-US" sz="1800" dirty="0"/>
              <a:t>Uber open source project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7210286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E16A0A2-3B5D-5400-E721-709F6701ADC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Thanos</a:t>
            </a:r>
            <a:endParaRPr lang="en-US" dirty="0"/>
          </a:p>
        </p:txBody>
      </p:sp>
      <p:pic>
        <p:nvPicPr>
          <p:cNvPr id="4" name="Picture 2" descr="Thanos Logo">
            <a:extLst>
              <a:ext uri="{FF2B5EF4-FFF2-40B4-BE49-F238E27FC236}">
                <a16:creationId xmlns:a16="http://schemas.microsoft.com/office/drawing/2014/main" id="{87675AF7-DAA3-5F36-761F-9239D79D2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4857" y="980728"/>
            <a:ext cx="1607807" cy="864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camo.githubusercontent.com/4720f0b558ad470b8b73a6e459bac133bef772c92f96e4f327ae303e21254fbd/68747470733a2f2f646f63732e676f6f676c652e636f6d2f64726177696e67732f642f652f32504143582d31765442464b4b6766385944496e4a7952616b504538655a5a67397068546c4f734242326f674e6b4676684e47625a385944767a5f63474d6278575a42473147366870735166535831343546705963762f7075623f773d39363026683d373230">
            <a:extLst>
              <a:ext uri="{FF2B5EF4-FFF2-40B4-BE49-F238E27FC236}">
                <a16:creationId xmlns:a16="http://schemas.microsoft.com/office/drawing/2014/main" id="{FA4CD114-D5CF-1AB2-CC3F-A91C410D81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332656"/>
            <a:ext cx="9144000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églalap 6">
            <a:extLst>
              <a:ext uri="{FF2B5EF4-FFF2-40B4-BE49-F238E27FC236}">
                <a16:creationId xmlns:a16="http://schemas.microsoft.com/office/drawing/2014/main" id="{4527BD45-7457-BBEB-41DB-40FFBA204FB7}"/>
              </a:ext>
            </a:extLst>
          </p:cNvPr>
          <p:cNvSpPr/>
          <p:nvPr/>
        </p:nvSpPr>
        <p:spPr>
          <a:xfrm>
            <a:off x="3575720" y="2564904"/>
            <a:ext cx="3312368" cy="22322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u-H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églalap 7">
            <a:extLst>
              <a:ext uri="{FF2B5EF4-FFF2-40B4-BE49-F238E27FC236}">
                <a16:creationId xmlns:a16="http://schemas.microsoft.com/office/drawing/2014/main" id="{F61027DE-0A4B-D705-9113-8BDF3E0A77B3}"/>
              </a:ext>
            </a:extLst>
          </p:cNvPr>
          <p:cNvSpPr/>
          <p:nvPr/>
        </p:nvSpPr>
        <p:spPr>
          <a:xfrm>
            <a:off x="2063552" y="908720"/>
            <a:ext cx="4896544" cy="172819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u-H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églalap 9">
            <a:extLst>
              <a:ext uri="{FF2B5EF4-FFF2-40B4-BE49-F238E27FC236}">
                <a16:creationId xmlns:a16="http://schemas.microsoft.com/office/drawing/2014/main" id="{C0BA48F2-6DF9-114D-D024-1B7D4F91AAFE}"/>
              </a:ext>
            </a:extLst>
          </p:cNvPr>
          <p:cNvSpPr/>
          <p:nvPr/>
        </p:nvSpPr>
        <p:spPr>
          <a:xfrm>
            <a:off x="6963544" y="874068"/>
            <a:ext cx="3092896" cy="25549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u-H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4362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5381B5-DB45-31B6-8A45-541C724F2148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Cortex</a:t>
            </a:r>
            <a:endParaRPr lang="en-US" dirty="0"/>
          </a:p>
        </p:txBody>
      </p:sp>
      <p:pic>
        <p:nvPicPr>
          <p:cNvPr id="4" name="Kép 2">
            <a:extLst>
              <a:ext uri="{FF2B5EF4-FFF2-40B4-BE49-F238E27FC236}">
                <a16:creationId xmlns:a16="http://schemas.microsoft.com/office/drawing/2014/main" id="{CA6E5F99-B8ED-F916-F308-2C9FC8A049B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91544" y="749961"/>
            <a:ext cx="6667500" cy="5991225"/>
          </a:xfrm>
          <a:prstGeom prst="rect">
            <a:avLst/>
          </a:prstGeom>
        </p:spPr>
      </p:pic>
      <p:pic>
        <p:nvPicPr>
          <p:cNvPr id="5" name="Picture 2" descr="Cortex Logo">
            <a:extLst>
              <a:ext uri="{FF2B5EF4-FFF2-40B4-BE49-F238E27FC236}">
                <a16:creationId xmlns:a16="http://schemas.microsoft.com/office/drawing/2014/main" id="{C234CDD9-D7BB-7DC4-60EC-69A202201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7275" y="908720"/>
            <a:ext cx="1625389" cy="1105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488883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E89CD49-7CF6-047D-8381-90B2BD192FF6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Grafana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8336D-54F4-EF03-3D74-51723991D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Open-source platform for monitoring and observability:</a:t>
            </a:r>
            <a:endParaRPr lang="en-US" sz="1600" dirty="0"/>
          </a:p>
          <a:p>
            <a:r>
              <a:rPr lang="en-US" b="1" dirty="0"/>
              <a:t>Visualization:</a:t>
            </a:r>
            <a:r>
              <a:rPr lang="en-US" dirty="0"/>
              <a:t> Fast and flexible client side graphs with a multitude of options. Panel plugins offer many different ways to visualize metrics and logs.</a:t>
            </a:r>
          </a:p>
          <a:p>
            <a:r>
              <a:rPr lang="en-US" b="1" dirty="0"/>
              <a:t>Dynamic Dashboards:</a:t>
            </a:r>
            <a:r>
              <a:rPr lang="en-US" dirty="0"/>
              <a:t> Create dynamic &amp; reusable dashboards with template variables that appear as dropdowns at the top of the dashboard.</a:t>
            </a:r>
          </a:p>
          <a:p>
            <a:r>
              <a:rPr lang="en-US" b="1" dirty="0"/>
              <a:t>Explore Metrics:</a:t>
            </a:r>
            <a:r>
              <a:rPr lang="en-US" dirty="0"/>
              <a:t> Explore your data through ad-hoc queries and dynamic drilldown. Split view and compare different time ranges, queries and data sources side by side.</a:t>
            </a:r>
          </a:p>
          <a:p>
            <a:r>
              <a:rPr lang="en-US" b="1" dirty="0"/>
              <a:t>Explore Logs:</a:t>
            </a:r>
            <a:r>
              <a:rPr lang="en-US" dirty="0"/>
              <a:t> Experience the magic of switching from metrics to logs with preserved label filters. Quickly search through all your logs or streaming them live.</a:t>
            </a:r>
          </a:p>
          <a:p>
            <a:r>
              <a:rPr lang="en-US" b="1" dirty="0"/>
              <a:t>Alerting:</a:t>
            </a:r>
            <a:r>
              <a:rPr lang="en-US" dirty="0"/>
              <a:t> Visually define alert rules for your most important metrics. Grafana will continuously evaluate and send notifications to systems like Slack, PagerDuty, </a:t>
            </a:r>
            <a:r>
              <a:rPr lang="en-US" dirty="0" err="1"/>
              <a:t>VictorOps</a:t>
            </a:r>
            <a:r>
              <a:rPr lang="en-US" dirty="0"/>
              <a:t>, </a:t>
            </a:r>
            <a:r>
              <a:rPr lang="en-US" dirty="0" err="1"/>
              <a:t>OpsGenie</a:t>
            </a:r>
            <a:r>
              <a:rPr lang="en-US" dirty="0"/>
              <a:t>.</a:t>
            </a:r>
          </a:p>
          <a:p>
            <a:r>
              <a:rPr lang="en-US" b="1" dirty="0"/>
              <a:t>Mixed Data Sources:</a:t>
            </a:r>
            <a:r>
              <a:rPr lang="en-US" dirty="0"/>
              <a:t> Mix different data sources in the same graph! You can specify a data source on a per-query basis. This works for even custom </a:t>
            </a:r>
            <a:r>
              <a:rPr lang="en-US" dirty="0" err="1"/>
              <a:t>datasources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pic>
        <p:nvPicPr>
          <p:cNvPr id="4" name="Picture 2" descr="Grafana">
            <a:extLst>
              <a:ext uri="{FF2B5EF4-FFF2-40B4-BE49-F238E27FC236}">
                <a16:creationId xmlns:a16="http://schemas.microsoft.com/office/drawing/2014/main" id="{02A5E48B-94F5-D6B4-3DCE-6D319883CD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4487" y="5624411"/>
            <a:ext cx="2372891" cy="560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9378801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794A2-40CA-8779-3AD8-22BA075D2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B660BAD-5EFA-0623-2150-AB74B36F1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0"/>
            <a:ext cx="11877675" cy="5791119"/>
          </a:xfrm>
        </p:spPr>
        <p:txBody>
          <a:bodyPr/>
          <a:lstStyle/>
          <a:p>
            <a:r>
              <a:rPr lang="en-GB" b="0" i="0" dirty="0">
                <a:solidFill>
                  <a:srgbClr val="000000"/>
                </a:solidFill>
                <a:effectLst/>
                <a:latin typeface="Nunito" pitchFamily="2" charset="-18"/>
              </a:rPr>
              <a:t>The Kafka Bridge supports HTTP requests to a Kafka cluster, with methods to:</a:t>
            </a:r>
            <a:endParaRPr lang="hu-HU" dirty="0"/>
          </a:p>
          <a:p>
            <a:pPr lvl="1"/>
            <a:r>
              <a:rPr lang="en-GB" dirty="0"/>
              <a:t>Send messages to a topic</a:t>
            </a:r>
          </a:p>
          <a:p>
            <a:pPr lvl="1"/>
            <a:r>
              <a:rPr lang="en-GB" dirty="0"/>
              <a:t>Retrieve messages from topics</a:t>
            </a:r>
          </a:p>
          <a:p>
            <a:pPr lvl="1"/>
            <a:r>
              <a:rPr lang="en-GB" dirty="0"/>
              <a:t>Retrieve a list of partitions for a topic</a:t>
            </a:r>
          </a:p>
          <a:p>
            <a:pPr lvl="1"/>
            <a:r>
              <a:rPr lang="en-GB" dirty="0"/>
              <a:t>Create and delete consumers</a:t>
            </a:r>
          </a:p>
          <a:p>
            <a:pPr lvl="1"/>
            <a:r>
              <a:rPr lang="en-GB" dirty="0"/>
              <a:t>Subscribe consumers to topics, so that they start receiving messages from those topics</a:t>
            </a:r>
          </a:p>
          <a:p>
            <a:pPr lvl="1"/>
            <a:r>
              <a:rPr lang="en-GB" dirty="0"/>
              <a:t>Retrieve a list of topics that a consumer is subscribed to</a:t>
            </a:r>
          </a:p>
          <a:p>
            <a:pPr lvl="1"/>
            <a:r>
              <a:rPr lang="en-GB" dirty="0"/>
              <a:t>Unsubscribe consumers from topics</a:t>
            </a:r>
          </a:p>
          <a:p>
            <a:pPr lvl="1"/>
            <a:r>
              <a:rPr lang="en-GB" dirty="0"/>
              <a:t>Assign partitions to consumers</a:t>
            </a:r>
          </a:p>
          <a:p>
            <a:pPr lvl="1"/>
            <a:r>
              <a:rPr lang="en-GB" dirty="0"/>
              <a:t>Commit a list of consumer offsets</a:t>
            </a:r>
          </a:p>
          <a:p>
            <a:pPr lvl="1"/>
            <a:r>
              <a:rPr lang="en-GB" dirty="0"/>
              <a:t>Seek on a partition, so that a consumer starts receiving messages from the first or last offset position, or a given offset position</a:t>
            </a:r>
            <a:endParaRPr lang="hu-HU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3154AD-C2F9-92EA-6031-1AB5B868BDDA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Bridge (a REST Proxy Alternative)</a:t>
            </a:r>
            <a:endParaRPr lang="en-US" dirty="0"/>
          </a:p>
          <a:p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38FE1D1-E3DB-EA60-FAC8-6E91DAF6E8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34" b="21270"/>
          <a:stretch/>
        </p:blipFill>
        <p:spPr bwMode="auto">
          <a:xfrm>
            <a:off x="1384300" y="4643252"/>
            <a:ext cx="9423400" cy="199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8178163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2544F-3338-545B-45A5-ED38BF386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EC5741-8AFF-AA92-F4F2-56A55A65E06B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Connect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EDD39-ED84-A595-1302-AB568A252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3324255"/>
          </a:xfrm>
        </p:spPr>
        <p:txBody>
          <a:bodyPr/>
          <a:lstStyle/>
          <a:p>
            <a:r>
              <a:rPr lang="hu-HU" sz="1600" b="1" dirty="0"/>
              <a:t>Motivation: </a:t>
            </a:r>
          </a:p>
          <a:p>
            <a:pPr lvl="1"/>
            <a:r>
              <a:rPr lang="hu-HU" sz="1400" dirty="0"/>
              <a:t>The data is usually imported from the same places, e.g. </a:t>
            </a:r>
          </a:p>
          <a:p>
            <a:pPr marL="457200" lvl="1" indent="0">
              <a:buNone/>
            </a:pPr>
            <a:r>
              <a:rPr lang="hu-HU" sz="1400" dirty="0"/>
              <a:t>     Databases, SAP HANA, FTP, IOT, Salesforce, Twitter, Blockchain, ...</a:t>
            </a:r>
          </a:p>
          <a:p>
            <a:pPr lvl="1"/>
            <a:r>
              <a:rPr lang="hu-HU" sz="1400" dirty="0"/>
              <a:t>The data is usually exported to the same places, e.g.</a:t>
            </a:r>
          </a:p>
          <a:p>
            <a:pPr marL="457200" lvl="1" indent="0">
              <a:buNone/>
            </a:pPr>
            <a:r>
              <a:rPr lang="hu-HU" sz="1400" dirty="0"/>
              <a:t>     S3, ElasticSearch, HDFS, JDBC, SAP HANA, Cassandra, Redis, Twitter, ...</a:t>
            </a:r>
            <a:endParaRPr lang="hu-HU" sz="1600" b="1" dirty="0"/>
          </a:p>
          <a:p>
            <a:r>
              <a:rPr lang="hu-HU" sz="1600" b="1" dirty="0"/>
              <a:t>Source connectors („Producers”) </a:t>
            </a:r>
            <a:r>
              <a:rPr lang="hu-HU" sz="1600" dirty="0"/>
              <a:t>to get data from common data sources</a:t>
            </a:r>
            <a:endParaRPr lang="hu-HU" sz="1400" dirty="0"/>
          </a:p>
          <a:p>
            <a:r>
              <a:rPr lang="hu-HU" sz="1600" b="1" dirty="0"/>
              <a:t>Sink connectors („Consumers”) </a:t>
            </a:r>
            <a:r>
              <a:rPr lang="hu-HU" sz="1600" dirty="0"/>
              <a:t>to put data in common data sources</a:t>
            </a:r>
          </a:p>
          <a:p>
            <a:r>
              <a:rPr lang="hu-HU" sz="1600" dirty="0"/>
              <a:t>Quickly re-use code that is made by experienced developers</a:t>
            </a:r>
          </a:p>
          <a:p>
            <a:r>
              <a:rPr lang="hu-HU" sz="1600" dirty="0"/>
              <a:t>Connectors achieve fault tolerance, idempontence, distribution, ordering</a:t>
            </a:r>
          </a:p>
          <a:p>
            <a:r>
              <a:rPr lang="hu-HU" sz="1600" dirty="0"/>
              <a:t>If you find available connector you should use it, oterwise you can create one or use low-level Producer/Consumer</a:t>
            </a:r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AF2949BF-8C5B-5B1C-8BC0-7BB3A0D2D544}"/>
              </a:ext>
            </a:extLst>
          </p:cNvPr>
          <p:cNvGrpSpPr/>
          <p:nvPr/>
        </p:nvGrpSpPr>
        <p:grpSpPr>
          <a:xfrm>
            <a:off x="8111752" y="4045278"/>
            <a:ext cx="1890768" cy="2569869"/>
            <a:chOff x="8111752" y="4045278"/>
            <a:chExt cx="1890768" cy="2569869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B517D70-F9F7-5E81-7A5D-F2661AD6A864}"/>
                </a:ext>
              </a:extLst>
            </p:cNvPr>
            <p:cNvSpPr/>
            <p:nvPr/>
          </p:nvSpPr>
          <p:spPr>
            <a:xfrm>
              <a:off x="8111752" y="4045278"/>
              <a:ext cx="1886662" cy="2569869"/>
            </a:xfrm>
            <a:prstGeom prst="roundRect">
              <a:avLst>
                <a:gd name="adj" fmla="val 5783"/>
              </a:avLst>
            </a:prstGeom>
            <a:ln>
              <a:solidFill>
                <a:srgbClr val="012851"/>
              </a:solidFill>
              <a:prstDash val="dash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00E01258-B09B-B2E4-5E9C-3C04133C84B7}"/>
                </a:ext>
              </a:extLst>
            </p:cNvPr>
            <p:cNvGrpSpPr/>
            <p:nvPr/>
          </p:nvGrpSpPr>
          <p:grpSpPr>
            <a:xfrm>
              <a:off x="8364625" y="4722655"/>
              <a:ext cx="1389578" cy="494877"/>
              <a:chOff x="3886189" y="3043780"/>
              <a:chExt cx="6410097" cy="132403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42D87F5B-78C5-C889-5AD0-7AE9A870F420}"/>
                  </a:ext>
                </a:extLst>
              </p:cNvPr>
              <p:cNvSpPr/>
              <p:nvPr/>
            </p:nvSpPr>
            <p:spPr>
              <a:xfrm>
                <a:off x="3886189" y="3058402"/>
                <a:ext cx="6410097" cy="130941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9B8C44B-4C60-F370-6DA7-B745A5BA1B06}"/>
                  </a:ext>
                </a:extLst>
              </p:cNvPr>
              <p:cNvSpPr txBox="1"/>
              <p:nvPr/>
            </p:nvSpPr>
            <p:spPr>
              <a:xfrm>
                <a:off x="3886194" y="3043780"/>
                <a:ext cx="6410092" cy="8234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Broker</a:t>
                </a:r>
                <a:endParaRPr lang="en-US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9330A33-A6E8-A60B-A1A6-C144C94B6CEE}"/>
                </a:ext>
              </a:extLst>
            </p:cNvPr>
            <p:cNvGrpSpPr/>
            <p:nvPr/>
          </p:nvGrpSpPr>
          <p:grpSpPr>
            <a:xfrm>
              <a:off x="8362647" y="5386724"/>
              <a:ext cx="1389578" cy="494877"/>
              <a:chOff x="3886189" y="3043780"/>
              <a:chExt cx="6410097" cy="1324039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0D211D2-AE3B-32AD-468A-DDCECEE5F870}"/>
                  </a:ext>
                </a:extLst>
              </p:cNvPr>
              <p:cNvSpPr/>
              <p:nvPr/>
            </p:nvSpPr>
            <p:spPr>
              <a:xfrm>
                <a:off x="3886189" y="3058402"/>
                <a:ext cx="6410097" cy="130941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DBC4C17-BC5E-55AF-2291-35DED62D0B18}"/>
                  </a:ext>
                </a:extLst>
              </p:cNvPr>
              <p:cNvSpPr txBox="1"/>
              <p:nvPr/>
            </p:nvSpPr>
            <p:spPr>
              <a:xfrm>
                <a:off x="3886194" y="3043780"/>
                <a:ext cx="6410092" cy="8234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Broker</a:t>
                </a:r>
                <a:endParaRPr lang="en-US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61E91020-A570-0D61-B6D3-6A30409AE1CB}"/>
                </a:ext>
              </a:extLst>
            </p:cNvPr>
            <p:cNvGrpSpPr/>
            <p:nvPr/>
          </p:nvGrpSpPr>
          <p:grpSpPr>
            <a:xfrm>
              <a:off x="8362647" y="6041969"/>
              <a:ext cx="1389578" cy="494877"/>
              <a:chOff x="3886189" y="3043780"/>
              <a:chExt cx="6410097" cy="1324039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5FEFFBDE-E4A0-946C-E4D6-20D4A7089A1D}"/>
                  </a:ext>
                </a:extLst>
              </p:cNvPr>
              <p:cNvSpPr/>
              <p:nvPr/>
            </p:nvSpPr>
            <p:spPr>
              <a:xfrm>
                <a:off x="3886189" y="3058402"/>
                <a:ext cx="6410097" cy="130941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A15D0AC-80FA-559F-23CE-32D6847A5099}"/>
                  </a:ext>
                </a:extLst>
              </p:cNvPr>
              <p:cNvSpPr txBox="1"/>
              <p:nvPr/>
            </p:nvSpPr>
            <p:spPr>
              <a:xfrm>
                <a:off x="3886194" y="3043780"/>
                <a:ext cx="6410092" cy="8234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Broker</a:t>
                </a:r>
                <a:endParaRPr lang="en-US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25AE774-F592-5398-3474-18661B8D2011}"/>
                </a:ext>
              </a:extLst>
            </p:cNvPr>
            <p:cNvSpPr txBox="1"/>
            <p:nvPr/>
          </p:nvSpPr>
          <p:spPr>
            <a:xfrm>
              <a:off x="8111752" y="4080087"/>
              <a:ext cx="1890768" cy="3181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Kafka Cluster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7AEBCDC4-E6B5-0170-82A5-9FC6A926010E}"/>
              </a:ext>
            </a:extLst>
          </p:cNvPr>
          <p:cNvGrpSpPr/>
          <p:nvPr/>
        </p:nvGrpSpPr>
        <p:grpSpPr>
          <a:xfrm>
            <a:off x="5156775" y="4045278"/>
            <a:ext cx="1890768" cy="2569869"/>
            <a:chOff x="5156775" y="4045278"/>
            <a:chExt cx="1890768" cy="2569869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5DDCE81C-8B13-2D74-866B-7D158B6C7082}"/>
                </a:ext>
              </a:extLst>
            </p:cNvPr>
            <p:cNvSpPr/>
            <p:nvPr/>
          </p:nvSpPr>
          <p:spPr>
            <a:xfrm>
              <a:off x="5156775" y="4045278"/>
              <a:ext cx="1886662" cy="2569869"/>
            </a:xfrm>
            <a:prstGeom prst="roundRect">
              <a:avLst>
                <a:gd name="adj" fmla="val 5783"/>
              </a:avLst>
            </a:prstGeom>
            <a:ln>
              <a:solidFill>
                <a:srgbClr val="012851"/>
              </a:solidFill>
              <a:prstDash val="dash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302052A4-2F62-6F03-DECF-42714455EEE8}"/>
                </a:ext>
              </a:extLst>
            </p:cNvPr>
            <p:cNvGrpSpPr/>
            <p:nvPr/>
          </p:nvGrpSpPr>
          <p:grpSpPr>
            <a:xfrm>
              <a:off x="5409648" y="4722655"/>
              <a:ext cx="1389578" cy="494877"/>
              <a:chOff x="3886189" y="3043780"/>
              <a:chExt cx="6410097" cy="1324039"/>
            </a:xfrm>
            <a:solidFill>
              <a:schemeClr val="accent1"/>
            </a:solidFill>
          </p:grpSpPr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A87942ED-B154-8049-410B-975F95DE7D96}"/>
                  </a:ext>
                </a:extLst>
              </p:cNvPr>
              <p:cNvSpPr/>
              <p:nvPr/>
            </p:nvSpPr>
            <p:spPr>
              <a:xfrm>
                <a:off x="3886189" y="3058402"/>
                <a:ext cx="6410097" cy="1309417"/>
              </a:xfrm>
              <a:prstGeom prst="rect">
                <a:avLst/>
              </a:prstGeom>
              <a:grpFill/>
              <a:ln/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38A343-1C24-8851-DAD2-ED0728E71753}"/>
                  </a:ext>
                </a:extLst>
              </p:cNvPr>
              <p:cNvSpPr txBox="1"/>
              <p:nvPr/>
            </p:nvSpPr>
            <p:spPr>
              <a:xfrm>
                <a:off x="3886194" y="3043780"/>
                <a:ext cx="6410092" cy="82345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Connector</a:t>
                </a:r>
                <a:endParaRPr lang="en-US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E4858D6-33B4-35D8-A12F-01E601B3DDBE}"/>
                </a:ext>
              </a:extLst>
            </p:cNvPr>
            <p:cNvGrpSpPr/>
            <p:nvPr/>
          </p:nvGrpSpPr>
          <p:grpSpPr>
            <a:xfrm>
              <a:off x="5407670" y="5386724"/>
              <a:ext cx="1389578" cy="494877"/>
              <a:chOff x="3886189" y="3043780"/>
              <a:chExt cx="6410097" cy="1324039"/>
            </a:xfrm>
            <a:solidFill>
              <a:schemeClr val="accent1"/>
            </a:solidFill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5075689A-8EF2-C88B-FDDB-DAC55E084FEA}"/>
                  </a:ext>
                </a:extLst>
              </p:cNvPr>
              <p:cNvSpPr/>
              <p:nvPr/>
            </p:nvSpPr>
            <p:spPr>
              <a:xfrm>
                <a:off x="3886189" y="3058402"/>
                <a:ext cx="6410097" cy="1309417"/>
              </a:xfrm>
              <a:prstGeom prst="rect">
                <a:avLst/>
              </a:prstGeom>
              <a:grpFill/>
              <a:ln/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158E6A8-3597-F4AE-6F81-53C95E2158F5}"/>
                  </a:ext>
                </a:extLst>
              </p:cNvPr>
              <p:cNvSpPr txBox="1"/>
              <p:nvPr/>
            </p:nvSpPr>
            <p:spPr>
              <a:xfrm>
                <a:off x="3886194" y="3043780"/>
                <a:ext cx="6410092" cy="82345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Connector</a:t>
                </a:r>
                <a:endParaRPr lang="en-US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AA70A364-6D56-C73C-E37E-1CEABA25FD11}"/>
                </a:ext>
              </a:extLst>
            </p:cNvPr>
            <p:cNvGrpSpPr/>
            <p:nvPr/>
          </p:nvGrpSpPr>
          <p:grpSpPr>
            <a:xfrm>
              <a:off x="5407670" y="6041969"/>
              <a:ext cx="1389578" cy="494877"/>
              <a:chOff x="3886189" y="3043780"/>
              <a:chExt cx="6410097" cy="1324039"/>
            </a:xfrm>
            <a:solidFill>
              <a:schemeClr val="accent1"/>
            </a:solidFill>
          </p:grpSpPr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CC62879F-C299-FF53-BB62-27D62CC0DB84}"/>
                  </a:ext>
                </a:extLst>
              </p:cNvPr>
              <p:cNvSpPr/>
              <p:nvPr/>
            </p:nvSpPr>
            <p:spPr>
              <a:xfrm>
                <a:off x="3886189" y="3058402"/>
                <a:ext cx="6410097" cy="1309417"/>
              </a:xfrm>
              <a:prstGeom prst="rect">
                <a:avLst/>
              </a:prstGeom>
              <a:grpFill/>
              <a:ln/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45D08310-6876-DDBA-E1EA-D64AA7B204D5}"/>
                  </a:ext>
                </a:extLst>
              </p:cNvPr>
              <p:cNvSpPr txBox="1"/>
              <p:nvPr/>
            </p:nvSpPr>
            <p:spPr>
              <a:xfrm>
                <a:off x="3886194" y="3043780"/>
                <a:ext cx="6410092" cy="82345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Connector</a:t>
                </a:r>
                <a:endParaRPr lang="en-US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8ED3BD0F-8A5C-7D05-E687-AA39CF77811B}"/>
                </a:ext>
              </a:extLst>
            </p:cNvPr>
            <p:cNvSpPr txBox="1"/>
            <p:nvPr/>
          </p:nvSpPr>
          <p:spPr>
            <a:xfrm>
              <a:off x="5156775" y="4080087"/>
              <a:ext cx="1890768" cy="3181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Connect Cluster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75971C68-1F88-7605-F8A9-3013D04D3C15}"/>
              </a:ext>
            </a:extLst>
          </p:cNvPr>
          <p:cNvSpPr/>
          <p:nvPr/>
        </p:nvSpPr>
        <p:spPr>
          <a:xfrm>
            <a:off x="7354452" y="5123982"/>
            <a:ext cx="528984" cy="1871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4" name="Arrow: Right 83">
            <a:extLst>
              <a:ext uri="{FF2B5EF4-FFF2-40B4-BE49-F238E27FC236}">
                <a16:creationId xmlns:a16="http://schemas.microsoft.com/office/drawing/2014/main" id="{13AA3480-B765-F16D-C96A-918CB99046D6}"/>
              </a:ext>
            </a:extLst>
          </p:cNvPr>
          <p:cNvSpPr/>
          <p:nvPr/>
        </p:nvSpPr>
        <p:spPr>
          <a:xfrm rot="10800000">
            <a:off x="7354452" y="5828849"/>
            <a:ext cx="528984" cy="1871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9759095F-1FFE-4B3F-661E-BB96558EC4D7}"/>
              </a:ext>
            </a:extLst>
          </p:cNvPr>
          <p:cNvGrpSpPr/>
          <p:nvPr/>
        </p:nvGrpSpPr>
        <p:grpSpPr>
          <a:xfrm>
            <a:off x="576579" y="4267078"/>
            <a:ext cx="4376143" cy="907710"/>
            <a:chOff x="576579" y="4267078"/>
            <a:chExt cx="4376143" cy="907710"/>
          </a:xfrm>
        </p:grpSpPr>
        <p:sp>
          <p:nvSpPr>
            <p:cNvPr id="16" name="Cylinder 15">
              <a:extLst>
                <a:ext uri="{FF2B5EF4-FFF2-40B4-BE49-F238E27FC236}">
                  <a16:creationId xmlns:a16="http://schemas.microsoft.com/office/drawing/2014/main" id="{BC2DAD58-6935-1721-BA8D-3DFA23D704DC}"/>
                </a:ext>
              </a:extLst>
            </p:cNvPr>
            <p:cNvSpPr/>
            <p:nvPr/>
          </p:nvSpPr>
          <p:spPr>
            <a:xfrm>
              <a:off x="3476337" y="4267078"/>
              <a:ext cx="764924" cy="907710"/>
            </a:xfrm>
            <a:prstGeom prst="can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600" dirty="0"/>
                <a:t>Soures</a:t>
              </a:r>
              <a:endParaRPr lang="en-US" sz="1600" dirty="0"/>
            </a:p>
          </p:txBody>
        </p:sp>
        <p:pic>
          <p:nvPicPr>
            <p:cNvPr id="2052" name="Picture 4" descr="TurnK | Les outils NoCode | SAP">
              <a:extLst>
                <a:ext uri="{FF2B5EF4-FFF2-40B4-BE49-F238E27FC236}">
                  <a16:creationId xmlns:a16="http://schemas.microsoft.com/office/drawing/2014/main" id="{3E8CF017-378B-DCA7-3274-C59C0F73CDB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749" t="34714" r="18084" b="31955"/>
            <a:stretch/>
          </p:blipFill>
          <p:spPr bwMode="auto">
            <a:xfrm>
              <a:off x="1275420" y="4509180"/>
              <a:ext cx="832681" cy="4537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FTP-icon | Canine Chronicle">
              <a:extLst>
                <a:ext uri="{FF2B5EF4-FFF2-40B4-BE49-F238E27FC236}">
                  <a16:creationId xmlns:a16="http://schemas.microsoft.com/office/drawing/2014/main" id="{509C66A3-F4C2-D0ED-CD26-63470B8BD71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85" t="13774" r="14989" b="12140"/>
            <a:stretch/>
          </p:blipFill>
          <p:spPr bwMode="auto">
            <a:xfrm>
              <a:off x="2244945" y="4459070"/>
              <a:ext cx="532551" cy="5539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6" name="Picture 8" descr="Free Twitter Logo SVG, PNG Icon, Symbol. Download Image.">
              <a:extLst>
                <a:ext uri="{FF2B5EF4-FFF2-40B4-BE49-F238E27FC236}">
                  <a16:creationId xmlns:a16="http://schemas.microsoft.com/office/drawing/2014/main" id="{F6B93365-84A4-C493-C8B6-AB96EC9FF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22236" y="4472472"/>
              <a:ext cx="482661" cy="4826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0" name="Picture 12" descr="PostgreSQL icon PNG and SVG Vector Free Download">
              <a:extLst>
                <a:ext uri="{FF2B5EF4-FFF2-40B4-BE49-F238E27FC236}">
                  <a16:creationId xmlns:a16="http://schemas.microsoft.com/office/drawing/2014/main" id="{0D93B09C-C72E-D842-9961-12B7F949E0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6579" y="4450252"/>
              <a:ext cx="554049" cy="5715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7" name="Arrow: Right 86">
              <a:extLst>
                <a:ext uri="{FF2B5EF4-FFF2-40B4-BE49-F238E27FC236}">
                  <a16:creationId xmlns:a16="http://schemas.microsoft.com/office/drawing/2014/main" id="{3E9FAEC6-3959-BC5A-781C-53C1BA64C0EB}"/>
                </a:ext>
              </a:extLst>
            </p:cNvPr>
            <p:cNvSpPr/>
            <p:nvPr/>
          </p:nvSpPr>
          <p:spPr>
            <a:xfrm>
              <a:off x="4423738" y="4689443"/>
              <a:ext cx="528984" cy="18710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195ED6B-DB51-1C5F-3ACF-20264D550B0D}"/>
                </a:ext>
              </a:extLst>
            </p:cNvPr>
            <p:cNvSpPr txBox="1"/>
            <p:nvPr/>
          </p:nvSpPr>
          <p:spPr>
            <a:xfrm>
              <a:off x="4401941" y="4422909"/>
              <a:ext cx="52740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437DDB69-F6F6-F67B-7C13-BD7EDB0F6C1D}"/>
              </a:ext>
            </a:extLst>
          </p:cNvPr>
          <p:cNvSpPr txBox="1"/>
          <p:nvPr/>
        </p:nvSpPr>
        <p:spPr>
          <a:xfrm>
            <a:off x="7341394" y="4859143"/>
            <a:ext cx="5274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1F4E1E2-ED4F-BE16-51F8-9F5CB8121337}"/>
              </a:ext>
            </a:extLst>
          </p:cNvPr>
          <p:cNvSpPr txBox="1"/>
          <p:nvPr/>
        </p:nvSpPr>
        <p:spPr>
          <a:xfrm>
            <a:off x="7356035" y="5570405"/>
            <a:ext cx="5274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2048" name="Group 2047">
            <a:extLst>
              <a:ext uri="{FF2B5EF4-FFF2-40B4-BE49-F238E27FC236}">
                <a16:creationId xmlns:a16="http://schemas.microsoft.com/office/drawing/2014/main" id="{8FCA373A-E94A-218C-9C9F-F06A106AFE08}"/>
              </a:ext>
            </a:extLst>
          </p:cNvPr>
          <p:cNvGrpSpPr/>
          <p:nvPr/>
        </p:nvGrpSpPr>
        <p:grpSpPr>
          <a:xfrm>
            <a:off x="615903" y="5624892"/>
            <a:ext cx="4281863" cy="945915"/>
            <a:chOff x="615903" y="5624892"/>
            <a:chExt cx="4281863" cy="945915"/>
          </a:xfrm>
        </p:grpSpPr>
        <p:sp>
          <p:nvSpPr>
            <p:cNvPr id="85" name="Cylinder 84">
              <a:extLst>
                <a:ext uri="{FF2B5EF4-FFF2-40B4-BE49-F238E27FC236}">
                  <a16:creationId xmlns:a16="http://schemas.microsoft.com/office/drawing/2014/main" id="{FA4FE5B2-C7C9-CCB9-33AE-A5C589043B2F}"/>
                </a:ext>
              </a:extLst>
            </p:cNvPr>
            <p:cNvSpPr/>
            <p:nvPr/>
          </p:nvSpPr>
          <p:spPr>
            <a:xfrm>
              <a:off x="3476337" y="5624892"/>
              <a:ext cx="764924" cy="907710"/>
            </a:xfrm>
            <a:prstGeom prst="can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600" dirty="0"/>
                <a:t>Sinks</a:t>
              </a:r>
              <a:endParaRPr lang="en-US" sz="1600" dirty="0"/>
            </a:p>
          </p:txBody>
        </p:sp>
        <p:pic>
          <p:nvPicPr>
            <p:cNvPr id="2050" name="Picture 2" descr="Elasticsearch">
              <a:extLst>
                <a:ext uri="{FF2B5EF4-FFF2-40B4-BE49-F238E27FC236}">
                  <a16:creationId xmlns:a16="http://schemas.microsoft.com/office/drawing/2014/main" id="{703AEA0C-C78D-84BD-484E-4E402C7243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47980" y="5842648"/>
              <a:ext cx="434015" cy="4873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What is MongoDB? NoSQL database explained in an easy way.">
              <a:extLst>
                <a:ext uri="{FF2B5EF4-FFF2-40B4-BE49-F238E27FC236}">
                  <a16:creationId xmlns:a16="http://schemas.microsoft.com/office/drawing/2014/main" id="{B29CDD8A-324F-7E41-695C-C86D65B5F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153" y="5767180"/>
              <a:ext cx="597502" cy="8036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2" name="Picture 14" descr="hadoop&quot; Icon - Download for free – Iconduck">
              <a:extLst>
                <a:ext uri="{FF2B5EF4-FFF2-40B4-BE49-F238E27FC236}">
                  <a16:creationId xmlns:a16="http://schemas.microsoft.com/office/drawing/2014/main" id="{B7C96D75-F37A-AFCA-80A2-CBAF93C7D9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13156" y="5850962"/>
              <a:ext cx="705426" cy="528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4" name="Picture 16" descr="Icon Request: fa-redis · Issue #11829 · FortAwesome/Font ...">
              <a:extLst>
                <a:ext uri="{FF2B5EF4-FFF2-40B4-BE49-F238E27FC236}">
                  <a16:creationId xmlns:a16="http://schemas.microsoft.com/office/drawing/2014/main" id="{376EF7E3-5158-1AE2-C55D-B446D74247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5903" y="5881601"/>
              <a:ext cx="490085" cy="4900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8" name="Arrow: Right 87">
              <a:extLst>
                <a:ext uri="{FF2B5EF4-FFF2-40B4-BE49-F238E27FC236}">
                  <a16:creationId xmlns:a16="http://schemas.microsoft.com/office/drawing/2014/main" id="{9AD02AB4-2BEE-C1F8-2367-D45B7BD59716}"/>
                </a:ext>
              </a:extLst>
            </p:cNvPr>
            <p:cNvSpPr/>
            <p:nvPr/>
          </p:nvSpPr>
          <p:spPr>
            <a:xfrm rot="10800000">
              <a:off x="4357864" y="6040020"/>
              <a:ext cx="528984" cy="18710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16EC95-A4D3-759B-18F3-F9EFB3CD2E6B}"/>
                </a:ext>
              </a:extLst>
            </p:cNvPr>
            <p:cNvSpPr txBox="1"/>
            <p:nvPr/>
          </p:nvSpPr>
          <p:spPr>
            <a:xfrm>
              <a:off x="4370365" y="5767180"/>
              <a:ext cx="52740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4553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 animBg="1"/>
      <p:bldP spid="84" grpId="0" animBg="1"/>
      <p:bldP spid="90" grpId="0"/>
      <p:bldP spid="9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B51CD-DDD5-E668-780B-2045A6D8B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D8AA9F0-1C3A-A7D3-8EBC-00C3E477B3AD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Connect Terminology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19E7D-64BF-1060-FACA-7922D469E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3324255"/>
          </a:xfrm>
        </p:spPr>
        <p:txBody>
          <a:bodyPr/>
          <a:lstStyle/>
          <a:p>
            <a:r>
              <a:rPr lang="en-US" sz="1600" dirty="0"/>
              <a:t>A Kafka  connect cluster consists of one or more Workers (servers)</a:t>
            </a:r>
          </a:p>
          <a:p>
            <a:pPr lvl="1"/>
            <a:r>
              <a:rPr lang="en-US" sz="1400" b="1" dirty="0"/>
              <a:t>Standalone mode </a:t>
            </a:r>
            <a:r>
              <a:rPr lang="en-US" sz="1400" dirty="0"/>
              <a:t>= one worker</a:t>
            </a:r>
          </a:p>
          <a:p>
            <a:pPr lvl="1"/>
            <a:r>
              <a:rPr lang="en-US" sz="1400" b="1" dirty="0"/>
              <a:t>Distributed mode </a:t>
            </a:r>
            <a:r>
              <a:rPr lang="en-US" sz="1400" dirty="0"/>
              <a:t>= multiple workers</a:t>
            </a:r>
          </a:p>
          <a:p>
            <a:r>
              <a:rPr lang="en-US" sz="1600" dirty="0"/>
              <a:t>Kafka Connect clusters can have multiple loaded </a:t>
            </a:r>
            <a:r>
              <a:rPr lang="en-US" sz="1600" b="1" dirty="0"/>
              <a:t>Connectors</a:t>
            </a:r>
          </a:p>
          <a:p>
            <a:pPr lvl="1"/>
            <a:r>
              <a:rPr lang="en-US" sz="1400" dirty="0"/>
              <a:t>Each connector is a reusable piece of code (Java </a:t>
            </a:r>
            <a:r>
              <a:rPr lang="en-US" sz="1400" b="1" dirty="0"/>
              <a:t>.jar files</a:t>
            </a:r>
            <a:r>
              <a:rPr lang="en-US" sz="1400" dirty="0"/>
              <a:t>) on the workers’ filesystem</a:t>
            </a:r>
          </a:p>
          <a:p>
            <a:pPr lvl="1"/>
            <a:r>
              <a:rPr lang="en-US" sz="1400" dirty="0"/>
              <a:t>There are many (open-source) connectors:</a:t>
            </a:r>
          </a:p>
          <a:p>
            <a:pPr lvl="2"/>
            <a:r>
              <a:rPr lang="en-US" sz="1200" dirty="0">
                <a:hlinkClick r:id="rId2"/>
              </a:rPr>
              <a:t>https://docs.confluent.io/cloud/current/connectors/index.html</a:t>
            </a:r>
            <a:r>
              <a:rPr lang="en-US" sz="1200" dirty="0"/>
              <a:t> </a:t>
            </a:r>
          </a:p>
          <a:p>
            <a:pPr lvl="2"/>
            <a:r>
              <a:rPr lang="en-US" sz="1200" dirty="0">
                <a:hlinkClick r:id="rId3"/>
              </a:rPr>
              <a:t>https://www.confluent.io/hub/</a:t>
            </a:r>
            <a:r>
              <a:rPr lang="en-US" sz="1200" dirty="0"/>
              <a:t> </a:t>
            </a:r>
          </a:p>
          <a:p>
            <a:pPr lvl="1"/>
            <a:r>
              <a:rPr lang="en-US" sz="1400" dirty="0"/>
              <a:t>Write your own connector: </a:t>
            </a:r>
            <a:r>
              <a:rPr lang="en-US" sz="1400" dirty="0">
                <a:hlinkClick r:id="rId4"/>
              </a:rPr>
              <a:t>https://docs.confluent.io/platform/current/connect/devguide.html</a:t>
            </a:r>
            <a:r>
              <a:rPr lang="en-US" sz="1400" dirty="0"/>
              <a:t> </a:t>
            </a:r>
          </a:p>
          <a:p>
            <a:r>
              <a:rPr lang="en-US" sz="1600" dirty="0"/>
              <a:t>Connector + user configuration =&gt; </a:t>
            </a:r>
            <a:r>
              <a:rPr lang="en-US" sz="1600" b="1" dirty="0"/>
              <a:t>Tasks</a:t>
            </a:r>
          </a:p>
          <a:p>
            <a:pPr lvl="1"/>
            <a:r>
              <a:rPr lang="en-US" sz="1400" dirty="0"/>
              <a:t>A task is linked to a connector configuration</a:t>
            </a:r>
          </a:p>
          <a:p>
            <a:pPr lvl="1"/>
            <a:r>
              <a:rPr lang="en-US" sz="1400" dirty="0"/>
              <a:t>A job configuration may spawn multiple tasks</a:t>
            </a:r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95E8F13B-0191-A0F9-5F64-76EA3DF26E02}"/>
              </a:ext>
            </a:extLst>
          </p:cNvPr>
          <p:cNvGrpSpPr/>
          <p:nvPr/>
        </p:nvGrpSpPr>
        <p:grpSpPr>
          <a:xfrm>
            <a:off x="8111752" y="4177741"/>
            <a:ext cx="1890768" cy="2569869"/>
            <a:chOff x="8111752" y="4045278"/>
            <a:chExt cx="1890768" cy="2569869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0F4D4175-0D74-9689-2CF9-53E0D86B14C9}"/>
                </a:ext>
              </a:extLst>
            </p:cNvPr>
            <p:cNvSpPr/>
            <p:nvPr/>
          </p:nvSpPr>
          <p:spPr>
            <a:xfrm>
              <a:off x="8111752" y="4045278"/>
              <a:ext cx="1886662" cy="2569869"/>
            </a:xfrm>
            <a:prstGeom prst="roundRect">
              <a:avLst>
                <a:gd name="adj" fmla="val 5783"/>
              </a:avLst>
            </a:prstGeom>
            <a:ln>
              <a:solidFill>
                <a:srgbClr val="012851"/>
              </a:solidFill>
              <a:prstDash val="dash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D24AFCC-1AD2-7A95-7428-760CDC686AD6}"/>
                </a:ext>
              </a:extLst>
            </p:cNvPr>
            <p:cNvGrpSpPr/>
            <p:nvPr/>
          </p:nvGrpSpPr>
          <p:grpSpPr>
            <a:xfrm>
              <a:off x="8364625" y="4722655"/>
              <a:ext cx="1389578" cy="494877"/>
              <a:chOff x="3886189" y="3043780"/>
              <a:chExt cx="6410097" cy="132403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B62AE6E-13A6-69F8-9FB7-012783039DDD}"/>
                  </a:ext>
                </a:extLst>
              </p:cNvPr>
              <p:cNvSpPr/>
              <p:nvPr/>
            </p:nvSpPr>
            <p:spPr>
              <a:xfrm>
                <a:off x="3886189" y="3058402"/>
                <a:ext cx="6410097" cy="130941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707F6FA-A07C-F023-2989-1F71654561D4}"/>
                  </a:ext>
                </a:extLst>
              </p:cNvPr>
              <p:cNvSpPr txBox="1"/>
              <p:nvPr/>
            </p:nvSpPr>
            <p:spPr>
              <a:xfrm>
                <a:off x="3886194" y="3043780"/>
                <a:ext cx="6410092" cy="8234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Broker</a:t>
                </a:r>
                <a:endParaRPr lang="en-US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08F14AEA-01AB-2634-7BF1-AC3E2CF872F9}"/>
                </a:ext>
              </a:extLst>
            </p:cNvPr>
            <p:cNvGrpSpPr/>
            <p:nvPr/>
          </p:nvGrpSpPr>
          <p:grpSpPr>
            <a:xfrm>
              <a:off x="8362647" y="5386724"/>
              <a:ext cx="1389578" cy="494877"/>
              <a:chOff x="3886189" y="3043780"/>
              <a:chExt cx="6410097" cy="1324039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7709F6B-7594-F50E-BD89-BF92B2C59A24}"/>
                  </a:ext>
                </a:extLst>
              </p:cNvPr>
              <p:cNvSpPr/>
              <p:nvPr/>
            </p:nvSpPr>
            <p:spPr>
              <a:xfrm>
                <a:off x="3886189" y="3058402"/>
                <a:ext cx="6410097" cy="130941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98CAAF8-7AA1-9E82-36C1-534FFED57F43}"/>
                  </a:ext>
                </a:extLst>
              </p:cNvPr>
              <p:cNvSpPr txBox="1"/>
              <p:nvPr/>
            </p:nvSpPr>
            <p:spPr>
              <a:xfrm>
                <a:off x="3886194" y="3043780"/>
                <a:ext cx="6410092" cy="8234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Broker</a:t>
                </a:r>
                <a:endParaRPr lang="en-US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AC9C3B0-F680-DAA9-0C97-4E66B1D0A0E6}"/>
                </a:ext>
              </a:extLst>
            </p:cNvPr>
            <p:cNvGrpSpPr/>
            <p:nvPr/>
          </p:nvGrpSpPr>
          <p:grpSpPr>
            <a:xfrm>
              <a:off x="8362647" y="6041969"/>
              <a:ext cx="1389578" cy="494877"/>
              <a:chOff x="3886189" y="3043780"/>
              <a:chExt cx="6410097" cy="1324039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FDA23B1-2A6B-DC48-AECF-642E52B47A3B}"/>
                  </a:ext>
                </a:extLst>
              </p:cNvPr>
              <p:cNvSpPr/>
              <p:nvPr/>
            </p:nvSpPr>
            <p:spPr>
              <a:xfrm>
                <a:off x="3886189" y="3058402"/>
                <a:ext cx="6410097" cy="130941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08D49A6-6A3B-27C1-59AA-F293A1FE6864}"/>
                  </a:ext>
                </a:extLst>
              </p:cNvPr>
              <p:cNvSpPr txBox="1"/>
              <p:nvPr/>
            </p:nvSpPr>
            <p:spPr>
              <a:xfrm>
                <a:off x="3886194" y="3043780"/>
                <a:ext cx="6410092" cy="8234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Broker</a:t>
                </a:r>
                <a:endParaRPr lang="en-US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199201C-5EB6-DAF3-6BA2-7AFFE4A1E24F}"/>
                </a:ext>
              </a:extLst>
            </p:cNvPr>
            <p:cNvSpPr txBox="1"/>
            <p:nvPr/>
          </p:nvSpPr>
          <p:spPr>
            <a:xfrm>
              <a:off x="8111752" y="4080087"/>
              <a:ext cx="1890768" cy="3181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Kafka Cluster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B7E5B19C-680F-1A7A-782A-5540D4F62F74}"/>
              </a:ext>
            </a:extLst>
          </p:cNvPr>
          <p:cNvSpPr/>
          <p:nvPr/>
        </p:nvSpPr>
        <p:spPr>
          <a:xfrm>
            <a:off x="619570" y="4177741"/>
            <a:ext cx="6414014" cy="2569869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9D14A6C-9588-CC98-D336-3EBF76B1D41E}"/>
              </a:ext>
            </a:extLst>
          </p:cNvPr>
          <p:cNvGrpSpPr/>
          <p:nvPr/>
        </p:nvGrpSpPr>
        <p:grpSpPr>
          <a:xfrm>
            <a:off x="834045" y="4570097"/>
            <a:ext cx="1855487" cy="2103820"/>
            <a:chOff x="3886189" y="3043780"/>
            <a:chExt cx="6410097" cy="1324039"/>
          </a:xfrm>
          <a:solidFill>
            <a:schemeClr val="accent1"/>
          </a:solidFill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A0227D1-75FD-BA29-E319-0491B41719BB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grpFill/>
            <a:ln/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48323D7C-6389-AFEE-F8DF-02B5414A699F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193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hu-HU" sz="1400" dirty="0" err="1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Worker</a:t>
              </a: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01D7E59-0093-3E02-87C0-F497D0CB3425}"/>
              </a:ext>
            </a:extLst>
          </p:cNvPr>
          <p:cNvGrpSpPr/>
          <p:nvPr/>
        </p:nvGrpSpPr>
        <p:grpSpPr>
          <a:xfrm>
            <a:off x="2898833" y="4565490"/>
            <a:ext cx="1855487" cy="2103820"/>
            <a:chOff x="3886189" y="3043780"/>
            <a:chExt cx="6410097" cy="1324039"/>
          </a:xfrm>
          <a:solidFill>
            <a:schemeClr val="accent1"/>
          </a:solidFill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C9A21B4-6617-40E9-B14A-AB99D0F5F5F0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grpFill/>
            <a:ln/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71EC5EA-9A45-D863-0A34-738447D36BE3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193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hu-HU" sz="1400" dirty="0" err="1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Worker</a:t>
              </a: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4B81425-0ACD-1031-AEC8-3E00E1F17A04}"/>
              </a:ext>
            </a:extLst>
          </p:cNvPr>
          <p:cNvGrpSpPr/>
          <p:nvPr/>
        </p:nvGrpSpPr>
        <p:grpSpPr>
          <a:xfrm>
            <a:off x="4959881" y="4560938"/>
            <a:ext cx="1855487" cy="2103820"/>
            <a:chOff x="3886189" y="3043780"/>
            <a:chExt cx="6410097" cy="1324039"/>
          </a:xfrm>
          <a:solidFill>
            <a:schemeClr val="accent1"/>
          </a:solidFill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1EE6C8AF-9398-41C3-EE1D-364655C991EF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grpFill/>
            <a:ln/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B4E9E25-9F24-B4E2-0096-BAAD5B4ABDE6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193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hu-HU" sz="1400" dirty="0" err="1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Worker</a:t>
              </a: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EC785DAE-B855-E676-2078-5E513260FA13}"/>
              </a:ext>
            </a:extLst>
          </p:cNvPr>
          <p:cNvSpPr txBox="1"/>
          <p:nvPr/>
        </p:nvSpPr>
        <p:spPr>
          <a:xfrm>
            <a:off x="619570" y="4212550"/>
            <a:ext cx="6427973" cy="3181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 Cluster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EB0D330-00B2-B8B7-49D3-0C36AABECAC1}"/>
              </a:ext>
            </a:extLst>
          </p:cNvPr>
          <p:cNvSpPr/>
          <p:nvPr/>
        </p:nvSpPr>
        <p:spPr>
          <a:xfrm>
            <a:off x="7354452" y="5256445"/>
            <a:ext cx="528984" cy="1871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4" name="Arrow: Right 83">
            <a:extLst>
              <a:ext uri="{FF2B5EF4-FFF2-40B4-BE49-F238E27FC236}">
                <a16:creationId xmlns:a16="http://schemas.microsoft.com/office/drawing/2014/main" id="{48F987F4-411E-3EEC-5ED9-9FDC6208DD50}"/>
              </a:ext>
            </a:extLst>
          </p:cNvPr>
          <p:cNvSpPr/>
          <p:nvPr/>
        </p:nvSpPr>
        <p:spPr>
          <a:xfrm rot="10800000">
            <a:off x="7354452" y="5961312"/>
            <a:ext cx="528984" cy="1871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69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98060-400C-3669-0B69-DEEBE6ACB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037381-F697-9F8A-9433-611ABF6CB7D1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Connect Terminology</a:t>
            </a:r>
            <a:endParaRPr lang="en-US" dirty="0"/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E68F782F-7B48-EA13-246F-475CE77E6C98}"/>
              </a:ext>
            </a:extLst>
          </p:cNvPr>
          <p:cNvGrpSpPr/>
          <p:nvPr/>
        </p:nvGrpSpPr>
        <p:grpSpPr>
          <a:xfrm>
            <a:off x="8111752" y="4177741"/>
            <a:ext cx="1890768" cy="2569869"/>
            <a:chOff x="8111752" y="4045278"/>
            <a:chExt cx="1890768" cy="2569869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E4CEE1F-D580-0DD4-5AA7-305D8BC41804}"/>
                </a:ext>
              </a:extLst>
            </p:cNvPr>
            <p:cNvSpPr/>
            <p:nvPr/>
          </p:nvSpPr>
          <p:spPr>
            <a:xfrm>
              <a:off x="8111752" y="4045278"/>
              <a:ext cx="1886662" cy="2569869"/>
            </a:xfrm>
            <a:prstGeom prst="roundRect">
              <a:avLst>
                <a:gd name="adj" fmla="val 5783"/>
              </a:avLst>
            </a:prstGeom>
            <a:ln>
              <a:solidFill>
                <a:srgbClr val="012851"/>
              </a:solidFill>
              <a:prstDash val="dash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3D254DF9-AA8F-B98D-C078-58FAC61D56D6}"/>
                </a:ext>
              </a:extLst>
            </p:cNvPr>
            <p:cNvGrpSpPr/>
            <p:nvPr/>
          </p:nvGrpSpPr>
          <p:grpSpPr>
            <a:xfrm>
              <a:off x="8364625" y="4722655"/>
              <a:ext cx="1389578" cy="494877"/>
              <a:chOff x="3886189" y="3043780"/>
              <a:chExt cx="6410097" cy="132403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95660D3-130A-8E64-0138-3DDF1715A2B2}"/>
                  </a:ext>
                </a:extLst>
              </p:cNvPr>
              <p:cNvSpPr/>
              <p:nvPr/>
            </p:nvSpPr>
            <p:spPr>
              <a:xfrm>
                <a:off x="3886189" y="3058402"/>
                <a:ext cx="6410097" cy="130941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051AD35-7D44-66BB-8C3B-1B69D917F133}"/>
                  </a:ext>
                </a:extLst>
              </p:cNvPr>
              <p:cNvSpPr txBox="1"/>
              <p:nvPr/>
            </p:nvSpPr>
            <p:spPr>
              <a:xfrm>
                <a:off x="3886194" y="3043780"/>
                <a:ext cx="6410092" cy="8234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Broker</a:t>
                </a:r>
                <a:endParaRPr lang="en-US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732111C0-4EEF-F2FC-0945-240AF5E22569}"/>
                </a:ext>
              </a:extLst>
            </p:cNvPr>
            <p:cNvGrpSpPr/>
            <p:nvPr/>
          </p:nvGrpSpPr>
          <p:grpSpPr>
            <a:xfrm>
              <a:off x="8362647" y="5386724"/>
              <a:ext cx="1389578" cy="494877"/>
              <a:chOff x="3886189" y="3043780"/>
              <a:chExt cx="6410097" cy="1324039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7202807D-4BFE-6449-2A7E-9765F976E9E1}"/>
                  </a:ext>
                </a:extLst>
              </p:cNvPr>
              <p:cNvSpPr/>
              <p:nvPr/>
            </p:nvSpPr>
            <p:spPr>
              <a:xfrm>
                <a:off x="3886189" y="3058402"/>
                <a:ext cx="6410097" cy="130941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652D99B-8845-796C-6996-92D2A43934B9}"/>
                  </a:ext>
                </a:extLst>
              </p:cNvPr>
              <p:cNvSpPr txBox="1"/>
              <p:nvPr/>
            </p:nvSpPr>
            <p:spPr>
              <a:xfrm>
                <a:off x="3886194" y="3043780"/>
                <a:ext cx="6410092" cy="8234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Broker</a:t>
                </a:r>
                <a:endParaRPr lang="en-US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F90C03F-08EC-C7B3-1D1F-964A1636B460}"/>
                </a:ext>
              </a:extLst>
            </p:cNvPr>
            <p:cNvGrpSpPr/>
            <p:nvPr/>
          </p:nvGrpSpPr>
          <p:grpSpPr>
            <a:xfrm>
              <a:off x="8362647" y="6041969"/>
              <a:ext cx="1389578" cy="494877"/>
              <a:chOff x="3886189" y="3043780"/>
              <a:chExt cx="6410097" cy="1324039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9BDE430D-7C71-C805-C54E-192695E45A1C}"/>
                  </a:ext>
                </a:extLst>
              </p:cNvPr>
              <p:cNvSpPr/>
              <p:nvPr/>
            </p:nvSpPr>
            <p:spPr>
              <a:xfrm>
                <a:off x="3886189" y="3058402"/>
                <a:ext cx="6410097" cy="130941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7B50C2B-D171-CEE1-3FA8-E632DF65FE94}"/>
                  </a:ext>
                </a:extLst>
              </p:cNvPr>
              <p:cNvSpPr txBox="1"/>
              <p:nvPr/>
            </p:nvSpPr>
            <p:spPr>
              <a:xfrm>
                <a:off x="3886194" y="3043780"/>
                <a:ext cx="6410092" cy="8234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Broker</a:t>
                </a:r>
                <a:endParaRPr lang="en-US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16C6B4D-D9FE-DC8D-1CE5-1A76BA11D5CE}"/>
                </a:ext>
              </a:extLst>
            </p:cNvPr>
            <p:cNvSpPr txBox="1"/>
            <p:nvPr/>
          </p:nvSpPr>
          <p:spPr>
            <a:xfrm>
              <a:off x="8111752" y="4080087"/>
              <a:ext cx="1890768" cy="3181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Kafka Cluster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59E39AAD-78A7-21A5-6EAD-DDB8437D54F8}"/>
              </a:ext>
            </a:extLst>
          </p:cNvPr>
          <p:cNvSpPr/>
          <p:nvPr/>
        </p:nvSpPr>
        <p:spPr>
          <a:xfrm>
            <a:off x="619570" y="4177741"/>
            <a:ext cx="6414014" cy="2569869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872839D-4A40-AEE6-3206-F60DE106A5FD}"/>
              </a:ext>
            </a:extLst>
          </p:cNvPr>
          <p:cNvGrpSpPr/>
          <p:nvPr/>
        </p:nvGrpSpPr>
        <p:grpSpPr>
          <a:xfrm>
            <a:off x="834045" y="4570097"/>
            <a:ext cx="1855487" cy="2103820"/>
            <a:chOff x="3886189" y="3043780"/>
            <a:chExt cx="6410097" cy="1324039"/>
          </a:xfrm>
          <a:solidFill>
            <a:schemeClr val="accent1"/>
          </a:solidFill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28952D88-5B6E-6986-B29F-4E2A4644B072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grpFill/>
            <a:ln/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57D7E344-3211-542D-3A07-5862E8DD1223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193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hu-HU" sz="1400" dirty="0" err="1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Worker</a:t>
              </a: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C8879328-2BD6-2167-D2A4-E3CFCBC59060}"/>
              </a:ext>
            </a:extLst>
          </p:cNvPr>
          <p:cNvGrpSpPr/>
          <p:nvPr/>
        </p:nvGrpSpPr>
        <p:grpSpPr>
          <a:xfrm>
            <a:off x="2898833" y="4565490"/>
            <a:ext cx="1855487" cy="2103820"/>
            <a:chOff x="3886189" y="3043780"/>
            <a:chExt cx="6410097" cy="1324039"/>
          </a:xfrm>
          <a:solidFill>
            <a:schemeClr val="accent1"/>
          </a:solidFill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CD345B35-5628-295D-C2ED-DDB71958DF01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grpFill/>
            <a:ln/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F4BC609-5EDE-2C48-5B01-F281E2EAC3F3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193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hu-HU" sz="1400" dirty="0" err="1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Worker</a:t>
              </a: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0CBE01CC-67AF-1927-7892-6B6F06F23188}"/>
              </a:ext>
            </a:extLst>
          </p:cNvPr>
          <p:cNvGrpSpPr/>
          <p:nvPr/>
        </p:nvGrpSpPr>
        <p:grpSpPr>
          <a:xfrm>
            <a:off x="4959881" y="4560938"/>
            <a:ext cx="1855487" cy="2103820"/>
            <a:chOff x="3886189" y="3043780"/>
            <a:chExt cx="6410097" cy="1324039"/>
          </a:xfrm>
          <a:solidFill>
            <a:schemeClr val="accent1"/>
          </a:solidFill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1C5A4B36-B490-C35D-BFF4-A8C28E301272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grpFill/>
            <a:ln/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50FB6CE9-C4DE-2FBD-09EF-84D01689D1AA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193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hu-HU" sz="1400" dirty="0" err="1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Worker</a:t>
              </a: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F2823ED4-7279-B8C4-5B05-77C055DCE3A9}"/>
              </a:ext>
            </a:extLst>
          </p:cNvPr>
          <p:cNvSpPr txBox="1"/>
          <p:nvPr/>
        </p:nvSpPr>
        <p:spPr>
          <a:xfrm>
            <a:off x="619570" y="4212550"/>
            <a:ext cx="6427973" cy="3181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 Cluster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03A56E47-9E09-C191-E0FE-C08AA72A3838}"/>
              </a:ext>
            </a:extLst>
          </p:cNvPr>
          <p:cNvSpPr/>
          <p:nvPr/>
        </p:nvSpPr>
        <p:spPr>
          <a:xfrm>
            <a:off x="7354452" y="5256445"/>
            <a:ext cx="528984" cy="1871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4" name="Arrow: Right 83">
            <a:extLst>
              <a:ext uri="{FF2B5EF4-FFF2-40B4-BE49-F238E27FC236}">
                <a16:creationId xmlns:a16="http://schemas.microsoft.com/office/drawing/2014/main" id="{59BE8ADD-9570-7FDD-848D-A4076C90010A}"/>
              </a:ext>
            </a:extLst>
          </p:cNvPr>
          <p:cNvSpPr/>
          <p:nvPr/>
        </p:nvSpPr>
        <p:spPr>
          <a:xfrm rot="10800000">
            <a:off x="7354452" y="5961312"/>
            <a:ext cx="528984" cy="1871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126C1C09-C7A7-3DF3-E683-7C76D5B1011D}"/>
              </a:ext>
            </a:extLst>
          </p:cNvPr>
          <p:cNvSpPr txBox="1"/>
          <p:nvPr/>
        </p:nvSpPr>
        <p:spPr>
          <a:xfrm>
            <a:off x="377905" y="973289"/>
            <a:ext cx="1956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 err="1"/>
              <a:t>Connector</a:t>
            </a:r>
            <a:r>
              <a:rPr lang="hu-HU" dirty="0"/>
              <a:t> </a:t>
            </a:r>
            <a:r>
              <a:rPr lang="hu-HU" dirty="0" err="1"/>
              <a:t>config</a:t>
            </a:r>
            <a:r>
              <a:rPr lang="hu-HU" dirty="0"/>
              <a:t> 1</a:t>
            </a:r>
            <a:endParaRPr lang="en-GB" dirty="0"/>
          </a:p>
        </p:txBody>
      </p:sp>
      <p:sp>
        <p:nvSpPr>
          <p:cNvPr id="10" name="Téglalap: lekerekített 9">
            <a:extLst>
              <a:ext uri="{FF2B5EF4-FFF2-40B4-BE49-F238E27FC236}">
                <a16:creationId xmlns:a16="http://schemas.microsoft.com/office/drawing/2014/main" id="{34AC5A10-A41D-2F30-9453-4E6A4116DC1F}"/>
              </a:ext>
            </a:extLst>
          </p:cNvPr>
          <p:cNvSpPr/>
          <p:nvPr/>
        </p:nvSpPr>
        <p:spPr>
          <a:xfrm>
            <a:off x="1267113" y="5036391"/>
            <a:ext cx="982767" cy="440108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 err="1"/>
              <a:t>Task</a:t>
            </a:r>
            <a:r>
              <a:rPr lang="hu-HU" dirty="0"/>
              <a:t> 1</a:t>
            </a:r>
            <a:endParaRPr lang="en-GB" dirty="0"/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B543821A-7CCA-CE65-EAFF-542DCBD1940F}"/>
              </a:ext>
            </a:extLst>
          </p:cNvPr>
          <p:cNvSpPr txBox="1"/>
          <p:nvPr/>
        </p:nvSpPr>
        <p:spPr>
          <a:xfrm>
            <a:off x="5887624" y="973289"/>
            <a:ext cx="1956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 err="1"/>
              <a:t>Connector</a:t>
            </a:r>
            <a:r>
              <a:rPr lang="hu-HU" dirty="0"/>
              <a:t> </a:t>
            </a:r>
            <a:r>
              <a:rPr lang="hu-HU" dirty="0" err="1"/>
              <a:t>config</a:t>
            </a:r>
            <a:r>
              <a:rPr lang="hu-HU" dirty="0"/>
              <a:t> 2</a:t>
            </a:r>
            <a:endParaRPr lang="en-GB" dirty="0"/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7B692313-BFD0-C8B4-3159-7B598AB05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1063" y="1378436"/>
            <a:ext cx="5144457" cy="2633472"/>
          </a:xfrm>
          <a:prstGeom prst="rect">
            <a:avLst/>
          </a:prstGeom>
          <a:ln>
            <a:solidFill>
              <a:srgbClr val="7030A0"/>
            </a:solidFill>
          </a:ln>
        </p:spPr>
      </p:pic>
      <p:sp>
        <p:nvSpPr>
          <p:cNvPr id="16" name="Téglalap: lekerekített 15">
            <a:extLst>
              <a:ext uri="{FF2B5EF4-FFF2-40B4-BE49-F238E27FC236}">
                <a16:creationId xmlns:a16="http://schemas.microsoft.com/office/drawing/2014/main" id="{E6F4B948-9D79-9FDE-2719-49CFCCEF926D}"/>
              </a:ext>
            </a:extLst>
          </p:cNvPr>
          <p:cNvSpPr/>
          <p:nvPr/>
        </p:nvSpPr>
        <p:spPr>
          <a:xfrm>
            <a:off x="1267113" y="5664657"/>
            <a:ext cx="982767" cy="440108"/>
          </a:xfrm>
          <a:prstGeom prst="roundRect">
            <a:avLst/>
          </a:prstGeom>
          <a:solidFill>
            <a:srgbClr val="7030A0"/>
          </a:solidFill>
          <a:ln>
            <a:solidFill>
              <a:srgbClr val="012863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 err="1"/>
              <a:t>Task</a:t>
            </a:r>
            <a:r>
              <a:rPr lang="hu-HU" dirty="0"/>
              <a:t> 2</a:t>
            </a:r>
            <a:endParaRPr lang="en-GB" dirty="0"/>
          </a:p>
        </p:txBody>
      </p:sp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607932B6-C45E-5CBF-1849-24FDB7CD98DA}"/>
              </a:ext>
            </a:extLst>
          </p:cNvPr>
          <p:cNvSpPr/>
          <p:nvPr/>
        </p:nvSpPr>
        <p:spPr>
          <a:xfrm>
            <a:off x="3342172" y="5036391"/>
            <a:ext cx="982767" cy="440108"/>
          </a:xfrm>
          <a:prstGeom prst="roundRect">
            <a:avLst/>
          </a:prstGeom>
          <a:solidFill>
            <a:srgbClr val="7030A0"/>
          </a:solidFill>
          <a:ln>
            <a:solidFill>
              <a:srgbClr val="012863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 err="1"/>
              <a:t>Task</a:t>
            </a:r>
            <a:r>
              <a:rPr lang="hu-HU" dirty="0"/>
              <a:t> 1</a:t>
            </a:r>
            <a:endParaRPr lang="en-GB" dirty="0"/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FB1839AB-148A-D5F4-EF79-96F495D50EF1}"/>
              </a:ext>
            </a:extLst>
          </p:cNvPr>
          <p:cNvSpPr/>
          <p:nvPr/>
        </p:nvSpPr>
        <p:spPr>
          <a:xfrm>
            <a:off x="5402568" y="5004341"/>
            <a:ext cx="982767" cy="440108"/>
          </a:xfrm>
          <a:prstGeom prst="roundRect">
            <a:avLst/>
          </a:prstGeom>
          <a:solidFill>
            <a:srgbClr val="7030A0"/>
          </a:solidFill>
          <a:ln>
            <a:solidFill>
              <a:srgbClr val="012863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 err="1"/>
              <a:t>Task</a:t>
            </a:r>
            <a:r>
              <a:rPr lang="hu-HU" dirty="0"/>
              <a:t> 3</a:t>
            </a:r>
            <a:endParaRPr lang="en-GB" dirty="0"/>
          </a:p>
        </p:txBody>
      </p:sp>
      <p:pic>
        <p:nvPicPr>
          <p:cNvPr id="3" name="Kép 11">
            <a:extLst>
              <a:ext uri="{FF2B5EF4-FFF2-40B4-BE49-F238E27FC236}">
                <a16:creationId xmlns:a16="http://schemas.microsoft.com/office/drawing/2014/main" id="{7EFFB7FA-852A-F73D-7E4C-B676A28AD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09" y="1377430"/>
            <a:ext cx="5232067" cy="690130"/>
          </a:xfrm>
          <a:prstGeom prst="rect">
            <a:avLst/>
          </a:prstGeom>
          <a:ln>
            <a:solidFill>
              <a:srgbClr val="00B050"/>
            </a:solidFill>
          </a:ln>
        </p:spPr>
      </p:pic>
    </p:spTree>
    <p:extLst>
      <p:ext uri="{BB962C8B-B14F-4D97-AF65-F5344CB8AC3E}">
        <p14:creationId xmlns:p14="http://schemas.microsoft.com/office/powerpoint/2010/main" val="2428302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13" grpId="0"/>
      <p:bldP spid="16" grpId="0" animBg="1"/>
      <p:bldP spid="17" grpId="0" animBg="1"/>
      <p:bldP spid="18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514C6-C0BF-C93A-D678-95636CB8A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024145-B174-52B4-5F53-D404C6EF9AE1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Connect Terminology</a:t>
            </a:r>
            <a:endParaRPr lang="en-US" dirty="0"/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06781838-7572-F63B-BAE3-FEE5B3EB4E0D}"/>
              </a:ext>
            </a:extLst>
          </p:cNvPr>
          <p:cNvGrpSpPr/>
          <p:nvPr/>
        </p:nvGrpSpPr>
        <p:grpSpPr>
          <a:xfrm>
            <a:off x="8111752" y="4177741"/>
            <a:ext cx="1890768" cy="2569869"/>
            <a:chOff x="8111752" y="4045278"/>
            <a:chExt cx="1890768" cy="2569869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E478DA86-A771-817B-623D-2C4AD10B7AAB}"/>
                </a:ext>
              </a:extLst>
            </p:cNvPr>
            <p:cNvSpPr/>
            <p:nvPr/>
          </p:nvSpPr>
          <p:spPr>
            <a:xfrm>
              <a:off x="8111752" y="4045278"/>
              <a:ext cx="1886662" cy="2569869"/>
            </a:xfrm>
            <a:prstGeom prst="roundRect">
              <a:avLst>
                <a:gd name="adj" fmla="val 5783"/>
              </a:avLst>
            </a:prstGeom>
            <a:ln>
              <a:solidFill>
                <a:srgbClr val="012851"/>
              </a:solidFill>
              <a:prstDash val="dash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31F5D69E-DE02-FCF0-4894-4B367EA8D551}"/>
                </a:ext>
              </a:extLst>
            </p:cNvPr>
            <p:cNvGrpSpPr/>
            <p:nvPr/>
          </p:nvGrpSpPr>
          <p:grpSpPr>
            <a:xfrm>
              <a:off x="8364625" y="4722655"/>
              <a:ext cx="1389578" cy="494877"/>
              <a:chOff x="3886189" y="3043780"/>
              <a:chExt cx="6410097" cy="132403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0FA2B19-0E18-AB3F-9B44-4A053A94250D}"/>
                  </a:ext>
                </a:extLst>
              </p:cNvPr>
              <p:cNvSpPr/>
              <p:nvPr/>
            </p:nvSpPr>
            <p:spPr>
              <a:xfrm>
                <a:off x="3886189" y="3058402"/>
                <a:ext cx="6410097" cy="130941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E2AEA8B-108F-21E4-2CE7-68C1B42686FD}"/>
                  </a:ext>
                </a:extLst>
              </p:cNvPr>
              <p:cNvSpPr txBox="1"/>
              <p:nvPr/>
            </p:nvSpPr>
            <p:spPr>
              <a:xfrm>
                <a:off x="3886194" y="3043780"/>
                <a:ext cx="6410092" cy="8234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Broker</a:t>
                </a:r>
                <a:endParaRPr lang="en-US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429C9C-DBB2-57E6-BE9A-C97970119C68}"/>
                </a:ext>
              </a:extLst>
            </p:cNvPr>
            <p:cNvGrpSpPr/>
            <p:nvPr/>
          </p:nvGrpSpPr>
          <p:grpSpPr>
            <a:xfrm>
              <a:off x="8362647" y="5386724"/>
              <a:ext cx="1389578" cy="494877"/>
              <a:chOff x="3886189" y="3043780"/>
              <a:chExt cx="6410097" cy="1324039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2B0D6D5-50C9-379E-F163-2185267E0092}"/>
                  </a:ext>
                </a:extLst>
              </p:cNvPr>
              <p:cNvSpPr/>
              <p:nvPr/>
            </p:nvSpPr>
            <p:spPr>
              <a:xfrm>
                <a:off x="3886189" y="3058402"/>
                <a:ext cx="6410097" cy="130941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AF89E89-18A9-A1B8-82CF-CC87E9C48069}"/>
                  </a:ext>
                </a:extLst>
              </p:cNvPr>
              <p:cNvSpPr txBox="1"/>
              <p:nvPr/>
            </p:nvSpPr>
            <p:spPr>
              <a:xfrm>
                <a:off x="3886194" y="3043780"/>
                <a:ext cx="6410092" cy="8234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Broker</a:t>
                </a:r>
                <a:endParaRPr lang="en-US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EC96003-1F10-1F9B-52EC-AC0B16BA2DD1}"/>
                </a:ext>
              </a:extLst>
            </p:cNvPr>
            <p:cNvGrpSpPr/>
            <p:nvPr/>
          </p:nvGrpSpPr>
          <p:grpSpPr>
            <a:xfrm>
              <a:off x="8362647" y="6041969"/>
              <a:ext cx="1389578" cy="494877"/>
              <a:chOff x="3886189" y="3043780"/>
              <a:chExt cx="6410097" cy="1324039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33665B2E-3029-9519-B294-B6C5DDD7596A}"/>
                  </a:ext>
                </a:extLst>
              </p:cNvPr>
              <p:cNvSpPr/>
              <p:nvPr/>
            </p:nvSpPr>
            <p:spPr>
              <a:xfrm>
                <a:off x="3886189" y="3058402"/>
                <a:ext cx="6410097" cy="130941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F0E2756-BBC1-1243-3375-83F9ABE5D92E}"/>
                  </a:ext>
                </a:extLst>
              </p:cNvPr>
              <p:cNvSpPr txBox="1"/>
              <p:nvPr/>
            </p:nvSpPr>
            <p:spPr>
              <a:xfrm>
                <a:off x="3886194" y="3043780"/>
                <a:ext cx="6410092" cy="8234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14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Broker</a:t>
                </a:r>
                <a:endParaRPr lang="en-US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15D725B-335F-A00B-36AF-4C714CC4A7EF}"/>
                </a:ext>
              </a:extLst>
            </p:cNvPr>
            <p:cNvSpPr txBox="1"/>
            <p:nvPr/>
          </p:nvSpPr>
          <p:spPr>
            <a:xfrm>
              <a:off x="8111752" y="4080087"/>
              <a:ext cx="1890768" cy="3181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Kafka Cluster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8B54D0F6-415C-C354-EABC-0DB9BBB6C266}"/>
              </a:ext>
            </a:extLst>
          </p:cNvPr>
          <p:cNvSpPr/>
          <p:nvPr/>
        </p:nvSpPr>
        <p:spPr>
          <a:xfrm>
            <a:off x="619570" y="4177741"/>
            <a:ext cx="6414014" cy="2569869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D416BDE6-5E66-B28E-1634-7E7F7AB21F49}"/>
              </a:ext>
            </a:extLst>
          </p:cNvPr>
          <p:cNvGrpSpPr/>
          <p:nvPr/>
        </p:nvGrpSpPr>
        <p:grpSpPr>
          <a:xfrm>
            <a:off x="834045" y="4570097"/>
            <a:ext cx="1855487" cy="2103820"/>
            <a:chOff x="3886189" y="3043780"/>
            <a:chExt cx="6410097" cy="1324039"/>
          </a:xfrm>
          <a:solidFill>
            <a:schemeClr val="accent1"/>
          </a:solidFill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595CDE9-D516-B0E3-2F29-54A2E0125937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grpFill/>
            <a:ln/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3FC0E34C-5D6B-65A1-72DD-9155DFBAC4C6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193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hu-HU" sz="1400" dirty="0" err="1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Worker</a:t>
              </a: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1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C0384E8-1032-5F57-CFC7-AB8292469ADD}"/>
              </a:ext>
            </a:extLst>
          </p:cNvPr>
          <p:cNvGrpSpPr/>
          <p:nvPr/>
        </p:nvGrpSpPr>
        <p:grpSpPr>
          <a:xfrm>
            <a:off x="2898833" y="4565490"/>
            <a:ext cx="1855487" cy="2103820"/>
            <a:chOff x="3886189" y="3043780"/>
            <a:chExt cx="6410097" cy="1324039"/>
          </a:xfrm>
          <a:solidFill>
            <a:schemeClr val="accent1"/>
          </a:solidFill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C8C34936-E711-BD56-3B29-D3D41CF15978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grpFill/>
            <a:ln/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7B7A677-D146-F378-C92E-BCBA77E27660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193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hu-HU" sz="1400" dirty="0" err="1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Worker</a:t>
              </a: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2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60C85847-953B-C5AB-E596-B17D1AB924ED}"/>
              </a:ext>
            </a:extLst>
          </p:cNvPr>
          <p:cNvGrpSpPr/>
          <p:nvPr/>
        </p:nvGrpSpPr>
        <p:grpSpPr>
          <a:xfrm>
            <a:off x="4959881" y="4560938"/>
            <a:ext cx="1855487" cy="2103820"/>
            <a:chOff x="3886189" y="3043780"/>
            <a:chExt cx="6410097" cy="1324039"/>
          </a:xfrm>
          <a:solidFill>
            <a:schemeClr val="accent1"/>
          </a:solidFill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5917B4F0-21E3-E491-872F-3CD82A4B27F8}"/>
                </a:ext>
              </a:extLst>
            </p:cNvPr>
            <p:cNvSpPr/>
            <p:nvPr/>
          </p:nvSpPr>
          <p:spPr>
            <a:xfrm>
              <a:off x="3886189" y="3058402"/>
              <a:ext cx="6410097" cy="1309417"/>
            </a:xfrm>
            <a:prstGeom prst="rect">
              <a:avLst/>
            </a:prstGeom>
            <a:grpFill/>
            <a:ln/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1D9F005D-3E57-FF44-4C2A-AD4101945FC1}"/>
                </a:ext>
              </a:extLst>
            </p:cNvPr>
            <p:cNvSpPr txBox="1"/>
            <p:nvPr/>
          </p:nvSpPr>
          <p:spPr>
            <a:xfrm>
              <a:off x="3886192" y="3043780"/>
              <a:ext cx="6410094" cy="193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hu-HU" sz="1400" dirty="0" err="1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Worker</a:t>
              </a:r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3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A0AF59AF-AB27-3E24-CAA2-A94EEE5F162D}"/>
              </a:ext>
            </a:extLst>
          </p:cNvPr>
          <p:cNvSpPr txBox="1"/>
          <p:nvPr/>
        </p:nvSpPr>
        <p:spPr>
          <a:xfrm>
            <a:off x="619570" y="4212550"/>
            <a:ext cx="6427973" cy="3181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 Cluster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8DA06C3A-5546-0EFA-8454-DD0B9B7EF8D4}"/>
              </a:ext>
            </a:extLst>
          </p:cNvPr>
          <p:cNvSpPr/>
          <p:nvPr/>
        </p:nvSpPr>
        <p:spPr>
          <a:xfrm>
            <a:off x="7354452" y="5256445"/>
            <a:ext cx="528984" cy="1871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4" name="Arrow: Right 83">
            <a:extLst>
              <a:ext uri="{FF2B5EF4-FFF2-40B4-BE49-F238E27FC236}">
                <a16:creationId xmlns:a16="http://schemas.microsoft.com/office/drawing/2014/main" id="{64D66835-D1D1-765E-4541-AE51599010F4}"/>
              </a:ext>
            </a:extLst>
          </p:cNvPr>
          <p:cNvSpPr/>
          <p:nvPr/>
        </p:nvSpPr>
        <p:spPr>
          <a:xfrm rot="10800000">
            <a:off x="7354452" y="5961312"/>
            <a:ext cx="528984" cy="1871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F31B22B4-F815-3B29-691C-0301D2604756}"/>
              </a:ext>
            </a:extLst>
          </p:cNvPr>
          <p:cNvSpPr txBox="1"/>
          <p:nvPr/>
        </p:nvSpPr>
        <p:spPr>
          <a:xfrm>
            <a:off x="375588" y="973289"/>
            <a:ext cx="1956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 err="1"/>
              <a:t>Connector</a:t>
            </a:r>
            <a:r>
              <a:rPr lang="hu-HU" dirty="0"/>
              <a:t> </a:t>
            </a:r>
            <a:r>
              <a:rPr lang="hu-HU" dirty="0" err="1"/>
              <a:t>config</a:t>
            </a:r>
            <a:r>
              <a:rPr lang="hu-HU" dirty="0"/>
              <a:t> 1</a:t>
            </a:r>
            <a:endParaRPr lang="en-GB" dirty="0"/>
          </a:p>
        </p:txBody>
      </p:sp>
      <p:sp>
        <p:nvSpPr>
          <p:cNvPr id="10" name="Téglalap: lekerekített 9">
            <a:extLst>
              <a:ext uri="{FF2B5EF4-FFF2-40B4-BE49-F238E27FC236}">
                <a16:creationId xmlns:a16="http://schemas.microsoft.com/office/drawing/2014/main" id="{4C7544F5-E3C0-A70E-5CFE-A25355D4FBF3}"/>
              </a:ext>
            </a:extLst>
          </p:cNvPr>
          <p:cNvSpPr/>
          <p:nvPr/>
        </p:nvSpPr>
        <p:spPr>
          <a:xfrm>
            <a:off x="1267113" y="5036391"/>
            <a:ext cx="982767" cy="440108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 err="1"/>
              <a:t>Task</a:t>
            </a:r>
            <a:r>
              <a:rPr lang="hu-HU" dirty="0"/>
              <a:t> 1</a:t>
            </a:r>
            <a:endParaRPr lang="en-GB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28F6A80-3E76-F987-9722-26481BA72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409" y="1377430"/>
            <a:ext cx="5232067" cy="690130"/>
          </a:xfrm>
          <a:prstGeom prst="rect">
            <a:avLst/>
          </a:prstGeom>
          <a:ln>
            <a:solidFill>
              <a:srgbClr val="00B050"/>
            </a:solidFill>
          </a:ln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35C8E4BF-8177-7274-FBE4-2483A44C60D3}"/>
              </a:ext>
            </a:extLst>
          </p:cNvPr>
          <p:cNvSpPr txBox="1"/>
          <p:nvPr/>
        </p:nvSpPr>
        <p:spPr>
          <a:xfrm>
            <a:off x="5887624" y="973289"/>
            <a:ext cx="1956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 err="1"/>
              <a:t>Connector</a:t>
            </a:r>
            <a:r>
              <a:rPr lang="hu-HU" dirty="0"/>
              <a:t> </a:t>
            </a:r>
            <a:r>
              <a:rPr lang="hu-HU" dirty="0" err="1"/>
              <a:t>config</a:t>
            </a:r>
            <a:r>
              <a:rPr lang="hu-HU" dirty="0"/>
              <a:t> 2</a:t>
            </a:r>
            <a:endParaRPr lang="en-GB" dirty="0"/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743A0434-A2C1-76E1-51DA-A8A07B7B9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063" y="1378436"/>
            <a:ext cx="5144457" cy="2633472"/>
          </a:xfrm>
          <a:prstGeom prst="rect">
            <a:avLst/>
          </a:prstGeom>
          <a:ln>
            <a:solidFill>
              <a:srgbClr val="7030A0"/>
            </a:solidFill>
          </a:ln>
        </p:spPr>
      </p:pic>
      <p:sp>
        <p:nvSpPr>
          <p:cNvPr id="16" name="Téglalap: lekerekített 15">
            <a:extLst>
              <a:ext uri="{FF2B5EF4-FFF2-40B4-BE49-F238E27FC236}">
                <a16:creationId xmlns:a16="http://schemas.microsoft.com/office/drawing/2014/main" id="{50025028-CA2F-46F2-F4CE-D0AB58E70542}"/>
              </a:ext>
            </a:extLst>
          </p:cNvPr>
          <p:cNvSpPr/>
          <p:nvPr/>
        </p:nvSpPr>
        <p:spPr>
          <a:xfrm>
            <a:off x="1267113" y="5664657"/>
            <a:ext cx="982767" cy="440108"/>
          </a:xfrm>
          <a:prstGeom prst="roundRect">
            <a:avLst/>
          </a:prstGeom>
          <a:solidFill>
            <a:srgbClr val="7030A0"/>
          </a:solidFill>
          <a:ln>
            <a:solidFill>
              <a:srgbClr val="012863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 err="1"/>
              <a:t>Task</a:t>
            </a:r>
            <a:r>
              <a:rPr lang="hu-HU" dirty="0"/>
              <a:t> 2</a:t>
            </a:r>
            <a:endParaRPr lang="en-GB" dirty="0"/>
          </a:p>
        </p:txBody>
      </p:sp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D54EF261-73BE-513B-9BF6-9706E19F499C}"/>
              </a:ext>
            </a:extLst>
          </p:cNvPr>
          <p:cNvSpPr/>
          <p:nvPr/>
        </p:nvSpPr>
        <p:spPr>
          <a:xfrm>
            <a:off x="3342172" y="5036391"/>
            <a:ext cx="982767" cy="440108"/>
          </a:xfrm>
          <a:prstGeom prst="roundRect">
            <a:avLst/>
          </a:prstGeom>
          <a:solidFill>
            <a:srgbClr val="7030A0"/>
          </a:solidFill>
          <a:ln>
            <a:solidFill>
              <a:srgbClr val="012863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 err="1"/>
              <a:t>Task</a:t>
            </a:r>
            <a:r>
              <a:rPr lang="hu-HU" dirty="0"/>
              <a:t> 1</a:t>
            </a:r>
            <a:endParaRPr lang="en-GB" dirty="0"/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770BC6E2-CAEB-85CB-E3A0-DD94E87D36D7}"/>
              </a:ext>
            </a:extLst>
          </p:cNvPr>
          <p:cNvSpPr/>
          <p:nvPr/>
        </p:nvSpPr>
        <p:spPr>
          <a:xfrm>
            <a:off x="5402568" y="5004341"/>
            <a:ext cx="982767" cy="440108"/>
          </a:xfrm>
          <a:prstGeom prst="roundRect">
            <a:avLst/>
          </a:prstGeom>
          <a:solidFill>
            <a:srgbClr val="7030A0"/>
          </a:solidFill>
          <a:ln>
            <a:solidFill>
              <a:srgbClr val="012863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 err="1"/>
              <a:t>Task</a:t>
            </a:r>
            <a:r>
              <a:rPr lang="hu-HU" dirty="0"/>
              <a:t> 3</a:t>
            </a:r>
            <a:endParaRPr lang="en-GB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87BF903-0C65-42A6-AC7B-6A5BDD3A9FE6}"/>
              </a:ext>
            </a:extLst>
          </p:cNvPr>
          <p:cNvSpPr txBox="1"/>
          <p:nvPr/>
        </p:nvSpPr>
        <p:spPr>
          <a:xfrm>
            <a:off x="5098702" y="4011908"/>
            <a:ext cx="1590500" cy="31547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9900" b="1" dirty="0">
                <a:solidFill>
                  <a:srgbClr val="FF0000"/>
                </a:solidFill>
              </a:rPr>
              <a:t>X</a:t>
            </a:r>
            <a:endParaRPr lang="en-GB" sz="19900" b="1" dirty="0">
              <a:solidFill>
                <a:srgbClr val="FF0000"/>
              </a:solidFill>
            </a:endParaRPr>
          </a:p>
        </p:txBody>
      </p:sp>
      <p:sp>
        <p:nvSpPr>
          <p:cNvPr id="6" name="Téglalap: lekerekített 5">
            <a:extLst>
              <a:ext uri="{FF2B5EF4-FFF2-40B4-BE49-F238E27FC236}">
                <a16:creationId xmlns:a16="http://schemas.microsoft.com/office/drawing/2014/main" id="{733543F9-2E2C-93FA-F1C2-97CEC4C860D7}"/>
              </a:ext>
            </a:extLst>
          </p:cNvPr>
          <p:cNvSpPr/>
          <p:nvPr/>
        </p:nvSpPr>
        <p:spPr>
          <a:xfrm>
            <a:off x="3342171" y="5664657"/>
            <a:ext cx="982767" cy="440108"/>
          </a:xfrm>
          <a:prstGeom prst="roundRect">
            <a:avLst/>
          </a:prstGeom>
          <a:solidFill>
            <a:srgbClr val="7030A0"/>
          </a:solidFill>
          <a:ln>
            <a:solidFill>
              <a:srgbClr val="012863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 err="1"/>
              <a:t>Task</a:t>
            </a:r>
            <a:r>
              <a:rPr lang="hu-HU" dirty="0"/>
              <a:t> 3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1296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6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77C42-3B4C-F535-DDBA-C746FB482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758AEF1-1668-B4ED-9469-E316B8FF9052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ksqlDB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E4923-7117-4742-2462-39DB6B28E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2291866"/>
          </a:xfrm>
        </p:spPr>
        <p:txBody>
          <a:bodyPr/>
          <a:lstStyle/>
          <a:p>
            <a:r>
              <a:rPr lang="hu-HU" sz="1600" dirty="0" err="1"/>
              <a:t>What</a:t>
            </a:r>
            <a:r>
              <a:rPr lang="hu-HU" sz="1600" dirty="0"/>
              <a:t> is Kafka </a:t>
            </a:r>
            <a:r>
              <a:rPr lang="hu-HU" sz="1600" dirty="0" err="1"/>
              <a:t>ksqlDB</a:t>
            </a:r>
            <a:r>
              <a:rPr lang="hu-HU" sz="1600" dirty="0"/>
              <a:t>?</a:t>
            </a:r>
          </a:p>
          <a:p>
            <a:pPr lvl="1"/>
            <a:r>
              <a:rPr lang="en-GB" sz="1400" dirty="0"/>
              <a:t>A </a:t>
            </a:r>
            <a:r>
              <a:rPr lang="en-GB" sz="1400" b="1" dirty="0"/>
              <a:t>streaming SQL engine </a:t>
            </a:r>
            <a:r>
              <a:rPr lang="en-GB" sz="1400" dirty="0"/>
              <a:t>for Apache Kafka</a:t>
            </a:r>
          </a:p>
          <a:p>
            <a:pPr lvl="1"/>
            <a:r>
              <a:rPr lang="en-GB" sz="1400" dirty="0"/>
              <a:t>Enables </a:t>
            </a:r>
            <a:r>
              <a:rPr lang="en-GB" sz="1400" b="1" dirty="0"/>
              <a:t>real-time processing </a:t>
            </a:r>
            <a:r>
              <a:rPr lang="en-GB" sz="1400" dirty="0"/>
              <a:t>of data streams using SQL</a:t>
            </a:r>
            <a:r>
              <a:rPr lang="hu-HU" sz="1400" dirty="0"/>
              <a:t>(-like)</a:t>
            </a:r>
            <a:r>
              <a:rPr lang="en-GB" sz="1400" dirty="0"/>
              <a:t> queries</a:t>
            </a:r>
          </a:p>
          <a:p>
            <a:pPr lvl="1"/>
            <a:r>
              <a:rPr lang="en-GB" sz="1400" dirty="0"/>
              <a:t>Simplifies complex event-driven architectures</a:t>
            </a:r>
            <a:endParaRPr lang="hu-HU" sz="1400" dirty="0"/>
          </a:p>
          <a:p>
            <a:r>
              <a:rPr lang="en-US" sz="1600" dirty="0"/>
              <a:t>Typical Use Cases for </a:t>
            </a:r>
            <a:r>
              <a:rPr lang="en-US" sz="1600" dirty="0" err="1"/>
              <a:t>ksqlDB</a:t>
            </a:r>
            <a:endParaRPr lang="en-US" sz="1600" dirty="0"/>
          </a:p>
          <a:p>
            <a:pPr lvl="1"/>
            <a:r>
              <a:rPr lang="en-US" sz="1400" b="1" dirty="0"/>
              <a:t>Real-time Monitoring:</a:t>
            </a:r>
            <a:r>
              <a:rPr lang="en-US" sz="1400" dirty="0"/>
              <a:t> </a:t>
            </a:r>
            <a:r>
              <a:rPr lang="hu-HU" sz="1400" dirty="0"/>
              <a:t>a</a:t>
            </a:r>
            <a:r>
              <a:rPr lang="en-US" sz="1400" dirty="0" err="1"/>
              <a:t>nalyze</a:t>
            </a:r>
            <a:r>
              <a:rPr lang="en-US" sz="1400" dirty="0"/>
              <a:t> logs, metrics, and IoT data</a:t>
            </a:r>
          </a:p>
          <a:p>
            <a:pPr lvl="1"/>
            <a:r>
              <a:rPr lang="en-US" sz="1400" b="1" dirty="0"/>
              <a:t>Data Enrichment:</a:t>
            </a:r>
            <a:r>
              <a:rPr lang="en-US" sz="1400" dirty="0"/>
              <a:t> </a:t>
            </a:r>
            <a:r>
              <a:rPr lang="hu-HU" sz="1400" dirty="0"/>
              <a:t>j</a:t>
            </a:r>
            <a:r>
              <a:rPr lang="en-US" sz="1400" dirty="0" err="1"/>
              <a:t>oin</a:t>
            </a:r>
            <a:r>
              <a:rPr lang="en-US" sz="1400" dirty="0"/>
              <a:t> streams with static or dynamic data sources</a:t>
            </a:r>
          </a:p>
          <a:p>
            <a:pPr lvl="1"/>
            <a:r>
              <a:rPr lang="en-US" sz="1400" b="1" dirty="0"/>
              <a:t>Fraud Detection: </a:t>
            </a:r>
            <a:r>
              <a:rPr lang="hu-HU" sz="1400" dirty="0"/>
              <a:t>i</a:t>
            </a:r>
            <a:r>
              <a:rPr lang="en-US" sz="1400" dirty="0" err="1"/>
              <a:t>dentify</a:t>
            </a:r>
            <a:r>
              <a:rPr lang="en-US" sz="1400" dirty="0"/>
              <a:t> anomalies in transactional data</a:t>
            </a:r>
          </a:p>
          <a:p>
            <a:pPr lvl="1"/>
            <a:r>
              <a:rPr lang="en-US" sz="1400" b="1" dirty="0"/>
              <a:t>Customer Personalization: </a:t>
            </a:r>
            <a:r>
              <a:rPr lang="hu-HU" sz="1400" dirty="0"/>
              <a:t>ti</a:t>
            </a:r>
            <a:r>
              <a:rPr lang="en-US" sz="1400" dirty="0" err="1"/>
              <a:t>ailor</a:t>
            </a:r>
            <a:r>
              <a:rPr lang="en-US" sz="1400" dirty="0"/>
              <a:t> experiences based on live events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90E630-AAFE-D51B-A2A9-306F20325D2D}"/>
              </a:ext>
            </a:extLst>
          </p:cNvPr>
          <p:cNvSpPr/>
          <p:nvPr/>
        </p:nvSpPr>
        <p:spPr>
          <a:xfrm>
            <a:off x="2671774" y="4257383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REST Proxy / Kafka </a:t>
            </a:r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Bridge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1CC43F-8794-969E-9D3E-A46EF30802F1}"/>
              </a:ext>
            </a:extLst>
          </p:cNvPr>
          <p:cNvSpPr/>
          <p:nvPr/>
        </p:nvSpPr>
        <p:spPr>
          <a:xfrm>
            <a:off x="5152669" y="4219932"/>
            <a:ext cx="1886662" cy="2226147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7" name="Picture 2" descr="Apache Kafka">
            <a:extLst>
              <a:ext uri="{FF2B5EF4-FFF2-40B4-BE49-F238E27FC236}">
                <a16:creationId xmlns:a16="http://schemas.microsoft.com/office/drawing/2014/main" id="{53F99A03-9C5D-B5F2-4C9E-08CAF23831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4126" y="5110280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36B767E-21B4-38B8-CDF5-D54536BF27F3}"/>
              </a:ext>
            </a:extLst>
          </p:cNvPr>
          <p:cNvSpPr/>
          <p:nvPr/>
        </p:nvSpPr>
        <p:spPr>
          <a:xfrm>
            <a:off x="8019173" y="4259030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Mirror</a:t>
            </a: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Maker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0" name="Graphic 9" descr="Smart Phone">
            <a:extLst>
              <a:ext uri="{FF2B5EF4-FFF2-40B4-BE49-F238E27FC236}">
                <a16:creationId xmlns:a16="http://schemas.microsoft.com/office/drawing/2014/main" id="{235DF473-BC2B-7557-13A9-148FACB3AC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69650" y="3957155"/>
            <a:ext cx="508147" cy="508147"/>
          </a:xfrm>
          <a:prstGeom prst="rect">
            <a:avLst/>
          </a:prstGeom>
        </p:spPr>
      </p:pic>
      <p:pic>
        <p:nvPicPr>
          <p:cNvPr id="11" name="Graphic 10" descr="Laptop">
            <a:extLst>
              <a:ext uri="{FF2B5EF4-FFF2-40B4-BE49-F238E27FC236}">
                <a16:creationId xmlns:a16="http://schemas.microsoft.com/office/drawing/2014/main" id="{41EBD0A5-338B-FADB-B18D-816BCA374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02071" y="4480468"/>
            <a:ext cx="649286" cy="6492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0B853EC-43D5-C5E6-E9F3-F1F27BE7BC72}"/>
              </a:ext>
            </a:extLst>
          </p:cNvPr>
          <p:cNvSpPr/>
          <p:nvPr/>
        </p:nvSpPr>
        <p:spPr>
          <a:xfrm>
            <a:off x="5384851" y="3254295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ksqlDB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0B5E4FB-1039-9530-7623-672C069B9604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1886227" y="4175833"/>
            <a:ext cx="785547" cy="345394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D7566C4-5C30-1352-AFB1-7590C1893CE7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1886227" y="4521227"/>
            <a:ext cx="785547" cy="22596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65C66F-F1A1-620E-04D3-33ED2D1471B9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4064665" y="4515090"/>
            <a:ext cx="1104660" cy="6137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262D5D1-D69E-58D0-E552-0CB98B8A9C58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7043437" y="4522874"/>
            <a:ext cx="975736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006A193-F97F-1869-844B-BD1FB154603C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9412064" y="4522874"/>
            <a:ext cx="85036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9AE8825-A1BD-C326-4A72-33CFC1A50873}"/>
              </a:ext>
            </a:extLst>
          </p:cNvPr>
          <p:cNvCxnSpPr>
            <a:cxnSpLocks/>
          </p:cNvCxnSpPr>
          <p:nvPr/>
        </p:nvCxnSpPr>
        <p:spPr>
          <a:xfrm>
            <a:off x="6157931" y="3785132"/>
            <a:ext cx="0" cy="43530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4975D82-FBBE-FB26-4374-528A49E4A0BD}"/>
              </a:ext>
            </a:extLst>
          </p:cNvPr>
          <p:cNvCxnSpPr>
            <a:cxnSpLocks/>
          </p:cNvCxnSpPr>
          <p:nvPr/>
        </p:nvCxnSpPr>
        <p:spPr>
          <a:xfrm>
            <a:off x="5979431" y="3810190"/>
            <a:ext cx="0" cy="41289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319330B-2F7E-C860-16E6-6E4A01572A30}"/>
              </a:ext>
            </a:extLst>
          </p:cNvPr>
          <p:cNvGrpSpPr/>
          <p:nvPr/>
        </p:nvGrpSpPr>
        <p:grpSpPr>
          <a:xfrm>
            <a:off x="1121303" y="5530799"/>
            <a:ext cx="9998628" cy="907710"/>
            <a:chOff x="1121303" y="5530799"/>
            <a:chExt cx="9998628" cy="907710"/>
          </a:xfrm>
        </p:grpSpPr>
        <p:sp>
          <p:nvSpPr>
            <p:cNvPr id="8" name="Arrow: Pentagon 7">
              <a:extLst>
                <a:ext uri="{FF2B5EF4-FFF2-40B4-BE49-F238E27FC236}">
                  <a16:creationId xmlns:a16="http://schemas.microsoft.com/office/drawing/2014/main" id="{62E0F161-EBD7-4F95-AA81-B01BE21BC776}"/>
                </a:ext>
              </a:extLst>
            </p:cNvPr>
            <p:cNvSpPr/>
            <p:nvPr/>
          </p:nvSpPr>
          <p:spPr>
            <a:xfrm>
              <a:off x="2679360" y="5735928"/>
              <a:ext cx="1517266" cy="527688"/>
            </a:xfrm>
            <a:prstGeom prst="homePlat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Kafka Connect Source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82CFD009-7051-F2B5-547F-6FC3F9812EF1}"/>
                </a:ext>
              </a:extLst>
            </p:cNvPr>
            <p:cNvSpPr/>
            <p:nvPr/>
          </p:nvSpPr>
          <p:spPr>
            <a:xfrm>
              <a:off x="8035753" y="5727060"/>
              <a:ext cx="1484473" cy="527688"/>
            </a:xfrm>
            <a:prstGeom prst="homePlat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Kafka Connect Sink</a:t>
              </a:r>
              <a:endPara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5" name="Cylinder 14">
              <a:extLst>
                <a:ext uri="{FF2B5EF4-FFF2-40B4-BE49-F238E27FC236}">
                  <a16:creationId xmlns:a16="http://schemas.microsoft.com/office/drawing/2014/main" id="{F18DCD81-50DC-82E4-1CBE-47DCF3573AFA}"/>
                </a:ext>
              </a:extLst>
            </p:cNvPr>
            <p:cNvSpPr/>
            <p:nvPr/>
          </p:nvSpPr>
          <p:spPr>
            <a:xfrm>
              <a:off x="1121303" y="5530799"/>
              <a:ext cx="764924" cy="907710"/>
            </a:xfrm>
            <a:prstGeom prst="can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600" dirty="0"/>
                <a:t>Source DB</a:t>
              </a:r>
              <a:endParaRPr lang="en-US" sz="1600" dirty="0"/>
            </a:p>
          </p:txBody>
        </p:sp>
        <p:sp>
          <p:nvSpPr>
            <p:cNvPr id="16" name="Cylinder 15">
              <a:extLst>
                <a:ext uri="{FF2B5EF4-FFF2-40B4-BE49-F238E27FC236}">
                  <a16:creationId xmlns:a16="http://schemas.microsoft.com/office/drawing/2014/main" id="{1E22395A-B57C-FBD3-8A28-78CEF4D3BB5F}"/>
                </a:ext>
              </a:extLst>
            </p:cNvPr>
            <p:cNvSpPr/>
            <p:nvPr/>
          </p:nvSpPr>
          <p:spPr>
            <a:xfrm>
              <a:off x="10355007" y="5530799"/>
              <a:ext cx="764924" cy="907710"/>
            </a:xfrm>
            <a:prstGeom prst="can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600" dirty="0"/>
                <a:t>Target DB</a:t>
              </a:r>
              <a:endParaRPr lang="en-US" sz="1600" dirty="0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B545339-1CBB-1630-2B88-4EC239FC4CD2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>
              <a:off x="1997045" y="5998426"/>
              <a:ext cx="682315" cy="1346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F2B09D77-9580-FC53-DD8F-6B97FB5FC5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0226" y="5992213"/>
              <a:ext cx="742202" cy="6213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902B175A-B77F-DFD9-06E4-524DD32C89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22991" y="5984654"/>
              <a:ext cx="929678" cy="15118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5B85A1A-AF96-0AF2-EB8A-164F4922D6ED}"/>
                </a:ext>
              </a:extLst>
            </p:cNvPr>
            <p:cNvCxnSpPr>
              <a:cxnSpLocks/>
            </p:cNvCxnSpPr>
            <p:nvPr/>
          </p:nvCxnSpPr>
          <p:spPr>
            <a:xfrm>
              <a:off x="7043437" y="5984654"/>
              <a:ext cx="975736" cy="0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Rectangle: Rounded Corners 4">
            <a:extLst>
              <a:ext uri="{FF2B5EF4-FFF2-40B4-BE49-F238E27FC236}">
                <a16:creationId xmlns:a16="http://schemas.microsoft.com/office/drawing/2014/main" id="{0395409E-796A-5236-79B2-83EC00F46AFB}"/>
              </a:ext>
            </a:extLst>
          </p:cNvPr>
          <p:cNvSpPr/>
          <p:nvPr/>
        </p:nvSpPr>
        <p:spPr>
          <a:xfrm>
            <a:off x="10305773" y="4101594"/>
            <a:ext cx="1115600" cy="842560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600" dirty="0" err="1"/>
              <a:t>Source</a:t>
            </a:r>
            <a:endParaRPr lang="hu-HU" sz="1600" dirty="0"/>
          </a:p>
          <a:p>
            <a:pPr algn="ctr"/>
            <a:endParaRPr lang="hu-HU" sz="1600" dirty="0"/>
          </a:p>
          <a:p>
            <a:pPr algn="ctr"/>
            <a:r>
              <a:rPr lang="hu-HU" sz="1600" dirty="0"/>
              <a:t> </a:t>
            </a:r>
            <a:r>
              <a:rPr lang="hu-HU" sz="1600" dirty="0" err="1"/>
              <a:t>Cluster</a:t>
            </a:r>
            <a:endParaRPr lang="en-US" sz="1600" dirty="0"/>
          </a:p>
        </p:txBody>
      </p:sp>
      <p:pic>
        <p:nvPicPr>
          <p:cNvPr id="39" name="Picture 2" descr="Apache Kafka">
            <a:extLst>
              <a:ext uri="{FF2B5EF4-FFF2-40B4-BE49-F238E27FC236}">
                <a16:creationId xmlns:a16="http://schemas.microsoft.com/office/drawing/2014/main" id="{5E2628DB-94EC-9823-A2B1-6BA71A1441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2844" y="4391175"/>
            <a:ext cx="652567" cy="297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Graphic 10" descr="Laptop">
            <a:extLst>
              <a:ext uri="{FF2B5EF4-FFF2-40B4-BE49-F238E27FC236}">
                <a16:creationId xmlns:a16="http://schemas.microsoft.com/office/drawing/2014/main" id="{30F7B3E1-F785-22A8-837C-763C678DBF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45990" y="3177902"/>
            <a:ext cx="649286" cy="649286"/>
          </a:xfrm>
          <a:prstGeom prst="rect">
            <a:avLst/>
          </a:prstGeom>
        </p:spPr>
      </p:pic>
      <p:cxnSp>
        <p:nvCxnSpPr>
          <p:cNvPr id="42" name="Straight Arrow Connector 20">
            <a:extLst>
              <a:ext uri="{FF2B5EF4-FFF2-40B4-BE49-F238E27FC236}">
                <a16:creationId xmlns:a16="http://schemas.microsoft.com/office/drawing/2014/main" id="{FDFB0193-AD72-E53A-E9E3-F464950EA01F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6777742" y="3518139"/>
            <a:ext cx="1068248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8907384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D67AA-0629-6468-C5ED-539CEFC0F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34802E-BDAF-4857-5DD4-094D233142E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ksqlDB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A6C1C7-16ED-0CC9-8863-21D1E8DD8E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2291866"/>
          </a:xfrm>
        </p:spPr>
        <p:txBody>
          <a:bodyPr/>
          <a:lstStyle/>
          <a:p>
            <a:r>
              <a:rPr lang="en-GB" sz="1600" dirty="0"/>
              <a:t>Why </a:t>
            </a:r>
            <a:r>
              <a:rPr lang="hu-HU" sz="1600" dirty="0"/>
              <a:t>u</a:t>
            </a:r>
            <a:r>
              <a:rPr lang="en-GB" sz="1600" dirty="0"/>
              <a:t>se </a:t>
            </a:r>
            <a:r>
              <a:rPr lang="en-GB" sz="1600" dirty="0" err="1"/>
              <a:t>ksqlDB</a:t>
            </a:r>
            <a:r>
              <a:rPr lang="en-GB" sz="1600" dirty="0"/>
              <a:t>?</a:t>
            </a:r>
            <a:endParaRPr lang="hu-HU" sz="1600" dirty="0"/>
          </a:p>
          <a:p>
            <a:pPr lvl="1"/>
            <a:r>
              <a:rPr lang="en-GB" sz="1400" b="1" dirty="0"/>
              <a:t>Ease of Use:</a:t>
            </a:r>
            <a:r>
              <a:rPr lang="en-GB" sz="1400" dirty="0"/>
              <a:t> SQL-based queries for stream processing</a:t>
            </a:r>
          </a:p>
          <a:p>
            <a:pPr lvl="1"/>
            <a:r>
              <a:rPr lang="en-GB" sz="1400" b="1" dirty="0"/>
              <a:t>Real-Time Insights:</a:t>
            </a:r>
            <a:r>
              <a:rPr lang="en-GB" sz="1400" dirty="0"/>
              <a:t> Query and transform data streams instantly</a:t>
            </a:r>
          </a:p>
          <a:p>
            <a:pPr lvl="1"/>
            <a:r>
              <a:rPr lang="en-GB" sz="1400" b="1" dirty="0"/>
              <a:t>Integration:</a:t>
            </a:r>
            <a:r>
              <a:rPr lang="en-GB" sz="1400" dirty="0"/>
              <a:t> Built on Kafka for seamless connectivity to topics</a:t>
            </a:r>
          </a:p>
          <a:p>
            <a:pPr lvl="1"/>
            <a:r>
              <a:rPr lang="en-GB" sz="1400" b="1" dirty="0"/>
              <a:t>Scalability:</a:t>
            </a:r>
            <a:r>
              <a:rPr lang="en-GB" sz="1400" dirty="0"/>
              <a:t> Designed for distributed systems</a:t>
            </a:r>
            <a:endParaRPr lang="en-US" sz="1400" dirty="0"/>
          </a:p>
        </p:txBody>
      </p:sp>
      <p:pic>
        <p:nvPicPr>
          <p:cNvPr id="2050" name="Picture 2" descr="Tinybird: A ksqlDB alternative when stateful stream processing isn't enough">
            <a:extLst>
              <a:ext uri="{FF2B5EF4-FFF2-40B4-BE49-F238E27FC236}">
                <a16:creationId xmlns:a16="http://schemas.microsoft.com/office/drawing/2014/main" id="{AF45FE75-0A45-E40E-D13E-7E69E9D85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5068" y="3773972"/>
            <a:ext cx="6521865" cy="2821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2104048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ED4D7-C044-5D0F-CA42-A97CC08F2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85CB8B2-47DB-FEED-C7CE-594CCFBB608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ksqlDB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3DD07-585E-6821-5DA7-949D8EB4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2291866"/>
          </a:xfrm>
        </p:spPr>
        <p:txBody>
          <a:bodyPr/>
          <a:lstStyle/>
          <a:p>
            <a:r>
              <a:rPr lang="en-GB" sz="1600" dirty="0"/>
              <a:t>Key Features of </a:t>
            </a:r>
            <a:r>
              <a:rPr lang="en-GB" sz="1600" dirty="0" err="1"/>
              <a:t>ksqlDB</a:t>
            </a:r>
            <a:endParaRPr lang="hu-HU" sz="1600" dirty="0"/>
          </a:p>
          <a:p>
            <a:pPr lvl="1"/>
            <a:r>
              <a:rPr lang="en-GB" sz="1400" b="1" dirty="0"/>
              <a:t>Stream Processing:</a:t>
            </a:r>
            <a:r>
              <a:rPr lang="en-GB" sz="1400" dirty="0"/>
              <a:t> Continuous querying of real-time data streams</a:t>
            </a:r>
          </a:p>
          <a:p>
            <a:pPr lvl="1"/>
            <a:r>
              <a:rPr lang="en-GB" sz="1400" b="1" dirty="0"/>
              <a:t>Materialized Views:</a:t>
            </a:r>
            <a:r>
              <a:rPr lang="en-GB" sz="1400" dirty="0"/>
              <a:t> Store query results for easy retrieval</a:t>
            </a:r>
          </a:p>
          <a:p>
            <a:pPr lvl="1"/>
            <a:r>
              <a:rPr lang="en-GB" sz="1400" b="1" dirty="0"/>
              <a:t>Event Streaming:</a:t>
            </a:r>
            <a:r>
              <a:rPr lang="en-GB" sz="1400" dirty="0"/>
              <a:t> Joins, filters, and enrichments in real time</a:t>
            </a:r>
          </a:p>
          <a:p>
            <a:pPr lvl="1"/>
            <a:r>
              <a:rPr lang="en-GB" sz="1400" b="1" dirty="0"/>
              <a:t>Stateful Applications:</a:t>
            </a:r>
            <a:r>
              <a:rPr lang="en-GB" sz="1400" dirty="0"/>
              <a:t> Maintain state with ease</a:t>
            </a:r>
          </a:p>
          <a:p>
            <a:pPr lvl="1"/>
            <a:r>
              <a:rPr lang="en-GB" sz="1400" b="1" dirty="0"/>
              <a:t>Interactive Queries: </a:t>
            </a:r>
            <a:r>
              <a:rPr lang="en-GB" sz="1400" dirty="0"/>
              <a:t>Perform ad-hoc queries on streaming data</a:t>
            </a:r>
            <a:endParaRPr lang="en-US" sz="1400" dirty="0"/>
          </a:p>
        </p:txBody>
      </p:sp>
      <p:pic>
        <p:nvPicPr>
          <p:cNvPr id="4098" name="Picture 2" descr="ksqlDB: Basic Concepts, Architecture, and Getting Started">
            <a:extLst>
              <a:ext uri="{FF2B5EF4-FFF2-40B4-BE49-F238E27FC236}">
                <a16:creationId xmlns:a16="http://schemas.microsoft.com/office/drawing/2014/main" id="{E79854E7-AC9E-75C0-A05E-87D2601548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4159" y="3139287"/>
            <a:ext cx="8163682" cy="3336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5654749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A54E-E10E-1A83-1466-94998F6EC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Cogwheel - Free interface icons">
            <a:extLst>
              <a:ext uri="{FF2B5EF4-FFF2-40B4-BE49-F238E27FC236}">
                <a16:creationId xmlns:a16="http://schemas.microsoft.com/office/drawing/2014/main" id="{6965C0D2-4E15-284B-FFB8-19AC9F4439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7001" y="5284467"/>
            <a:ext cx="553530" cy="553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A3BEF7B0-AEF8-F243-5D7E-6446663F946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05364" y="5184525"/>
            <a:ext cx="659451" cy="644463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96135B-B04F-921B-DEBB-A920846390E7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ksqlDB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30A4F6-D654-CCAF-BB55-FBFF20F72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2291866"/>
          </a:xfrm>
        </p:spPr>
        <p:txBody>
          <a:bodyPr/>
          <a:lstStyle/>
          <a:p>
            <a:pPr marL="0" indent="0">
              <a:buNone/>
            </a:pPr>
            <a:r>
              <a:rPr lang="hu-HU" sz="2000" b="1" dirty="0"/>
              <a:t>Architecture:</a:t>
            </a:r>
            <a:endParaRPr lang="hu-HU" sz="1600" b="1" dirty="0"/>
          </a:p>
          <a:p>
            <a:r>
              <a:rPr lang="en-US" sz="1600" dirty="0" err="1"/>
              <a:t>ksqlDB</a:t>
            </a:r>
            <a:r>
              <a:rPr lang="en-US" sz="1600" dirty="0"/>
              <a:t> is combination of:</a:t>
            </a:r>
          </a:p>
          <a:p>
            <a:pPr lvl="1"/>
            <a:r>
              <a:rPr lang="en-US" sz="1400" dirty="0"/>
              <a:t>API server that can convert SQL-like queries into Kafka Stream applications</a:t>
            </a:r>
          </a:p>
          <a:p>
            <a:pPr lvl="1"/>
            <a:r>
              <a:rPr lang="en-US" sz="1400" dirty="0"/>
              <a:t>Stores all persistent state in Kafka Topics</a:t>
            </a:r>
          </a:p>
          <a:p>
            <a:pPr lvl="1"/>
            <a:r>
              <a:rPr lang="en-US" sz="1400" dirty="0"/>
              <a:t>Can work in horizontally scalable cluster to distribute the load</a:t>
            </a:r>
          </a:p>
          <a:p>
            <a:pPr lvl="1"/>
            <a:r>
              <a:rPr lang="en-US" sz="1400" dirty="0"/>
              <a:t>Includes a local database to cache responses</a:t>
            </a:r>
          </a:p>
          <a:p>
            <a:pPr lvl="1"/>
            <a:endParaRPr lang="en-US" sz="1400" dirty="0"/>
          </a:p>
        </p:txBody>
      </p:sp>
      <p:grpSp>
        <p:nvGrpSpPr>
          <p:cNvPr id="19" name="Csoportba foglalás 18">
            <a:extLst>
              <a:ext uri="{FF2B5EF4-FFF2-40B4-BE49-F238E27FC236}">
                <a16:creationId xmlns:a16="http://schemas.microsoft.com/office/drawing/2014/main" id="{A4696E26-5347-EBC1-A5D5-E9179C333E61}"/>
              </a:ext>
            </a:extLst>
          </p:cNvPr>
          <p:cNvGrpSpPr/>
          <p:nvPr/>
        </p:nvGrpSpPr>
        <p:grpSpPr>
          <a:xfrm>
            <a:off x="8205527" y="4394754"/>
            <a:ext cx="1567378" cy="907025"/>
            <a:chOff x="8417236" y="4264351"/>
            <a:chExt cx="1567378" cy="907025"/>
          </a:xfrm>
        </p:grpSpPr>
        <p:pic>
          <p:nvPicPr>
            <p:cNvPr id="4" name="Picture 2" descr="Apache Kafka">
              <a:extLst>
                <a:ext uri="{FF2B5EF4-FFF2-40B4-BE49-F238E27FC236}">
                  <a16:creationId xmlns:a16="http://schemas.microsoft.com/office/drawing/2014/main" id="{9F4ED6D5-C7B0-4A77-BA7C-2A80379B66F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17236" y="4264351"/>
              <a:ext cx="1483420" cy="6761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Szövegdoboz 4">
              <a:extLst>
                <a:ext uri="{FF2B5EF4-FFF2-40B4-BE49-F238E27FC236}">
                  <a16:creationId xmlns:a16="http://schemas.microsoft.com/office/drawing/2014/main" id="{B6000283-14D6-C86E-3295-74A6891D312A}"/>
                </a:ext>
              </a:extLst>
            </p:cNvPr>
            <p:cNvSpPr txBox="1"/>
            <p:nvPr/>
          </p:nvSpPr>
          <p:spPr>
            <a:xfrm>
              <a:off x="8943175" y="4709711"/>
              <a:ext cx="10414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2400" b="1" dirty="0" err="1"/>
                <a:t>cluster</a:t>
              </a:r>
              <a:endParaRPr lang="en-GB" sz="2400" b="1" dirty="0"/>
            </a:p>
          </p:txBody>
        </p:sp>
      </p:grpSp>
      <p:sp>
        <p:nvSpPr>
          <p:cNvPr id="6" name="Henger 5">
            <a:extLst>
              <a:ext uri="{FF2B5EF4-FFF2-40B4-BE49-F238E27FC236}">
                <a16:creationId xmlns:a16="http://schemas.microsoft.com/office/drawing/2014/main" id="{6724A41F-C86E-54C2-31D7-13729EFA6A3F}"/>
              </a:ext>
            </a:extLst>
          </p:cNvPr>
          <p:cNvSpPr/>
          <p:nvPr/>
        </p:nvSpPr>
        <p:spPr>
          <a:xfrm>
            <a:off x="2217633" y="4446997"/>
            <a:ext cx="871671" cy="1051133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 err="1"/>
              <a:t>ksql</a:t>
            </a:r>
            <a:r>
              <a:rPr lang="hu-HU" dirty="0"/>
              <a:t> 1</a:t>
            </a:r>
            <a:endParaRPr lang="en-GB" dirty="0"/>
          </a:p>
        </p:txBody>
      </p:sp>
      <p:sp>
        <p:nvSpPr>
          <p:cNvPr id="9" name="Henger 8">
            <a:extLst>
              <a:ext uri="{FF2B5EF4-FFF2-40B4-BE49-F238E27FC236}">
                <a16:creationId xmlns:a16="http://schemas.microsoft.com/office/drawing/2014/main" id="{0C62B30D-346D-EC0E-BCF0-1A19D1F4F75B}"/>
              </a:ext>
            </a:extLst>
          </p:cNvPr>
          <p:cNvSpPr/>
          <p:nvPr/>
        </p:nvSpPr>
        <p:spPr>
          <a:xfrm>
            <a:off x="3715997" y="3471353"/>
            <a:ext cx="659450" cy="75131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 err="1"/>
              <a:t>ksql</a:t>
            </a:r>
            <a:r>
              <a:rPr lang="hu-HU" sz="1400" dirty="0"/>
              <a:t> 2</a:t>
            </a:r>
            <a:endParaRPr lang="en-GB" sz="1400" dirty="0"/>
          </a:p>
        </p:txBody>
      </p:sp>
      <p:sp>
        <p:nvSpPr>
          <p:cNvPr id="10" name="Henger 9">
            <a:extLst>
              <a:ext uri="{FF2B5EF4-FFF2-40B4-BE49-F238E27FC236}">
                <a16:creationId xmlns:a16="http://schemas.microsoft.com/office/drawing/2014/main" id="{CB7A1DA6-5779-0923-DF19-CC22CA8466C3}"/>
              </a:ext>
            </a:extLst>
          </p:cNvPr>
          <p:cNvSpPr/>
          <p:nvPr/>
        </p:nvSpPr>
        <p:spPr>
          <a:xfrm>
            <a:off x="4045722" y="4566837"/>
            <a:ext cx="659450" cy="75131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 err="1"/>
              <a:t>ksql</a:t>
            </a:r>
            <a:r>
              <a:rPr lang="hu-HU" sz="1400" dirty="0"/>
              <a:t> 2</a:t>
            </a:r>
            <a:endParaRPr lang="en-GB" sz="1400" dirty="0"/>
          </a:p>
        </p:txBody>
      </p:sp>
      <p:cxnSp>
        <p:nvCxnSpPr>
          <p:cNvPr id="12" name="Egyenes összekötő nyíllal 11">
            <a:extLst>
              <a:ext uri="{FF2B5EF4-FFF2-40B4-BE49-F238E27FC236}">
                <a16:creationId xmlns:a16="http://schemas.microsoft.com/office/drawing/2014/main" id="{EC895727-3BD1-F57A-EB13-A93547B282DB}"/>
              </a:ext>
            </a:extLst>
          </p:cNvPr>
          <p:cNvCxnSpPr>
            <a:stCxn id="6" idx="1"/>
            <a:endCxn id="9" idx="2"/>
          </p:cNvCxnSpPr>
          <p:nvPr/>
        </p:nvCxnSpPr>
        <p:spPr>
          <a:xfrm flipV="1">
            <a:off x="2653469" y="3847012"/>
            <a:ext cx="1062528" cy="599985"/>
          </a:xfrm>
          <a:prstGeom prst="straightConnector1">
            <a:avLst/>
          </a:prstGeom>
          <a:ln w="222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gyenes összekötő nyíllal 12">
            <a:extLst>
              <a:ext uri="{FF2B5EF4-FFF2-40B4-BE49-F238E27FC236}">
                <a16:creationId xmlns:a16="http://schemas.microsoft.com/office/drawing/2014/main" id="{006FAF01-C0A3-6948-D68A-BEF12908E41C}"/>
              </a:ext>
            </a:extLst>
          </p:cNvPr>
          <p:cNvCxnSpPr>
            <a:cxnSpLocks/>
            <a:stCxn id="6" idx="4"/>
            <a:endCxn id="10" idx="2"/>
          </p:cNvCxnSpPr>
          <p:nvPr/>
        </p:nvCxnSpPr>
        <p:spPr>
          <a:xfrm flipV="1">
            <a:off x="3089304" y="4942496"/>
            <a:ext cx="956418" cy="30068"/>
          </a:xfrm>
          <a:prstGeom prst="straightConnector1">
            <a:avLst/>
          </a:prstGeom>
          <a:ln w="222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7D75B925-11A2-5559-F0FF-BC4F3B0B829E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 flipV="1">
            <a:off x="4045722" y="4222671"/>
            <a:ext cx="329725" cy="344166"/>
          </a:xfrm>
          <a:prstGeom prst="straightConnector1">
            <a:avLst/>
          </a:prstGeom>
          <a:ln w="222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Nyíl: jobbra mutató 19">
            <a:extLst>
              <a:ext uri="{FF2B5EF4-FFF2-40B4-BE49-F238E27FC236}">
                <a16:creationId xmlns:a16="http://schemas.microsoft.com/office/drawing/2014/main" id="{BDC10EE7-7E28-440A-AC69-ABE7CE941BC1}"/>
              </a:ext>
            </a:extLst>
          </p:cNvPr>
          <p:cNvSpPr/>
          <p:nvPr/>
        </p:nvSpPr>
        <p:spPr>
          <a:xfrm>
            <a:off x="5661590" y="4271817"/>
            <a:ext cx="1644118" cy="2988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Nyíl: jobbra mutató 20">
            <a:extLst>
              <a:ext uri="{FF2B5EF4-FFF2-40B4-BE49-F238E27FC236}">
                <a16:creationId xmlns:a16="http://schemas.microsoft.com/office/drawing/2014/main" id="{C19A27CF-2066-33C6-2FCC-90677B5AD818}"/>
              </a:ext>
            </a:extLst>
          </p:cNvPr>
          <p:cNvSpPr/>
          <p:nvPr/>
        </p:nvSpPr>
        <p:spPr>
          <a:xfrm rot="10800000">
            <a:off x="5633290" y="4723084"/>
            <a:ext cx="1644118" cy="2988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Graphic 9" descr="Smart Phone">
            <a:extLst>
              <a:ext uri="{FF2B5EF4-FFF2-40B4-BE49-F238E27FC236}">
                <a16:creationId xmlns:a16="http://schemas.microsoft.com/office/drawing/2014/main" id="{2F3CCBF3-E77C-8F44-8AD8-0DCDF2E1C3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1585" y="4379174"/>
            <a:ext cx="508147" cy="508147"/>
          </a:xfrm>
          <a:prstGeom prst="rect">
            <a:avLst/>
          </a:prstGeom>
        </p:spPr>
      </p:pic>
      <p:pic>
        <p:nvPicPr>
          <p:cNvPr id="23" name="Graphic 10" descr="Laptop">
            <a:extLst>
              <a:ext uri="{FF2B5EF4-FFF2-40B4-BE49-F238E27FC236}">
                <a16:creationId xmlns:a16="http://schemas.microsoft.com/office/drawing/2014/main" id="{CE9C0127-863A-FAB4-9F7C-4F2D1DA7EA8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54006" y="4902487"/>
            <a:ext cx="649286" cy="649286"/>
          </a:xfrm>
          <a:prstGeom prst="rect">
            <a:avLst/>
          </a:prstGeom>
        </p:spPr>
      </p:pic>
      <p:cxnSp>
        <p:nvCxnSpPr>
          <p:cNvPr id="24" name="Egyenes összekötő nyíllal 23">
            <a:extLst>
              <a:ext uri="{FF2B5EF4-FFF2-40B4-BE49-F238E27FC236}">
                <a16:creationId xmlns:a16="http://schemas.microsoft.com/office/drawing/2014/main" id="{27560216-5018-0C0A-3BF6-7337720BE436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903292" y="4969763"/>
            <a:ext cx="1314341" cy="2801"/>
          </a:xfrm>
          <a:prstGeom prst="straightConnector1">
            <a:avLst/>
          </a:prstGeom>
          <a:ln w="222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5008FBC5-C8B4-6BF1-82CE-E66E93A9C2D3}"/>
              </a:ext>
            </a:extLst>
          </p:cNvPr>
          <p:cNvSpPr txBox="1"/>
          <p:nvPr/>
        </p:nvSpPr>
        <p:spPr>
          <a:xfrm>
            <a:off x="1671425" y="5810033"/>
            <a:ext cx="9446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dirty="0">
                <a:solidFill>
                  <a:srgbClr val="2E6CA4"/>
                </a:solidFill>
              </a:rPr>
              <a:t>Kafka</a:t>
            </a:r>
          </a:p>
          <a:p>
            <a:pPr algn="ctr"/>
            <a:r>
              <a:rPr lang="hu-HU" dirty="0" err="1">
                <a:solidFill>
                  <a:srgbClr val="2E6CA4"/>
                </a:solidFill>
              </a:rPr>
              <a:t>Streams</a:t>
            </a:r>
            <a:endParaRPr lang="en-GB" dirty="0">
              <a:solidFill>
                <a:srgbClr val="2E6CA4"/>
              </a:solidFill>
            </a:endParaRPr>
          </a:p>
        </p:txBody>
      </p:sp>
      <p:sp>
        <p:nvSpPr>
          <p:cNvPr id="28" name="Szövegdoboz 27">
            <a:extLst>
              <a:ext uri="{FF2B5EF4-FFF2-40B4-BE49-F238E27FC236}">
                <a16:creationId xmlns:a16="http://schemas.microsoft.com/office/drawing/2014/main" id="{0BFE6D49-2118-1E80-DB8A-062A821FBCC8}"/>
              </a:ext>
            </a:extLst>
          </p:cNvPr>
          <p:cNvSpPr txBox="1"/>
          <p:nvPr/>
        </p:nvSpPr>
        <p:spPr>
          <a:xfrm>
            <a:off x="2543032" y="5814016"/>
            <a:ext cx="9841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dirty="0" err="1">
                <a:solidFill>
                  <a:srgbClr val="18719E"/>
                </a:solidFill>
              </a:rPr>
              <a:t>RocksDB</a:t>
            </a:r>
            <a:endParaRPr lang="hu-HU" dirty="0">
              <a:solidFill>
                <a:srgbClr val="18719E"/>
              </a:solidFill>
            </a:endParaRPr>
          </a:p>
          <a:p>
            <a:pPr algn="ctr"/>
            <a:endParaRPr lang="en-GB" dirty="0">
              <a:solidFill>
                <a:srgbClr val="18719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1970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20" grpId="0" animBg="1"/>
      <p:bldP spid="21" grpId="0" animBg="1"/>
      <p:bldP spid="27" grpId="0"/>
      <p:bldP spid="28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10CE2-4638-87C4-03C9-397661867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78C7B79-165D-FCF7-F3B3-B8BD6E8D5F6A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ksqlDB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597E83-F720-3175-5708-E2DF2C462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5386736"/>
          </a:xfrm>
        </p:spPr>
        <p:txBody>
          <a:bodyPr/>
          <a:lstStyle/>
          <a:p>
            <a:pPr marL="0" indent="0">
              <a:buNone/>
            </a:pPr>
            <a:r>
              <a:rPr lang="en-GB" sz="2000" b="1" dirty="0"/>
              <a:t>Streams vs. Tables</a:t>
            </a:r>
            <a:r>
              <a:rPr lang="hu-HU" sz="2000" b="1" dirty="0"/>
              <a:t>:</a:t>
            </a:r>
          </a:p>
          <a:p>
            <a:r>
              <a:rPr lang="en-GB" dirty="0"/>
              <a:t>Streams</a:t>
            </a:r>
            <a:endParaRPr lang="en-GB" sz="1600" dirty="0"/>
          </a:p>
          <a:p>
            <a:pPr lvl="1"/>
            <a:r>
              <a:rPr lang="en-GB" sz="1400" dirty="0"/>
              <a:t>A continuous, unbounded flow of events (records) in real-time</a:t>
            </a:r>
          </a:p>
          <a:p>
            <a:pPr lvl="1"/>
            <a:r>
              <a:rPr lang="en-GB" sz="1400" b="1" dirty="0"/>
              <a:t>Immutable</a:t>
            </a:r>
            <a:r>
              <a:rPr lang="en-GB" sz="1400" dirty="0"/>
              <a:t>: New data is appended; existing data isn't modified</a:t>
            </a:r>
          </a:p>
          <a:p>
            <a:pPr lvl="1"/>
            <a:r>
              <a:rPr lang="en-GB" sz="1400" dirty="0"/>
              <a:t>Represents "</a:t>
            </a:r>
            <a:r>
              <a:rPr lang="en-GB" sz="1400" b="1" dirty="0"/>
              <a:t>what happened</a:t>
            </a:r>
            <a:r>
              <a:rPr lang="en-GB" sz="1400" dirty="0"/>
              <a:t>" (facts, events)</a:t>
            </a:r>
          </a:p>
          <a:p>
            <a:pPr lvl="1"/>
            <a:r>
              <a:rPr lang="hu-HU" sz="1400" dirty="0" err="1"/>
              <a:t>Use</a:t>
            </a:r>
            <a:r>
              <a:rPr lang="hu-HU" sz="1400" dirty="0"/>
              <a:t> </a:t>
            </a:r>
            <a:r>
              <a:rPr lang="hu-HU" sz="1400" dirty="0" err="1"/>
              <a:t>for</a:t>
            </a:r>
            <a:r>
              <a:rPr lang="hu-HU" sz="1400" dirty="0"/>
              <a:t> r</a:t>
            </a:r>
            <a:r>
              <a:rPr lang="en-GB" sz="1400" dirty="0" err="1"/>
              <a:t>eal</a:t>
            </a:r>
            <a:r>
              <a:rPr lang="en-GB" sz="1400" dirty="0"/>
              <a:t>-time event processing</a:t>
            </a:r>
            <a:r>
              <a:rPr lang="hu-HU" sz="1400" dirty="0"/>
              <a:t>, f</a:t>
            </a:r>
            <a:r>
              <a:rPr lang="en-GB" sz="1400" dirty="0" err="1"/>
              <a:t>iltering</a:t>
            </a:r>
            <a:r>
              <a:rPr lang="en-GB" sz="1400" dirty="0"/>
              <a:t> or transforming data as it flows</a:t>
            </a:r>
          </a:p>
          <a:p>
            <a:pPr lvl="1"/>
            <a:r>
              <a:rPr lang="en-GB" sz="1400" dirty="0"/>
              <a:t>Example: Log of user clicks, sensor readings, or transactions</a:t>
            </a:r>
          </a:p>
          <a:p>
            <a:pPr lvl="1"/>
            <a:endParaRPr lang="hu-HU" sz="1400" dirty="0"/>
          </a:p>
          <a:p>
            <a:r>
              <a:rPr lang="en-GB" dirty="0"/>
              <a:t>Tables</a:t>
            </a:r>
          </a:p>
          <a:p>
            <a:pPr lvl="1"/>
            <a:r>
              <a:rPr lang="en-GB" sz="1400" dirty="0"/>
              <a:t>A </a:t>
            </a:r>
            <a:r>
              <a:rPr lang="en-GB" sz="1400" b="1" dirty="0"/>
              <a:t>stateful</a:t>
            </a:r>
            <a:r>
              <a:rPr lang="en-GB" sz="1400" dirty="0"/>
              <a:t> representation of aggregated or transformed data, similar to a database table</a:t>
            </a:r>
          </a:p>
          <a:p>
            <a:pPr lvl="1"/>
            <a:r>
              <a:rPr lang="en-GB" sz="1400" b="1" dirty="0"/>
              <a:t>Mutable</a:t>
            </a:r>
            <a:r>
              <a:rPr lang="en-GB" sz="1400" dirty="0"/>
              <a:t>: Reflects the latest state of the data (updates allowed)</a:t>
            </a:r>
          </a:p>
          <a:p>
            <a:pPr lvl="1"/>
            <a:r>
              <a:rPr lang="en-GB" sz="1400" dirty="0"/>
              <a:t>Represents "</a:t>
            </a:r>
            <a:r>
              <a:rPr lang="en-GB" sz="1400" b="1" dirty="0"/>
              <a:t>what is</a:t>
            </a:r>
            <a:r>
              <a:rPr lang="en-GB" sz="1400" dirty="0"/>
              <a:t>" (current state)</a:t>
            </a:r>
          </a:p>
          <a:p>
            <a:pPr lvl="1"/>
            <a:r>
              <a:rPr lang="hu-HU" sz="1400" dirty="0"/>
              <a:t>Used for m</a:t>
            </a:r>
            <a:r>
              <a:rPr lang="en-GB" sz="1400" dirty="0" err="1"/>
              <a:t>aterializing</a:t>
            </a:r>
            <a:r>
              <a:rPr lang="en-GB" sz="1400" dirty="0"/>
              <a:t> results of aggregation or joins</a:t>
            </a:r>
            <a:r>
              <a:rPr lang="hu-HU" sz="1400" dirty="0"/>
              <a:t>, and q</a:t>
            </a:r>
            <a:r>
              <a:rPr lang="en-GB" sz="1400" dirty="0" err="1"/>
              <a:t>uerying</a:t>
            </a:r>
            <a:r>
              <a:rPr lang="en-GB" sz="1400" dirty="0"/>
              <a:t> the current state or snapshot of data</a:t>
            </a:r>
            <a:endParaRPr lang="en-US" sz="1200" dirty="0"/>
          </a:p>
          <a:p>
            <a:pPr lvl="1"/>
            <a:r>
              <a:rPr lang="en-GB" sz="1400" dirty="0"/>
              <a:t>Example: User's current balance, product inventory</a:t>
            </a:r>
            <a:endParaRPr lang="hu-HU" sz="1400" dirty="0"/>
          </a:p>
          <a:p>
            <a:pPr lvl="1"/>
            <a:endParaRPr lang="en-GB" sz="1400" dirty="0"/>
          </a:p>
          <a:p>
            <a:r>
              <a:rPr lang="en-GB" sz="1600" dirty="0"/>
              <a:t>How They Relate</a:t>
            </a:r>
          </a:p>
          <a:p>
            <a:pPr lvl="1"/>
            <a:r>
              <a:rPr lang="en-GB" sz="1400" dirty="0"/>
              <a:t>Streams can be transformed into tables via aggregation (e.g., </a:t>
            </a:r>
            <a:r>
              <a:rPr lang="en-GB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r>
              <a:rPr lang="en-GB" sz="1400" dirty="0"/>
              <a:t>)</a:t>
            </a:r>
          </a:p>
          <a:p>
            <a:pPr lvl="1"/>
            <a:r>
              <a:rPr lang="en-GB" sz="1400" dirty="0"/>
              <a:t>Tables can emit changes as streams for real-time updates</a:t>
            </a:r>
          </a:p>
          <a:p>
            <a:pPr lvl="1"/>
            <a:r>
              <a:rPr lang="en-GB" sz="1400" dirty="0"/>
              <a:t>Think of streams as the raw flow of events and tables as the refined state derived from that flow</a:t>
            </a:r>
            <a:endParaRPr lang="en-US" sz="14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23B6263-366B-4C28-2E01-C203EB2CDF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8202" y="847421"/>
            <a:ext cx="2209265" cy="17183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80C1D11A-DBF5-FF6C-27A9-7316927970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8202" y="2949555"/>
            <a:ext cx="2487312" cy="18459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13983651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BE3B0-6C0E-14D6-87CC-7490A091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A1470F1-51D6-8AAE-EE29-DDFA173859F2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ksqlDB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B5423-E450-E5B9-E2E9-44AE1248D3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5386736"/>
          </a:xfrm>
        </p:spPr>
        <p:txBody>
          <a:bodyPr/>
          <a:lstStyle/>
          <a:p>
            <a:pPr marL="0" indent="0">
              <a:buNone/>
            </a:pPr>
            <a:r>
              <a:rPr lang="hu-HU" sz="2000" b="1" dirty="0"/>
              <a:t>Push vs. Pull Queries:</a:t>
            </a:r>
          </a:p>
          <a:p>
            <a:r>
              <a:rPr lang="en-GB" dirty="0"/>
              <a:t>Push Queries</a:t>
            </a:r>
          </a:p>
          <a:p>
            <a:pPr lvl="1"/>
            <a:r>
              <a:rPr lang="en-GB" b="1" dirty="0"/>
              <a:t>Real-Time Updates</a:t>
            </a:r>
            <a:r>
              <a:rPr lang="en-GB" dirty="0"/>
              <a:t>: Continuously streams query results as data changes</a:t>
            </a:r>
          </a:p>
          <a:p>
            <a:pPr lvl="1"/>
            <a:r>
              <a:rPr lang="en-GB" b="1" dirty="0"/>
              <a:t>Event-Driven</a:t>
            </a:r>
            <a:r>
              <a:rPr lang="en-GB" dirty="0"/>
              <a:t>: Ideal for monitoring or subscribing to live data</a:t>
            </a:r>
          </a:p>
          <a:p>
            <a:pPr lvl="1"/>
            <a:r>
              <a:rPr lang="en-GB" b="1" dirty="0"/>
              <a:t>Syntax</a:t>
            </a:r>
            <a:r>
              <a:rPr lang="en-GB" dirty="0"/>
              <a:t>: Use </a:t>
            </a:r>
            <a:r>
              <a:rPr lang="en-GB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EMIT CHANGES </a:t>
            </a:r>
            <a:r>
              <a:rPr lang="en-GB" dirty="0"/>
              <a:t>to enable streaming output</a:t>
            </a:r>
          </a:p>
          <a:p>
            <a:pPr lvl="1"/>
            <a:r>
              <a:rPr lang="en-GB" b="1" dirty="0"/>
              <a:t>Latency</a:t>
            </a:r>
            <a:r>
              <a:rPr lang="en-GB" dirty="0"/>
              <a:t>: Low-latency, near-instant updates</a:t>
            </a:r>
          </a:p>
          <a:p>
            <a:pPr lvl="1"/>
            <a:r>
              <a:rPr lang="en-GB" b="1" dirty="0"/>
              <a:t>State</a:t>
            </a:r>
            <a:r>
              <a:rPr lang="en-GB" dirty="0"/>
              <a:t>: Designed for ongoing queries on dynamic streams or tables</a:t>
            </a:r>
          </a:p>
          <a:p>
            <a:pPr lvl="1"/>
            <a:r>
              <a:rPr lang="en-GB" dirty="0"/>
              <a:t>Use Cases:</a:t>
            </a:r>
          </a:p>
          <a:p>
            <a:pPr lvl="2"/>
            <a:r>
              <a:rPr lang="en-GB" dirty="0"/>
              <a:t>Live dashboards</a:t>
            </a:r>
          </a:p>
          <a:p>
            <a:pPr lvl="2"/>
            <a:r>
              <a:rPr lang="en-GB" dirty="0"/>
              <a:t>Real-time alerting or anomaly detection</a:t>
            </a:r>
            <a:endParaRPr lang="hu-HU" dirty="0"/>
          </a:p>
          <a:p>
            <a:pPr lvl="2"/>
            <a:endParaRPr lang="hu-HU" sz="1000" dirty="0"/>
          </a:p>
          <a:p>
            <a:r>
              <a:rPr lang="en-GB" dirty="0"/>
              <a:t>Pull Queries</a:t>
            </a:r>
          </a:p>
          <a:p>
            <a:pPr lvl="1"/>
            <a:r>
              <a:rPr lang="en-GB" b="1" dirty="0"/>
              <a:t>Snapshot of Data</a:t>
            </a:r>
            <a:r>
              <a:rPr lang="en-GB" dirty="0"/>
              <a:t>: Retrieves the current state of a table at the time of the query.</a:t>
            </a:r>
          </a:p>
          <a:p>
            <a:pPr lvl="1"/>
            <a:r>
              <a:rPr lang="en-GB" b="1" dirty="0"/>
              <a:t>Request-Response Model</a:t>
            </a:r>
            <a:r>
              <a:rPr lang="en-GB" dirty="0"/>
              <a:t>: Executes once and returns results immediately.</a:t>
            </a:r>
          </a:p>
          <a:p>
            <a:pPr lvl="1"/>
            <a:r>
              <a:rPr lang="en-GB" b="1" dirty="0"/>
              <a:t>Syntax</a:t>
            </a:r>
            <a:r>
              <a:rPr lang="en-GB" dirty="0"/>
              <a:t>: Standard SQL query without </a:t>
            </a:r>
            <a:r>
              <a:rPr lang="en-GB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EMIT CHANGES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Latency</a:t>
            </a:r>
            <a:r>
              <a:rPr lang="en-GB" dirty="0"/>
              <a:t>: Dependent on table storage and processing time; not real-time.</a:t>
            </a:r>
          </a:p>
          <a:p>
            <a:pPr lvl="1"/>
            <a:r>
              <a:rPr lang="en-GB" b="1" dirty="0"/>
              <a:t>State</a:t>
            </a:r>
            <a:r>
              <a:rPr lang="en-GB" dirty="0"/>
              <a:t>: Best for querying static or relatively stable data.</a:t>
            </a:r>
          </a:p>
          <a:p>
            <a:pPr lvl="1"/>
            <a:r>
              <a:rPr lang="en-GB" dirty="0"/>
              <a:t>Use Cases:</a:t>
            </a:r>
          </a:p>
          <a:p>
            <a:pPr lvl="2"/>
            <a:r>
              <a:rPr lang="en-GB" dirty="0"/>
              <a:t>On-demand lookups</a:t>
            </a:r>
          </a:p>
          <a:p>
            <a:pPr lvl="2"/>
            <a:r>
              <a:rPr lang="en-GB" dirty="0"/>
              <a:t>Integration with APIs or microservices for data retrieval</a:t>
            </a:r>
            <a:endParaRPr lang="en-US" sz="1000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65D25DDD-DDAF-0149-CC99-399DBAD5C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0" y="1140460"/>
            <a:ext cx="2537460" cy="9283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E916613E-F6DD-DA91-6F80-2C962D5E8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1" y="3962400"/>
            <a:ext cx="2537460" cy="89089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03273984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0B98E-37C3-FC6E-9996-91BA602FD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2DBAC66-C916-FCC7-EDD2-A787F3CC865B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MirrorMaker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72B0F-DF60-C466-4191-D9CD74E19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0"/>
            <a:ext cx="11877675" cy="6010579"/>
          </a:xfrm>
        </p:spPr>
        <p:txBody>
          <a:bodyPr/>
          <a:lstStyle/>
          <a:p>
            <a:r>
              <a:rPr lang="en-US" sz="1600" dirty="0"/>
              <a:t>What is </a:t>
            </a:r>
            <a:r>
              <a:rPr lang="en-US" sz="1600" dirty="0" err="1"/>
              <a:t>MirrorMaker</a:t>
            </a:r>
            <a:r>
              <a:rPr lang="en-US" sz="1600" dirty="0"/>
              <a:t>?</a:t>
            </a:r>
          </a:p>
          <a:p>
            <a:pPr lvl="1"/>
            <a:r>
              <a:rPr lang="en-US" sz="1400" dirty="0"/>
              <a:t>Kafka's native tool for replicating data between clusters</a:t>
            </a:r>
          </a:p>
          <a:p>
            <a:pPr lvl="1"/>
            <a:r>
              <a:rPr lang="en-US" sz="1400" dirty="0"/>
              <a:t>Part of Apache Kafka ecosystem</a:t>
            </a:r>
          </a:p>
          <a:p>
            <a:pPr lvl="1"/>
            <a:r>
              <a:rPr lang="en-US" sz="1400" dirty="0"/>
              <a:t>Enables cross-cluster data synchronization</a:t>
            </a:r>
          </a:p>
          <a:p>
            <a:endParaRPr lang="en-US" sz="1600" dirty="0"/>
          </a:p>
          <a:p>
            <a:r>
              <a:rPr lang="en-US" sz="1600" dirty="0"/>
              <a:t>Key Use Cases:</a:t>
            </a:r>
          </a:p>
          <a:p>
            <a:pPr lvl="1"/>
            <a:r>
              <a:rPr lang="en-US" sz="1400" dirty="0"/>
              <a:t>Disaster Recovery</a:t>
            </a:r>
          </a:p>
          <a:p>
            <a:pPr lvl="1"/>
            <a:r>
              <a:rPr lang="en-US" sz="1400" dirty="0"/>
              <a:t>Geographic Data Distribution</a:t>
            </a:r>
          </a:p>
          <a:p>
            <a:pPr lvl="1"/>
            <a:r>
              <a:rPr lang="en-US" sz="1400" dirty="0"/>
              <a:t>Cloud Migration</a:t>
            </a:r>
          </a:p>
          <a:p>
            <a:pPr lvl="1"/>
            <a:r>
              <a:rPr lang="en-US" sz="1400" dirty="0"/>
              <a:t>Multi-Region Data Aggregation</a:t>
            </a:r>
          </a:p>
          <a:p>
            <a:pPr lvl="1"/>
            <a:r>
              <a:rPr lang="en-US" sz="1400" dirty="0"/>
              <a:t>Hybrid Cloud Setups</a:t>
            </a:r>
            <a:endParaRPr lang="hu-HU" sz="1400" dirty="0"/>
          </a:p>
          <a:p>
            <a:pPr lvl="1"/>
            <a:endParaRPr lang="en-US" sz="1600" dirty="0"/>
          </a:p>
          <a:p>
            <a:r>
              <a:rPr lang="en-US" sz="1600" dirty="0"/>
              <a:t>Technical Capabilities:</a:t>
            </a:r>
            <a:endParaRPr lang="en-US" sz="1400" dirty="0"/>
          </a:p>
          <a:p>
            <a:pPr lvl="1"/>
            <a:r>
              <a:rPr lang="en-US" sz="1400" dirty="0"/>
              <a:t>Preserves topic configurations</a:t>
            </a:r>
          </a:p>
          <a:p>
            <a:pPr lvl="1"/>
            <a:r>
              <a:rPr lang="en-US" sz="1400" dirty="0"/>
              <a:t>Replicates ACLs and metadata</a:t>
            </a:r>
          </a:p>
          <a:p>
            <a:pPr lvl="1"/>
            <a:r>
              <a:rPr lang="en-US" sz="1400" dirty="0"/>
              <a:t>Supports active-active replication</a:t>
            </a:r>
          </a:p>
          <a:p>
            <a:pPr lvl="1"/>
            <a:r>
              <a:rPr lang="en-US" sz="1400" dirty="0"/>
              <a:t>Built on Kafka Connect framework</a:t>
            </a:r>
          </a:p>
          <a:p>
            <a:pPr lvl="1"/>
            <a:r>
              <a:rPr lang="en-US" sz="1400" dirty="0"/>
              <a:t>Handles large-scale data movement</a:t>
            </a:r>
          </a:p>
        </p:txBody>
      </p:sp>
      <p:sp>
        <p:nvSpPr>
          <p:cNvPr id="33" name="Rectangle: Rounded Corners 4">
            <a:extLst>
              <a:ext uri="{FF2B5EF4-FFF2-40B4-BE49-F238E27FC236}">
                <a16:creationId xmlns:a16="http://schemas.microsoft.com/office/drawing/2014/main" id="{7B23887F-A653-9C26-E973-0983FB597A04}"/>
              </a:ext>
            </a:extLst>
          </p:cNvPr>
          <p:cNvSpPr/>
          <p:nvPr/>
        </p:nvSpPr>
        <p:spPr>
          <a:xfrm>
            <a:off x="5152669" y="4219932"/>
            <a:ext cx="1886662" cy="2226147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34" name="Picture 2" descr="Apache Kafka">
            <a:extLst>
              <a:ext uri="{FF2B5EF4-FFF2-40B4-BE49-F238E27FC236}">
                <a16:creationId xmlns:a16="http://schemas.microsoft.com/office/drawing/2014/main" id="{3AA21CA1-7BB3-9D17-DE18-211569BF1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4126" y="5110280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Rectangle 8">
            <a:extLst>
              <a:ext uri="{FF2B5EF4-FFF2-40B4-BE49-F238E27FC236}">
                <a16:creationId xmlns:a16="http://schemas.microsoft.com/office/drawing/2014/main" id="{84415F14-9101-7DED-2756-7A7E4950B368}"/>
              </a:ext>
            </a:extLst>
          </p:cNvPr>
          <p:cNvSpPr/>
          <p:nvPr/>
        </p:nvSpPr>
        <p:spPr>
          <a:xfrm>
            <a:off x="8019173" y="4259030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Mirror</a:t>
            </a: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Maker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36" name="Straight Arrow Connector 23">
            <a:extLst>
              <a:ext uri="{FF2B5EF4-FFF2-40B4-BE49-F238E27FC236}">
                <a16:creationId xmlns:a16="http://schemas.microsoft.com/office/drawing/2014/main" id="{5AB4431E-48D4-1FE6-7652-161F02FF3FF7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7043437" y="4522874"/>
            <a:ext cx="975736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24">
            <a:extLst>
              <a:ext uri="{FF2B5EF4-FFF2-40B4-BE49-F238E27FC236}">
                <a16:creationId xmlns:a16="http://schemas.microsoft.com/office/drawing/2014/main" id="{0091CFDE-5D6A-8A4E-2838-7F6ABCAEB488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9412064" y="4522874"/>
            <a:ext cx="85036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4">
            <a:extLst>
              <a:ext uri="{FF2B5EF4-FFF2-40B4-BE49-F238E27FC236}">
                <a16:creationId xmlns:a16="http://schemas.microsoft.com/office/drawing/2014/main" id="{10FDD3B4-7760-5599-59D5-3CBC61BC9751}"/>
              </a:ext>
            </a:extLst>
          </p:cNvPr>
          <p:cNvSpPr/>
          <p:nvPr/>
        </p:nvSpPr>
        <p:spPr>
          <a:xfrm>
            <a:off x="10305773" y="4101594"/>
            <a:ext cx="1115600" cy="842560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600" dirty="0" err="1"/>
              <a:t>Source</a:t>
            </a:r>
            <a:endParaRPr lang="hu-HU" sz="1600" dirty="0"/>
          </a:p>
          <a:p>
            <a:pPr algn="ctr"/>
            <a:endParaRPr lang="hu-HU" sz="1600" dirty="0"/>
          </a:p>
          <a:p>
            <a:pPr algn="ctr"/>
            <a:r>
              <a:rPr lang="hu-HU" sz="1600" dirty="0"/>
              <a:t> </a:t>
            </a:r>
            <a:r>
              <a:rPr lang="hu-HU" sz="1600" dirty="0" err="1"/>
              <a:t>Cluster</a:t>
            </a:r>
            <a:endParaRPr lang="en-US" sz="1600" dirty="0"/>
          </a:p>
        </p:txBody>
      </p:sp>
      <p:pic>
        <p:nvPicPr>
          <p:cNvPr id="41" name="Picture 2" descr="Apache Kafka">
            <a:extLst>
              <a:ext uri="{FF2B5EF4-FFF2-40B4-BE49-F238E27FC236}">
                <a16:creationId xmlns:a16="http://schemas.microsoft.com/office/drawing/2014/main" id="{72A20235-2152-E5C4-760D-A4E50F034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2844" y="4391175"/>
            <a:ext cx="652567" cy="297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9597854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01C56-381B-2F3E-309A-08A7119C2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3BD7E22-120E-A019-540D-B7C1D35A9E6F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MirrorMaker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CA762-9284-AE51-E4F4-4104909A2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0"/>
            <a:ext cx="11877675" cy="6010579"/>
          </a:xfrm>
        </p:spPr>
        <p:txBody>
          <a:bodyPr/>
          <a:lstStyle/>
          <a:p>
            <a:r>
              <a:rPr lang="en-US" sz="1600" dirty="0"/>
              <a:t>Architecture:</a:t>
            </a:r>
          </a:p>
          <a:p>
            <a:pPr lvl="1"/>
            <a:r>
              <a:rPr lang="en-US" sz="1400" dirty="0"/>
              <a:t>Uses source and target Kafka clusters</a:t>
            </a:r>
          </a:p>
          <a:p>
            <a:pPr lvl="1"/>
            <a:r>
              <a:rPr lang="en-US" sz="1400" dirty="0"/>
              <a:t>Configurable replication policies</a:t>
            </a:r>
          </a:p>
          <a:p>
            <a:pPr lvl="1"/>
            <a:r>
              <a:rPr lang="en-US" sz="1400" dirty="0"/>
              <a:t>Supports multiple replication topologies</a:t>
            </a:r>
          </a:p>
          <a:p>
            <a:pPr lvl="1"/>
            <a:r>
              <a:rPr lang="en-US" sz="1400" dirty="0"/>
              <a:t>Maintains offset mapping between clusters</a:t>
            </a:r>
          </a:p>
          <a:p>
            <a:r>
              <a:rPr lang="en-US" sz="1600" dirty="0"/>
              <a:t>Configuration Essentials:</a:t>
            </a:r>
          </a:p>
          <a:p>
            <a:pPr lvl="1"/>
            <a:r>
              <a:rPr lang="en-US" sz="1400" dirty="0"/>
              <a:t>Define source and target clusters</a:t>
            </a:r>
          </a:p>
          <a:p>
            <a:pPr lvl="1"/>
            <a:r>
              <a:rPr lang="en-US" sz="1400" dirty="0"/>
              <a:t>Specify replication topics</a:t>
            </a:r>
          </a:p>
          <a:p>
            <a:pPr lvl="1"/>
            <a:r>
              <a:rPr lang="en-US" sz="1400" dirty="0"/>
              <a:t>Configure replication policies</a:t>
            </a:r>
          </a:p>
          <a:p>
            <a:pPr lvl="1"/>
            <a:r>
              <a:rPr lang="en-US" sz="1400" dirty="0"/>
              <a:t>Set up offset synchronization</a:t>
            </a:r>
            <a:endParaRPr lang="en-US" sz="1600" dirty="0"/>
          </a:p>
          <a:p>
            <a:r>
              <a:rPr lang="en-US" sz="1600" dirty="0"/>
              <a:t>Performance Considerations:</a:t>
            </a:r>
          </a:p>
          <a:p>
            <a:pPr lvl="1"/>
            <a:r>
              <a:rPr lang="en-US" sz="1400" dirty="0"/>
              <a:t>Minimal latency overhead</a:t>
            </a:r>
          </a:p>
          <a:p>
            <a:pPr lvl="1"/>
            <a:r>
              <a:rPr lang="en-US" sz="1400" dirty="0"/>
              <a:t>Scalable across multiple nodes</a:t>
            </a:r>
          </a:p>
          <a:p>
            <a:pPr lvl="1"/>
            <a:r>
              <a:rPr lang="en-US" sz="1400" dirty="0"/>
              <a:t>Configurable replication throughput</a:t>
            </a:r>
          </a:p>
          <a:p>
            <a:pPr lvl="1"/>
            <a:r>
              <a:rPr lang="en-US" sz="1400" dirty="0"/>
              <a:t>Low resource consumption</a:t>
            </a:r>
            <a:endParaRPr lang="en-US" sz="1600" dirty="0"/>
          </a:p>
          <a:p>
            <a:r>
              <a:rPr lang="hu-HU" sz="1600" dirty="0"/>
              <a:t>Version </a:t>
            </a:r>
            <a:r>
              <a:rPr lang="en-US" sz="1600" dirty="0"/>
              <a:t>Comparison (MM1 vs MM2):</a:t>
            </a:r>
          </a:p>
          <a:p>
            <a:pPr lvl="1"/>
            <a:r>
              <a:rPr lang="en-US" sz="1400" dirty="0"/>
              <a:t>MM2 is more feature-rich</a:t>
            </a:r>
          </a:p>
          <a:p>
            <a:pPr lvl="1"/>
            <a:r>
              <a:rPr lang="en-US" sz="1400" dirty="0"/>
              <a:t>Better monitoring capabilities</a:t>
            </a:r>
          </a:p>
          <a:p>
            <a:pPr lvl="1"/>
            <a:r>
              <a:rPr lang="en-US" sz="1400" dirty="0"/>
              <a:t>Improved configuration handling</a:t>
            </a:r>
          </a:p>
          <a:p>
            <a:pPr lvl="1"/>
            <a:r>
              <a:rPr lang="en-US" sz="1400" dirty="0"/>
              <a:t>More flexible replication strategies</a:t>
            </a:r>
            <a:endParaRPr lang="en-US" sz="1200" dirty="0"/>
          </a:p>
        </p:txBody>
      </p:sp>
      <p:sp>
        <p:nvSpPr>
          <p:cNvPr id="33" name="Rectangle: Rounded Corners 4">
            <a:extLst>
              <a:ext uri="{FF2B5EF4-FFF2-40B4-BE49-F238E27FC236}">
                <a16:creationId xmlns:a16="http://schemas.microsoft.com/office/drawing/2014/main" id="{C1373938-E5CF-7538-0117-72846F60AF28}"/>
              </a:ext>
            </a:extLst>
          </p:cNvPr>
          <p:cNvSpPr/>
          <p:nvPr/>
        </p:nvSpPr>
        <p:spPr>
          <a:xfrm>
            <a:off x="5152669" y="4219932"/>
            <a:ext cx="1886662" cy="2226147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34" name="Picture 2" descr="Apache Kafka">
            <a:extLst>
              <a:ext uri="{FF2B5EF4-FFF2-40B4-BE49-F238E27FC236}">
                <a16:creationId xmlns:a16="http://schemas.microsoft.com/office/drawing/2014/main" id="{37C6B3DD-8AEB-C888-375D-A8B37C931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4126" y="5110280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Rectangle 8">
            <a:extLst>
              <a:ext uri="{FF2B5EF4-FFF2-40B4-BE49-F238E27FC236}">
                <a16:creationId xmlns:a16="http://schemas.microsoft.com/office/drawing/2014/main" id="{D158FBC2-32BB-D711-1164-8E2BD6857430}"/>
              </a:ext>
            </a:extLst>
          </p:cNvPr>
          <p:cNvSpPr/>
          <p:nvPr/>
        </p:nvSpPr>
        <p:spPr>
          <a:xfrm>
            <a:off x="8019173" y="4259030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Mirror</a:t>
            </a: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Maker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36" name="Straight Arrow Connector 23">
            <a:extLst>
              <a:ext uri="{FF2B5EF4-FFF2-40B4-BE49-F238E27FC236}">
                <a16:creationId xmlns:a16="http://schemas.microsoft.com/office/drawing/2014/main" id="{2D4A49CF-0F06-42A8-046A-FE3A4909869F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7043437" y="4522874"/>
            <a:ext cx="975736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24">
            <a:extLst>
              <a:ext uri="{FF2B5EF4-FFF2-40B4-BE49-F238E27FC236}">
                <a16:creationId xmlns:a16="http://schemas.microsoft.com/office/drawing/2014/main" id="{CA9F2981-F558-E272-0B58-6D45E070FD59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9412064" y="4522874"/>
            <a:ext cx="85036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4">
            <a:extLst>
              <a:ext uri="{FF2B5EF4-FFF2-40B4-BE49-F238E27FC236}">
                <a16:creationId xmlns:a16="http://schemas.microsoft.com/office/drawing/2014/main" id="{B12C0F09-87A8-A7ED-A652-789A7B64D2E6}"/>
              </a:ext>
            </a:extLst>
          </p:cNvPr>
          <p:cNvSpPr/>
          <p:nvPr/>
        </p:nvSpPr>
        <p:spPr>
          <a:xfrm>
            <a:off x="10305773" y="4101594"/>
            <a:ext cx="1115600" cy="842560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600" dirty="0" err="1"/>
              <a:t>Source</a:t>
            </a:r>
            <a:endParaRPr lang="hu-HU" sz="1600" dirty="0"/>
          </a:p>
          <a:p>
            <a:pPr algn="ctr"/>
            <a:endParaRPr lang="hu-HU" sz="1600" dirty="0"/>
          </a:p>
          <a:p>
            <a:pPr algn="ctr"/>
            <a:r>
              <a:rPr lang="hu-HU" sz="1600" dirty="0"/>
              <a:t> </a:t>
            </a:r>
            <a:r>
              <a:rPr lang="hu-HU" sz="1600" dirty="0" err="1"/>
              <a:t>Cluster</a:t>
            </a:r>
            <a:endParaRPr lang="en-US" sz="1600" dirty="0"/>
          </a:p>
        </p:txBody>
      </p:sp>
      <p:pic>
        <p:nvPicPr>
          <p:cNvPr id="41" name="Picture 2" descr="Apache Kafka">
            <a:extLst>
              <a:ext uri="{FF2B5EF4-FFF2-40B4-BE49-F238E27FC236}">
                <a16:creationId xmlns:a16="http://schemas.microsoft.com/office/drawing/2014/main" id="{658602CF-F0D2-FC62-B41F-7C2E74A5B7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2844" y="4391175"/>
            <a:ext cx="652567" cy="297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4968123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EF56D-6072-F20A-E6A6-C133A3343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A408A1-CBC6-D881-961E-EE9F78B6284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MirrorMaker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5FA36-B427-4D03-2DC9-67F52103A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0"/>
            <a:ext cx="11877675" cy="6010579"/>
          </a:xfrm>
        </p:spPr>
        <p:txBody>
          <a:bodyPr/>
          <a:lstStyle/>
          <a:p>
            <a:pPr marL="0" indent="0">
              <a:buNone/>
            </a:pPr>
            <a:r>
              <a:rPr lang="hu-HU" sz="2000" b="1" dirty="0"/>
              <a:t>Replication scenario: </a:t>
            </a:r>
            <a:endParaRPr lang="hu-HU" sz="1600" dirty="0"/>
          </a:p>
          <a:p>
            <a:pPr marL="0" indent="0">
              <a:buNone/>
            </a:pPr>
            <a:r>
              <a:rPr lang="hu-HU" sz="1600" dirty="0"/>
              <a:t>1: </a:t>
            </a:r>
            <a:r>
              <a:rPr lang="en-GB" sz="1600" dirty="0"/>
              <a:t>Prepare the </a:t>
            </a:r>
            <a:r>
              <a:rPr lang="hu-HU" sz="1600" dirty="0"/>
              <a:t>e</a:t>
            </a:r>
            <a:r>
              <a:rPr lang="en-GB" sz="1600" dirty="0" err="1"/>
              <a:t>nvironment</a:t>
            </a:r>
            <a:endParaRPr lang="en-GB" sz="1600" dirty="0"/>
          </a:p>
          <a:p>
            <a:pPr lvl="1"/>
            <a:r>
              <a:rPr lang="en-GB" sz="1400" b="1" dirty="0"/>
              <a:t>Source Cluster:</a:t>
            </a:r>
            <a:r>
              <a:rPr lang="en-GB" sz="1400" dirty="0"/>
              <a:t> The existing Kafka cluster where the topic resides.</a:t>
            </a:r>
          </a:p>
          <a:p>
            <a:pPr lvl="1"/>
            <a:r>
              <a:rPr lang="en-GB" sz="1400" b="1" dirty="0"/>
              <a:t>Target Cluster:</a:t>
            </a:r>
            <a:r>
              <a:rPr lang="en-GB" sz="1400" dirty="0"/>
              <a:t> The new Kafka cluster to which you want to migrate the topic.</a:t>
            </a:r>
          </a:p>
          <a:p>
            <a:pPr lvl="1"/>
            <a:r>
              <a:rPr lang="en-GB" sz="1400" dirty="0"/>
              <a:t>Ensure both clusters are operational and reachable by the MM2 instance.</a:t>
            </a:r>
          </a:p>
          <a:p>
            <a:endParaRPr lang="hu-HU" sz="1600" dirty="0"/>
          </a:p>
          <a:p>
            <a:pPr marL="0" indent="0">
              <a:buNone/>
            </a:pPr>
            <a:r>
              <a:rPr lang="hu-HU" sz="1600" dirty="0"/>
              <a:t>2: </a:t>
            </a:r>
            <a:r>
              <a:rPr lang="en-GB" sz="1600" dirty="0"/>
              <a:t>Deploy</a:t>
            </a:r>
            <a:r>
              <a:rPr lang="hu-HU" sz="1600" dirty="0"/>
              <a:t> and </a:t>
            </a:r>
            <a:r>
              <a:rPr lang="hu-HU" sz="1600" dirty="0" err="1"/>
              <a:t>run</a:t>
            </a:r>
            <a:r>
              <a:rPr lang="en-GB" sz="1600" dirty="0"/>
              <a:t> </a:t>
            </a:r>
            <a:r>
              <a:rPr lang="en-GB" sz="1600" dirty="0" err="1"/>
              <a:t>MirrorMaker</a:t>
            </a:r>
            <a:r>
              <a:rPr lang="en-GB" sz="1600" dirty="0"/>
              <a:t> 2</a:t>
            </a:r>
          </a:p>
          <a:p>
            <a:pPr lvl="1">
              <a:lnSpc>
                <a:spcPct val="120000"/>
              </a:lnSpc>
            </a:pPr>
            <a:r>
              <a:rPr lang="en-US" sz="1400" dirty="0" err="1"/>
              <a:t>MirrorMaker</a:t>
            </a:r>
            <a:r>
              <a:rPr lang="en-US" sz="1400" dirty="0"/>
              <a:t> 2 runs as a set of connectors inside Kafka Connect. It’s recommended to deploy it in a dedicated Kafka Connect cluster to isolate replication workloads.</a:t>
            </a:r>
            <a:endParaRPr lang="hu-HU" sz="1400" dirty="0"/>
          </a:p>
          <a:p>
            <a:pPr lvl="1"/>
            <a:r>
              <a:rPr lang="en-GB" sz="1400" dirty="0"/>
              <a:t>MM2 will now begin replicating data from the source cluster to the target cluster for the specified topic</a:t>
            </a:r>
            <a:endParaRPr lang="hu-HU" sz="1400" dirty="0"/>
          </a:p>
          <a:p>
            <a:pPr lvl="1"/>
            <a:endParaRPr lang="hu-HU" sz="1400" dirty="0"/>
          </a:p>
          <a:p>
            <a:pPr marL="0" indent="0">
              <a:buNone/>
            </a:pPr>
            <a:r>
              <a:rPr lang="hu-HU" sz="1600" dirty="0"/>
              <a:t>3: </a:t>
            </a:r>
            <a:r>
              <a:rPr lang="en-GB" sz="1600" dirty="0"/>
              <a:t>Verify Data Replication</a:t>
            </a:r>
            <a:endParaRPr lang="hu-HU" sz="1600" dirty="0"/>
          </a:p>
          <a:p>
            <a:pPr lvl="1"/>
            <a:r>
              <a:rPr lang="en-GB" sz="1400" dirty="0"/>
              <a:t>Ensure the topic exists in the target cluster</a:t>
            </a:r>
            <a:endParaRPr lang="hu-HU" sz="1400" dirty="0"/>
          </a:p>
          <a:p>
            <a:pPr lvl="1"/>
            <a:r>
              <a:rPr lang="en-GB" sz="1400" dirty="0"/>
              <a:t>Verify the data flow by consuming messages from the target cluster</a:t>
            </a:r>
            <a:endParaRPr lang="hu-HU" sz="1400" dirty="0"/>
          </a:p>
        </p:txBody>
      </p:sp>
      <p:sp>
        <p:nvSpPr>
          <p:cNvPr id="33" name="Rectangle: Rounded Corners 4">
            <a:extLst>
              <a:ext uri="{FF2B5EF4-FFF2-40B4-BE49-F238E27FC236}">
                <a16:creationId xmlns:a16="http://schemas.microsoft.com/office/drawing/2014/main" id="{C40AB4AA-93DB-50C5-16AD-93BE033906A8}"/>
              </a:ext>
            </a:extLst>
          </p:cNvPr>
          <p:cNvSpPr/>
          <p:nvPr/>
        </p:nvSpPr>
        <p:spPr>
          <a:xfrm>
            <a:off x="5156775" y="5012963"/>
            <a:ext cx="1886662" cy="1501925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34" name="Picture 2" descr="Apache Kafka">
            <a:extLst>
              <a:ext uri="{FF2B5EF4-FFF2-40B4-BE49-F238E27FC236}">
                <a16:creationId xmlns:a16="http://schemas.microsoft.com/office/drawing/2014/main" id="{1292282E-383A-7656-E855-23C12F3D8D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8232" y="5534003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Rectangle 8">
            <a:extLst>
              <a:ext uri="{FF2B5EF4-FFF2-40B4-BE49-F238E27FC236}">
                <a16:creationId xmlns:a16="http://schemas.microsoft.com/office/drawing/2014/main" id="{E0EDB80F-16C7-FF85-FF12-F55969A9F85F}"/>
              </a:ext>
            </a:extLst>
          </p:cNvPr>
          <p:cNvSpPr/>
          <p:nvPr/>
        </p:nvSpPr>
        <p:spPr>
          <a:xfrm>
            <a:off x="8023279" y="5502525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Mirror</a:t>
            </a: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Maker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36" name="Straight Arrow Connector 23">
            <a:extLst>
              <a:ext uri="{FF2B5EF4-FFF2-40B4-BE49-F238E27FC236}">
                <a16:creationId xmlns:a16="http://schemas.microsoft.com/office/drawing/2014/main" id="{357DDCB4-C4DB-32E0-C779-8BC6E83177A8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7047543" y="5766369"/>
            <a:ext cx="975736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24">
            <a:extLst>
              <a:ext uri="{FF2B5EF4-FFF2-40B4-BE49-F238E27FC236}">
                <a16:creationId xmlns:a16="http://schemas.microsoft.com/office/drawing/2014/main" id="{9486AF40-AE37-4767-4DE0-5CD771D4AEC6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9416170" y="5766369"/>
            <a:ext cx="85036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4">
            <a:extLst>
              <a:ext uri="{FF2B5EF4-FFF2-40B4-BE49-F238E27FC236}">
                <a16:creationId xmlns:a16="http://schemas.microsoft.com/office/drawing/2014/main" id="{BBA0EEAD-A3BC-9F14-E867-4443616B93BA}"/>
              </a:ext>
            </a:extLst>
          </p:cNvPr>
          <p:cNvSpPr/>
          <p:nvPr/>
        </p:nvSpPr>
        <p:spPr>
          <a:xfrm>
            <a:off x="10309879" y="5345089"/>
            <a:ext cx="1115600" cy="842560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600" dirty="0" err="1"/>
              <a:t>Source</a:t>
            </a:r>
            <a:endParaRPr lang="hu-HU" sz="1600" dirty="0"/>
          </a:p>
          <a:p>
            <a:pPr algn="ctr"/>
            <a:endParaRPr lang="hu-HU" sz="1600" dirty="0"/>
          </a:p>
          <a:p>
            <a:pPr algn="ctr"/>
            <a:r>
              <a:rPr lang="hu-HU" sz="1600" dirty="0"/>
              <a:t> </a:t>
            </a:r>
            <a:r>
              <a:rPr lang="hu-HU" sz="1600" dirty="0" err="1"/>
              <a:t>Cluster</a:t>
            </a:r>
            <a:endParaRPr lang="en-US" sz="1600" dirty="0"/>
          </a:p>
        </p:txBody>
      </p:sp>
      <p:pic>
        <p:nvPicPr>
          <p:cNvPr id="41" name="Picture 2" descr="Apache Kafka">
            <a:extLst>
              <a:ext uri="{FF2B5EF4-FFF2-40B4-BE49-F238E27FC236}">
                <a16:creationId xmlns:a16="http://schemas.microsoft.com/office/drawing/2014/main" id="{02927AB6-0232-ADA2-994D-3C31192BC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950" y="5634670"/>
            <a:ext cx="652567" cy="297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4797864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81E22-1B6E-B410-9391-F10679085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EF2A87C-49D6-EF32-0C41-5B1412F1EFD9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MirrorMaker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5D610D-40CA-307E-C8CE-C2636F584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0"/>
            <a:ext cx="11877675" cy="6010579"/>
          </a:xfrm>
        </p:spPr>
        <p:txBody>
          <a:bodyPr/>
          <a:lstStyle/>
          <a:p>
            <a:pPr marL="0" indent="0">
              <a:buNone/>
            </a:pPr>
            <a:r>
              <a:rPr lang="hu-HU" sz="2000" b="1" dirty="0"/>
              <a:t>Replication scenario: </a:t>
            </a:r>
          </a:p>
          <a:p>
            <a:pPr marL="0" indent="0">
              <a:buNone/>
            </a:pPr>
            <a:r>
              <a:rPr lang="hu-HU" sz="1600" dirty="0"/>
              <a:t>4: </a:t>
            </a:r>
            <a:r>
              <a:rPr lang="en-GB" sz="1600" dirty="0"/>
              <a:t>Migrate Consumer Groups</a:t>
            </a:r>
          </a:p>
          <a:p>
            <a:pPr lvl="1">
              <a:lnSpc>
                <a:spcPct val="120000"/>
              </a:lnSpc>
            </a:pPr>
            <a:r>
              <a:rPr lang="en-GB" sz="1400" dirty="0"/>
              <a:t>To achieve zero downtime, consumer groups need to be migrated, and offsets synchronized between the source and target clusters. </a:t>
            </a:r>
            <a:r>
              <a:rPr lang="en-GB" sz="1400" dirty="0" err="1"/>
              <a:t>MirrorMaker</a:t>
            </a:r>
            <a:r>
              <a:rPr lang="en-GB" sz="1400" dirty="0"/>
              <a:t> 2 facilitates this with offset synchronization</a:t>
            </a:r>
          </a:p>
          <a:p>
            <a:pPr lvl="1"/>
            <a:r>
              <a:rPr lang="en-GB" sz="1400" dirty="0"/>
              <a:t>Enable </a:t>
            </a:r>
            <a:r>
              <a:rPr lang="en-GB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sync.group.offsets.enabled</a:t>
            </a:r>
            <a:r>
              <a:rPr lang="en-GB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=true </a:t>
            </a:r>
            <a:r>
              <a:rPr lang="en-GB" sz="1400" dirty="0"/>
              <a:t>in the MM2 configuration</a:t>
            </a:r>
          </a:p>
          <a:p>
            <a:pPr lvl="1"/>
            <a:r>
              <a:rPr lang="en-GB" sz="1400" dirty="0"/>
              <a:t>Check that the consumer group offsets are syncing using MM2 logs or by querying the </a:t>
            </a:r>
            <a:r>
              <a:rPr lang="en-GB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GB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consumer_offsets</a:t>
            </a:r>
            <a:r>
              <a:rPr lang="en-GB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400" dirty="0"/>
              <a:t>topic.</a:t>
            </a:r>
          </a:p>
          <a:p>
            <a:endParaRPr lang="hu-HU" sz="1600" dirty="0"/>
          </a:p>
          <a:p>
            <a:pPr marL="0" indent="0">
              <a:buNone/>
            </a:pPr>
            <a:r>
              <a:rPr lang="hu-HU" sz="1600" dirty="0"/>
              <a:t>5: </a:t>
            </a:r>
            <a:r>
              <a:rPr lang="en-GB" sz="1600" dirty="0"/>
              <a:t>Update Consumers to Read from the Target Cluster</a:t>
            </a:r>
          </a:p>
          <a:p>
            <a:pPr lvl="1"/>
            <a:r>
              <a:rPr lang="en-GB" sz="1400" dirty="0"/>
              <a:t>Once you confirm that the target cluster is fully synchronized:</a:t>
            </a:r>
          </a:p>
          <a:p>
            <a:pPr lvl="2"/>
            <a:r>
              <a:rPr lang="en-GB" sz="1200" dirty="0"/>
              <a:t>Gradually update your consumer applications to connect to the target cluster</a:t>
            </a:r>
          </a:p>
          <a:p>
            <a:pPr lvl="2"/>
            <a:r>
              <a:rPr lang="en-GB" sz="1200" dirty="0"/>
              <a:t>Ensure the offsets are synchronized, so consumers pick up exactly where they left off in the source cluster</a:t>
            </a:r>
            <a:endParaRPr lang="hu-HU" sz="1200" dirty="0"/>
          </a:p>
          <a:p>
            <a:pPr lvl="2"/>
            <a:endParaRPr lang="hu-HU" sz="1200" dirty="0"/>
          </a:p>
          <a:p>
            <a:pPr marL="0" indent="0">
              <a:buNone/>
            </a:pPr>
            <a:r>
              <a:rPr lang="hu-HU" sz="1600" dirty="0"/>
              <a:t>6: </a:t>
            </a:r>
            <a:r>
              <a:rPr lang="en-GB" sz="1600" dirty="0"/>
              <a:t>Cut Over to the Target Cluster</a:t>
            </a:r>
            <a:endParaRPr lang="hu-HU" sz="1600" dirty="0"/>
          </a:p>
          <a:p>
            <a:pPr lvl="1">
              <a:lnSpc>
                <a:spcPct val="120000"/>
              </a:lnSpc>
            </a:pPr>
            <a:r>
              <a:rPr lang="en-GB" sz="1400" dirty="0"/>
              <a:t>After migrating all consumers, monitor both </a:t>
            </a:r>
            <a:br>
              <a:rPr lang="hu-HU" sz="1400" dirty="0"/>
            </a:br>
            <a:r>
              <a:rPr lang="en-GB" sz="1400" dirty="0"/>
              <a:t>clusters to ensure no messages are being </a:t>
            </a:r>
            <a:br>
              <a:rPr lang="hu-HU" sz="1400" dirty="0"/>
            </a:br>
            <a:r>
              <a:rPr lang="en-GB" sz="1400" dirty="0"/>
              <a:t>consumed from the source cluster</a:t>
            </a:r>
            <a:endParaRPr lang="hu-HU" sz="1400" dirty="0"/>
          </a:p>
          <a:p>
            <a:pPr lvl="1">
              <a:lnSpc>
                <a:spcPct val="120000"/>
              </a:lnSpc>
            </a:pPr>
            <a:r>
              <a:rPr lang="en-GB" sz="1400" dirty="0"/>
              <a:t>Once you’re confident the target cluster is fully </a:t>
            </a:r>
            <a:br>
              <a:rPr lang="hu-HU" sz="1400" dirty="0"/>
            </a:br>
            <a:r>
              <a:rPr lang="en-GB" sz="1400" dirty="0"/>
              <a:t>operational, decommission the source cluster </a:t>
            </a:r>
            <a:br>
              <a:rPr lang="hu-HU" sz="1400" dirty="0"/>
            </a:br>
            <a:r>
              <a:rPr lang="en-GB" sz="1400" dirty="0"/>
              <a:t>or stop producing to the source topic</a:t>
            </a:r>
            <a:endParaRPr lang="hu-HU" sz="1400" dirty="0"/>
          </a:p>
        </p:txBody>
      </p:sp>
      <p:sp>
        <p:nvSpPr>
          <p:cNvPr id="4" name="Rectangle: Rounded Corners 4">
            <a:extLst>
              <a:ext uri="{FF2B5EF4-FFF2-40B4-BE49-F238E27FC236}">
                <a16:creationId xmlns:a16="http://schemas.microsoft.com/office/drawing/2014/main" id="{AADDD7E0-9A0E-6530-CB16-75458E0A1784}"/>
              </a:ext>
            </a:extLst>
          </p:cNvPr>
          <p:cNvSpPr/>
          <p:nvPr/>
        </p:nvSpPr>
        <p:spPr>
          <a:xfrm>
            <a:off x="5156775" y="5012963"/>
            <a:ext cx="1886662" cy="1501925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5" name="Picture 2" descr="Apache Kafka">
            <a:extLst>
              <a:ext uri="{FF2B5EF4-FFF2-40B4-BE49-F238E27FC236}">
                <a16:creationId xmlns:a16="http://schemas.microsoft.com/office/drawing/2014/main" id="{F1DFD96D-F531-4F20-A713-A3B16A357D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8232" y="5534003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8">
            <a:extLst>
              <a:ext uri="{FF2B5EF4-FFF2-40B4-BE49-F238E27FC236}">
                <a16:creationId xmlns:a16="http://schemas.microsoft.com/office/drawing/2014/main" id="{5D0677C9-9603-F606-BFFD-B0B127900521}"/>
              </a:ext>
            </a:extLst>
          </p:cNvPr>
          <p:cNvSpPr/>
          <p:nvPr/>
        </p:nvSpPr>
        <p:spPr>
          <a:xfrm>
            <a:off x="8023279" y="5502525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Mirror</a:t>
            </a:r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hu-HU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Maker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7" name="Straight Arrow Connector 23">
            <a:extLst>
              <a:ext uri="{FF2B5EF4-FFF2-40B4-BE49-F238E27FC236}">
                <a16:creationId xmlns:a16="http://schemas.microsoft.com/office/drawing/2014/main" id="{C0E3B50A-E307-60E6-C504-2E535B2DFD40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7047543" y="5766369"/>
            <a:ext cx="975736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24">
            <a:extLst>
              <a:ext uri="{FF2B5EF4-FFF2-40B4-BE49-F238E27FC236}">
                <a16:creationId xmlns:a16="http://schemas.microsoft.com/office/drawing/2014/main" id="{081EB9E5-A420-6967-281E-45FF6AA089E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9416170" y="5766369"/>
            <a:ext cx="85036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4">
            <a:extLst>
              <a:ext uri="{FF2B5EF4-FFF2-40B4-BE49-F238E27FC236}">
                <a16:creationId xmlns:a16="http://schemas.microsoft.com/office/drawing/2014/main" id="{3BB38742-E223-547B-8E3A-DB294295A1CA}"/>
              </a:ext>
            </a:extLst>
          </p:cNvPr>
          <p:cNvSpPr/>
          <p:nvPr/>
        </p:nvSpPr>
        <p:spPr>
          <a:xfrm>
            <a:off x="10309879" y="5345089"/>
            <a:ext cx="1115600" cy="842560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1600" dirty="0" err="1"/>
              <a:t>Source</a:t>
            </a:r>
            <a:endParaRPr lang="hu-HU" sz="1600" dirty="0"/>
          </a:p>
          <a:p>
            <a:pPr algn="ctr"/>
            <a:endParaRPr lang="hu-HU" sz="1600" dirty="0"/>
          </a:p>
          <a:p>
            <a:pPr algn="ctr"/>
            <a:r>
              <a:rPr lang="hu-HU" sz="1600" dirty="0"/>
              <a:t> </a:t>
            </a:r>
            <a:r>
              <a:rPr lang="hu-HU" sz="1600" dirty="0" err="1"/>
              <a:t>Cluster</a:t>
            </a:r>
            <a:endParaRPr lang="en-US" sz="1600" dirty="0"/>
          </a:p>
        </p:txBody>
      </p:sp>
      <p:pic>
        <p:nvPicPr>
          <p:cNvPr id="10" name="Picture 2" descr="Apache Kafka">
            <a:extLst>
              <a:ext uri="{FF2B5EF4-FFF2-40B4-BE49-F238E27FC236}">
                <a16:creationId xmlns:a16="http://schemas.microsoft.com/office/drawing/2014/main" id="{5F6354C1-36CE-9B7C-4152-4B4A9813D7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950" y="5634670"/>
            <a:ext cx="652567" cy="297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6770174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71711-BEB2-4D2C-FDD9-11743069A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934E523-C3AB-55BF-5CF8-8E89F17DE699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Schema Registry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A9CBA-5DC1-DB73-7A0E-7C436D06E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5697758"/>
          </a:xfrm>
        </p:spPr>
        <p:txBody>
          <a:bodyPr/>
          <a:lstStyle/>
          <a:p>
            <a:r>
              <a:rPr lang="hu-HU" b="1" dirty="0"/>
              <a:t>Motivation:</a:t>
            </a:r>
          </a:p>
          <a:p>
            <a:pPr lvl="1"/>
            <a:r>
              <a:rPr lang="hu-HU" dirty="0"/>
              <a:t>Kafka does not do data verification, just takes bytes and sends them</a:t>
            </a:r>
          </a:p>
          <a:p>
            <a:pPr lvl="1"/>
            <a:r>
              <a:rPr lang="hu-HU" dirty="0"/>
              <a:t>The client </a:t>
            </a:r>
            <a:r>
              <a:rPr lang="hu-HU" b="1" dirty="0"/>
              <a:t>communication breaks</a:t>
            </a:r>
            <a:r>
              <a:rPr lang="hu-HU" dirty="0"/>
              <a:t> in cases like:</a:t>
            </a:r>
          </a:p>
          <a:p>
            <a:pPr lvl="2"/>
            <a:r>
              <a:rPr lang="hu-HU" dirty="0"/>
              <a:t>Producer sends bad data</a:t>
            </a:r>
          </a:p>
          <a:p>
            <a:pPr lvl="2"/>
            <a:r>
              <a:rPr lang="hu-HU" dirty="0"/>
              <a:t>A field gets renamed</a:t>
            </a:r>
          </a:p>
          <a:p>
            <a:pPr lvl="2"/>
            <a:r>
              <a:rPr lang="hu-HU" dirty="0"/>
              <a:t>Format changes from one day to another </a:t>
            </a:r>
          </a:p>
          <a:p>
            <a:pPr lvl="1"/>
            <a:r>
              <a:rPr lang="hu-HU" dirty="0"/>
              <a:t>We need data to be self describing</a:t>
            </a:r>
          </a:p>
          <a:p>
            <a:pPr lvl="1"/>
            <a:r>
              <a:rPr lang="hu-HU" dirty="0"/>
              <a:t>We need to be able to evolve data without breaking downstream consumers</a:t>
            </a:r>
          </a:p>
          <a:p>
            <a:pPr lvl="1"/>
            <a:endParaRPr lang="hu-HU" dirty="0"/>
          </a:p>
          <a:p>
            <a:pPr lvl="1"/>
            <a:r>
              <a:rPr lang="hu-HU" dirty="0"/>
              <a:t>Why does not Kafka Brokers take care about verification?	</a:t>
            </a:r>
          </a:p>
          <a:p>
            <a:pPr lvl="2"/>
            <a:r>
              <a:rPr lang="hu-HU" dirty="0"/>
              <a:t>It would break the efficiency of Kafka </a:t>
            </a:r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857624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92339-1669-DD61-69C2-D15EEB604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25FA7E8-AD1F-DD1C-64E4-33DBF2697305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Kafka Extended E &amp; I – Kafka Schema Registry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4CDD3-371C-9D8F-5E0B-5039962A7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1"/>
            <a:ext cx="11877675" cy="3347478"/>
          </a:xfrm>
        </p:spPr>
        <p:txBody>
          <a:bodyPr/>
          <a:lstStyle/>
          <a:p>
            <a:r>
              <a:rPr lang="hu-HU" b="1" dirty="0"/>
              <a:t>Features:</a:t>
            </a:r>
          </a:p>
          <a:p>
            <a:pPr lvl="1"/>
            <a:r>
              <a:rPr lang="hu-HU" dirty="0"/>
              <a:t>It’s a separate component to keep the process lightweight</a:t>
            </a:r>
          </a:p>
          <a:p>
            <a:pPr lvl="1"/>
            <a:r>
              <a:rPr lang="hu-HU" dirty="0"/>
              <a:t>Stores schema for topics in Avro (or in Protobuf or in JSON Schema)</a:t>
            </a:r>
          </a:p>
          <a:p>
            <a:pPr lvl="1"/>
            <a:r>
              <a:rPr lang="hu-HU" dirty="0"/>
              <a:t>Producers and Consumers can talk to it</a:t>
            </a:r>
          </a:p>
          <a:p>
            <a:pPr lvl="1"/>
            <a:r>
              <a:rPr lang="hu-HU" dirty="0"/>
              <a:t>It’s able to enforce </a:t>
            </a:r>
            <a:r>
              <a:rPr lang="hu-HU" i="1" dirty="0"/>
              <a:t>backward</a:t>
            </a:r>
            <a:r>
              <a:rPr lang="hu-HU" dirty="0"/>
              <a:t>, </a:t>
            </a:r>
            <a:r>
              <a:rPr lang="hu-HU" i="1" dirty="0"/>
              <a:t>forward</a:t>
            </a:r>
            <a:r>
              <a:rPr lang="hu-HU" dirty="0"/>
              <a:t> and </a:t>
            </a:r>
            <a:r>
              <a:rPr lang="hu-HU" i="1" dirty="0"/>
              <a:t>full</a:t>
            </a:r>
            <a:r>
              <a:rPr lang="hu-HU" dirty="0"/>
              <a:t> compatibility on topics</a:t>
            </a:r>
          </a:p>
          <a:p>
            <a:r>
              <a:rPr lang="hu-HU" b="1" dirty="0"/>
              <a:t>Need to pay attention to:</a:t>
            </a:r>
          </a:p>
          <a:p>
            <a:pPr lvl="1"/>
            <a:r>
              <a:rPr lang="hu-HU" dirty="0"/>
              <a:t>Set it up well</a:t>
            </a:r>
          </a:p>
          <a:p>
            <a:pPr lvl="1"/>
            <a:r>
              <a:rPr lang="hu-HU" dirty="0"/>
              <a:t>Make sure it’s Highly Available</a:t>
            </a:r>
          </a:p>
          <a:p>
            <a:pPr lvl="1"/>
            <a:r>
              <a:rPr lang="hu-HU" dirty="0"/>
              <a:t>Need to slightly change the Producer and Consumer code</a:t>
            </a:r>
          </a:p>
          <a:p>
            <a:pPr lvl="1"/>
            <a:r>
              <a:rPr lang="hu-HU" dirty="0"/>
              <a:t>Apache Avro / Protobuf / JSON Schema format has a learning curve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F08BD5-B22B-481E-3BFB-4AD86E9556D0}"/>
              </a:ext>
            </a:extLst>
          </p:cNvPr>
          <p:cNvSpPr/>
          <p:nvPr/>
        </p:nvSpPr>
        <p:spPr>
          <a:xfrm>
            <a:off x="2632579" y="5698107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Kafka Producer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26FC33-12E9-F1CD-88DF-1D6955F55CF3}"/>
              </a:ext>
            </a:extLst>
          </p:cNvPr>
          <p:cNvSpPr/>
          <p:nvPr/>
        </p:nvSpPr>
        <p:spPr>
          <a:xfrm>
            <a:off x="8121452" y="5699754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Kafka Consumer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8C87269-B435-6768-8E6E-8A4A063B4AAE}"/>
              </a:ext>
            </a:extLst>
          </p:cNvPr>
          <p:cNvSpPr/>
          <p:nvPr/>
        </p:nvSpPr>
        <p:spPr>
          <a:xfrm>
            <a:off x="5399554" y="4543403"/>
            <a:ext cx="1392891" cy="5276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Kafka Schema Registry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D507AE4-BC57-EAE4-294D-40F1524E9EDF}"/>
              </a:ext>
            </a:extLst>
          </p:cNvPr>
          <p:cNvGrpSpPr/>
          <p:nvPr/>
        </p:nvGrpSpPr>
        <p:grpSpPr>
          <a:xfrm>
            <a:off x="5130130" y="5506397"/>
            <a:ext cx="1886662" cy="791787"/>
            <a:chOff x="5926294" y="2133704"/>
            <a:chExt cx="1886662" cy="79178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6AFB8BDB-981F-8E83-7D4F-70B6968B078F}"/>
                </a:ext>
              </a:extLst>
            </p:cNvPr>
            <p:cNvSpPr/>
            <p:nvPr/>
          </p:nvSpPr>
          <p:spPr>
            <a:xfrm>
              <a:off x="5926294" y="2133704"/>
              <a:ext cx="1886662" cy="791787"/>
            </a:xfrm>
            <a:prstGeom prst="roundRect">
              <a:avLst>
                <a:gd name="adj" fmla="val 5783"/>
              </a:avLst>
            </a:prstGeom>
            <a:ln>
              <a:solidFill>
                <a:srgbClr val="012851"/>
              </a:solidFill>
              <a:prstDash val="dash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pic>
          <p:nvPicPr>
            <p:cNvPr id="8" name="Picture 2" descr="Apache Kafka">
              <a:extLst>
                <a:ext uri="{FF2B5EF4-FFF2-40B4-BE49-F238E27FC236}">
                  <a16:creationId xmlns:a16="http://schemas.microsoft.com/office/drawing/2014/main" id="{01A00404-1AB8-2613-F1FA-B7CB4B1F70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90266" y="2311089"/>
              <a:ext cx="958718" cy="4370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47E4E94-435F-94C9-0559-C9F59A7B75DB}"/>
              </a:ext>
            </a:extLst>
          </p:cNvPr>
          <p:cNvGrpSpPr/>
          <p:nvPr/>
        </p:nvGrpSpPr>
        <p:grpSpPr>
          <a:xfrm>
            <a:off x="3729058" y="4807247"/>
            <a:ext cx="1694059" cy="890860"/>
            <a:chOff x="3729058" y="4807247"/>
            <a:chExt cx="1694059" cy="89086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46285F3-04E8-527D-8A5B-D4BA59A7873E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 flipV="1">
              <a:off x="4025470" y="4807247"/>
              <a:ext cx="1374084" cy="890860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2B5B1AF-21A9-9150-CBB9-B482A0A66A76}"/>
                </a:ext>
              </a:extLst>
            </p:cNvPr>
            <p:cNvSpPr txBox="1"/>
            <p:nvPr/>
          </p:nvSpPr>
          <p:spPr>
            <a:xfrm rot="19640833">
              <a:off x="3729058" y="5007563"/>
              <a:ext cx="169405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2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1. Send schema</a:t>
              </a:r>
              <a:endParaRPr lang="en-US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1A53C85-A7A8-DB10-FBF3-7407A4FC2BB2}"/>
              </a:ext>
            </a:extLst>
          </p:cNvPr>
          <p:cNvGrpSpPr/>
          <p:nvPr/>
        </p:nvGrpSpPr>
        <p:grpSpPr>
          <a:xfrm>
            <a:off x="5534008" y="5071091"/>
            <a:ext cx="1345624" cy="435306"/>
            <a:chOff x="5534008" y="5071091"/>
            <a:chExt cx="1345624" cy="435306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1BD111C7-E7B0-022A-8E3D-8DB152600F60}"/>
                </a:ext>
              </a:extLst>
            </p:cNvPr>
            <p:cNvCxnSpPr>
              <a:cxnSpLocks/>
            </p:cNvCxnSpPr>
            <p:nvPr/>
          </p:nvCxnSpPr>
          <p:spPr>
            <a:xfrm>
              <a:off x="5847032" y="5071091"/>
              <a:ext cx="0" cy="435306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A018504-5172-7C94-30D3-1E04CFC54622}"/>
                </a:ext>
              </a:extLst>
            </p:cNvPr>
            <p:cNvCxnSpPr>
              <a:cxnSpLocks/>
            </p:cNvCxnSpPr>
            <p:nvPr/>
          </p:nvCxnSpPr>
          <p:spPr>
            <a:xfrm>
              <a:off x="5534008" y="5093506"/>
              <a:ext cx="0" cy="412891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9134B12-53F0-8AF0-9EC6-995B7387393E}"/>
                </a:ext>
              </a:extLst>
            </p:cNvPr>
            <p:cNvSpPr txBox="1"/>
            <p:nvPr/>
          </p:nvSpPr>
          <p:spPr>
            <a:xfrm>
              <a:off x="5810299" y="5196982"/>
              <a:ext cx="10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2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2. Validate</a:t>
              </a:r>
              <a:endParaRPr lang="en-US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8C122A0-CFC3-4387-1DA1-AC1C9EF27849}"/>
              </a:ext>
            </a:extLst>
          </p:cNvPr>
          <p:cNvGrpSpPr/>
          <p:nvPr/>
        </p:nvGrpSpPr>
        <p:grpSpPr>
          <a:xfrm>
            <a:off x="3978524" y="5703529"/>
            <a:ext cx="1198552" cy="276999"/>
            <a:chOff x="3978524" y="5703529"/>
            <a:chExt cx="1198552" cy="276999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FB7C119-901E-0EFD-871F-9DC619AED0AC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flipV="1">
              <a:off x="4025470" y="5955814"/>
              <a:ext cx="1104660" cy="6137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E77930D-881B-C9E6-08FC-57352165915A}"/>
                </a:ext>
              </a:extLst>
            </p:cNvPr>
            <p:cNvSpPr txBox="1"/>
            <p:nvPr/>
          </p:nvSpPr>
          <p:spPr>
            <a:xfrm>
              <a:off x="3978524" y="5703529"/>
              <a:ext cx="119855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2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3. Avro data</a:t>
              </a:r>
              <a:endParaRPr lang="en-US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D11DA35-A897-635F-1113-EE2A6F8540DF}"/>
              </a:ext>
            </a:extLst>
          </p:cNvPr>
          <p:cNvGrpSpPr/>
          <p:nvPr/>
        </p:nvGrpSpPr>
        <p:grpSpPr>
          <a:xfrm>
            <a:off x="6969846" y="5711442"/>
            <a:ext cx="1198552" cy="276999"/>
            <a:chOff x="6969846" y="5711442"/>
            <a:chExt cx="1198552" cy="276999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B435AFC-F54A-ED29-26C9-49CF5C1EB0D3}"/>
                </a:ext>
              </a:extLst>
            </p:cNvPr>
            <p:cNvSpPr txBox="1"/>
            <p:nvPr/>
          </p:nvSpPr>
          <p:spPr>
            <a:xfrm>
              <a:off x="6969846" y="5711442"/>
              <a:ext cx="119855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2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4. Avro data</a:t>
              </a:r>
              <a:endParaRPr lang="en-US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E7B4DA68-7F27-1FD1-812E-7EC62F73F9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16792" y="5973504"/>
              <a:ext cx="1104660" cy="6137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83BEB4B-0018-068A-485C-585EB9EEA067}"/>
              </a:ext>
            </a:extLst>
          </p:cNvPr>
          <p:cNvGrpSpPr/>
          <p:nvPr/>
        </p:nvGrpSpPr>
        <p:grpSpPr>
          <a:xfrm>
            <a:off x="6678609" y="4807247"/>
            <a:ext cx="1694059" cy="890860"/>
            <a:chOff x="6678609" y="4807247"/>
            <a:chExt cx="1694059" cy="890860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B837231-843F-585A-5EAB-528D198E7E49}"/>
                </a:ext>
              </a:extLst>
            </p:cNvPr>
            <p:cNvCxnSpPr>
              <a:cxnSpLocks/>
              <a:endCxn id="9" idx="3"/>
            </p:cNvCxnSpPr>
            <p:nvPr/>
          </p:nvCxnSpPr>
          <p:spPr>
            <a:xfrm flipH="1" flipV="1">
              <a:off x="6792445" y="4807247"/>
              <a:ext cx="1314642" cy="890860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4F0E9B1-C97A-D428-C2FA-128490D96291}"/>
                </a:ext>
              </a:extLst>
            </p:cNvPr>
            <p:cNvSpPr txBox="1"/>
            <p:nvPr/>
          </p:nvSpPr>
          <p:spPr>
            <a:xfrm rot="2114704">
              <a:off x="6678609" y="5002380"/>
              <a:ext cx="169405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2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5. Retrieve schema</a:t>
              </a:r>
              <a:endParaRPr lang="en-US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B5425F2-545E-1C56-1C5D-9558856AF212}"/>
              </a:ext>
            </a:extLst>
          </p:cNvPr>
          <p:cNvGrpSpPr/>
          <p:nvPr/>
        </p:nvGrpSpPr>
        <p:grpSpPr>
          <a:xfrm>
            <a:off x="9420451" y="5725342"/>
            <a:ext cx="1198552" cy="276999"/>
            <a:chOff x="9420451" y="5725342"/>
            <a:chExt cx="1198552" cy="276999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273A889-215A-D5CB-3366-382DE8A21B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14343" y="5988441"/>
              <a:ext cx="1104660" cy="6137"/>
            </a:xfrm>
            <a:prstGeom prst="straightConnector1">
              <a:avLst/>
            </a:prstGeom>
            <a:ln>
              <a:solidFill>
                <a:srgbClr val="012863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8474063-3B19-5717-054D-A3DE2D784406}"/>
                </a:ext>
              </a:extLst>
            </p:cNvPr>
            <p:cNvSpPr txBox="1"/>
            <p:nvPr/>
          </p:nvSpPr>
          <p:spPr>
            <a:xfrm>
              <a:off x="9420451" y="5725342"/>
              <a:ext cx="119855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2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6. Write data</a:t>
              </a:r>
              <a:endParaRPr lang="en-US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7960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3E28B-A0AB-068A-44E2-5F7861313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zöveg helye 2">
            <a:extLst>
              <a:ext uri="{FF2B5EF4-FFF2-40B4-BE49-F238E27FC236}">
                <a16:creationId xmlns:a16="http://schemas.microsoft.com/office/drawing/2014/main" id="{E7EF3173-7CDA-8251-0E26-E4F115A5FFCC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 algn="ctr"/>
            <a:r>
              <a:rPr lang="hu-HU" sz="4000" dirty="0">
                <a:solidFill>
                  <a:srgbClr val="012863"/>
                </a:solidFill>
              </a:rPr>
              <a:t>Some General Recommendations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5342213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58DA944-FC42-3C66-9957-B4456FC86CCC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Some Recommendations – Partition Count and Replication Factor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31BA6-E848-8779-352D-C1D2803D28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The </a:t>
            </a:r>
            <a:r>
              <a:rPr lang="hu-HU" b="1" dirty="0"/>
              <a:t>two most important </a:t>
            </a:r>
            <a:r>
              <a:rPr lang="hu-HU" dirty="0"/>
              <a:t>parameters when creating a topic</a:t>
            </a:r>
          </a:p>
          <a:p>
            <a:r>
              <a:rPr lang="hu-HU" dirty="0"/>
              <a:t>Impact </a:t>
            </a:r>
            <a:r>
              <a:rPr lang="hu-HU" b="1" dirty="0"/>
              <a:t>performance </a:t>
            </a:r>
            <a:r>
              <a:rPr lang="hu-HU" dirty="0"/>
              <a:t>and </a:t>
            </a:r>
            <a:r>
              <a:rPr lang="hu-HU" b="1" dirty="0"/>
              <a:t>durability</a:t>
            </a:r>
            <a:r>
              <a:rPr lang="hu-HU" dirty="0"/>
              <a:t> of the system overall</a:t>
            </a:r>
          </a:p>
          <a:p>
            <a:r>
              <a:rPr lang="hu-HU" dirty="0"/>
              <a:t>Best to get them for the first time, since:</a:t>
            </a:r>
          </a:p>
          <a:p>
            <a:pPr lvl="1"/>
            <a:r>
              <a:rPr lang="hu-HU" dirty="0"/>
              <a:t>If partition count increases it will break key ordering guarantees</a:t>
            </a:r>
          </a:p>
          <a:p>
            <a:pPr lvl="1"/>
            <a:r>
              <a:rPr lang="hu-HU" dirty="0"/>
              <a:t>If replication factor increases it puts more pressure on the cluster (that could be too much if not planned carefully)</a:t>
            </a: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EBD07E5-D76F-0BB5-32D6-35F3DF507E45}"/>
              </a:ext>
            </a:extLst>
          </p:cNvPr>
          <p:cNvGrpSpPr/>
          <p:nvPr/>
        </p:nvGrpSpPr>
        <p:grpSpPr>
          <a:xfrm>
            <a:off x="8711895" y="4742606"/>
            <a:ext cx="2473693" cy="1825420"/>
            <a:chOff x="7611028" y="4292126"/>
            <a:chExt cx="2473693" cy="182542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07617EB-82F8-F9D8-AE17-6A12C9DF073D}"/>
                </a:ext>
              </a:extLst>
            </p:cNvPr>
            <p:cNvSpPr/>
            <p:nvPr/>
          </p:nvSpPr>
          <p:spPr>
            <a:xfrm>
              <a:off x="7611028" y="4301995"/>
              <a:ext cx="2473693" cy="181555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8A2583-8BCC-8EE8-2B97-ADF519B48F24}"/>
                </a:ext>
              </a:extLst>
            </p:cNvPr>
            <p:cNvSpPr txBox="1"/>
            <p:nvPr/>
          </p:nvSpPr>
          <p:spPr>
            <a:xfrm>
              <a:off x="7611029" y="4292126"/>
              <a:ext cx="2473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3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CEF187B-4F5A-E923-39E3-466F328176CF}"/>
              </a:ext>
            </a:extLst>
          </p:cNvPr>
          <p:cNvGrpSpPr/>
          <p:nvPr/>
        </p:nvGrpSpPr>
        <p:grpSpPr>
          <a:xfrm>
            <a:off x="5384399" y="4719239"/>
            <a:ext cx="2473693" cy="1825420"/>
            <a:chOff x="4984935" y="4281840"/>
            <a:chExt cx="2473693" cy="182542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9B308EB-DD4B-023F-7194-C582ADD6A006}"/>
                </a:ext>
              </a:extLst>
            </p:cNvPr>
            <p:cNvSpPr/>
            <p:nvPr/>
          </p:nvSpPr>
          <p:spPr>
            <a:xfrm>
              <a:off x="4984935" y="4291709"/>
              <a:ext cx="2473693" cy="181555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BF1A2D6-7E53-5D25-1915-7C99B0E406F0}"/>
                </a:ext>
              </a:extLst>
            </p:cNvPr>
            <p:cNvSpPr txBox="1"/>
            <p:nvPr/>
          </p:nvSpPr>
          <p:spPr>
            <a:xfrm>
              <a:off x="4984936" y="4281840"/>
              <a:ext cx="2473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2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50B8386-4630-46BE-ECF6-38F1B72FA026}"/>
              </a:ext>
            </a:extLst>
          </p:cNvPr>
          <p:cNvGrpSpPr/>
          <p:nvPr/>
        </p:nvGrpSpPr>
        <p:grpSpPr>
          <a:xfrm>
            <a:off x="2056903" y="4719239"/>
            <a:ext cx="2473693" cy="1825420"/>
            <a:chOff x="2358842" y="4281840"/>
            <a:chExt cx="2473693" cy="182542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1651C70-B0C8-EE25-E0F0-F9E376866907}"/>
                </a:ext>
              </a:extLst>
            </p:cNvPr>
            <p:cNvSpPr/>
            <p:nvPr/>
          </p:nvSpPr>
          <p:spPr>
            <a:xfrm>
              <a:off x="2358842" y="4291709"/>
              <a:ext cx="2473693" cy="181555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1E77A1E-92FF-8C6A-72C6-0807810AAEFC}"/>
                </a:ext>
              </a:extLst>
            </p:cNvPr>
            <p:cNvSpPr txBox="1"/>
            <p:nvPr/>
          </p:nvSpPr>
          <p:spPr>
            <a:xfrm>
              <a:off x="2358843" y="4281840"/>
              <a:ext cx="2473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14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Broker 1</a:t>
              </a:r>
              <a:endParaRPr lang="en-US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EA376994-8DD5-C6B8-5E54-E2F7FD71FBCC}"/>
              </a:ext>
            </a:extLst>
          </p:cNvPr>
          <p:cNvSpPr/>
          <p:nvPr/>
        </p:nvSpPr>
        <p:spPr>
          <a:xfrm>
            <a:off x="2587451" y="5180005"/>
            <a:ext cx="1446028" cy="473149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DE574A-4678-0A8C-EA16-E93A2A9D5151}"/>
              </a:ext>
            </a:extLst>
          </p:cNvPr>
          <p:cNvSpPr/>
          <p:nvPr/>
        </p:nvSpPr>
        <p:spPr>
          <a:xfrm>
            <a:off x="5914947" y="5180005"/>
            <a:ext cx="1446028" cy="473149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73CCDF-2E72-927D-8FAA-9CCDE9ACC7E6}"/>
              </a:ext>
            </a:extLst>
          </p:cNvPr>
          <p:cNvSpPr/>
          <p:nvPr/>
        </p:nvSpPr>
        <p:spPr>
          <a:xfrm>
            <a:off x="5914947" y="5870192"/>
            <a:ext cx="1446028" cy="47314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0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E26248-6AA6-86C3-4F25-8D911D175528}"/>
              </a:ext>
            </a:extLst>
          </p:cNvPr>
          <p:cNvSpPr/>
          <p:nvPr/>
        </p:nvSpPr>
        <p:spPr>
          <a:xfrm>
            <a:off x="9225727" y="5180005"/>
            <a:ext cx="1446028" cy="47314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 1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56F91B43-1163-1CA0-96C2-43FA857D8606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4033479" y="5416580"/>
            <a:ext cx="1881468" cy="690187"/>
          </a:xfrm>
          <a:prstGeom prst="bentConnector3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255D602-2A68-22FB-3267-FE12605770B8}"/>
              </a:ext>
            </a:extLst>
          </p:cNvPr>
          <p:cNvCxnSpPr>
            <a:stCxn id="14" idx="3"/>
            <a:endCxn id="16" idx="1"/>
          </p:cNvCxnSpPr>
          <p:nvPr/>
        </p:nvCxnSpPr>
        <p:spPr>
          <a:xfrm>
            <a:off x="7360975" y="5416580"/>
            <a:ext cx="1864752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720AAAB-6808-F733-FB7D-7446B37B1B21}"/>
              </a:ext>
            </a:extLst>
          </p:cNvPr>
          <p:cNvSpPr txBox="1"/>
          <p:nvPr/>
        </p:nvSpPr>
        <p:spPr>
          <a:xfrm>
            <a:off x="4468399" y="5115157"/>
            <a:ext cx="9781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replication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308705-2375-74F9-E43C-D5B82D0BEA89}"/>
              </a:ext>
            </a:extLst>
          </p:cNvPr>
          <p:cNvSpPr txBox="1"/>
          <p:nvPr/>
        </p:nvSpPr>
        <p:spPr>
          <a:xfrm>
            <a:off x="7804252" y="5112262"/>
            <a:ext cx="9781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replication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715FBA-F960-4474-FC8C-49B587C11AD1}"/>
              </a:ext>
            </a:extLst>
          </p:cNvPr>
          <p:cNvSpPr/>
          <p:nvPr/>
        </p:nvSpPr>
        <p:spPr>
          <a:xfrm>
            <a:off x="708563" y="5268496"/>
            <a:ext cx="988692" cy="30777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Leader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2599FA9-83E7-DEE5-FF86-9C71B961D11E}"/>
              </a:ext>
            </a:extLst>
          </p:cNvPr>
          <p:cNvSpPr/>
          <p:nvPr/>
        </p:nvSpPr>
        <p:spPr>
          <a:xfrm>
            <a:off x="708563" y="5716303"/>
            <a:ext cx="988692" cy="3077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ISR</a:t>
            </a:r>
          </a:p>
        </p:txBody>
      </p:sp>
    </p:spTree>
    <p:extLst>
      <p:ext uri="{BB962C8B-B14F-4D97-AF65-F5344CB8AC3E}">
        <p14:creationId xmlns:p14="http://schemas.microsoft.com/office/powerpoint/2010/main" val="1038131801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DC9B0-4DA0-7C87-1C79-2B21072F5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AA6BFB6-6594-C108-C48D-8B55FD04140F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Some Recommendations – Topic Naming Conventions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9FACC-99F3-5E8E-BA5D-2C7767D65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You are free to come up with your own guideline</a:t>
            </a:r>
          </a:p>
          <a:p>
            <a:r>
              <a:rPr lang="en-US" b="0" i="0" dirty="0">
                <a:solidFill>
                  <a:srgbClr val="242424"/>
                </a:solidFill>
                <a:effectLst/>
                <a:latin typeface="source-code-pro"/>
              </a:rPr>
              <a:t>&lt;message type&gt;</a:t>
            </a:r>
            <a:r>
              <a:rPr lang="hu-HU" b="0" i="0" dirty="0">
                <a:solidFill>
                  <a:srgbClr val="242424"/>
                </a:solidFill>
                <a:effectLst/>
                <a:latin typeface="source-code-pro"/>
              </a:rPr>
              <a:t>_</a:t>
            </a:r>
            <a:r>
              <a:rPr lang="en-US" b="0" i="0" dirty="0">
                <a:solidFill>
                  <a:srgbClr val="242424"/>
                </a:solidFill>
                <a:effectLst/>
                <a:latin typeface="source-code-pro"/>
              </a:rPr>
              <a:t>&lt;dataset name&gt;</a:t>
            </a:r>
            <a:r>
              <a:rPr lang="hu-HU" b="0" i="0" dirty="0">
                <a:solidFill>
                  <a:srgbClr val="242424"/>
                </a:solidFill>
                <a:effectLst/>
                <a:latin typeface="source-code-pro"/>
              </a:rPr>
              <a:t>_</a:t>
            </a:r>
            <a:r>
              <a:rPr lang="en-US" b="0" i="0" dirty="0">
                <a:solidFill>
                  <a:srgbClr val="242424"/>
                </a:solidFill>
                <a:effectLst/>
                <a:latin typeface="source-code-pro"/>
              </a:rPr>
              <a:t>&lt;data name&gt;</a:t>
            </a:r>
            <a:r>
              <a:rPr lang="hu-HU" dirty="0">
                <a:solidFill>
                  <a:srgbClr val="242424"/>
                </a:solidFill>
                <a:latin typeface="source-code-pro"/>
              </a:rPr>
              <a:t>_</a:t>
            </a:r>
            <a:r>
              <a:rPr lang="hu-HU" b="0" i="0" dirty="0">
                <a:solidFill>
                  <a:srgbClr val="242424"/>
                </a:solidFill>
                <a:effectLst/>
                <a:latin typeface="source-code-pro"/>
              </a:rPr>
              <a:t>&lt;data format&gt;</a:t>
            </a:r>
          </a:p>
          <a:p>
            <a:r>
              <a:rPr lang="hu-HU" b="1" dirty="0"/>
              <a:t>message type:</a:t>
            </a:r>
          </a:p>
          <a:p>
            <a:pPr lvl="1"/>
            <a:r>
              <a:rPr lang="hu-HU" dirty="0"/>
              <a:t>logging</a:t>
            </a:r>
          </a:p>
          <a:p>
            <a:pPr lvl="1"/>
            <a:r>
              <a:rPr lang="hu-HU" dirty="0"/>
              <a:t>queuing</a:t>
            </a:r>
          </a:p>
          <a:p>
            <a:pPr lvl="1"/>
            <a:r>
              <a:rPr lang="hu-HU" dirty="0"/>
              <a:t>tracking</a:t>
            </a:r>
          </a:p>
          <a:p>
            <a:pPr lvl="1"/>
            <a:r>
              <a:rPr lang="hu-HU" dirty="0"/>
              <a:t>etl/db</a:t>
            </a:r>
          </a:p>
          <a:p>
            <a:pPr lvl="1"/>
            <a:r>
              <a:rPr lang="hu-HU" dirty="0"/>
              <a:t>streaming</a:t>
            </a:r>
          </a:p>
          <a:p>
            <a:pPr lvl="1"/>
            <a:r>
              <a:rPr lang="hu-HU" dirty="0"/>
              <a:t>push</a:t>
            </a:r>
          </a:p>
          <a:p>
            <a:pPr lvl="1"/>
            <a:r>
              <a:rPr lang="hu-HU" dirty="0"/>
              <a:t>user</a:t>
            </a:r>
          </a:p>
          <a:p>
            <a:r>
              <a:rPr lang="hu-HU" b="1" dirty="0"/>
              <a:t>dataset name:</a:t>
            </a:r>
            <a:r>
              <a:rPr lang="hu-HU" dirty="0"/>
              <a:t> it’s analogous to a </a:t>
            </a:r>
            <a:r>
              <a:rPr lang="hu-HU" i="1" dirty="0"/>
              <a:t>database name</a:t>
            </a:r>
            <a:r>
              <a:rPr lang="hu-HU" b="1" i="1" dirty="0"/>
              <a:t> </a:t>
            </a:r>
            <a:r>
              <a:rPr lang="hu-HU" dirty="0"/>
              <a:t>in RDBMS systems to group topics together</a:t>
            </a:r>
          </a:p>
          <a:p>
            <a:r>
              <a:rPr lang="hu-HU" b="1" dirty="0"/>
              <a:t>data name:</a:t>
            </a:r>
            <a:r>
              <a:rPr lang="hu-HU" dirty="0"/>
              <a:t> it’s analogous to a </a:t>
            </a:r>
            <a:r>
              <a:rPr lang="hu-HU" i="1" dirty="0"/>
              <a:t>table name</a:t>
            </a:r>
            <a:r>
              <a:rPr lang="hu-HU" b="1" i="1" dirty="0"/>
              <a:t> </a:t>
            </a:r>
            <a:r>
              <a:rPr lang="hu-HU" dirty="0"/>
              <a:t>in RDBMS systems, though it’s fine to use further dotted notation to specify further hierarchy</a:t>
            </a:r>
          </a:p>
          <a:p>
            <a:r>
              <a:rPr lang="hu-HU" b="1" dirty="0"/>
              <a:t>data format:</a:t>
            </a:r>
            <a:r>
              <a:rPr lang="hu-HU" dirty="0"/>
              <a:t> e.g. .avro, .json, .text, ...</a:t>
            </a:r>
          </a:p>
          <a:p>
            <a:r>
              <a:rPr lang="hu-HU" dirty="0"/>
              <a:t>use sneak_case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2074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49309-ACD4-F593-AB61-2262A0DF2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zöveg helye 2">
            <a:extLst>
              <a:ext uri="{FF2B5EF4-FFF2-40B4-BE49-F238E27FC236}">
                <a16:creationId xmlns:a16="http://schemas.microsoft.com/office/drawing/2014/main" id="{4B67370E-6803-2E56-9E45-E86D4EE50087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 algn="ctr"/>
            <a:r>
              <a:rPr lang="hu-HU" sz="4000" dirty="0">
                <a:solidFill>
                  <a:srgbClr val="012863"/>
                </a:solidFill>
              </a:rPr>
              <a:t>Case Studies</a:t>
            </a:r>
            <a:endParaRPr lang="en-US" sz="4000" dirty="0">
              <a:solidFill>
                <a:srgbClr val="012863"/>
              </a:solidFill>
            </a:endParaRPr>
          </a:p>
          <a:p>
            <a:pPr algn="ctr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76355096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8E36564-EF39-D953-D334-734A4AA97012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Case Study – MovieFlix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4F2145-3F08-8D91-A68A-2E5E8ADDA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MovieFlix is a company that allows you to watch TV Shows and Movies on demand. </a:t>
            </a:r>
          </a:p>
          <a:p>
            <a:r>
              <a:rPr lang="hu-HU" dirty="0"/>
              <a:t>The business wants the following capabilities:</a:t>
            </a:r>
          </a:p>
          <a:p>
            <a:pPr lvl="1"/>
            <a:r>
              <a:rPr lang="hu-HU" dirty="0"/>
              <a:t>Make sure the user can resume the video where they left it off</a:t>
            </a:r>
          </a:p>
          <a:p>
            <a:pPr lvl="1"/>
            <a:r>
              <a:rPr lang="hu-HU" dirty="0"/>
              <a:t>Build a user profile in real time</a:t>
            </a:r>
          </a:p>
          <a:p>
            <a:pPr lvl="1"/>
            <a:r>
              <a:rPr lang="hu-HU" dirty="0"/>
              <a:t>Recommend the next show to the user in real time</a:t>
            </a:r>
          </a:p>
          <a:p>
            <a:pPr lvl="1"/>
            <a:r>
              <a:rPr lang="hu-HU" dirty="0"/>
              <a:t>Store all the data in analytics store</a:t>
            </a:r>
          </a:p>
          <a:p>
            <a:pPr lvl="1"/>
            <a:endParaRPr lang="hu-HU" dirty="0"/>
          </a:p>
          <a:p>
            <a:r>
              <a:rPr lang="hu-HU" dirty="0"/>
              <a:t>How to implement this using Kafka?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78190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B4346-5CA0-2D3D-70AA-4015AA879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9144DD0-6DCB-1089-10D4-BBDF3BD16268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Case Study – MovieFlix: A Possible Solution</a:t>
            </a: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E653538-E0BC-1EBD-8278-8C9FA2C672E4}"/>
              </a:ext>
            </a:extLst>
          </p:cNvPr>
          <p:cNvSpPr/>
          <p:nvPr/>
        </p:nvSpPr>
        <p:spPr>
          <a:xfrm>
            <a:off x="4588473" y="1434108"/>
            <a:ext cx="2723951" cy="2676504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5" name="Picture 2" descr="Apache Kafka">
            <a:extLst>
              <a:ext uri="{FF2B5EF4-FFF2-40B4-BE49-F238E27FC236}">
                <a16:creationId xmlns:a16="http://schemas.microsoft.com/office/drawing/2014/main" id="{EB10DD2B-0FD0-83F6-7B86-BC4F3FAD2A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0764" y="1548092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9754EA9-FB88-1286-E609-65FEE4075AC1}"/>
              </a:ext>
            </a:extLst>
          </p:cNvPr>
          <p:cNvSpPr/>
          <p:nvPr/>
        </p:nvSpPr>
        <p:spPr>
          <a:xfrm>
            <a:off x="4989778" y="2099092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show_position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91A42AE-43B5-22CC-E597-6454A29267AD}"/>
              </a:ext>
            </a:extLst>
          </p:cNvPr>
          <p:cNvSpPr/>
          <p:nvPr/>
        </p:nvSpPr>
        <p:spPr>
          <a:xfrm>
            <a:off x="4989780" y="3391056"/>
            <a:ext cx="1933676" cy="331309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recommendations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A73B7F-5152-E672-AAEB-28753CD7D627}"/>
              </a:ext>
            </a:extLst>
          </p:cNvPr>
          <p:cNvSpPr/>
          <p:nvPr/>
        </p:nvSpPr>
        <p:spPr>
          <a:xfrm>
            <a:off x="2338360" y="1445058"/>
            <a:ext cx="1576346" cy="624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Video Position Service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(Producer)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2A83784-0D07-0BBF-3C2B-4F058E922F4F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3914706" y="1757371"/>
            <a:ext cx="1075072" cy="505445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D4AFF8-3BF3-F9B5-2CF6-75EB9DD01A47}"/>
              </a:ext>
            </a:extLst>
          </p:cNvPr>
          <p:cNvCxnSpPr>
            <a:cxnSpLocks/>
            <a:stCxn id="7" idx="1"/>
            <a:endCxn id="28" idx="3"/>
          </p:cNvCxnSpPr>
          <p:nvPr/>
        </p:nvCxnSpPr>
        <p:spPr>
          <a:xfrm flipH="1">
            <a:off x="3903152" y="3556711"/>
            <a:ext cx="1086628" cy="241588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C56D492-93AA-B080-C413-92184D07D8FF}"/>
              </a:ext>
            </a:extLst>
          </p:cNvPr>
          <p:cNvCxnSpPr>
            <a:cxnSpLocks/>
            <a:stCxn id="6" idx="3"/>
            <a:endCxn id="44" idx="1"/>
          </p:cNvCxnSpPr>
          <p:nvPr/>
        </p:nvCxnSpPr>
        <p:spPr>
          <a:xfrm>
            <a:off x="6923453" y="2262816"/>
            <a:ext cx="931648" cy="1293895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537F7A54-B662-9C3A-DCB3-CC4DE3E8DC7E}"/>
              </a:ext>
            </a:extLst>
          </p:cNvPr>
          <p:cNvSpPr/>
          <p:nvPr/>
        </p:nvSpPr>
        <p:spPr>
          <a:xfrm>
            <a:off x="7855101" y="1849050"/>
            <a:ext cx="2034960" cy="81897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Recommendation Engine in Real Time </a:t>
            </a:r>
            <a:b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hu-HU" sz="14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(Kafka Streams)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A370E97-AA23-1666-7BC5-1C576A636028}"/>
              </a:ext>
            </a:extLst>
          </p:cNvPr>
          <p:cNvCxnSpPr>
            <a:cxnSpLocks/>
          </p:cNvCxnSpPr>
          <p:nvPr/>
        </p:nvCxnSpPr>
        <p:spPr>
          <a:xfrm flipV="1">
            <a:off x="6923452" y="2165581"/>
            <a:ext cx="931649" cy="1467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6B45B00-3E52-028D-DD4B-8F86519C3B00}"/>
              </a:ext>
            </a:extLst>
          </p:cNvPr>
          <p:cNvCxnSpPr>
            <a:cxnSpLocks/>
            <a:stCxn id="16" idx="1"/>
            <a:endCxn id="7" idx="3"/>
          </p:cNvCxnSpPr>
          <p:nvPr/>
        </p:nvCxnSpPr>
        <p:spPr>
          <a:xfrm flipH="1">
            <a:off x="6923456" y="2258537"/>
            <a:ext cx="931645" cy="1298174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B334F903-0D3D-AB32-5A80-98D6100CC785}"/>
              </a:ext>
            </a:extLst>
          </p:cNvPr>
          <p:cNvSpPr/>
          <p:nvPr/>
        </p:nvSpPr>
        <p:spPr>
          <a:xfrm>
            <a:off x="393130" y="1493527"/>
            <a:ext cx="1392891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Video Player </a:t>
            </a:r>
          </a:p>
          <a:p>
            <a:pPr algn="ctr"/>
            <a:r>
              <a:rPr lang="hu-HU" sz="14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(while playing)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AE9FD1F-4EDE-0A17-41F0-E369413470CA}"/>
              </a:ext>
            </a:extLst>
          </p:cNvPr>
          <p:cNvSpPr/>
          <p:nvPr/>
        </p:nvSpPr>
        <p:spPr>
          <a:xfrm>
            <a:off x="393129" y="2408377"/>
            <a:ext cx="1392891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Video Player </a:t>
            </a:r>
          </a:p>
          <a:p>
            <a:pPr algn="ctr"/>
            <a:r>
              <a:rPr lang="hu-HU" sz="14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(while starting)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F6B2DC4-01D4-2FB2-4B7C-36568A13D257}"/>
              </a:ext>
            </a:extLst>
          </p:cNvPr>
          <p:cNvSpPr/>
          <p:nvPr/>
        </p:nvSpPr>
        <p:spPr>
          <a:xfrm>
            <a:off x="393130" y="3534455"/>
            <a:ext cx="1392891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Movies Portal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A1BAF7B-D53E-4C1D-1A3C-C36A005CDEA9}"/>
              </a:ext>
            </a:extLst>
          </p:cNvPr>
          <p:cNvSpPr/>
          <p:nvPr/>
        </p:nvSpPr>
        <p:spPr>
          <a:xfrm>
            <a:off x="2338359" y="2359908"/>
            <a:ext cx="1576346" cy="624626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Resuming Service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(Consumer)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83A92A-A84B-4961-16CB-5C9552CE7663}"/>
              </a:ext>
            </a:extLst>
          </p:cNvPr>
          <p:cNvSpPr/>
          <p:nvPr/>
        </p:nvSpPr>
        <p:spPr>
          <a:xfrm>
            <a:off x="2326806" y="3485986"/>
            <a:ext cx="1576346" cy="624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Recommendation Service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(Consumer)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F3202F8-9380-4833-2CCC-4E719D03C5D0}"/>
              </a:ext>
            </a:extLst>
          </p:cNvPr>
          <p:cNvSpPr/>
          <p:nvPr/>
        </p:nvSpPr>
        <p:spPr>
          <a:xfrm>
            <a:off x="7855101" y="3244398"/>
            <a:ext cx="1576346" cy="62462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Analytics Service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(Kafka Connect)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0B08E9A-304C-8FDE-0F07-DB891F0DEFDB}"/>
              </a:ext>
            </a:extLst>
          </p:cNvPr>
          <p:cNvSpPr/>
          <p:nvPr/>
        </p:nvSpPr>
        <p:spPr>
          <a:xfrm>
            <a:off x="10127853" y="3292866"/>
            <a:ext cx="1645878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Analytics Store </a:t>
            </a:r>
            <a:r>
              <a:rPr lang="hu-HU" sz="14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(Hadoop)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3AA7208-4E69-B64B-A78E-7961C587B3F0}"/>
              </a:ext>
            </a:extLst>
          </p:cNvPr>
          <p:cNvCxnSpPr>
            <a:cxnSpLocks/>
          </p:cNvCxnSpPr>
          <p:nvPr/>
        </p:nvCxnSpPr>
        <p:spPr>
          <a:xfrm flipV="1">
            <a:off x="6923451" y="3639248"/>
            <a:ext cx="931649" cy="1467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AF083BF-DE82-4F31-37C1-7BF86482D5E6}"/>
              </a:ext>
            </a:extLst>
          </p:cNvPr>
          <p:cNvCxnSpPr>
            <a:cxnSpLocks/>
            <a:stCxn id="44" idx="3"/>
            <a:endCxn id="54" idx="1"/>
          </p:cNvCxnSpPr>
          <p:nvPr/>
        </p:nvCxnSpPr>
        <p:spPr>
          <a:xfrm flipV="1">
            <a:off x="9431447" y="3556710"/>
            <a:ext cx="696406" cy="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FDC7E18-665C-F528-1929-E279EA67A701}"/>
              </a:ext>
            </a:extLst>
          </p:cNvPr>
          <p:cNvCxnSpPr>
            <a:cxnSpLocks/>
            <a:stCxn id="24" idx="3"/>
            <a:endCxn id="10" idx="1"/>
          </p:cNvCxnSpPr>
          <p:nvPr/>
        </p:nvCxnSpPr>
        <p:spPr>
          <a:xfrm>
            <a:off x="1786021" y="1757371"/>
            <a:ext cx="552339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8240B22-A98D-E26B-C502-36AAD1C446D7}"/>
              </a:ext>
            </a:extLst>
          </p:cNvPr>
          <p:cNvCxnSpPr>
            <a:cxnSpLocks/>
            <a:stCxn id="27" idx="1"/>
            <a:endCxn id="25" idx="3"/>
          </p:cNvCxnSpPr>
          <p:nvPr/>
        </p:nvCxnSpPr>
        <p:spPr>
          <a:xfrm flipH="1">
            <a:off x="1786020" y="2672221"/>
            <a:ext cx="552339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2779486-DB1F-9500-9E46-01765EF1443E}"/>
              </a:ext>
            </a:extLst>
          </p:cNvPr>
          <p:cNvCxnSpPr>
            <a:cxnSpLocks/>
            <a:endCxn id="27" idx="3"/>
          </p:cNvCxnSpPr>
          <p:nvPr/>
        </p:nvCxnSpPr>
        <p:spPr>
          <a:xfrm flipH="1">
            <a:off x="3914705" y="2344678"/>
            <a:ext cx="1077945" cy="32754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5034B20A-CC85-9301-070C-47AE4D3E06D1}"/>
              </a:ext>
            </a:extLst>
          </p:cNvPr>
          <p:cNvCxnSpPr>
            <a:cxnSpLocks/>
            <a:stCxn id="28" idx="1"/>
            <a:endCxn id="26" idx="3"/>
          </p:cNvCxnSpPr>
          <p:nvPr/>
        </p:nvCxnSpPr>
        <p:spPr>
          <a:xfrm flipH="1">
            <a:off x="1786021" y="3798299"/>
            <a:ext cx="540785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Content Placeholder 2">
            <a:extLst>
              <a:ext uri="{FF2B5EF4-FFF2-40B4-BE49-F238E27FC236}">
                <a16:creationId xmlns:a16="http://schemas.microsoft.com/office/drawing/2014/main" id="{4A56F694-4FAA-F2E7-E104-7FF39D8AB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847420"/>
            <a:ext cx="11877674" cy="5791119"/>
          </a:xfrm>
        </p:spPr>
        <p:txBody>
          <a:bodyPr/>
          <a:lstStyle/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pPr marL="0" indent="0">
              <a:buNone/>
            </a:pPr>
            <a:endParaRPr lang="hu-HU" dirty="0"/>
          </a:p>
          <a:p>
            <a:r>
              <a:rPr lang="hu-HU" i="1" dirty="0"/>
              <a:t>show_position</a:t>
            </a:r>
            <a:r>
              <a:rPr lang="hu-HU" dirty="0"/>
              <a:t>: </a:t>
            </a:r>
          </a:p>
          <a:p>
            <a:pPr lvl="1"/>
            <a:r>
              <a:rPr lang="hu-HU" dirty="0"/>
              <a:t>can have multiple producers</a:t>
            </a:r>
          </a:p>
          <a:p>
            <a:pPr lvl="1"/>
            <a:r>
              <a:rPr lang="hu-HU" dirty="0"/>
              <a:t>should be highly distributed in case of high volume (&gt; 30 partitions)</a:t>
            </a:r>
          </a:p>
          <a:p>
            <a:pPr lvl="1"/>
            <a:r>
              <a:rPr lang="hu-HU" dirty="0"/>
              <a:t>key could be </a:t>
            </a:r>
            <a:r>
              <a:rPr lang="hu-HU" i="1" dirty="0"/>
              <a:t>user_id</a:t>
            </a:r>
          </a:p>
          <a:p>
            <a:r>
              <a:rPr lang="hu-HU" i="1" dirty="0"/>
              <a:t>recommendations:</a:t>
            </a:r>
          </a:p>
          <a:p>
            <a:pPr lvl="1"/>
            <a:r>
              <a:rPr lang="hu-HU" dirty="0"/>
              <a:t>recommendation engine may source the analytics store for historical training</a:t>
            </a:r>
          </a:p>
        </p:txBody>
      </p:sp>
    </p:spTree>
    <p:extLst>
      <p:ext uri="{BB962C8B-B14F-4D97-AF65-F5344CB8AC3E}">
        <p14:creationId xmlns:p14="http://schemas.microsoft.com/office/powerpoint/2010/main" val="1538554254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6B26D-C892-C6FF-124F-CBF659587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E72E2E-E325-1B9E-7A21-B4FB869EFEAB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Case Study – GetTaxi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1613D-4E34-5CDC-3EB3-C76F68B3C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GetTaxi is a company that allows people to match with taxi drivers on demand, right away. </a:t>
            </a:r>
          </a:p>
          <a:p>
            <a:r>
              <a:rPr lang="hu-HU" dirty="0"/>
              <a:t>The business wants the following capabilities:</a:t>
            </a:r>
          </a:p>
          <a:p>
            <a:pPr lvl="1"/>
            <a:r>
              <a:rPr lang="hu-HU" dirty="0"/>
              <a:t>The user should match with a close driver</a:t>
            </a:r>
          </a:p>
          <a:p>
            <a:pPr lvl="1"/>
            <a:r>
              <a:rPr lang="hu-HU" dirty="0"/>
              <a:t>The pricing should „surge” if the number of drivers are low or number of users is high</a:t>
            </a:r>
          </a:p>
          <a:p>
            <a:pPr lvl="1"/>
            <a:r>
              <a:rPr lang="hu-HU" dirty="0"/>
              <a:t>All the position data before and during the ride should be stored in analytics store so that the cost can be computed accurately</a:t>
            </a:r>
          </a:p>
          <a:p>
            <a:pPr lvl="1"/>
            <a:endParaRPr lang="hu-HU" dirty="0"/>
          </a:p>
          <a:p>
            <a:r>
              <a:rPr lang="hu-HU" dirty="0"/>
              <a:t>How to implement this using Kafka?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06824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C6F4C-293A-3972-5E44-9DCCCA868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002D24-6AE6-B980-177E-3278DF73C85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Case Study – GetTaxi: A Possible Solution</a:t>
            </a:r>
            <a:endParaRPr lang="en-US" dirty="0"/>
          </a:p>
        </p:txBody>
      </p:sp>
      <p:sp>
        <p:nvSpPr>
          <p:cNvPr id="77" name="Content Placeholder 2">
            <a:extLst>
              <a:ext uri="{FF2B5EF4-FFF2-40B4-BE49-F238E27FC236}">
                <a16:creationId xmlns:a16="http://schemas.microsoft.com/office/drawing/2014/main" id="{C30112D2-FAC9-1CDA-C68B-6ACD5F76E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47420"/>
            <a:ext cx="11877675" cy="5791119"/>
          </a:xfrm>
        </p:spPr>
        <p:txBody>
          <a:bodyPr/>
          <a:lstStyle/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endParaRPr lang="hu-HU" dirty="0"/>
          </a:p>
          <a:p>
            <a:r>
              <a:rPr lang="hu-HU" i="1" dirty="0"/>
              <a:t>taxi_position, user_position</a:t>
            </a:r>
            <a:r>
              <a:rPr lang="hu-HU" dirty="0"/>
              <a:t>: </a:t>
            </a:r>
          </a:p>
          <a:p>
            <a:pPr lvl="1"/>
            <a:r>
              <a:rPr lang="hu-HU" dirty="0"/>
              <a:t>can have multiple producers</a:t>
            </a:r>
          </a:p>
          <a:p>
            <a:pPr lvl="1"/>
            <a:r>
              <a:rPr lang="hu-HU" dirty="0"/>
              <a:t>should be highly distributed in case of high volume (&gt; 30 partitions)</a:t>
            </a:r>
          </a:p>
          <a:p>
            <a:pPr lvl="1"/>
            <a:r>
              <a:rPr lang="hu-HU" dirty="0"/>
              <a:t>key could be </a:t>
            </a:r>
            <a:r>
              <a:rPr lang="hu-HU" i="1" dirty="0"/>
              <a:t>user_id, taxi_id</a:t>
            </a:r>
          </a:p>
          <a:p>
            <a:pPr lvl="1"/>
            <a:r>
              <a:rPr lang="hu-HU" dirty="0"/>
              <a:t>data is ephemeral and probably shouldn’t kept for a long time</a:t>
            </a:r>
          </a:p>
          <a:p>
            <a:r>
              <a:rPr lang="hu-HU" i="1" dirty="0"/>
              <a:t>surge_pricing:</a:t>
            </a:r>
          </a:p>
          <a:p>
            <a:pPr lvl="1"/>
            <a:r>
              <a:rPr lang="hu-HU" dirty="0"/>
              <a:t>the computation comes from Kafka Streams</a:t>
            </a:r>
          </a:p>
          <a:p>
            <a:pPr lvl="1"/>
            <a:r>
              <a:rPr lang="hu-HU" dirty="0"/>
              <a:t>may be regional and therefore may be high volume</a:t>
            </a:r>
          </a:p>
          <a:p>
            <a:pPr lvl="1"/>
            <a:r>
              <a:rPr lang="hu-HU" dirty="0"/>
              <a:t>other topics that can be used for computing (</a:t>
            </a:r>
            <a:r>
              <a:rPr lang="hu-HU" i="1" dirty="0"/>
              <a:t>weather, events</a:t>
            </a:r>
            <a:r>
              <a:rPr lang="hu-HU" dirty="0"/>
              <a:t>) can be included in the Kafka Streams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009ECCF-478A-8C52-E617-3A0F2DE48E4B}"/>
              </a:ext>
            </a:extLst>
          </p:cNvPr>
          <p:cNvSpPr/>
          <p:nvPr/>
        </p:nvSpPr>
        <p:spPr>
          <a:xfrm>
            <a:off x="4588473" y="913408"/>
            <a:ext cx="2723951" cy="2676504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8" name="Picture 2" descr="Apache Kafka">
            <a:extLst>
              <a:ext uri="{FF2B5EF4-FFF2-40B4-BE49-F238E27FC236}">
                <a16:creationId xmlns:a16="http://schemas.microsoft.com/office/drawing/2014/main" id="{301B7FDD-4DD7-449B-3DF7-A41FF8223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0764" y="1027392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8B6FB5F-F491-79A2-7A83-968ACEE04FBD}"/>
              </a:ext>
            </a:extLst>
          </p:cNvPr>
          <p:cNvSpPr/>
          <p:nvPr/>
        </p:nvSpPr>
        <p:spPr>
          <a:xfrm>
            <a:off x="4989778" y="1578392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user_position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878C041-5D1E-1DBE-6914-9AB1E3677F54}"/>
              </a:ext>
            </a:extLst>
          </p:cNvPr>
          <p:cNvSpPr/>
          <p:nvPr/>
        </p:nvSpPr>
        <p:spPr>
          <a:xfrm>
            <a:off x="4989780" y="2870356"/>
            <a:ext cx="1933676" cy="331309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surge_pricing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0D053B-6338-B857-2248-527CCE0F29D1}"/>
              </a:ext>
            </a:extLst>
          </p:cNvPr>
          <p:cNvSpPr/>
          <p:nvPr/>
        </p:nvSpPr>
        <p:spPr>
          <a:xfrm>
            <a:off x="2338360" y="924358"/>
            <a:ext cx="1576346" cy="624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User Position Service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(Producer)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3F18DA2-9AEF-EF7F-3334-7940445B3FD2}"/>
              </a:ext>
            </a:extLst>
          </p:cNvPr>
          <p:cNvCxnSpPr>
            <a:cxnSpLocks/>
            <a:stCxn id="15" idx="3"/>
            <a:endCxn id="9" idx="1"/>
          </p:cNvCxnSpPr>
          <p:nvPr/>
        </p:nvCxnSpPr>
        <p:spPr>
          <a:xfrm>
            <a:off x="3914706" y="1236671"/>
            <a:ext cx="1075072" cy="505445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C5BDB9B-1A86-8639-A254-9153CA074859}"/>
              </a:ext>
            </a:extLst>
          </p:cNvPr>
          <p:cNvCxnSpPr>
            <a:cxnSpLocks/>
            <a:stCxn id="12" idx="1"/>
            <a:endCxn id="34" idx="3"/>
          </p:cNvCxnSpPr>
          <p:nvPr/>
        </p:nvCxnSpPr>
        <p:spPr>
          <a:xfrm flipH="1">
            <a:off x="3903152" y="3036011"/>
            <a:ext cx="1086628" cy="241588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94D96B0-EFC8-4CEA-3700-2BF4E14420EC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6923453" y="1742116"/>
            <a:ext cx="931647" cy="116132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CC44627F-B590-66D2-313C-3D2D71282F5E}"/>
              </a:ext>
            </a:extLst>
          </p:cNvPr>
          <p:cNvSpPr/>
          <p:nvPr/>
        </p:nvSpPr>
        <p:spPr>
          <a:xfrm>
            <a:off x="7855101" y="1328350"/>
            <a:ext cx="2034960" cy="81897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Recommendation Engine in Real Time </a:t>
            </a:r>
            <a:b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hu-HU" sz="14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(Kafka Streams)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BC171AA-0A98-E566-F2BE-45690AED51D6}"/>
              </a:ext>
            </a:extLst>
          </p:cNvPr>
          <p:cNvCxnSpPr>
            <a:cxnSpLocks/>
          </p:cNvCxnSpPr>
          <p:nvPr/>
        </p:nvCxnSpPr>
        <p:spPr>
          <a:xfrm flipV="1">
            <a:off x="6923452" y="1644881"/>
            <a:ext cx="931649" cy="1467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E941156-1275-3E24-27C5-CE57D6447F5D}"/>
              </a:ext>
            </a:extLst>
          </p:cNvPr>
          <p:cNvCxnSpPr>
            <a:cxnSpLocks/>
            <a:endCxn id="12" idx="3"/>
          </p:cNvCxnSpPr>
          <p:nvPr/>
        </p:nvCxnSpPr>
        <p:spPr>
          <a:xfrm flipH="1">
            <a:off x="6923456" y="1878645"/>
            <a:ext cx="931644" cy="115736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7AF320-0180-FA21-4087-715B08B5E603}"/>
              </a:ext>
            </a:extLst>
          </p:cNvPr>
          <p:cNvSpPr/>
          <p:nvPr/>
        </p:nvSpPr>
        <p:spPr>
          <a:xfrm>
            <a:off x="393130" y="972827"/>
            <a:ext cx="1392891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User Application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C2A0D95-8AC9-8F14-4CB1-D9746BE4876A}"/>
              </a:ext>
            </a:extLst>
          </p:cNvPr>
          <p:cNvSpPr/>
          <p:nvPr/>
        </p:nvSpPr>
        <p:spPr>
          <a:xfrm>
            <a:off x="393129" y="1887677"/>
            <a:ext cx="1392891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Taxi Driver Application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C0E32B6-80DB-AFD9-52BB-744813AEBFC8}"/>
              </a:ext>
            </a:extLst>
          </p:cNvPr>
          <p:cNvSpPr/>
          <p:nvPr/>
        </p:nvSpPr>
        <p:spPr>
          <a:xfrm>
            <a:off x="393130" y="3013755"/>
            <a:ext cx="1392891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User Application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5585DCC-59A6-D431-ECDC-2C123460155F}"/>
              </a:ext>
            </a:extLst>
          </p:cNvPr>
          <p:cNvSpPr/>
          <p:nvPr/>
        </p:nvSpPr>
        <p:spPr>
          <a:xfrm>
            <a:off x="2326806" y="2965286"/>
            <a:ext cx="1576346" cy="624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Taxi Cost Service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(Consumer)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EF7DB4F-ADD3-6E69-8491-3F7FBDFAA3F5}"/>
              </a:ext>
            </a:extLst>
          </p:cNvPr>
          <p:cNvSpPr/>
          <p:nvPr/>
        </p:nvSpPr>
        <p:spPr>
          <a:xfrm>
            <a:off x="7855101" y="2723698"/>
            <a:ext cx="1576346" cy="62462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Analytics Service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(Kafka Connect)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5286AC8-7F8B-F246-7361-D30029375235}"/>
              </a:ext>
            </a:extLst>
          </p:cNvPr>
          <p:cNvSpPr/>
          <p:nvPr/>
        </p:nvSpPr>
        <p:spPr>
          <a:xfrm>
            <a:off x="10127853" y="2772166"/>
            <a:ext cx="1645878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Analytics Store </a:t>
            </a:r>
            <a:r>
              <a:rPr lang="hu-HU" sz="14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(Amazon S3)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DD8B599-4D48-F930-D732-DEA8CEB8F47C}"/>
              </a:ext>
            </a:extLst>
          </p:cNvPr>
          <p:cNvCxnSpPr>
            <a:cxnSpLocks/>
          </p:cNvCxnSpPr>
          <p:nvPr/>
        </p:nvCxnSpPr>
        <p:spPr>
          <a:xfrm flipV="1">
            <a:off x="6923451" y="3118548"/>
            <a:ext cx="931649" cy="1467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1504156-61DF-ADFE-F458-CE2DCA0ADAAD}"/>
              </a:ext>
            </a:extLst>
          </p:cNvPr>
          <p:cNvCxnSpPr>
            <a:cxnSpLocks/>
            <a:stCxn id="35" idx="3"/>
            <a:endCxn id="36" idx="1"/>
          </p:cNvCxnSpPr>
          <p:nvPr/>
        </p:nvCxnSpPr>
        <p:spPr>
          <a:xfrm flipV="1">
            <a:off x="9431447" y="3036010"/>
            <a:ext cx="696406" cy="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E0FA7D2-A9E8-7519-5F25-723005351A35}"/>
              </a:ext>
            </a:extLst>
          </p:cNvPr>
          <p:cNvCxnSpPr>
            <a:cxnSpLocks/>
            <a:stCxn id="30" idx="3"/>
            <a:endCxn id="15" idx="1"/>
          </p:cNvCxnSpPr>
          <p:nvPr/>
        </p:nvCxnSpPr>
        <p:spPr>
          <a:xfrm>
            <a:off x="1786021" y="1236671"/>
            <a:ext cx="552339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98B05AF-434E-BAE3-2353-69AAF4B65D48}"/>
              </a:ext>
            </a:extLst>
          </p:cNvPr>
          <p:cNvCxnSpPr>
            <a:cxnSpLocks/>
            <a:stCxn id="31" idx="3"/>
            <a:endCxn id="43" idx="1"/>
          </p:cNvCxnSpPr>
          <p:nvPr/>
        </p:nvCxnSpPr>
        <p:spPr>
          <a:xfrm>
            <a:off x="1786020" y="2151521"/>
            <a:ext cx="551407" cy="1468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C587772-D73C-CC19-9731-BDE0D8E0F1F7}"/>
              </a:ext>
            </a:extLst>
          </p:cNvPr>
          <p:cNvCxnSpPr>
            <a:cxnSpLocks/>
            <a:stCxn id="50" idx="1"/>
            <a:endCxn id="43" idx="3"/>
          </p:cNvCxnSpPr>
          <p:nvPr/>
        </p:nvCxnSpPr>
        <p:spPr>
          <a:xfrm flipH="1" flipV="1">
            <a:off x="3913773" y="2152989"/>
            <a:ext cx="1069837" cy="57715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8E22A60-F135-D248-C9BC-C97938C48EF3}"/>
              </a:ext>
            </a:extLst>
          </p:cNvPr>
          <p:cNvCxnSpPr>
            <a:cxnSpLocks/>
            <a:stCxn id="34" idx="1"/>
            <a:endCxn id="32" idx="3"/>
          </p:cNvCxnSpPr>
          <p:nvPr/>
        </p:nvCxnSpPr>
        <p:spPr>
          <a:xfrm flipH="1">
            <a:off x="1786021" y="3277599"/>
            <a:ext cx="540785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B0D6476E-C018-36F0-A25F-15A755CB788F}"/>
              </a:ext>
            </a:extLst>
          </p:cNvPr>
          <p:cNvSpPr/>
          <p:nvPr/>
        </p:nvSpPr>
        <p:spPr>
          <a:xfrm>
            <a:off x="2337427" y="1840676"/>
            <a:ext cx="1576346" cy="624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Taxi Position Service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(Producer)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46FDCF28-D118-0BBC-EC09-383E24FC7E4A}"/>
              </a:ext>
            </a:extLst>
          </p:cNvPr>
          <p:cNvSpPr/>
          <p:nvPr/>
        </p:nvSpPr>
        <p:spPr>
          <a:xfrm>
            <a:off x="4983610" y="2046980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taxi_position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172D8D6-DD1F-B6D1-83EA-3666D995E388}"/>
              </a:ext>
            </a:extLst>
          </p:cNvPr>
          <p:cNvCxnSpPr>
            <a:cxnSpLocks/>
            <a:stCxn id="50" idx="3"/>
            <a:endCxn id="22" idx="1"/>
          </p:cNvCxnSpPr>
          <p:nvPr/>
        </p:nvCxnSpPr>
        <p:spPr>
          <a:xfrm flipV="1">
            <a:off x="6917285" y="1737837"/>
            <a:ext cx="937816" cy="472867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FDB03F3-B741-9EA0-3EF3-BBF4982BDEB1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6914854" y="2308958"/>
            <a:ext cx="940247" cy="72705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694853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47639-8B6E-C43A-ABA0-FA0784956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AAF2D41-6191-792F-ABB1-91438D6943E9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Case Study – MySocialMedia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2EDA6-0095-FCBB-6FEF-7E5A1B1B55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MySocialMedia is a company that allows people to post images and others to react by using „likes” and „comments”. </a:t>
            </a:r>
          </a:p>
          <a:p>
            <a:r>
              <a:rPr lang="hu-HU" dirty="0"/>
              <a:t>The business wants the following capabilities:</a:t>
            </a:r>
          </a:p>
          <a:p>
            <a:pPr lvl="1"/>
            <a:r>
              <a:rPr lang="hu-HU" dirty="0"/>
              <a:t>Users should be able to post, like and comment</a:t>
            </a:r>
          </a:p>
          <a:p>
            <a:pPr lvl="1"/>
            <a:r>
              <a:rPr lang="hu-HU" dirty="0"/>
              <a:t>Users should see the total number of likes and comments per post in real time</a:t>
            </a:r>
          </a:p>
          <a:p>
            <a:pPr lvl="1"/>
            <a:r>
              <a:rPr lang="hu-HU" dirty="0"/>
              <a:t>High volume of data is expected on the first day of launch</a:t>
            </a:r>
          </a:p>
          <a:p>
            <a:pPr lvl="1"/>
            <a:r>
              <a:rPr lang="hu-HU" dirty="0"/>
              <a:t>Users should be able to see „trending” posts</a:t>
            </a:r>
          </a:p>
          <a:p>
            <a:pPr lvl="1"/>
            <a:endParaRPr lang="hu-HU" dirty="0"/>
          </a:p>
          <a:p>
            <a:r>
              <a:rPr lang="hu-HU" dirty="0"/>
              <a:t>How to implement this using Kafka?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227206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763E1-829D-1880-710C-69B235F30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9467B94-1FB9-C0B7-6C7D-69C7E9FC1DCA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Case Study – MySocialMedia: A Possible Solution</a:t>
            </a:r>
            <a:endParaRPr lang="en-US" dirty="0"/>
          </a:p>
        </p:txBody>
      </p:sp>
      <p:sp>
        <p:nvSpPr>
          <p:cNvPr id="77" name="Content Placeholder 2">
            <a:extLst>
              <a:ext uri="{FF2B5EF4-FFF2-40B4-BE49-F238E27FC236}">
                <a16:creationId xmlns:a16="http://schemas.microsoft.com/office/drawing/2014/main" id="{08CC858F-373E-8FBE-DFB7-5ED56C555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4930023"/>
            <a:ext cx="11877675" cy="1708516"/>
          </a:xfrm>
        </p:spPr>
        <p:txBody>
          <a:bodyPr/>
          <a:lstStyle/>
          <a:p>
            <a:r>
              <a:rPr lang="hu-HU" sz="1600" dirty="0"/>
              <a:t>Responsibilities are segregated so actually this is a </a:t>
            </a:r>
            <a:r>
              <a:rPr lang="hu-HU" sz="1600" b="1" dirty="0"/>
              <a:t>CQRS</a:t>
            </a:r>
            <a:r>
              <a:rPr lang="hu-HU" sz="1600" dirty="0"/>
              <a:t> (Command Query Responsibility Segregation) architecture</a:t>
            </a:r>
          </a:p>
          <a:p>
            <a:r>
              <a:rPr lang="hu-HU" sz="1600" i="1" dirty="0"/>
              <a:t>posts</a:t>
            </a:r>
            <a:r>
              <a:rPr lang="hu-HU" sz="1600" dirty="0"/>
              <a:t>: </a:t>
            </a:r>
          </a:p>
          <a:p>
            <a:pPr lvl="1"/>
            <a:r>
              <a:rPr lang="hu-HU" sz="1400" dirty="0"/>
              <a:t>can have multiple producers</a:t>
            </a:r>
          </a:p>
          <a:p>
            <a:pPr lvl="1"/>
            <a:r>
              <a:rPr lang="hu-HU" sz="1400" dirty="0"/>
              <a:t>should be highly distributed in case of high volume (&gt; 30 partitions)</a:t>
            </a:r>
          </a:p>
          <a:p>
            <a:pPr lvl="1"/>
            <a:r>
              <a:rPr lang="hu-HU" sz="1400" dirty="0"/>
              <a:t>key could be </a:t>
            </a:r>
            <a:r>
              <a:rPr lang="hu-HU" sz="1400" i="1" dirty="0"/>
              <a:t>user_id</a:t>
            </a:r>
          </a:p>
          <a:p>
            <a:pPr lvl="1"/>
            <a:r>
              <a:rPr lang="hu-HU" sz="1400" dirty="0"/>
              <a:t>we probably want high retention period for this data</a:t>
            </a:r>
            <a:endParaRPr lang="hu-HU" sz="16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90C12DD-99CB-EDB2-635D-C38CFB8BE54E}"/>
              </a:ext>
            </a:extLst>
          </p:cNvPr>
          <p:cNvSpPr/>
          <p:nvPr/>
        </p:nvSpPr>
        <p:spPr>
          <a:xfrm>
            <a:off x="4588473" y="913408"/>
            <a:ext cx="2723951" cy="3278420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8" name="Picture 2" descr="Apache Kafka">
            <a:extLst>
              <a:ext uri="{FF2B5EF4-FFF2-40B4-BE49-F238E27FC236}">
                <a16:creationId xmlns:a16="http://schemas.microsoft.com/office/drawing/2014/main" id="{903FD288-C4D8-E0CB-A4F8-79E9F5675D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0764" y="1027392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7B5FF59-7348-1407-DBE9-08E5DCBD2E79}"/>
              </a:ext>
            </a:extLst>
          </p:cNvPr>
          <p:cNvSpPr/>
          <p:nvPr/>
        </p:nvSpPr>
        <p:spPr>
          <a:xfrm>
            <a:off x="4989778" y="1578392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posts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B3263A1-F826-632D-DDA3-43F268A63085}"/>
              </a:ext>
            </a:extLst>
          </p:cNvPr>
          <p:cNvSpPr/>
          <p:nvPr/>
        </p:nvSpPr>
        <p:spPr>
          <a:xfrm>
            <a:off x="4992046" y="2976681"/>
            <a:ext cx="1933676" cy="331309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posts_with_counts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78F2E1-D730-7273-092C-8B11C8D3B986}"/>
              </a:ext>
            </a:extLst>
          </p:cNvPr>
          <p:cNvSpPr/>
          <p:nvPr/>
        </p:nvSpPr>
        <p:spPr>
          <a:xfrm>
            <a:off x="2338360" y="924358"/>
            <a:ext cx="1576346" cy="624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Posting Service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(Producer)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8F5AEC6-5A7B-5FD2-6E05-A2C64B6E8514}"/>
              </a:ext>
            </a:extLst>
          </p:cNvPr>
          <p:cNvCxnSpPr>
            <a:cxnSpLocks/>
            <a:stCxn id="15" idx="3"/>
            <a:endCxn id="9" idx="1"/>
          </p:cNvCxnSpPr>
          <p:nvPr/>
        </p:nvCxnSpPr>
        <p:spPr>
          <a:xfrm>
            <a:off x="3914706" y="1236671"/>
            <a:ext cx="1075072" cy="505445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4C717B-07BB-E6E9-F6EA-281E3A43F677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6923453" y="1742116"/>
            <a:ext cx="931647" cy="116132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E05D8917-8D4B-B078-306B-33F04E1B4BC8}"/>
              </a:ext>
            </a:extLst>
          </p:cNvPr>
          <p:cNvSpPr/>
          <p:nvPr/>
        </p:nvSpPr>
        <p:spPr>
          <a:xfrm>
            <a:off x="7855101" y="1328350"/>
            <a:ext cx="2107046" cy="97149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Total Likes / Comments Computation in Real Time </a:t>
            </a:r>
            <a:b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hu-HU" sz="14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</a:t>
            </a:r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Kafka Streams</a:t>
            </a:r>
            <a:r>
              <a:rPr lang="hu-HU" sz="14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)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4D6F588-6A7A-D6A2-4FA9-9A88956F49F3}"/>
              </a:ext>
            </a:extLst>
          </p:cNvPr>
          <p:cNvCxnSpPr>
            <a:cxnSpLocks/>
          </p:cNvCxnSpPr>
          <p:nvPr/>
        </p:nvCxnSpPr>
        <p:spPr>
          <a:xfrm flipV="1">
            <a:off x="6923452" y="1644881"/>
            <a:ext cx="931649" cy="1467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59C588C-BE53-6E73-42C4-19433EB86DC1}"/>
              </a:ext>
            </a:extLst>
          </p:cNvPr>
          <p:cNvCxnSpPr>
            <a:cxnSpLocks/>
            <a:endCxn id="12" idx="3"/>
          </p:cNvCxnSpPr>
          <p:nvPr/>
        </p:nvCxnSpPr>
        <p:spPr>
          <a:xfrm flipH="1">
            <a:off x="6925722" y="2120233"/>
            <a:ext cx="937816" cy="102210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843145D-19EE-D0B7-1717-38EF4A763684}"/>
              </a:ext>
            </a:extLst>
          </p:cNvPr>
          <p:cNvSpPr/>
          <p:nvPr/>
        </p:nvSpPr>
        <p:spPr>
          <a:xfrm>
            <a:off x="393130" y="972827"/>
            <a:ext cx="1392891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User Posts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65ACAC5-CDFF-03FE-B501-1015371E845F}"/>
              </a:ext>
            </a:extLst>
          </p:cNvPr>
          <p:cNvSpPr/>
          <p:nvPr/>
        </p:nvSpPr>
        <p:spPr>
          <a:xfrm>
            <a:off x="393129" y="2025063"/>
            <a:ext cx="1392891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User likes / comments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07B9CCB-16B4-0ADF-8A6A-5E5AAB5904D8}"/>
              </a:ext>
            </a:extLst>
          </p:cNvPr>
          <p:cNvSpPr/>
          <p:nvPr/>
        </p:nvSpPr>
        <p:spPr>
          <a:xfrm>
            <a:off x="381576" y="3573404"/>
            <a:ext cx="1392891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Website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4D702C5-403D-5174-822F-79E8431A75AC}"/>
              </a:ext>
            </a:extLst>
          </p:cNvPr>
          <p:cNvSpPr/>
          <p:nvPr/>
        </p:nvSpPr>
        <p:spPr>
          <a:xfrm>
            <a:off x="7855100" y="2723698"/>
            <a:ext cx="2107045" cy="70530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Trending Posts in the Past Hour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(Kafka Streams)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DE2882D-5C8E-8BE5-E9D3-765F749C837C}"/>
              </a:ext>
            </a:extLst>
          </p:cNvPr>
          <p:cNvCxnSpPr>
            <a:cxnSpLocks/>
          </p:cNvCxnSpPr>
          <p:nvPr/>
        </p:nvCxnSpPr>
        <p:spPr>
          <a:xfrm>
            <a:off x="6925722" y="2675927"/>
            <a:ext cx="929378" cy="44262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A1DEEBE-B6B8-B40F-722F-0D000B5FDFEC}"/>
              </a:ext>
            </a:extLst>
          </p:cNvPr>
          <p:cNvCxnSpPr>
            <a:cxnSpLocks/>
            <a:stCxn id="30" idx="3"/>
            <a:endCxn id="15" idx="1"/>
          </p:cNvCxnSpPr>
          <p:nvPr/>
        </p:nvCxnSpPr>
        <p:spPr>
          <a:xfrm>
            <a:off x="1786021" y="1236671"/>
            <a:ext cx="552339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49AC5A4-BC0B-307E-D011-0A293A567811}"/>
              </a:ext>
            </a:extLst>
          </p:cNvPr>
          <p:cNvCxnSpPr>
            <a:cxnSpLocks/>
            <a:stCxn id="31" idx="3"/>
            <a:endCxn id="43" idx="1"/>
          </p:cNvCxnSpPr>
          <p:nvPr/>
        </p:nvCxnSpPr>
        <p:spPr>
          <a:xfrm>
            <a:off x="1786020" y="2288907"/>
            <a:ext cx="551407" cy="1468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F590363-A5D8-4363-5A43-F7F14D009081}"/>
              </a:ext>
            </a:extLst>
          </p:cNvPr>
          <p:cNvCxnSpPr>
            <a:cxnSpLocks/>
            <a:stCxn id="50" idx="1"/>
            <a:endCxn id="43" idx="3"/>
          </p:cNvCxnSpPr>
          <p:nvPr/>
        </p:nvCxnSpPr>
        <p:spPr>
          <a:xfrm flipH="1">
            <a:off x="3913773" y="2210704"/>
            <a:ext cx="1069837" cy="7967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7A26A2D1-45A8-6714-9DCD-3D9FD7A422D1}"/>
              </a:ext>
            </a:extLst>
          </p:cNvPr>
          <p:cNvSpPr/>
          <p:nvPr/>
        </p:nvSpPr>
        <p:spPr>
          <a:xfrm>
            <a:off x="2337427" y="1978062"/>
            <a:ext cx="1576346" cy="624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Like / Comment Service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(Producer)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01E40FB8-DB56-9948-47AC-C9ED25FBA649}"/>
              </a:ext>
            </a:extLst>
          </p:cNvPr>
          <p:cNvSpPr/>
          <p:nvPr/>
        </p:nvSpPr>
        <p:spPr>
          <a:xfrm>
            <a:off x="4983610" y="2046980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likes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71F05EE-3224-6E57-95E2-02AF94DB0445}"/>
              </a:ext>
            </a:extLst>
          </p:cNvPr>
          <p:cNvCxnSpPr>
            <a:cxnSpLocks/>
            <a:stCxn id="50" idx="3"/>
            <a:endCxn id="22" idx="1"/>
          </p:cNvCxnSpPr>
          <p:nvPr/>
        </p:nvCxnSpPr>
        <p:spPr>
          <a:xfrm flipV="1">
            <a:off x="6917285" y="1814095"/>
            <a:ext cx="937816" cy="396609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F7D4831-267A-DB24-F090-EEC4A5AECB0F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6914854" y="2308958"/>
            <a:ext cx="940246" cy="76739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23250DB-05C1-8489-9DDB-CFBAB13FF7A9}"/>
              </a:ext>
            </a:extLst>
          </p:cNvPr>
          <p:cNvSpPr/>
          <p:nvPr/>
        </p:nvSpPr>
        <p:spPr>
          <a:xfrm>
            <a:off x="2337391" y="4165390"/>
            <a:ext cx="1576346" cy="624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Trending Feed Service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(Consumer)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D784317-0031-C3BD-C072-97F36BB1D484}"/>
              </a:ext>
            </a:extLst>
          </p:cNvPr>
          <p:cNvCxnSpPr>
            <a:cxnSpLocks/>
            <a:stCxn id="4" idx="1"/>
            <a:endCxn id="32" idx="3"/>
          </p:cNvCxnSpPr>
          <p:nvPr/>
        </p:nvCxnSpPr>
        <p:spPr>
          <a:xfrm flipH="1" flipV="1">
            <a:off x="1774467" y="3837248"/>
            <a:ext cx="562924" cy="640455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C1B6184-F78A-1B87-E0C0-3F623A3F3B6B}"/>
              </a:ext>
            </a:extLst>
          </p:cNvPr>
          <p:cNvSpPr/>
          <p:nvPr/>
        </p:nvSpPr>
        <p:spPr>
          <a:xfrm>
            <a:off x="4992046" y="2508760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comments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4AB394C-5D85-8907-5E00-0FD117374988}"/>
              </a:ext>
            </a:extLst>
          </p:cNvPr>
          <p:cNvSpPr/>
          <p:nvPr/>
        </p:nvSpPr>
        <p:spPr>
          <a:xfrm>
            <a:off x="4983610" y="3429000"/>
            <a:ext cx="1933676" cy="331309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trending_posts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8946958-10C1-4A7E-019C-FC54B24FC70A}"/>
              </a:ext>
            </a:extLst>
          </p:cNvPr>
          <p:cNvCxnSpPr>
            <a:cxnSpLocks/>
          </p:cNvCxnSpPr>
          <p:nvPr/>
        </p:nvCxnSpPr>
        <p:spPr>
          <a:xfrm flipV="1">
            <a:off x="6925722" y="1966495"/>
            <a:ext cx="929378" cy="63619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A511311-7812-1B3E-23D8-61F07A087BE7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6917286" y="3259308"/>
            <a:ext cx="940080" cy="335347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833BC95-3F6E-1C64-3BA8-3701B1BAE884}"/>
              </a:ext>
            </a:extLst>
          </p:cNvPr>
          <p:cNvCxnSpPr>
            <a:cxnSpLocks/>
            <a:stCxn id="14" idx="1"/>
            <a:endCxn id="4" idx="3"/>
          </p:cNvCxnSpPr>
          <p:nvPr/>
        </p:nvCxnSpPr>
        <p:spPr>
          <a:xfrm flipH="1">
            <a:off x="3913737" y="3594655"/>
            <a:ext cx="1069873" cy="883048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0340F0E-0A8F-5DEA-0F00-BEB4E1721C22}"/>
              </a:ext>
            </a:extLst>
          </p:cNvPr>
          <p:cNvCxnSpPr>
            <a:cxnSpLocks/>
            <a:stCxn id="11" idx="1"/>
            <a:endCxn id="43" idx="3"/>
          </p:cNvCxnSpPr>
          <p:nvPr/>
        </p:nvCxnSpPr>
        <p:spPr>
          <a:xfrm flipH="1" flipV="1">
            <a:off x="3913773" y="2290375"/>
            <a:ext cx="1078273" cy="382109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Flowchart: Terminator 73">
            <a:extLst>
              <a:ext uri="{FF2B5EF4-FFF2-40B4-BE49-F238E27FC236}">
                <a16:creationId xmlns:a16="http://schemas.microsoft.com/office/drawing/2014/main" id="{E822EA44-891F-5572-EC08-BB6A4EA7FA62}"/>
              </a:ext>
            </a:extLst>
          </p:cNvPr>
          <p:cNvSpPr/>
          <p:nvPr/>
        </p:nvSpPr>
        <p:spPr>
          <a:xfrm>
            <a:off x="2510837" y="1602656"/>
            <a:ext cx="1197057" cy="321733"/>
          </a:xfrm>
          <a:prstGeom prst="flowChartTerminator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b="1" dirty="0">
                <a:solidFill>
                  <a:sysClr val="windowText" lastClr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commands</a:t>
            </a:r>
            <a:endParaRPr lang="en-US" sz="1200" b="1" dirty="0">
              <a:solidFill>
                <a:sysClr val="windowText" lastClr="00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6" name="Flowchart: Terminator 75">
            <a:extLst>
              <a:ext uri="{FF2B5EF4-FFF2-40B4-BE49-F238E27FC236}">
                <a16:creationId xmlns:a16="http://schemas.microsoft.com/office/drawing/2014/main" id="{6E679F6D-C049-7C13-743C-25E47D509866}"/>
              </a:ext>
            </a:extLst>
          </p:cNvPr>
          <p:cNvSpPr/>
          <p:nvPr/>
        </p:nvSpPr>
        <p:spPr>
          <a:xfrm>
            <a:off x="8305875" y="2356906"/>
            <a:ext cx="1197057" cy="321733"/>
          </a:xfrm>
          <a:prstGeom prst="flowChartTerminator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b="1" dirty="0">
                <a:solidFill>
                  <a:sysClr val="windowText" lastClr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query</a:t>
            </a:r>
            <a:endParaRPr lang="en-US" sz="1200" b="1" dirty="0">
              <a:solidFill>
                <a:sysClr val="windowText" lastClr="00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1356997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C5661-0693-19FF-76B6-B37305F8F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C673A6-3D6F-E9A5-956F-E35DED748428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Case Study – MySocialMedia: A Possible Solution</a:t>
            </a:r>
            <a:endParaRPr lang="en-US" dirty="0"/>
          </a:p>
        </p:txBody>
      </p:sp>
      <p:sp>
        <p:nvSpPr>
          <p:cNvPr id="77" name="Content Placeholder 2">
            <a:extLst>
              <a:ext uri="{FF2B5EF4-FFF2-40B4-BE49-F238E27FC236}">
                <a16:creationId xmlns:a16="http://schemas.microsoft.com/office/drawing/2014/main" id="{4053B5D2-5482-611F-A50F-6D5713C4F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4930023"/>
            <a:ext cx="11877675" cy="1708516"/>
          </a:xfrm>
        </p:spPr>
        <p:txBody>
          <a:bodyPr/>
          <a:lstStyle/>
          <a:p>
            <a:r>
              <a:rPr lang="hu-HU" sz="1600" i="1" dirty="0"/>
              <a:t>likes, comments</a:t>
            </a:r>
            <a:r>
              <a:rPr lang="hu-HU" sz="1600" dirty="0"/>
              <a:t>: </a:t>
            </a:r>
          </a:p>
          <a:p>
            <a:pPr lvl="1"/>
            <a:r>
              <a:rPr lang="hu-HU" sz="1400" dirty="0"/>
              <a:t>can have multiple producers</a:t>
            </a:r>
          </a:p>
          <a:p>
            <a:pPr lvl="1"/>
            <a:r>
              <a:rPr lang="hu-HU" sz="1400" dirty="0"/>
              <a:t>should be highly distributed in case of high volume (&gt; 100+ partitions)</a:t>
            </a:r>
          </a:p>
          <a:p>
            <a:pPr lvl="1"/>
            <a:r>
              <a:rPr lang="hu-HU" sz="1400" dirty="0"/>
              <a:t>key could be </a:t>
            </a:r>
            <a:r>
              <a:rPr lang="hu-HU" sz="1400" i="1" dirty="0"/>
              <a:t>post_id</a:t>
            </a:r>
          </a:p>
          <a:p>
            <a:r>
              <a:rPr lang="hu-HU" sz="1600" dirty="0"/>
              <a:t>The data in Kafka could be handled as „events”:</a:t>
            </a:r>
          </a:p>
          <a:p>
            <a:pPr lvl="1"/>
            <a:r>
              <a:rPr lang="hu-HU" sz="1400" dirty="0"/>
              <a:t>User 123 created / deleted / liked post_id 523 at 3 pm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D7F198D-342C-135B-F187-3EF2E8574B56}"/>
              </a:ext>
            </a:extLst>
          </p:cNvPr>
          <p:cNvSpPr/>
          <p:nvPr/>
        </p:nvSpPr>
        <p:spPr>
          <a:xfrm>
            <a:off x="4588473" y="913408"/>
            <a:ext cx="2723951" cy="3278420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8" name="Picture 2" descr="Apache Kafka">
            <a:extLst>
              <a:ext uri="{FF2B5EF4-FFF2-40B4-BE49-F238E27FC236}">
                <a16:creationId xmlns:a16="http://schemas.microsoft.com/office/drawing/2014/main" id="{F4B49E3F-EE02-A25B-CACD-B6C8DA126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0764" y="1027392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E484740-111E-D687-2207-D66E16F3772D}"/>
              </a:ext>
            </a:extLst>
          </p:cNvPr>
          <p:cNvSpPr/>
          <p:nvPr/>
        </p:nvSpPr>
        <p:spPr>
          <a:xfrm>
            <a:off x="4989778" y="1578392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posts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9B5BF56-F9A7-ED70-C145-9D0430D0FDAB}"/>
              </a:ext>
            </a:extLst>
          </p:cNvPr>
          <p:cNvSpPr/>
          <p:nvPr/>
        </p:nvSpPr>
        <p:spPr>
          <a:xfrm>
            <a:off x="4992046" y="2976681"/>
            <a:ext cx="1933676" cy="331309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posts_with_counts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BD6D0E-FDB0-CA42-9D5B-9612AE6391D1}"/>
              </a:ext>
            </a:extLst>
          </p:cNvPr>
          <p:cNvSpPr/>
          <p:nvPr/>
        </p:nvSpPr>
        <p:spPr>
          <a:xfrm>
            <a:off x="2338360" y="924358"/>
            <a:ext cx="1576346" cy="624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Posting Service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(Producer)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31A587C-6BEB-332A-B77F-5FC9514C85BC}"/>
              </a:ext>
            </a:extLst>
          </p:cNvPr>
          <p:cNvCxnSpPr>
            <a:cxnSpLocks/>
            <a:stCxn id="15" idx="3"/>
            <a:endCxn id="9" idx="1"/>
          </p:cNvCxnSpPr>
          <p:nvPr/>
        </p:nvCxnSpPr>
        <p:spPr>
          <a:xfrm>
            <a:off x="3914706" y="1236671"/>
            <a:ext cx="1075072" cy="505445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5368CCF-5D21-46D5-5A24-E36B53A85380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6923453" y="1742116"/>
            <a:ext cx="931647" cy="116132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98DF8BA-3ECB-59F2-2723-28E68852346C}"/>
              </a:ext>
            </a:extLst>
          </p:cNvPr>
          <p:cNvSpPr/>
          <p:nvPr/>
        </p:nvSpPr>
        <p:spPr>
          <a:xfrm>
            <a:off x="7855101" y="1328350"/>
            <a:ext cx="2107046" cy="97149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Total Likes / Comments Computation in Real Time </a:t>
            </a:r>
            <a:b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hu-HU" sz="14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</a:t>
            </a:r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Kafka Streams</a:t>
            </a:r>
            <a:r>
              <a:rPr lang="hu-HU" sz="14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)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ECC9BCA-9FBF-89C7-E314-532B2F634E7A}"/>
              </a:ext>
            </a:extLst>
          </p:cNvPr>
          <p:cNvCxnSpPr>
            <a:cxnSpLocks/>
          </p:cNvCxnSpPr>
          <p:nvPr/>
        </p:nvCxnSpPr>
        <p:spPr>
          <a:xfrm flipV="1">
            <a:off x="6923452" y="1644881"/>
            <a:ext cx="931649" cy="1467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6B94FFE-50DC-A71C-44A2-94EFF165FE55}"/>
              </a:ext>
            </a:extLst>
          </p:cNvPr>
          <p:cNvCxnSpPr>
            <a:cxnSpLocks/>
            <a:endCxn id="12" idx="3"/>
          </p:cNvCxnSpPr>
          <p:nvPr/>
        </p:nvCxnSpPr>
        <p:spPr>
          <a:xfrm flipH="1">
            <a:off x="6925722" y="2120233"/>
            <a:ext cx="937816" cy="102210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D5AFFDC1-DFEF-2C3B-CF52-137B109F3DED}"/>
              </a:ext>
            </a:extLst>
          </p:cNvPr>
          <p:cNvSpPr/>
          <p:nvPr/>
        </p:nvSpPr>
        <p:spPr>
          <a:xfrm>
            <a:off x="393130" y="972827"/>
            <a:ext cx="1392891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User Posts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FE5178E-F185-9C0B-2A59-50D578902E91}"/>
              </a:ext>
            </a:extLst>
          </p:cNvPr>
          <p:cNvSpPr/>
          <p:nvPr/>
        </p:nvSpPr>
        <p:spPr>
          <a:xfrm>
            <a:off x="393129" y="2025063"/>
            <a:ext cx="1392891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User likes / comments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B6374A-5599-7315-B595-44B39E6F1BDA}"/>
              </a:ext>
            </a:extLst>
          </p:cNvPr>
          <p:cNvSpPr/>
          <p:nvPr/>
        </p:nvSpPr>
        <p:spPr>
          <a:xfrm>
            <a:off x="381576" y="3573404"/>
            <a:ext cx="1392891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Website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FAC929B-AB59-B9EB-E244-DBD2ED5D33EB}"/>
              </a:ext>
            </a:extLst>
          </p:cNvPr>
          <p:cNvSpPr/>
          <p:nvPr/>
        </p:nvSpPr>
        <p:spPr>
          <a:xfrm>
            <a:off x="7855100" y="2723698"/>
            <a:ext cx="2107045" cy="70530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Trending Posts in the Past Hour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(Kafka Streams)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EB681F2-92E6-A146-DF5D-564F67B78086}"/>
              </a:ext>
            </a:extLst>
          </p:cNvPr>
          <p:cNvCxnSpPr>
            <a:cxnSpLocks/>
          </p:cNvCxnSpPr>
          <p:nvPr/>
        </p:nvCxnSpPr>
        <p:spPr>
          <a:xfrm>
            <a:off x="6925722" y="2675927"/>
            <a:ext cx="929378" cy="44262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F75B76B-BC5E-E880-BA01-7F7CCF77905E}"/>
              </a:ext>
            </a:extLst>
          </p:cNvPr>
          <p:cNvCxnSpPr>
            <a:cxnSpLocks/>
            <a:stCxn id="30" idx="3"/>
            <a:endCxn id="15" idx="1"/>
          </p:cNvCxnSpPr>
          <p:nvPr/>
        </p:nvCxnSpPr>
        <p:spPr>
          <a:xfrm>
            <a:off x="1786021" y="1236671"/>
            <a:ext cx="552339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B526F3E-3290-37DC-F048-390AFE37DE13}"/>
              </a:ext>
            </a:extLst>
          </p:cNvPr>
          <p:cNvCxnSpPr>
            <a:cxnSpLocks/>
            <a:stCxn id="31" idx="3"/>
            <a:endCxn id="43" idx="1"/>
          </p:cNvCxnSpPr>
          <p:nvPr/>
        </p:nvCxnSpPr>
        <p:spPr>
          <a:xfrm>
            <a:off x="1786020" y="2288907"/>
            <a:ext cx="551407" cy="1468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1BA1FED-DC23-65FA-CDEC-B2E331914717}"/>
              </a:ext>
            </a:extLst>
          </p:cNvPr>
          <p:cNvCxnSpPr>
            <a:cxnSpLocks/>
            <a:stCxn id="50" idx="1"/>
            <a:endCxn id="43" idx="3"/>
          </p:cNvCxnSpPr>
          <p:nvPr/>
        </p:nvCxnSpPr>
        <p:spPr>
          <a:xfrm flipH="1">
            <a:off x="3913773" y="2210704"/>
            <a:ext cx="1069837" cy="7967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3E2D8F21-5866-2CDE-698A-FE62715A2660}"/>
              </a:ext>
            </a:extLst>
          </p:cNvPr>
          <p:cNvSpPr/>
          <p:nvPr/>
        </p:nvSpPr>
        <p:spPr>
          <a:xfrm>
            <a:off x="2337427" y="1978062"/>
            <a:ext cx="1576346" cy="624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Like / Comment Service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(Producer)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1E1C55EA-EEE5-D346-D955-0CFB0A0CC531}"/>
              </a:ext>
            </a:extLst>
          </p:cNvPr>
          <p:cNvSpPr/>
          <p:nvPr/>
        </p:nvSpPr>
        <p:spPr>
          <a:xfrm>
            <a:off x="4983610" y="2046980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likes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908C8A2-067D-848F-8183-D2002C2CC4FA}"/>
              </a:ext>
            </a:extLst>
          </p:cNvPr>
          <p:cNvCxnSpPr>
            <a:cxnSpLocks/>
            <a:stCxn id="50" idx="3"/>
            <a:endCxn id="22" idx="1"/>
          </p:cNvCxnSpPr>
          <p:nvPr/>
        </p:nvCxnSpPr>
        <p:spPr>
          <a:xfrm flipV="1">
            <a:off x="6917285" y="1814095"/>
            <a:ext cx="937816" cy="396609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D9E84C7-9E8B-C0E8-B009-A57F30B4B48B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6914854" y="2308958"/>
            <a:ext cx="940246" cy="76739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3A9C99A3-7429-0189-4449-83A78ECEA0B7}"/>
              </a:ext>
            </a:extLst>
          </p:cNvPr>
          <p:cNvSpPr/>
          <p:nvPr/>
        </p:nvSpPr>
        <p:spPr>
          <a:xfrm>
            <a:off x="2337391" y="4165390"/>
            <a:ext cx="1576346" cy="624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Trending Feed Service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(Consumer)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BC7DF86-0273-E30A-FF08-6D57742D36B2}"/>
              </a:ext>
            </a:extLst>
          </p:cNvPr>
          <p:cNvCxnSpPr>
            <a:cxnSpLocks/>
            <a:stCxn id="4" idx="1"/>
            <a:endCxn id="32" idx="3"/>
          </p:cNvCxnSpPr>
          <p:nvPr/>
        </p:nvCxnSpPr>
        <p:spPr>
          <a:xfrm flipH="1" flipV="1">
            <a:off x="1774467" y="3837248"/>
            <a:ext cx="562924" cy="640455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045CFF6-33DE-CB00-094A-A2BC16EE9B8C}"/>
              </a:ext>
            </a:extLst>
          </p:cNvPr>
          <p:cNvSpPr/>
          <p:nvPr/>
        </p:nvSpPr>
        <p:spPr>
          <a:xfrm>
            <a:off x="4992046" y="2508760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comments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643D96B-5C65-451C-CA97-E687E7BC6D1A}"/>
              </a:ext>
            </a:extLst>
          </p:cNvPr>
          <p:cNvSpPr/>
          <p:nvPr/>
        </p:nvSpPr>
        <p:spPr>
          <a:xfrm>
            <a:off x="4983610" y="3429000"/>
            <a:ext cx="1933676" cy="331309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trending_posts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4DCAA17-1366-D4F3-3A6A-6E5D48B90E15}"/>
              </a:ext>
            </a:extLst>
          </p:cNvPr>
          <p:cNvCxnSpPr>
            <a:cxnSpLocks/>
          </p:cNvCxnSpPr>
          <p:nvPr/>
        </p:nvCxnSpPr>
        <p:spPr>
          <a:xfrm flipV="1">
            <a:off x="6925722" y="1966495"/>
            <a:ext cx="929378" cy="63619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B540AD6-AA01-6F30-D231-34C22956E1B5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6917286" y="3259308"/>
            <a:ext cx="940080" cy="335347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F50C733-FD37-7701-0080-95B53ABE9B9E}"/>
              </a:ext>
            </a:extLst>
          </p:cNvPr>
          <p:cNvCxnSpPr>
            <a:cxnSpLocks/>
            <a:stCxn id="14" idx="1"/>
            <a:endCxn id="4" idx="3"/>
          </p:cNvCxnSpPr>
          <p:nvPr/>
        </p:nvCxnSpPr>
        <p:spPr>
          <a:xfrm flipH="1">
            <a:off x="3913737" y="3594655"/>
            <a:ext cx="1069873" cy="883048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9B75A0E-4615-4A03-7B15-976E8D07B88C}"/>
              </a:ext>
            </a:extLst>
          </p:cNvPr>
          <p:cNvCxnSpPr>
            <a:cxnSpLocks/>
            <a:stCxn id="11" idx="1"/>
            <a:endCxn id="43" idx="3"/>
          </p:cNvCxnSpPr>
          <p:nvPr/>
        </p:nvCxnSpPr>
        <p:spPr>
          <a:xfrm flipH="1" flipV="1">
            <a:off x="3913773" y="2290375"/>
            <a:ext cx="1078273" cy="382109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Flowchart: Terminator 73">
            <a:extLst>
              <a:ext uri="{FF2B5EF4-FFF2-40B4-BE49-F238E27FC236}">
                <a16:creationId xmlns:a16="http://schemas.microsoft.com/office/drawing/2014/main" id="{EC192FE1-9FAE-1880-7524-977D2A8CAE76}"/>
              </a:ext>
            </a:extLst>
          </p:cNvPr>
          <p:cNvSpPr/>
          <p:nvPr/>
        </p:nvSpPr>
        <p:spPr>
          <a:xfrm>
            <a:off x="2510837" y="1602656"/>
            <a:ext cx="1197057" cy="321733"/>
          </a:xfrm>
          <a:prstGeom prst="flowChartTerminator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b="1" dirty="0">
                <a:solidFill>
                  <a:sysClr val="windowText" lastClr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commands</a:t>
            </a:r>
            <a:endParaRPr lang="en-US" sz="1200" b="1" dirty="0">
              <a:solidFill>
                <a:sysClr val="windowText" lastClr="00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5" name="Flowchart: Terminator 74">
            <a:extLst>
              <a:ext uri="{FF2B5EF4-FFF2-40B4-BE49-F238E27FC236}">
                <a16:creationId xmlns:a16="http://schemas.microsoft.com/office/drawing/2014/main" id="{74AE3A67-A02B-AF5B-D6F4-6044112FACA6}"/>
              </a:ext>
            </a:extLst>
          </p:cNvPr>
          <p:cNvSpPr/>
          <p:nvPr/>
        </p:nvSpPr>
        <p:spPr>
          <a:xfrm>
            <a:off x="2504492" y="3805309"/>
            <a:ext cx="1197057" cy="321733"/>
          </a:xfrm>
          <a:prstGeom prst="flowChartTerminator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b="1" dirty="0">
                <a:solidFill>
                  <a:sysClr val="windowText" lastClr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reads</a:t>
            </a:r>
            <a:endParaRPr lang="en-US" sz="1200" b="1" dirty="0">
              <a:solidFill>
                <a:sysClr val="windowText" lastClr="00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6" name="Flowchart: Terminator 75">
            <a:extLst>
              <a:ext uri="{FF2B5EF4-FFF2-40B4-BE49-F238E27FC236}">
                <a16:creationId xmlns:a16="http://schemas.microsoft.com/office/drawing/2014/main" id="{E4B47268-A4F2-064D-F9FD-494AE12C9419}"/>
              </a:ext>
            </a:extLst>
          </p:cNvPr>
          <p:cNvSpPr/>
          <p:nvPr/>
        </p:nvSpPr>
        <p:spPr>
          <a:xfrm>
            <a:off x="8305875" y="2356906"/>
            <a:ext cx="1197057" cy="321733"/>
          </a:xfrm>
          <a:prstGeom prst="flowChartTerminator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200" b="1" dirty="0">
                <a:solidFill>
                  <a:sysClr val="windowText" lastClr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query</a:t>
            </a:r>
            <a:endParaRPr lang="en-US" sz="1200" b="1" dirty="0">
              <a:solidFill>
                <a:sysClr val="windowText" lastClr="00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7140143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97C8E-ECDC-BE0C-AD98-C7E7A8A08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91BD7A-8F5A-BA87-E082-4A5B8E29E39F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Case Study – MyBank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2C5CC-C72B-B0BD-4E8A-8FD7E63DDF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MyBank is a company that allows real-time banking for its users. It wants to deploy a brand new capability to alert users in case of large transactions. </a:t>
            </a:r>
          </a:p>
          <a:p>
            <a:pPr lvl="1"/>
            <a:endParaRPr lang="hu-HU" dirty="0"/>
          </a:p>
          <a:p>
            <a:pPr lvl="1"/>
            <a:r>
              <a:rPr lang="hu-HU" dirty="0"/>
              <a:t>The transaction data already exists in the database	</a:t>
            </a:r>
          </a:p>
          <a:p>
            <a:pPr lvl="1"/>
            <a:r>
              <a:rPr lang="hu-HU" dirty="0"/>
              <a:t>Thresholds can be defined by the users</a:t>
            </a:r>
          </a:p>
          <a:p>
            <a:pPr lvl="1"/>
            <a:r>
              <a:rPr lang="hu-HU" dirty="0"/>
              <a:t>Alerts must be sents in real time to the users</a:t>
            </a:r>
          </a:p>
          <a:p>
            <a:pPr lvl="1"/>
            <a:endParaRPr lang="hu-HU" dirty="0"/>
          </a:p>
          <a:p>
            <a:r>
              <a:rPr lang="hu-HU" dirty="0"/>
              <a:t>How to implement this using Kafka?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3904349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8407E-834C-D87C-C403-0D278849E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1AC921-37EB-DDF1-3B39-BEBF20216F13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Case Study – MyBank: A Possible Solution</a:t>
            </a:r>
            <a:endParaRPr lang="en-US" dirty="0"/>
          </a:p>
        </p:txBody>
      </p:sp>
      <p:sp>
        <p:nvSpPr>
          <p:cNvPr id="77" name="Content Placeholder 2">
            <a:extLst>
              <a:ext uri="{FF2B5EF4-FFF2-40B4-BE49-F238E27FC236}">
                <a16:creationId xmlns:a16="http://schemas.microsoft.com/office/drawing/2014/main" id="{21193640-A100-577B-5038-69FD5F0BE1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3597708"/>
            <a:ext cx="11877675" cy="3040831"/>
          </a:xfrm>
        </p:spPr>
        <p:txBody>
          <a:bodyPr/>
          <a:lstStyle/>
          <a:p>
            <a:r>
              <a:rPr lang="hu-HU" i="1" dirty="0"/>
              <a:t>bank_transactions</a:t>
            </a:r>
            <a:r>
              <a:rPr lang="hu-HU" dirty="0"/>
              <a:t>: </a:t>
            </a:r>
          </a:p>
          <a:p>
            <a:pPr lvl="1"/>
            <a:r>
              <a:rPr lang="hu-HU" dirty="0"/>
              <a:t>Kafka Connect Source is a great way to transfer data into Kafka</a:t>
            </a:r>
          </a:p>
          <a:p>
            <a:pPr lvl="1"/>
            <a:endParaRPr lang="hu-HU" sz="1600" dirty="0"/>
          </a:p>
          <a:p>
            <a:r>
              <a:rPr lang="hu-HU" dirty="0"/>
              <a:t>Kafka Streams application:</a:t>
            </a:r>
          </a:p>
          <a:p>
            <a:pPr lvl="1"/>
            <a:r>
              <a:rPr lang="hu-HU" dirty="0"/>
              <a:t>When user changes their settings, alerts won’t be triggered for past transactions</a:t>
            </a:r>
          </a:p>
          <a:p>
            <a:pPr lvl="1"/>
            <a:endParaRPr lang="hu-HU" dirty="0"/>
          </a:p>
          <a:p>
            <a:r>
              <a:rPr lang="hu-HU" i="1" dirty="0"/>
              <a:t>user_settings:</a:t>
            </a:r>
          </a:p>
          <a:p>
            <a:pPr lvl="1"/>
            <a:r>
              <a:rPr lang="hu-HU" dirty="0"/>
              <a:t>It’s better to send events (User 123 enabled threshold at $1000 12 pm on July 12th 2024) than sending the state of the user (User 123: threshold $1000)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BE4C2FD-378D-29F8-2E66-EB862509A12B}"/>
              </a:ext>
            </a:extLst>
          </p:cNvPr>
          <p:cNvSpPr/>
          <p:nvPr/>
        </p:nvSpPr>
        <p:spPr>
          <a:xfrm>
            <a:off x="4588473" y="913408"/>
            <a:ext cx="2723951" cy="2535024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8" name="Picture 2" descr="Apache Kafka">
            <a:extLst>
              <a:ext uri="{FF2B5EF4-FFF2-40B4-BE49-F238E27FC236}">
                <a16:creationId xmlns:a16="http://schemas.microsoft.com/office/drawing/2014/main" id="{4535CC89-44B2-B777-9BB7-0D290581A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0764" y="1027392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6B6424B-4488-BF07-9182-FFCD3CFB6C39}"/>
              </a:ext>
            </a:extLst>
          </p:cNvPr>
          <p:cNvSpPr/>
          <p:nvPr/>
        </p:nvSpPr>
        <p:spPr>
          <a:xfrm>
            <a:off x="4989778" y="1578392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bank_transactions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893B9A-CDA6-7E7D-BFE2-69C75EBD6443}"/>
              </a:ext>
            </a:extLst>
          </p:cNvPr>
          <p:cNvSpPr/>
          <p:nvPr/>
        </p:nvSpPr>
        <p:spPr>
          <a:xfrm>
            <a:off x="2338360" y="924358"/>
            <a:ext cx="1576346" cy="624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Transaction Pusher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(Kafka Connect)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06E30A5-DFDD-3539-2C04-94EF998BDE9C}"/>
              </a:ext>
            </a:extLst>
          </p:cNvPr>
          <p:cNvCxnSpPr>
            <a:cxnSpLocks/>
            <a:stCxn id="15" idx="3"/>
            <a:endCxn id="9" idx="1"/>
          </p:cNvCxnSpPr>
          <p:nvPr/>
        </p:nvCxnSpPr>
        <p:spPr>
          <a:xfrm>
            <a:off x="3914706" y="1236671"/>
            <a:ext cx="1075072" cy="505445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DC5D4EC-E2C8-0B6F-7C3D-A9B91AB15D80}"/>
              </a:ext>
            </a:extLst>
          </p:cNvPr>
          <p:cNvCxnSpPr>
            <a:cxnSpLocks/>
            <a:stCxn id="11" idx="1"/>
            <a:endCxn id="34" idx="3"/>
          </p:cNvCxnSpPr>
          <p:nvPr/>
        </p:nvCxnSpPr>
        <p:spPr>
          <a:xfrm flipH="1">
            <a:off x="3915717" y="3095019"/>
            <a:ext cx="1076330" cy="14449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B88056B6-D99D-3DA6-37F5-5FD93F075E05}"/>
              </a:ext>
            </a:extLst>
          </p:cNvPr>
          <p:cNvSpPr/>
          <p:nvPr/>
        </p:nvSpPr>
        <p:spPr>
          <a:xfrm>
            <a:off x="7855101" y="1328350"/>
            <a:ext cx="2107046" cy="97149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Big Transaction Detection in Real Time </a:t>
            </a:r>
            <a:b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hu-HU" sz="14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(Kafka Streams)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35ECB9C-73F8-BD7D-A96F-C4C95CC567E3}"/>
              </a:ext>
            </a:extLst>
          </p:cNvPr>
          <p:cNvCxnSpPr>
            <a:cxnSpLocks/>
          </p:cNvCxnSpPr>
          <p:nvPr/>
        </p:nvCxnSpPr>
        <p:spPr>
          <a:xfrm flipV="1">
            <a:off x="6923452" y="1644881"/>
            <a:ext cx="931649" cy="1467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F815FB-581D-3A44-9794-EBBCF60B0B18}"/>
              </a:ext>
            </a:extLst>
          </p:cNvPr>
          <p:cNvSpPr/>
          <p:nvPr/>
        </p:nvSpPr>
        <p:spPr>
          <a:xfrm>
            <a:off x="393130" y="972827"/>
            <a:ext cx="1392891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Database of Transactions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64318AE-39A3-57C5-2C6B-6A3A8612C30F}"/>
              </a:ext>
            </a:extLst>
          </p:cNvPr>
          <p:cNvSpPr/>
          <p:nvPr/>
        </p:nvSpPr>
        <p:spPr>
          <a:xfrm>
            <a:off x="370023" y="1952910"/>
            <a:ext cx="1404444" cy="67793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Users set thresholds </a:t>
            </a:r>
          </a:p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 App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8763F12-6814-9702-4E5E-DF4DAF68CF79}"/>
              </a:ext>
            </a:extLst>
          </p:cNvPr>
          <p:cNvSpPr/>
          <p:nvPr/>
        </p:nvSpPr>
        <p:spPr>
          <a:xfrm>
            <a:off x="381576" y="2770503"/>
            <a:ext cx="1392891" cy="6779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Users see notification in APP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875DFF3-535E-BA09-2B9F-1BDD19938F56}"/>
              </a:ext>
            </a:extLst>
          </p:cNvPr>
          <p:cNvSpPr/>
          <p:nvPr/>
        </p:nvSpPr>
        <p:spPr>
          <a:xfrm>
            <a:off x="2339371" y="2797155"/>
            <a:ext cx="1576346" cy="624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Notification Service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(Consumer)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6BEE5C5-8A7F-9C12-D4EB-AB0E2DF051D2}"/>
              </a:ext>
            </a:extLst>
          </p:cNvPr>
          <p:cNvCxnSpPr>
            <a:cxnSpLocks/>
            <a:stCxn id="30" idx="3"/>
            <a:endCxn id="15" idx="1"/>
          </p:cNvCxnSpPr>
          <p:nvPr/>
        </p:nvCxnSpPr>
        <p:spPr>
          <a:xfrm>
            <a:off x="1786021" y="1236671"/>
            <a:ext cx="552339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943FFE7-E1FE-A7AF-C1EB-420F224F71CD}"/>
              </a:ext>
            </a:extLst>
          </p:cNvPr>
          <p:cNvCxnSpPr>
            <a:cxnSpLocks/>
            <a:stCxn id="31" idx="3"/>
            <a:endCxn id="43" idx="1"/>
          </p:cNvCxnSpPr>
          <p:nvPr/>
        </p:nvCxnSpPr>
        <p:spPr>
          <a:xfrm flipV="1">
            <a:off x="1774467" y="2290375"/>
            <a:ext cx="562960" cy="150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931BC67-71EC-FDF5-B8C1-284269ECE2BD}"/>
              </a:ext>
            </a:extLst>
          </p:cNvPr>
          <p:cNvCxnSpPr>
            <a:cxnSpLocks/>
            <a:stCxn id="50" idx="1"/>
            <a:endCxn id="43" idx="3"/>
          </p:cNvCxnSpPr>
          <p:nvPr/>
        </p:nvCxnSpPr>
        <p:spPr>
          <a:xfrm flipH="1">
            <a:off x="3913773" y="2284381"/>
            <a:ext cx="1076005" cy="5994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9B9B328-90E1-F747-856E-989930429295}"/>
              </a:ext>
            </a:extLst>
          </p:cNvPr>
          <p:cNvCxnSpPr>
            <a:cxnSpLocks/>
            <a:stCxn id="34" idx="1"/>
            <a:endCxn id="32" idx="3"/>
          </p:cNvCxnSpPr>
          <p:nvPr/>
        </p:nvCxnSpPr>
        <p:spPr>
          <a:xfrm flipH="1">
            <a:off x="1774467" y="3109468"/>
            <a:ext cx="56490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0E46187A-FEEB-CFE2-DC91-B7335F163B99}"/>
              </a:ext>
            </a:extLst>
          </p:cNvPr>
          <p:cNvSpPr/>
          <p:nvPr/>
        </p:nvSpPr>
        <p:spPr>
          <a:xfrm>
            <a:off x="2337427" y="1978062"/>
            <a:ext cx="1576346" cy="624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 Threshold Service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(Producer)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4CA2A4FD-6EFF-D367-72B9-A54DC86CE3B7}"/>
              </a:ext>
            </a:extLst>
          </p:cNvPr>
          <p:cNvSpPr/>
          <p:nvPr/>
        </p:nvSpPr>
        <p:spPr>
          <a:xfrm>
            <a:off x="4989778" y="2120657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user_settings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8E1ECAF-2BE5-8734-E64E-CD97CA15F7F2}"/>
              </a:ext>
            </a:extLst>
          </p:cNvPr>
          <p:cNvCxnSpPr>
            <a:cxnSpLocks/>
            <a:stCxn id="50" idx="3"/>
            <a:endCxn id="22" idx="1"/>
          </p:cNvCxnSpPr>
          <p:nvPr/>
        </p:nvCxnSpPr>
        <p:spPr>
          <a:xfrm flipV="1">
            <a:off x="6923453" y="1814095"/>
            <a:ext cx="931648" cy="47028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688B5FC-165F-2F6B-CD01-0C47DC410A82}"/>
              </a:ext>
            </a:extLst>
          </p:cNvPr>
          <p:cNvSpPr/>
          <p:nvPr/>
        </p:nvSpPr>
        <p:spPr>
          <a:xfrm>
            <a:off x="4992047" y="2931295"/>
            <a:ext cx="1933675" cy="327448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user_alerts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54AFAD2-FF6A-5167-986E-EBD3DAA8BDE8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6925722" y="2028708"/>
            <a:ext cx="929379" cy="106631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5386898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4FEC6-3A28-DEF6-034B-C03B43600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238EA23-CA13-2702-5E0B-ACC52644B29F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Some Recommendations – Big Data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8847B-5FEB-EA22-AED9-00B18A3F9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1700" dirty="0"/>
              <a:t>It’s common to have generic connectors to </a:t>
            </a:r>
            <a:r>
              <a:rPr lang="hu-HU" sz="1700" b="1" dirty="0"/>
              <a:t>offload data from Kafka</a:t>
            </a:r>
            <a:r>
              <a:rPr lang="hu-HU" sz="1700" dirty="0"/>
              <a:t> to </a:t>
            </a:r>
            <a:r>
              <a:rPr lang="hu-HU" sz="1700" b="1" dirty="0"/>
              <a:t>HDFS, Amazon S3, ElasticSearch, ...</a:t>
            </a:r>
          </a:p>
          <a:p>
            <a:endParaRPr lang="hu-HU" sz="1700" b="1" dirty="0"/>
          </a:p>
          <a:p>
            <a:r>
              <a:rPr lang="hu-HU" sz="1700" dirty="0"/>
              <a:t>It’s also common to have Kafka serve both:</a:t>
            </a:r>
          </a:p>
          <a:p>
            <a:pPr lvl="1"/>
            <a:r>
              <a:rPr lang="hu-HU" sz="1500" dirty="0"/>
              <a:t>a „speed layer” for real-time applications</a:t>
            </a:r>
          </a:p>
          <a:p>
            <a:pPr lvl="1"/>
            <a:r>
              <a:rPr lang="hu-HU" sz="1500" dirty="0"/>
              <a:t>a „slow layer” for data ingestion into stores for later analytics</a:t>
            </a:r>
          </a:p>
          <a:p>
            <a:pPr lvl="1"/>
            <a:endParaRPr lang="hu-HU" sz="1500" dirty="0"/>
          </a:p>
          <a:p>
            <a:r>
              <a:rPr lang="hu-HU" sz="1700" dirty="0"/>
              <a:t>In Big Data is a common pattern to have Kafka as an „ingestion buffer” in front of some stores.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1033459117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6CD7C-B164-9A5D-831C-C1B835892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7EC365-745D-4665-41C2-45367051DBFA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Some Recommendations – Big Data</a:t>
            </a:r>
            <a:endParaRPr lang="en-U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E9495D-0BDA-BD8B-E63D-451084C44505}"/>
              </a:ext>
            </a:extLst>
          </p:cNvPr>
          <p:cNvGrpSpPr/>
          <p:nvPr/>
        </p:nvGrpSpPr>
        <p:grpSpPr>
          <a:xfrm>
            <a:off x="3089800" y="1366534"/>
            <a:ext cx="1902248" cy="1152587"/>
            <a:chOff x="4588473" y="913408"/>
            <a:chExt cx="2723951" cy="157579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8A88469-DC89-6FE9-A6CE-267F30592ADE}"/>
                </a:ext>
              </a:extLst>
            </p:cNvPr>
            <p:cNvSpPr/>
            <p:nvPr/>
          </p:nvSpPr>
          <p:spPr>
            <a:xfrm>
              <a:off x="4588473" y="913408"/>
              <a:ext cx="2723951" cy="1575792"/>
            </a:xfrm>
            <a:prstGeom prst="roundRect">
              <a:avLst>
                <a:gd name="adj" fmla="val 5783"/>
              </a:avLst>
            </a:prstGeom>
            <a:ln>
              <a:solidFill>
                <a:srgbClr val="012851"/>
              </a:solidFill>
              <a:prstDash val="dash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pic>
          <p:nvPicPr>
            <p:cNvPr id="5" name="Picture 2" descr="Apache Kafka">
              <a:extLst>
                <a:ext uri="{FF2B5EF4-FFF2-40B4-BE49-F238E27FC236}">
                  <a16:creationId xmlns:a16="http://schemas.microsoft.com/office/drawing/2014/main" id="{77FA4582-EE8C-1378-7D10-84D6F593B7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8299" y="1389458"/>
              <a:ext cx="1524721" cy="6950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9FC7A0F-D364-AB3A-18E4-4628AC94F387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2438136" y="1942828"/>
            <a:ext cx="65166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E76A603D-9369-CCF4-C643-99F3357CFEA5}"/>
              </a:ext>
            </a:extLst>
          </p:cNvPr>
          <p:cNvSpPr/>
          <p:nvPr/>
        </p:nvSpPr>
        <p:spPr>
          <a:xfrm>
            <a:off x="8550471" y="1246489"/>
            <a:ext cx="1855522" cy="4673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Real-Time Analytics</a:t>
            </a:r>
            <a:endParaRPr lang="en-US" sz="13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CAFCC7-74E8-71B5-5A99-06F777D50C3A}"/>
              </a:ext>
            </a:extLst>
          </p:cNvPr>
          <p:cNvSpPr txBox="1"/>
          <p:nvPr/>
        </p:nvSpPr>
        <p:spPr>
          <a:xfrm>
            <a:off x="582614" y="1246489"/>
            <a:ext cx="1855522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Producers </a:t>
            </a:r>
            <a:endParaRPr lang="hu-HU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/>
            <a:endParaRPr lang="hu-HU" sz="1400" b="1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Apps</a:t>
            </a:r>
          </a:p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Websites</a:t>
            </a:r>
          </a:p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Financial Systems</a:t>
            </a:r>
          </a:p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Email</a:t>
            </a:r>
          </a:p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Consumer Data</a:t>
            </a:r>
          </a:p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Databases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38E3A4-17E6-394A-B264-9A878F767FCC}"/>
              </a:ext>
            </a:extLst>
          </p:cNvPr>
          <p:cNvSpPr txBox="1"/>
          <p:nvPr/>
        </p:nvSpPr>
        <p:spPr>
          <a:xfrm>
            <a:off x="5643712" y="1246489"/>
            <a:ext cx="2011410" cy="16587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Big Data Processing Frameworks </a:t>
            </a:r>
            <a:endParaRPr lang="hu-HU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/>
            <a:endParaRPr lang="hu-HU" sz="1400" b="1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Spark</a:t>
            </a:r>
          </a:p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Storm</a:t>
            </a:r>
          </a:p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Flink</a:t>
            </a:r>
          </a:p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...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A048E89-664F-66C0-2CDE-A2CBC7B589A4}"/>
              </a:ext>
            </a:extLst>
          </p:cNvPr>
          <p:cNvCxnSpPr>
            <a:cxnSpLocks/>
          </p:cNvCxnSpPr>
          <p:nvPr/>
        </p:nvCxnSpPr>
        <p:spPr>
          <a:xfrm>
            <a:off x="4992048" y="1922224"/>
            <a:ext cx="651664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DC236677-2C20-C2DF-70DE-30F794F72BB6}"/>
              </a:ext>
            </a:extLst>
          </p:cNvPr>
          <p:cNvSpPr/>
          <p:nvPr/>
        </p:nvSpPr>
        <p:spPr>
          <a:xfrm>
            <a:off x="8550471" y="1844423"/>
            <a:ext cx="1855522" cy="4673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Dashboards / Alerts</a:t>
            </a:r>
            <a:endParaRPr lang="en-US" sz="13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634B1F-75F6-27D3-91E7-7C716DC3DECC}"/>
              </a:ext>
            </a:extLst>
          </p:cNvPr>
          <p:cNvSpPr/>
          <p:nvPr/>
        </p:nvSpPr>
        <p:spPr>
          <a:xfrm>
            <a:off x="8550471" y="2437846"/>
            <a:ext cx="1855522" cy="4673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Apps / Consumers</a:t>
            </a:r>
            <a:endParaRPr lang="en-US" sz="13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B9CA5D5-FDBA-4A49-31D1-309B4F3575C4}"/>
              </a:ext>
            </a:extLst>
          </p:cNvPr>
          <p:cNvSpPr/>
          <p:nvPr/>
        </p:nvSpPr>
        <p:spPr>
          <a:xfrm>
            <a:off x="5643712" y="4493443"/>
            <a:ext cx="2011410" cy="4673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b="1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Hadoop</a:t>
            </a:r>
            <a:endParaRPr lang="en-US" sz="1300" b="1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73A833-1AB2-797D-8747-EF29EA0CD816}"/>
              </a:ext>
            </a:extLst>
          </p:cNvPr>
          <p:cNvSpPr/>
          <p:nvPr/>
        </p:nvSpPr>
        <p:spPr>
          <a:xfrm>
            <a:off x="5643712" y="5091377"/>
            <a:ext cx="2011410" cy="4673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b="1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Amazon S3</a:t>
            </a:r>
            <a:endParaRPr lang="en-US" sz="1300" b="1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8F41B7-B71C-6DE4-1A0B-A11439C6FEC8}"/>
              </a:ext>
            </a:extLst>
          </p:cNvPr>
          <p:cNvSpPr/>
          <p:nvPr/>
        </p:nvSpPr>
        <p:spPr>
          <a:xfrm>
            <a:off x="5643712" y="5684800"/>
            <a:ext cx="2011410" cy="4673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b="1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RDBMS</a:t>
            </a:r>
            <a:endParaRPr lang="en-US" sz="1300" b="1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7B34D6-7701-A156-5DA7-FDF2210ECF62}"/>
              </a:ext>
            </a:extLst>
          </p:cNvPr>
          <p:cNvSpPr/>
          <p:nvPr/>
        </p:nvSpPr>
        <p:spPr>
          <a:xfrm>
            <a:off x="8550471" y="4211507"/>
            <a:ext cx="1855522" cy="4673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Science</a:t>
            </a:r>
            <a:endParaRPr lang="en-US" sz="13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0ADDDEC-71CA-BE2A-095E-56565E19A0CC}"/>
              </a:ext>
            </a:extLst>
          </p:cNvPr>
          <p:cNvSpPr/>
          <p:nvPr/>
        </p:nvSpPr>
        <p:spPr>
          <a:xfrm>
            <a:off x="8550471" y="4809441"/>
            <a:ext cx="1855522" cy="4673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Reporting</a:t>
            </a:r>
            <a:endParaRPr lang="en-US" sz="13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3A9AC17-2176-A4DF-F4AD-1217C2690490}"/>
              </a:ext>
            </a:extLst>
          </p:cNvPr>
          <p:cNvSpPr/>
          <p:nvPr/>
        </p:nvSpPr>
        <p:spPr>
          <a:xfrm>
            <a:off x="8550471" y="5402864"/>
            <a:ext cx="1855522" cy="4673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Audit</a:t>
            </a:r>
            <a:endParaRPr lang="en-US" sz="13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5F9132F-9986-A867-3F9C-C39BA990023C}"/>
              </a:ext>
            </a:extLst>
          </p:cNvPr>
          <p:cNvSpPr/>
          <p:nvPr/>
        </p:nvSpPr>
        <p:spPr>
          <a:xfrm>
            <a:off x="8550471" y="5985168"/>
            <a:ext cx="1855522" cy="4673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Backup / </a:t>
            </a:r>
          </a:p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Long Term Storage</a:t>
            </a:r>
            <a:endParaRPr lang="en-US" sz="13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ED809666-B464-9BA0-CBA4-CF35A0CB6116}"/>
              </a:ext>
            </a:extLst>
          </p:cNvPr>
          <p:cNvCxnSpPr>
            <a:cxnSpLocks/>
            <a:stCxn id="4" idx="2"/>
            <a:endCxn id="32" idx="1"/>
          </p:cNvCxnSpPr>
          <p:nvPr/>
        </p:nvCxnSpPr>
        <p:spPr>
          <a:xfrm rot="16200000" flipH="1">
            <a:off x="3738314" y="2821731"/>
            <a:ext cx="2208009" cy="1602788"/>
          </a:xfrm>
          <a:prstGeom prst="bentConnector2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F89C7075-D9BA-9519-1102-872E7C8C14BB}"/>
              </a:ext>
            </a:extLst>
          </p:cNvPr>
          <p:cNvCxnSpPr>
            <a:cxnSpLocks/>
            <a:stCxn id="4" idx="2"/>
            <a:endCxn id="33" idx="1"/>
          </p:cNvCxnSpPr>
          <p:nvPr/>
        </p:nvCxnSpPr>
        <p:spPr>
          <a:xfrm rot="16200000" flipH="1">
            <a:off x="3439347" y="3120698"/>
            <a:ext cx="2805943" cy="1602788"/>
          </a:xfrm>
          <a:prstGeom prst="bentConnector2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1CB8E8B6-8554-0850-3479-65FD0845EA25}"/>
              </a:ext>
            </a:extLst>
          </p:cNvPr>
          <p:cNvCxnSpPr>
            <a:cxnSpLocks/>
            <a:stCxn id="4" idx="2"/>
            <a:endCxn id="34" idx="1"/>
          </p:cNvCxnSpPr>
          <p:nvPr/>
        </p:nvCxnSpPr>
        <p:spPr>
          <a:xfrm rot="16200000" flipH="1">
            <a:off x="3142635" y="3417410"/>
            <a:ext cx="3399366" cy="1602788"/>
          </a:xfrm>
          <a:prstGeom prst="bentConnector2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Arrow: Right 48">
            <a:extLst>
              <a:ext uri="{FF2B5EF4-FFF2-40B4-BE49-F238E27FC236}">
                <a16:creationId xmlns:a16="http://schemas.microsoft.com/office/drawing/2014/main" id="{E9C039EB-600F-5E73-C803-B0C11A8E9ADB}"/>
              </a:ext>
            </a:extLst>
          </p:cNvPr>
          <p:cNvSpPr/>
          <p:nvPr/>
        </p:nvSpPr>
        <p:spPr>
          <a:xfrm>
            <a:off x="7850825" y="5129466"/>
            <a:ext cx="528984" cy="39119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B044524B-26C5-6C2B-B46C-427D3622D80C}"/>
              </a:ext>
            </a:extLst>
          </p:cNvPr>
          <p:cNvSpPr/>
          <p:nvPr/>
        </p:nvSpPr>
        <p:spPr>
          <a:xfrm>
            <a:off x="7826411" y="1880257"/>
            <a:ext cx="528984" cy="39119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4B17FE9-8988-B89E-DDEE-1589E982DA86}"/>
              </a:ext>
            </a:extLst>
          </p:cNvPr>
          <p:cNvSpPr txBox="1"/>
          <p:nvPr/>
        </p:nvSpPr>
        <p:spPr>
          <a:xfrm rot="5400000">
            <a:off x="10219693" y="1921965"/>
            <a:ext cx="1855522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REAL TIME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CB664B1-E73E-E587-555C-899BEFB45E31}"/>
              </a:ext>
            </a:extLst>
          </p:cNvPr>
          <p:cNvSpPr txBox="1"/>
          <p:nvPr/>
        </p:nvSpPr>
        <p:spPr>
          <a:xfrm rot="5400000">
            <a:off x="10219693" y="4992676"/>
            <a:ext cx="1855522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hu-HU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BATCH</a:t>
            </a:r>
            <a:endParaRPr lang="en-US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FE0F869-F4EC-5269-2EA3-922B869230C8}"/>
              </a:ext>
            </a:extLst>
          </p:cNvPr>
          <p:cNvCxnSpPr>
            <a:cxnSpLocks/>
          </p:cNvCxnSpPr>
          <p:nvPr/>
        </p:nvCxnSpPr>
        <p:spPr>
          <a:xfrm>
            <a:off x="5643712" y="3712924"/>
            <a:ext cx="6141888" cy="0"/>
          </a:xfrm>
          <a:prstGeom prst="straightConnector1">
            <a:avLst/>
          </a:prstGeom>
          <a:ln w="3175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7593225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BBE3B-5CB0-9B37-B67F-2B617EDF2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3B171BA-EAF4-DBA5-E5A0-4B817BD75D17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hu-HU" dirty="0"/>
              <a:t>Some Recommendations – Logging and Metrics Aggregation</a:t>
            </a:r>
            <a:endParaRPr lang="en-US" dirty="0"/>
          </a:p>
        </p:txBody>
      </p:sp>
      <p:sp>
        <p:nvSpPr>
          <p:cNvPr id="77" name="Content Placeholder 2">
            <a:extLst>
              <a:ext uri="{FF2B5EF4-FFF2-40B4-BE49-F238E27FC236}">
                <a16:creationId xmlns:a16="http://schemas.microsoft.com/office/drawing/2014/main" id="{8994C245-C008-D295-EF0F-A448925F4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4" y="875900"/>
            <a:ext cx="11877675" cy="1761317"/>
          </a:xfrm>
        </p:spPr>
        <p:txBody>
          <a:bodyPr/>
          <a:lstStyle/>
          <a:p>
            <a:r>
              <a:rPr lang="hu-HU" dirty="0"/>
              <a:t>One of the first use case of Kafka was to ingest logs and metrics from various applications</a:t>
            </a:r>
          </a:p>
          <a:p>
            <a:r>
              <a:rPr lang="hu-HU" dirty="0"/>
              <a:t>This usually requires:</a:t>
            </a:r>
          </a:p>
          <a:p>
            <a:pPr lvl="1"/>
            <a:r>
              <a:rPr lang="hu-HU" dirty="0"/>
              <a:t>high throughput</a:t>
            </a:r>
          </a:p>
          <a:p>
            <a:pPr lvl="1"/>
            <a:r>
              <a:rPr lang="hu-HU" dirty="0"/>
              <a:t>has less restriction on data loss, replication of data</a:t>
            </a:r>
          </a:p>
          <a:p>
            <a:r>
              <a:rPr lang="hu-HU" dirty="0"/>
              <a:t>Logs can end up in Splunk, CloudWatch, ELK, Prometheus, ...</a:t>
            </a:r>
          </a:p>
          <a:p>
            <a:endParaRPr lang="hu-HU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B5B55C-75D5-EE8C-6CF8-71DC670A3F11}"/>
              </a:ext>
            </a:extLst>
          </p:cNvPr>
          <p:cNvSpPr/>
          <p:nvPr/>
        </p:nvSpPr>
        <p:spPr>
          <a:xfrm>
            <a:off x="4669182" y="3284131"/>
            <a:ext cx="2723951" cy="2181609"/>
          </a:xfrm>
          <a:prstGeom prst="roundRect">
            <a:avLst>
              <a:gd name="adj" fmla="val 5783"/>
            </a:avLst>
          </a:prstGeom>
          <a:ln>
            <a:solidFill>
              <a:srgbClr val="01285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5" name="Picture 2" descr="Apache Kafka">
            <a:extLst>
              <a:ext uri="{FF2B5EF4-FFF2-40B4-BE49-F238E27FC236}">
                <a16:creationId xmlns:a16="http://schemas.microsoft.com/office/drawing/2014/main" id="{A8A9EA0D-C3D4-5366-1E87-38BA5626B0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1473" y="3398115"/>
            <a:ext cx="958718" cy="43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9F224F-4BCD-1228-9045-0F44ACC5940D}"/>
              </a:ext>
            </a:extLst>
          </p:cNvPr>
          <p:cNvSpPr/>
          <p:nvPr/>
        </p:nvSpPr>
        <p:spPr>
          <a:xfrm>
            <a:off x="5070487" y="3949115"/>
            <a:ext cx="1933675" cy="327448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logs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D2969C-E54C-03A9-692E-20E6088C6844}"/>
              </a:ext>
            </a:extLst>
          </p:cNvPr>
          <p:cNvSpPr/>
          <p:nvPr/>
        </p:nvSpPr>
        <p:spPr>
          <a:xfrm>
            <a:off x="2419069" y="3295081"/>
            <a:ext cx="1576346" cy="458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Log Forwarder</a:t>
            </a: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(Producer)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FCB156-0DC1-9FED-E3EC-1D86688EF40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995415" y="3524441"/>
            <a:ext cx="1077341" cy="472722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DA12175-46F1-03CB-3A93-8A8D41F09554}"/>
              </a:ext>
            </a:extLst>
          </p:cNvPr>
          <p:cNvCxnSpPr>
            <a:cxnSpLocks/>
            <a:stCxn id="21" idx="3"/>
          </p:cNvCxnSpPr>
          <p:nvPr/>
        </p:nvCxnSpPr>
        <p:spPr>
          <a:xfrm flipV="1">
            <a:off x="3996426" y="4766273"/>
            <a:ext cx="1076330" cy="59174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4F7D4D8D-5C98-A0D0-7EA8-F81DD9793A75}"/>
              </a:ext>
            </a:extLst>
          </p:cNvPr>
          <p:cNvSpPr/>
          <p:nvPr/>
        </p:nvSpPr>
        <p:spPr>
          <a:xfrm>
            <a:off x="7647053" y="3863342"/>
            <a:ext cx="2107046" cy="485745"/>
          </a:xfrm>
          <a:prstGeom prst="rect">
            <a:avLst/>
          </a:prstGeom>
          <a:solidFill>
            <a:srgbClr val="01286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Kafka Connect Sink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C86546E-FE71-30DD-6F10-F3FB8615723C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 flipV="1">
            <a:off x="7004162" y="4106215"/>
            <a:ext cx="642891" cy="6624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D10410-AAD5-7A52-1DE2-6FC23C9FA5D7}"/>
              </a:ext>
            </a:extLst>
          </p:cNvPr>
          <p:cNvSpPr/>
          <p:nvPr/>
        </p:nvSpPr>
        <p:spPr>
          <a:xfrm>
            <a:off x="473839" y="3343550"/>
            <a:ext cx="1392891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 1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0D16A14-3180-2FC5-3283-97A35FDE5AAC}"/>
              </a:ext>
            </a:extLst>
          </p:cNvPr>
          <p:cNvSpPr/>
          <p:nvPr/>
        </p:nvSpPr>
        <p:spPr>
          <a:xfrm>
            <a:off x="2420080" y="5167878"/>
            <a:ext cx="1576346" cy="380272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Metrics Collector</a:t>
            </a:r>
            <a:endParaRPr lang="hu-HU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/>
            <a:r>
              <a:rPr lang="hu-HU" sz="13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(Producer)</a:t>
            </a:r>
            <a:endParaRPr lang="en-US" sz="13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400DCCB-8FF8-31A0-E884-3BA8EEC5AF4D}"/>
              </a:ext>
            </a:extLst>
          </p:cNvPr>
          <p:cNvCxnSpPr>
            <a:cxnSpLocks/>
            <a:stCxn id="16" idx="3"/>
            <a:endCxn id="7" idx="1"/>
          </p:cNvCxnSpPr>
          <p:nvPr/>
        </p:nvCxnSpPr>
        <p:spPr>
          <a:xfrm flipV="1">
            <a:off x="1866730" y="3524441"/>
            <a:ext cx="552339" cy="82953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702C0DD-97AB-BEBC-DB75-09AA8FAE8C30}"/>
              </a:ext>
            </a:extLst>
          </p:cNvPr>
          <p:cNvCxnSpPr>
            <a:cxnSpLocks/>
            <a:stCxn id="66" idx="3"/>
            <a:endCxn id="33" idx="1"/>
          </p:cNvCxnSpPr>
          <p:nvPr/>
        </p:nvCxnSpPr>
        <p:spPr>
          <a:xfrm>
            <a:off x="1865154" y="4411870"/>
            <a:ext cx="3205333" cy="243234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6BFEA0D-527E-8592-FC9B-CF2348F5060D}"/>
              </a:ext>
            </a:extLst>
          </p:cNvPr>
          <p:cNvCxnSpPr>
            <a:cxnSpLocks/>
            <a:stCxn id="67" idx="3"/>
            <a:endCxn id="21" idx="1"/>
          </p:cNvCxnSpPr>
          <p:nvPr/>
        </p:nvCxnSpPr>
        <p:spPr>
          <a:xfrm>
            <a:off x="1865153" y="5201898"/>
            <a:ext cx="554927" cy="156116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8BAE2F1-21D7-B585-C784-EF80C451CAC4}"/>
              </a:ext>
            </a:extLst>
          </p:cNvPr>
          <p:cNvSpPr/>
          <p:nvPr/>
        </p:nvSpPr>
        <p:spPr>
          <a:xfrm>
            <a:off x="5070487" y="4491380"/>
            <a:ext cx="1933675" cy="327448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metrics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297B215-C0C3-F2DF-9034-EE9E15F497D9}"/>
              </a:ext>
            </a:extLst>
          </p:cNvPr>
          <p:cNvCxnSpPr>
            <a:cxnSpLocks/>
            <a:stCxn id="33" idx="3"/>
            <a:endCxn id="75" idx="1"/>
          </p:cNvCxnSpPr>
          <p:nvPr/>
        </p:nvCxnSpPr>
        <p:spPr>
          <a:xfrm>
            <a:off x="7004162" y="4655104"/>
            <a:ext cx="642891" cy="0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AB17E0BF-ADC9-CE59-7444-A3EA3D9A3C16}"/>
              </a:ext>
            </a:extLst>
          </p:cNvPr>
          <p:cNvSpPr/>
          <p:nvPr/>
        </p:nvSpPr>
        <p:spPr>
          <a:xfrm>
            <a:off x="472263" y="4148026"/>
            <a:ext cx="1392891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 2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01E4A82-A1F4-0846-0A6D-2C76A52E239D}"/>
              </a:ext>
            </a:extLst>
          </p:cNvPr>
          <p:cNvSpPr/>
          <p:nvPr/>
        </p:nvSpPr>
        <p:spPr>
          <a:xfrm>
            <a:off x="472262" y="4938054"/>
            <a:ext cx="1392891" cy="52768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 3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EDE20124-D453-8627-C8AD-D1C113736821}"/>
              </a:ext>
            </a:extLst>
          </p:cNvPr>
          <p:cNvSpPr/>
          <p:nvPr/>
        </p:nvSpPr>
        <p:spPr>
          <a:xfrm>
            <a:off x="7647053" y="4412231"/>
            <a:ext cx="2107046" cy="48574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Kafka Connect Sink</a:t>
            </a:r>
            <a:endParaRPr lang="en-US" sz="1400" i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0D6B2DF9-27BF-8132-9112-361908CC8B21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1866730" y="3607394"/>
            <a:ext cx="3206026" cy="929519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4F2EB7D7-5873-7D4D-7568-39E44B7BC71F}"/>
              </a:ext>
            </a:extLst>
          </p:cNvPr>
          <p:cNvCxnSpPr>
            <a:cxnSpLocks/>
            <a:stCxn id="66" idx="3"/>
            <a:endCxn id="6" idx="1"/>
          </p:cNvCxnSpPr>
          <p:nvPr/>
        </p:nvCxnSpPr>
        <p:spPr>
          <a:xfrm flipV="1">
            <a:off x="1865154" y="4112839"/>
            <a:ext cx="3205333" cy="299031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AA6C871B-9104-0E1D-1E9C-72FDD93B0526}"/>
              </a:ext>
            </a:extLst>
          </p:cNvPr>
          <p:cNvCxnSpPr>
            <a:cxnSpLocks/>
            <a:stCxn id="67" idx="3"/>
          </p:cNvCxnSpPr>
          <p:nvPr/>
        </p:nvCxnSpPr>
        <p:spPr>
          <a:xfrm flipV="1">
            <a:off x="1865153" y="4226523"/>
            <a:ext cx="3207603" cy="975375"/>
          </a:xfrm>
          <a:prstGeom prst="straightConnector1">
            <a:avLst/>
          </a:prstGeom>
          <a:ln>
            <a:solidFill>
              <a:srgbClr val="0128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Arrow: Right 109">
            <a:extLst>
              <a:ext uri="{FF2B5EF4-FFF2-40B4-BE49-F238E27FC236}">
                <a16:creationId xmlns:a16="http://schemas.microsoft.com/office/drawing/2014/main" id="{D3C982C6-01A2-AA32-6175-D20E6A016C89}"/>
              </a:ext>
            </a:extLst>
          </p:cNvPr>
          <p:cNvSpPr/>
          <p:nvPr/>
        </p:nvSpPr>
        <p:spPr>
          <a:xfrm>
            <a:off x="9907126" y="4183147"/>
            <a:ext cx="389948" cy="3834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F0F956B-0F97-D98B-1FFA-70D228A6D313}"/>
              </a:ext>
            </a:extLst>
          </p:cNvPr>
          <p:cNvSpPr/>
          <p:nvPr/>
        </p:nvSpPr>
        <p:spPr>
          <a:xfrm>
            <a:off x="10450102" y="3640496"/>
            <a:ext cx="1242988" cy="148865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300" b="1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Analytics</a:t>
            </a:r>
            <a:endParaRPr lang="en-US" sz="1300" b="1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3109526"/>
      </p:ext>
    </p:extLst>
  </p:cSld>
  <p:clrMapOvr>
    <a:masterClrMapping/>
  </p:clrMapOvr>
</p:sld>
</file>

<file path=ppt/theme/theme1.xml><?xml version="1.0" encoding="utf-8"?>
<a:theme xmlns:a="http://schemas.openxmlformats.org/drawingml/2006/main" name="címdi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62969</TotalTime>
  <Words>19344</Words>
  <Application>Microsoft Office PowerPoint</Application>
  <PresentationFormat>Widescreen</PresentationFormat>
  <Paragraphs>3674</Paragraphs>
  <Slides>190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190</vt:i4>
      </vt:variant>
    </vt:vector>
  </HeadingPairs>
  <TitlesOfParts>
    <vt:vector size="201" baseType="lpstr">
      <vt:lpstr>-apple-system</vt:lpstr>
      <vt:lpstr>Arial</vt:lpstr>
      <vt:lpstr>Calibri</vt:lpstr>
      <vt:lpstr>Courier New</vt:lpstr>
      <vt:lpstr>Inter</vt:lpstr>
      <vt:lpstr>Nunito</vt:lpstr>
      <vt:lpstr>Open Sans</vt:lpstr>
      <vt:lpstr>Roboto</vt:lpstr>
      <vt:lpstr>source-code-pro</vt:lpstr>
      <vt:lpstr>Wingdings</vt:lpstr>
      <vt:lpstr>címdia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PREZENTÁCIÓ CÍME prezentáció alcíme</dc:title>
  <dc:creator>Microsoft Office User</dc:creator>
  <cp:lastModifiedBy>Szabó Dávid</cp:lastModifiedBy>
  <cp:revision>2479</cp:revision>
  <dcterms:created xsi:type="dcterms:W3CDTF">2021-07-01T15:39:11Z</dcterms:created>
  <dcterms:modified xsi:type="dcterms:W3CDTF">2025-10-01T19:36:25Z</dcterms:modified>
</cp:coreProperties>
</file>