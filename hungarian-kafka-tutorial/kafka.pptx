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72" r:id="rId2"/>
    <p:sldId id="665" r:id="rId3"/>
    <p:sldId id="739" r:id="rId4"/>
    <p:sldId id="651" r:id="rId5"/>
    <p:sldId id="648" r:id="rId6"/>
    <p:sldId id="649" r:id="rId7"/>
    <p:sldId id="650" r:id="rId8"/>
    <p:sldId id="647" r:id="rId9"/>
    <p:sldId id="675" r:id="rId10"/>
    <p:sldId id="659" r:id="rId11"/>
    <p:sldId id="664" r:id="rId12"/>
    <p:sldId id="660" r:id="rId13"/>
    <p:sldId id="663" r:id="rId14"/>
    <p:sldId id="577" r:id="rId15"/>
    <p:sldId id="477" r:id="rId16"/>
    <p:sldId id="479" r:id="rId17"/>
    <p:sldId id="480" r:id="rId18"/>
    <p:sldId id="478" r:id="rId19"/>
    <p:sldId id="481" r:id="rId20"/>
    <p:sldId id="483" r:id="rId21"/>
    <p:sldId id="485" r:id="rId22"/>
    <p:sldId id="486" r:id="rId23"/>
    <p:sldId id="487" r:id="rId24"/>
    <p:sldId id="488" r:id="rId25"/>
    <p:sldId id="489" r:id="rId26"/>
    <p:sldId id="484" r:id="rId27"/>
    <p:sldId id="490" r:id="rId28"/>
    <p:sldId id="492" r:id="rId29"/>
    <p:sldId id="491" r:id="rId30"/>
    <p:sldId id="493" r:id="rId31"/>
    <p:sldId id="494" r:id="rId32"/>
    <p:sldId id="495" r:id="rId33"/>
    <p:sldId id="496" r:id="rId34"/>
    <p:sldId id="498" r:id="rId35"/>
    <p:sldId id="499" r:id="rId36"/>
    <p:sldId id="500" r:id="rId37"/>
    <p:sldId id="501" r:id="rId38"/>
    <p:sldId id="578" r:id="rId39"/>
    <p:sldId id="502" r:id="rId40"/>
    <p:sldId id="503" r:id="rId41"/>
    <p:sldId id="678" r:id="rId42"/>
    <p:sldId id="679" r:id="rId43"/>
    <p:sldId id="504" r:id="rId44"/>
    <p:sldId id="505" r:id="rId45"/>
    <p:sldId id="506" r:id="rId46"/>
    <p:sldId id="507" r:id="rId47"/>
    <p:sldId id="508" r:id="rId4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67FB5723-5C98-4E50-8FBE-C6102749F9D5}">
          <p14:sldIdLst/>
        </p14:section>
        <p14:section name="Bevezetés" id="{E853FD44-0C7C-4453-9B9A-F8B6C754D54E}">
          <p14:sldIdLst>
            <p14:sldId id="272"/>
            <p14:sldId id="665"/>
            <p14:sldId id="739"/>
            <p14:sldId id="651"/>
            <p14:sldId id="648"/>
            <p14:sldId id="649"/>
            <p14:sldId id="650"/>
            <p14:sldId id="647"/>
            <p14:sldId id="675"/>
            <p14:sldId id="659"/>
            <p14:sldId id="664"/>
            <p14:sldId id="660"/>
            <p14:sldId id="663"/>
          </p14:sldIdLst>
        </p14:section>
        <p14:section name="Alapfogalmak" id="{ABE65268-1534-4962-9D24-683F9D4BD629}">
          <p14:sldIdLst>
            <p14:sldId id="577"/>
            <p14:sldId id="477"/>
            <p14:sldId id="479"/>
            <p14:sldId id="480"/>
            <p14:sldId id="478"/>
            <p14:sldId id="481"/>
            <p14:sldId id="483"/>
            <p14:sldId id="485"/>
            <p14:sldId id="486"/>
            <p14:sldId id="487"/>
            <p14:sldId id="488"/>
            <p14:sldId id="489"/>
            <p14:sldId id="484"/>
            <p14:sldId id="490"/>
            <p14:sldId id="492"/>
            <p14:sldId id="491"/>
            <p14:sldId id="493"/>
            <p14:sldId id="494"/>
            <p14:sldId id="495"/>
            <p14:sldId id="496"/>
            <p14:sldId id="498"/>
            <p14:sldId id="499"/>
            <p14:sldId id="500"/>
            <p14:sldId id="501"/>
          </p14:sldIdLst>
        </p14:section>
        <p14:section name="Kafka CLI" id="{435FD00D-4562-4DEA-8390-1575A803715C}">
          <p14:sldIdLst>
            <p14:sldId id="578"/>
            <p14:sldId id="502"/>
            <p14:sldId id="503"/>
            <p14:sldId id="678"/>
            <p14:sldId id="679"/>
            <p14:sldId id="504"/>
            <p14:sldId id="505"/>
            <p14:sldId id="506"/>
            <p14:sldId id="507"/>
            <p14:sldId id="5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-felhasználó" initials="W" lastIdx="2" clrIdx="0">
    <p:extLst>
      <p:ext uri="{19B8F6BF-5375-455C-9EA6-DF929625EA0E}">
        <p15:presenceInfo xmlns:p15="http://schemas.microsoft.com/office/powerpoint/2012/main" userId="8e497090a0d7aaa3" providerId="Windows Live"/>
      </p:ext>
    </p:extLst>
  </p:cmAuthor>
  <p:cmAuthor id="2" name="Dávid Szabó" initials="DS" lastIdx="1" clrIdx="1">
    <p:extLst>
      <p:ext uri="{19B8F6BF-5375-455C-9EA6-DF929625EA0E}">
        <p15:presenceInfo xmlns:p15="http://schemas.microsoft.com/office/powerpoint/2012/main" userId="Dávid Szabó" providerId="None"/>
      </p:ext>
    </p:extLst>
  </p:cmAuthor>
  <p:cmAuthor id="3" name="Szabó, Dávid" initials="SD" lastIdx="1" clrIdx="2">
    <p:extLst>
      <p:ext uri="{19B8F6BF-5375-455C-9EA6-DF929625EA0E}">
        <p15:presenceInfo xmlns:p15="http://schemas.microsoft.com/office/powerpoint/2012/main" userId="Szabó, Dávid" providerId="None"/>
      </p:ext>
    </p:extLst>
  </p:cmAuthor>
  <p:cmAuthor id="4" name="SzDávid" initials="SzD" lastIdx="2" clrIdx="3">
    <p:extLst>
      <p:ext uri="{19B8F6BF-5375-455C-9EA6-DF929625EA0E}">
        <p15:presenceInfo xmlns:p15="http://schemas.microsoft.com/office/powerpoint/2012/main" userId="SzDáv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863"/>
    <a:srgbClr val="667085"/>
    <a:srgbClr val="012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79592" autoAdjust="0"/>
  </p:normalViewPr>
  <p:slideViewPr>
    <p:cSldViewPr snapToGrid="0" snapToObjects="1">
      <p:cViewPr varScale="1">
        <p:scale>
          <a:sx n="49" d="100"/>
          <a:sy n="49" d="100"/>
        </p:scale>
        <p:origin x="128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4" d="100"/>
          <a:sy n="104" d="100"/>
        </p:scale>
        <p:origin x="55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12C39806-BB1D-8F56-1BD4-E8FD84A886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C5BF43A-04E9-CC17-BD51-B26CC338B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E59-BB6D-9C41-A61C-2D524682E115}" type="datetimeFigureOut">
              <a:rPr lang="hu-HU" smtClean="0"/>
              <a:t>2025. 09. 15.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8E5719-5CA3-B83A-6AB2-CC9AF2C948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441738D-8521-5BCA-A098-BEAAADEBC9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E7E85-FAC5-AA44-BBE8-3A2E745EC5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843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A393B-998D-3C45-ACA4-5C51E3A83922}" type="datetimeFigureOut">
              <a:rPr lang="hu-HU" smtClean="0"/>
              <a:t>2025. 09. 15.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B25AA-5A0B-7648-B33A-37E9A013F9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887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5810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7C42-6274-57B5-1398-80516D54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E377-8F02-9250-B7F3-A080E4C01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54248-4EEC-853B-34DD-40CEF7B5F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EA535-AC40-387A-0BA9-17ED3B24B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4497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8493-A1C4-EF58-A27E-6D1507DA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20CBD-D728-A5FB-BE65-123448DEE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97158-1319-5C25-7DCE-07047AA88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59A3F-FB6C-5DF9-3423-167BEDB4E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454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E6DA-2132-5F16-D17B-5D57218C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12DCD9-8331-E607-35A8-47E7E2555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DE690-D875-2198-4220-ECFB9A131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accounting, billing, CRM</a:t>
            </a:r>
            <a:r>
              <a:rPr lang="en-US" b="1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, 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websites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8C479-F07B-C7DC-8071-85CF8BDDF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338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9E77-D48D-78B7-E12C-0D54D74E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9318-8995-A682-C273-B2B7DD7FB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D46FA-21B2-6DA2-8691-1917ED0E6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accounting, billing, CRM</a:t>
            </a:r>
            <a:r>
              <a:rPr lang="en-US" b="1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, 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websites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D2C8E-020E-76E5-DF70-442A3A353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8418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9154A-6739-F6C3-FA28-539B07D23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512D3-C45E-E1DA-DB7E-AE597C6B2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ACEA8-FD35-3A03-27EF-D371E1C71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accounting, billing, CRM</a:t>
            </a:r>
            <a:r>
              <a:rPr lang="en-US" b="1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, 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  <a:latin typeface="Inter"/>
              </a:rPr>
              <a:t>websites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DDC56-D6D4-396B-5109-2DBFEBA6F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2069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4811-B708-0ED1-3FC9-5492C459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39F83-45FC-4238-7D33-A2A48584E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BA62A-C731-4152-8766-A26F7FFA6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4FF1A-8510-A0C2-62CA-C63B7B23F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1650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374C-C668-493C-B1CF-ABD95B15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FB77B-4655-C0F0-DB8A-B4E4A1817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E9841-339D-C67C-5A6F-F52E25215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D199A-E344-A03A-1D41-922960245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7930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1923-6BC7-F0D8-F43B-A81FD673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4F4A4-BA28-E4D2-9042-286B73933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5F059-FBBE-56E5-388A-5132D2046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5EAAF-FCE7-A833-0CF4-CB517F00E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4165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C72D-B7E1-7261-29C9-1204F5B9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E5791-AD82-ED37-D198-1235CF73C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8D9AE-BDBD-584E-FAE3-035955808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F3340-7BBD-8589-E840-2D7EF2AE6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1645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D343-F924-446C-A4AB-C3E996894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E770E-C1B3-803F-517D-D2544BAE8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E7213-6E2B-EF7B-C450-97D5E17BC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C0805-895A-127A-8367-18E9213FA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9356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6839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2131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6771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6221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5842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7958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9348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3478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352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8891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66907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7449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9268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09176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2239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2571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93061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26846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09211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40284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85214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8663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10">
            <a:extLst>
              <a:ext uri="{FF2B5EF4-FFF2-40B4-BE49-F238E27FC236}">
                <a16:creationId xmlns:a16="http://schemas.microsoft.com/office/drawing/2014/main" id="{831FA102-844C-755E-D247-CB3718711D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900" y="2029968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CÍME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DF9D8FEB-E57B-5F73-ADA2-8D7B7485DFA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900" y="2980944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alcíme</a:t>
            </a:r>
          </a:p>
        </p:txBody>
      </p:sp>
      <p:sp>
        <p:nvSpPr>
          <p:cNvPr id="7" name="Szöveg helye 10">
            <a:extLst>
              <a:ext uri="{FF2B5EF4-FFF2-40B4-BE49-F238E27FC236}">
                <a16:creationId xmlns:a16="http://schemas.microsoft.com/office/drawing/2014/main" id="{605BC215-EB6B-138C-D66F-E7064E16F28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8" name="Szöveg helye 10">
            <a:extLst>
              <a:ext uri="{FF2B5EF4-FFF2-40B4-BE49-F238E27FC236}">
                <a16:creationId xmlns:a16="http://schemas.microsoft.com/office/drawing/2014/main" id="{2A598985-FDB3-7140-588C-68FBF5A82B2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91323EAC-BA77-33AC-53B7-F24EA909AB2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32068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A933D47C-7F86-9A48-A1AD-EEBD81F9A6A8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940BA6A-A9B7-7219-4D85-FAE0F7D5ABF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55729B78-CCC8-F712-B7DB-176E91D2D6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1607437"/>
            <a:ext cx="10515600" cy="1846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ED6C24E1-FC98-931B-668F-1A2663E5498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82280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BA10B23C-BC2C-AA33-C513-FD8B9D46C29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</p:spTree>
    <p:extLst>
      <p:ext uri="{BB962C8B-B14F-4D97-AF65-F5344CB8AC3E}">
        <p14:creationId xmlns:p14="http://schemas.microsoft.com/office/powerpoint/2010/main" val="2131341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zövegblokk - 1 ké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34CE5A9-19D5-B7FF-F605-96F82FA4FB0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Kép helye 2">
            <a:extLst>
              <a:ext uri="{FF2B5EF4-FFF2-40B4-BE49-F238E27FC236}">
                <a16:creationId xmlns:a16="http://schemas.microsoft.com/office/drawing/2014/main" id="{23D20630-BBCE-AC6F-5896-1CEEB0015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67351" y="1579457"/>
            <a:ext cx="5886450" cy="50178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BC05F114-74F4-CAB6-3497-7C63660FE88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C43265EB-5A74-13B8-25EF-C234D04EBA7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82985"/>
            <a:ext cx="4391024" cy="5017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</p:spTree>
    <p:extLst>
      <p:ext uri="{BB962C8B-B14F-4D97-AF65-F5344CB8AC3E}">
        <p14:creationId xmlns:p14="http://schemas.microsoft.com/office/powerpoint/2010/main" val="20733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CE5C7C62-306F-C568-AC87-137E9C578BFC}"/>
              </a:ext>
            </a:extLst>
          </p:cNvPr>
          <p:cNvCxnSpPr>
            <a:cxnSpLocks/>
          </p:cNvCxnSpPr>
          <p:nvPr userDrawn="1"/>
        </p:nvCxnSpPr>
        <p:spPr>
          <a:xfrm>
            <a:off x="161924" y="748860"/>
            <a:ext cx="11877675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2B9E13B-D4C6-DDBF-DA2A-ED8F1AEADB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61924" y="219456"/>
            <a:ext cx="11877675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ACB07BB1-AB18-FE6A-D774-B35AB40BA5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24" y="847420"/>
            <a:ext cx="11877675" cy="579111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SzPct val="75000"/>
              <a:buFont typeface="Wingdings" panose="05000000000000000000" pitchFamily="2" charset="2"/>
              <a:buChar char="q"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</p:txBody>
      </p:sp>
    </p:spTree>
    <p:extLst>
      <p:ext uri="{BB962C8B-B14F-4D97-AF65-F5344CB8AC3E}">
        <p14:creationId xmlns:p14="http://schemas.microsoft.com/office/powerpoint/2010/main" val="323675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E4CEC806-06F8-0A8E-802F-451103EBAC0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737F6A48-F38F-FC31-62D0-11C22537C64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1E6D20BC-2EF9-211F-E045-74EB3321F44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0AB37620-467A-3358-9635-1AE991B2990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489704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4317DED-74F7-596D-46E5-4EFCB5B1B45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41207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0614727D-5F43-1091-F059-56358E38304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25303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FDFD7BA7-C2A9-595B-15D6-EDE5F7DAE2D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Kép helye 2">
            <a:extLst>
              <a:ext uri="{FF2B5EF4-FFF2-40B4-BE49-F238E27FC236}">
                <a16:creationId xmlns:a16="http://schemas.microsoft.com/office/drawing/2014/main" id="{9E45454F-C86C-2D65-C04B-55E626DA88A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265629" y="1579456"/>
            <a:ext cx="5067632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0" name="Kép helye 2">
            <a:extLst>
              <a:ext uri="{FF2B5EF4-FFF2-40B4-BE49-F238E27FC236}">
                <a16:creationId xmlns:a16="http://schemas.microsoft.com/office/drawing/2014/main" id="{176350A7-3ED8-9325-46CB-CA499869403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38200" y="1579456"/>
            <a:ext cx="5011973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1BFA0AC3-D5FA-244D-2DF5-5874C6467C5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6D82DBE0-A887-D830-B4E0-50498F0CA4C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5148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371C297-1CA5-94ED-2895-3B1AF69D27B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Kép helye 2">
            <a:extLst>
              <a:ext uri="{FF2B5EF4-FFF2-40B4-BE49-F238E27FC236}">
                <a16:creationId xmlns:a16="http://schemas.microsoft.com/office/drawing/2014/main" id="{B4B0655C-B169-D423-90AB-F5CB238B3C4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38199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0" name="Kép helye 2">
            <a:extLst>
              <a:ext uri="{FF2B5EF4-FFF2-40B4-BE49-F238E27FC236}">
                <a16:creationId xmlns:a16="http://schemas.microsoft.com/office/drawing/2014/main" id="{88B1D7E9-B3E8-D3A3-7C3B-46B669E00D4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639338" y="1579457"/>
            <a:ext cx="4693921" cy="4125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3" name="Kép helye 2">
            <a:extLst>
              <a:ext uri="{FF2B5EF4-FFF2-40B4-BE49-F238E27FC236}">
                <a16:creationId xmlns:a16="http://schemas.microsoft.com/office/drawing/2014/main" id="{DE50A8AD-DAA0-C470-251A-FB13BCEC03F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738768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8A66C65D-5136-21C7-C4AA-39F449F6F4A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765D96AD-EB0E-433E-7DD3-3FEB95FE9F4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175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 címm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D3B63919-F8C0-E45C-09D0-60059DD85486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Kép helye 2">
            <a:extLst>
              <a:ext uri="{FF2B5EF4-FFF2-40B4-BE49-F238E27FC236}">
                <a16:creationId xmlns:a16="http://schemas.microsoft.com/office/drawing/2014/main" id="{885801D2-AD3D-65D3-7B5C-D11229926A4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8200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31" name="Kép helye 2">
            <a:extLst>
              <a:ext uri="{FF2B5EF4-FFF2-40B4-BE49-F238E27FC236}">
                <a16:creationId xmlns:a16="http://schemas.microsoft.com/office/drawing/2014/main" id="{BA351229-7C81-1BF9-C349-D053BA83B11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31888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567F4794-7128-84D5-187A-87B98CBB4B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12964550-01B5-19AF-9500-49E3DD0D5A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9BE9CAC6-C1B1-88DE-E91F-5DF606EBF5F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32692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728694AA-87CB-BD28-118C-72EAD9263FD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64083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0CA8BCE7-0004-CA11-4864-2FBA560C6C6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0FAA482-BFF6-CAB1-8393-9DB2C3435DC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0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Diagram helye 10">
            <a:extLst>
              <a:ext uri="{FF2B5EF4-FFF2-40B4-BE49-F238E27FC236}">
                <a16:creationId xmlns:a16="http://schemas.microsoft.com/office/drawing/2014/main" id="{B11D781D-DBC5-AFF1-5464-03EB686EDB38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426343" y="1579563"/>
            <a:ext cx="6927457" cy="4060579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56913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jléc nélküli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824948"/>
            <a:ext cx="3212591" cy="4815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B18A01D-AB8A-1A1D-4805-AABE921EF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22305" y="824949"/>
            <a:ext cx="6831496" cy="4758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441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ábláz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áblázat helye 5">
            <a:extLst>
              <a:ext uri="{FF2B5EF4-FFF2-40B4-BE49-F238E27FC236}">
                <a16:creationId xmlns:a16="http://schemas.microsoft.com/office/drawing/2014/main" id="{A3ADE164-0269-1AA2-004B-8C8A82051E1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579457"/>
            <a:ext cx="10515598" cy="38558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F8F6AA8-C013-1657-CB5A-D3067FF15D45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D8E6700D-6881-9CCD-3252-E02F5676557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598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11CE3FB9-7112-50B3-73CE-4614F7CA610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50927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 helye 10">
            <a:extLst>
              <a:ext uri="{FF2B5EF4-FFF2-40B4-BE49-F238E27FC236}">
                <a16:creationId xmlns:a16="http://schemas.microsoft.com/office/drawing/2014/main" id="{27654B00-1ACA-72E8-4C79-A237BB0FAEA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3900" y="2191523"/>
            <a:ext cx="10744200" cy="1710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hu-HU" dirty="0"/>
              <a:t>Köszönjük a figyelmet!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1B1DEF9F-AC4A-3457-057F-560795FA38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13" name="Szöveg helye 10">
            <a:extLst>
              <a:ext uri="{FF2B5EF4-FFF2-40B4-BE49-F238E27FC236}">
                <a16:creationId xmlns:a16="http://schemas.microsoft.com/office/drawing/2014/main" id="{D2769BC2-6B1C-E731-CB6F-BC48B5D77D5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14" name="Szöveg helye 10">
            <a:extLst>
              <a:ext uri="{FF2B5EF4-FFF2-40B4-BE49-F238E27FC236}">
                <a16:creationId xmlns:a16="http://schemas.microsoft.com/office/drawing/2014/main" id="{A35D0690-9E41-0FD7-2C21-CAE7926EAC5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52948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7" name="Cím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8" name="Dátum hely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B08A-2EEF-4077-BDDA-D2BF2F02C0E2}" type="datetimeFigureOut">
              <a:rPr lang="hu-HU" smtClean="0">
                <a:solidFill>
                  <a:prstClr val="black">
                    <a:tint val="75000"/>
                  </a:prstClr>
                </a:solidFill>
              </a:rPr>
              <a:pPr/>
              <a:t>2025. 09. 15.</a:t>
            </a:fld>
            <a:endParaRPr lang="hu-H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Élőláb hely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Dia számának hely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C54C-9CE6-47BC-B290-0EA782513D0E}" type="slidenum">
              <a:rPr lang="hu-H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u-H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6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2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3" r:id="rId6"/>
    <p:sldLayoutId id="2147483655" r:id="rId7"/>
    <p:sldLayoutId id="2147483656" r:id="rId8"/>
    <p:sldLayoutId id="2147483657" r:id="rId9"/>
    <p:sldLayoutId id="2147483660" r:id="rId10"/>
    <p:sldLayoutId id="2147483659" r:id="rId11"/>
    <p:sldLayoutId id="2147483658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2A7E8302-AC9C-A66D-07A6-1A5B9DE4A49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hu-HU" dirty="0"/>
              <a:t>Cloud Native Architecture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3FF51C-1377-99D6-D639-C9342D91679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hu-HU" dirty="0"/>
              <a:t>Docker 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B3461CE-3807-2ADD-A4F6-83F5C4B6A2F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929423" y="4390918"/>
            <a:ext cx="3305841" cy="891112"/>
          </a:xfrm>
        </p:spPr>
        <p:txBody>
          <a:bodyPr anchor="ctr"/>
          <a:lstStyle/>
          <a:p>
            <a:pPr algn="ctr"/>
            <a:r>
              <a:rPr lang="hu-HU" sz="3600" b="1" dirty="0">
                <a:solidFill>
                  <a:srgbClr val="012863"/>
                </a:solidFill>
              </a:rPr>
              <a:t>Basics</a:t>
            </a:r>
          </a:p>
        </p:txBody>
      </p:sp>
      <p:pic>
        <p:nvPicPr>
          <p:cNvPr id="7" name="Picture 2" descr="Apache Kafka">
            <a:extLst>
              <a:ext uri="{FF2B5EF4-FFF2-40B4-BE49-F238E27FC236}">
                <a16:creationId xmlns:a16="http://schemas.microsoft.com/office/drawing/2014/main" id="{BF9CB369-1530-7F67-BE8D-7230453CA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633" y="2390492"/>
            <a:ext cx="3819367" cy="174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8FCC39-6F10-DE67-D6D2-148E4D8426ED}"/>
              </a:ext>
            </a:extLst>
          </p:cNvPr>
          <p:cNvCxnSpPr>
            <a:cxnSpLocks/>
          </p:cNvCxnSpPr>
          <p:nvPr/>
        </p:nvCxnSpPr>
        <p:spPr>
          <a:xfrm>
            <a:off x="6499446" y="3095244"/>
            <a:ext cx="0" cy="1881166"/>
          </a:xfrm>
          <a:prstGeom prst="line">
            <a:avLst/>
          </a:prstGeom>
          <a:ln w="76200"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28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5373C-7466-14B0-1014-2CBC7C74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CDBCB-DBAD-006C-C17B-766A0ACA5E1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About me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262CB-5A86-D106-28AC-8F9D338F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lang="en-US" dirty="0">
                <a:solidFill>
                  <a:srgbClr val="000000"/>
                </a:solidFill>
              </a:rPr>
              <a:t>PhD in Telecommunications @ BME</a:t>
            </a:r>
            <a:endParaRPr lang="en-US" i="1" dirty="0"/>
          </a:p>
          <a:p>
            <a:pPr marL="609585" indent="-275160">
              <a:spcBef>
                <a:spcPts val="800"/>
              </a:spcBef>
              <a:buSzPct val="100000"/>
            </a:pPr>
            <a:r>
              <a:rPr lang="en-US" sz="1600" dirty="0"/>
              <a:t>Worked with 5G technology</a:t>
            </a:r>
          </a:p>
          <a:p>
            <a:pPr marL="609585" indent="-275160">
              <a:spcBef>
                <a:spcPts val="800"/>
              </a:spcBef>
              <a:buSzPct val="100000"/>
            </a:pPr>
            <a:r>
              <a:rPr lang="en-US" sz="1600" dirty="0"/>
              <a:t>SDN &amp; NFV </a:t>
            </a:r>
            <a:r>
              <a:rPr lang="en-US" sz="1600" dirty="0">
                <a:sym typeface="Wingdings" panose="05000000000000000000" pitchFamily="2" charset="2"/>
              </a:rPr>
              <a:t> Cloud Native Network Functions</a:t>
            </a:r>
            <a:endParaRPr lang="en-US" sz="1600" dirty="0"/>
          </a:p>
          <a:p>
            <a:pPr marL="609585" indent="-275160">
              <a:spcBef>
                <a:spcPts val="800"/>
              </a:spcBef>
              <a:buSzPct val="100000"/>
            </a:pPr>
            <a:r>
              <a:rPr lang="en-US" sz="1600" dirty="0"/>
              <a:t>Graduated in the EIT Digital Doctoral School</a:t>
            </a:r>
          </a:p>
          <a:p>
            <a:pPr>
              <a:spcBef>
                <a:spcPts val="2400"/>
              </a:spcBef>
            </a:pPr>
            <a:r>
              <a:rPr lang="en-US" dirty="0"/>
              <a:t>Co-founder &amp; CTO @ </a:t>
            </a:r>
            <a:r>
              <a:rPr lang="en-US" dirty="0" err="1"/>
              <a:t>LeanNet</a:t>
            </a:r>
            <a:r>
              <a:rPr lang="en-US" dirty="0"/>
              <a:t> Ltd.</a:t>
            </a:r>
            <a:endParaRPr lang="en-US" i="1" dirty="0"/>
          </a:p>
          <a:p>
            <a:pPr marL="609585" indent="-275160">
              <a:spcBef>
                <a:spcPts val="800"/>
              </a:spcBef>
              <a:buSzPct val="100000"/>
            </a:pPr>
            <a:r>
              <a:rPr lang="en-US" sz="1600" dirty="0"/>
              <a:t>Consulting, training, implementing</a:t>
            </a:r>
          </a:p>
          <a:p>
            <a:pPr marL="609585" indent="-275160">
              <a:spcBef>
                <a:spcPts val="800"/>
              </a:spcBef>
              <a:buSzPct val="100000"/>
            </a:pPr>
            <a:r>
              <a:rPr lang="en-US" sz="1600" dirty="0"/>
              <a:t>Cloud Native, Microservices, DevOps</a:t>
            </a:r>
            <a:endParaRPr lang="hu-HU" sz="1600" dirty="0"/>
          </a:p>
          <a:p>
            <a:pPr>
              <a:spcBef>
                <a:spcPts val="2400"/>
              </a:spcBef>
            </a:pPr>
            <a:r>
              <a:rPr lang="hu-HU" dirty="0"/>
              <a:t>Cloud Native Competence Center Leaders of adesso Hungary </a:t>
            </a:r>
            <a:endParaRPr lang="en-US" i="1" dirty="0"/>
          </a:p>
          <a:p>
            <a:pPr marL="609585" indent="-275160">
              <a:spcBef>
                <a:spcPts val="800"/>
              </a:spcBef>
              <a:buSzPct val="100000"/>
            </a:pPr>
            <a:r>
              <a:rPr lang="hu-HU" sz="1600" dirty="0"/>
              <a:t>Team building, strategy creation, sales</a:t>
            </a:r>
          </a:p>
          <a:p>
            <a:pPr>
              <a:spcBef>
                <a:spcPts val="2400"/>
              </a:spcBef>
            </a:pPr>
            <a:r>
              <a:rPr lang="hu-HU" dirty="0"/>
              <a:t>Freelancer, Consultant</a:t>
            </a:r>
          </a:p>
          <a:p>
            <a:pPr marL="334425">
              <a:spcBef>
                <a:spcPts val="800"/>
              </a:spcBef>
              <a:buSzPct val="100000"/>
            </a:pPr>
            <a:endParaRPr lang="hu-H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9198E-0F0C-1D53-03D5-85FBD2BA6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4969" b="9749"/>
          <a:stretch/>
        </p:blipFill>
        <p:spPr>
          <a:xfrm>
            <a:off x="9559636" y="847420"/>
            <a:ext cx="2389739" cy="24750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6" descr="http://leannet.eu/img/linkedin.png">
            <a:extLst>
              <a:ext uri="{FF2B5EF4-FFF2-40B4-BE49-F238E27FC236}">
                <a16:creationId xmlns:a16="http://schemas.microsoft.com/office/drawing/2014/main" id="{97BEC4D4-78C7-D5DC-DD26-A40E91064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75" y="6230080"/>
            <a:ext cx="404835" cy="40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églalap 8">
            <a:extLst>
              <a:ext uri="{FF2B5EF4-FFF2-40B4-BE49-F238E27FC236}">
                <a16:creationId xmlns:a16="http://schemas.microsoft.com/office/drawing/2014/main" id="{033097A5-7538-E6DD-7176-E0770A57B5C2}"/>
              </a:ext>
            </a:extLst>
          </p:cNvPr>
          <p:cNvSpPr/>
          <p:nvPr/>
        </p:nvSpPr>
        <p:spPr>
          <a:xfrm>
            <a:off x="708533" y="6230920"/>
            <a:ext cx="2719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linkedin.com/in/szabvid</a:t>
            </a:r>
          </a:p>
        </p:txBody>
      </p:sp>
    </p:spTree>
    <p:extLst>
      <p:ext uri="{BB962C8B-B14F-4D97-AF65-F5344CB8AC3E}">
        <p14:creationId xmlns:p14="http://schemas.microsoft.com/office/powerpoint/2010/main" val="129488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7DA298-4273-C622-630B-16D58740075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Course 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693D-7398-8546-2446-F7F9EFFC0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5934076" cy="5791119"/>
          </a:xfrm>
        </p:spPr>
        <p:txBody>
          <a:bodyPr/>
          <a:lstStyle/>
          <a:p>
            <a:r>
              <a:rPr lang="en-US" sz="1600" dirty="0"/>
              <a:t>Introduction and Motivation</a:t>
            </a:r>
            <a:endParaRPr lang="hu-HU" sz="1600" dirty="0"/>
          </a:p>
          <a:p>
            <a:r>
              <a:rPr lang="en-US" sz="1600" dirty="0"/>
              <a:t>Kafka Architecture</a:t>
            </a:r>
            <a:endParaRPr lang="hu-HU" sz="1600" dirty="0"/>
          </a:p>
          <a:p>
            <a:r>
              <a:rPr lang="en-US" sz="1600" dirty="0"/>
              <a:t>Core Kafka Concepts:</a:t>
            </a:r>
            <a:endParaRPr lang="hu-HU" sz="1600" dirty="0"/>
          </a:p>
          <a:p>
            <a:pPr lvl="1"/>
            <a:r>
              <a:rPr lang="en-US" sz="1400" dirty="0"/>
              <a:t>Brokers and Clusters</a:t>
            </a:r>
            <a:r>
              <a:rPr lang="hu-HU" sz="1400" dirty="0"/>
              <a:t>, </a:t>
            </a:r>
            <a:r>
              <a:rPr lang="en-US" sz="1400" dirty="0"/>
              <a:t>Topics, Partitions, Offsets</a:t>
            </a:r>
            <a:endParaRPr lang="hu-HU" sz="1400" dirty="0"/>
          </a:p>
          <a:p>
            <a:pPr lvl="1"/>
            <a:r>
              <a:rPr lang="en-US" sz="1400" dirty="0"/>
              <a:t>Producers, Message Keys, Acknowledgments</a:t>
            </a:r>
            <a:endParaRPr lang="hu-HU" sz="1400" dirty="0"/>
          </a:p>
          <a:p>
            <a:pPr lvl="1"/>
            <a:r>
              <a:rPr lang="en-US" sz="1400" dirty="0"/>
              <a:t>Consumers, Consumer Groups, Offsets</a:t>
            </a:r>
            <a:endParaRPr lang="hu-HU" sz="1400" dirty="0"/>
          </a:p>
          <a:p>
            <a:pPr lvl="1"/>
            <a:r>
              <a:rPr lang="en-US" sz="1400" dirty="0"/>
              <a:t>Zookeeper and </a:t>
            </a:r>
            <a:r>
              <a:rPr lang="en-US" sz="1400" dirty="0" err="1"/>
              <a:t>KRaft</a:t>
            </a:r>
            <a:endParaRPr lang="en-US" sz="1400" dirty="0"/>
          </a:p>
          <a:p>
            <a:pPr marL="0" indent="0">
              <a:buNone/>
            </a:pPr>
            <a:endParaRPr lang="hu-HU" sz="1600" dirty="0"/>
          </a:p>
          <a:p>
            <a:r>
              <a:rPr lang="en-US" sz="1600" dirty="0"/>
              <a:t>Kafka Configuration and Access:</a:t>
            </a:r>
            <a:endParaRPr lang="hu-HU" sz="1600" dirty="0"/>
          </a:p>
          <a:p>
            <a:pPr lvl="1"/>
            <a:r>
              <a:rPr lang="en-US" sz="1400" dirty="0"/>
              <a:t>Starting Kafka with and without Zookeeper</a:t>
            </a:r>
            <a:endParaRPr lang="hu-HU" sz="1400" dirty="0"/>
          </a:p>
          <a:p>
            <a:pPr lvl="1"/>
            <a:r>
              <a:rPr lang="en-US" sz="1400" dirty="0"/>
              <a:t>Basic CLI Commands</a:t>
            </a:r>
            <a:r>
              <a:rPr lang="hu-HU" sz="1400" dirty="0"/>
              <a:t> </a:t>
            </a:r>
          </a:p>
          <a:p>
            <a:pPr lvl="1"/>
            <a:r>
              <a:rPr lang="en-US" sz="1400" dirty="0"/>
              <a:t>Producer Configuration</a:t>
            </a:r>
            <a:endParaRPr lang="hu-HU" sz="1400" dirty="0"/>
          </a:p>
          <a:p>
            <a:pPr lvl="1"/>
            <a:r>
              <a:rPr lang="en-US" sz="1400" dirty="0"/>
              <a:t>Consumer Configuration</a:t>
            </a:r>
          </a:p>
          <a:p>
            <a:endParaRPr lang="en-US" sz="1600" dirty="0"/>
          </a:p>
          <a:p>
            <a:r>
              <a:rPr lang="en-US" sz="1600" dirty="0"/>
              <a:t>Advanced Producer Configuration</a:t>
            </a:r>
            <a:endParaRPr lang="hu-HU" sz="1600" dirty="0"/>
          </a:p>
          <a:p>
            <a:r>
              <a:rPr lang="en-US" sz="1600" dirty="0"/>
              <a:t>Advanced Consumer Configuration</a:t>
            </a:r>
            <a:endParaRPr lang="hu-HU" sz="1600" dirty="0"/>
          </a:p>
          <a:p>
            <a:r>
              <a:rPr lang="en-US" sz="1600" dirty="0"/>
              <a:t>Broker Configuration</a:t>
            </a:r>
            <a:endParaRPr lang="hu-HU" sz="1600" dirty="0"/>
          </a:p>
          <a:p>
            <a:pPr lvl="1"/>
            <a:r>
              <a:rPr lang="en-US" sz="1400" dirty="0"/>
              <a:t>Kafka Ecosystem:</a:t>
            </a:r>
            <a:r>
              <a:rPr lang="hu-HU" sz="1400" dirty="0"/>
              <a:t> </a:t>
            </a:r>
          </a:p>
          <a:p>
            <a:pPr lvl="2"/>
            <a:r>
              <a:rPr lang="en-US" dirty="0"/>
              <a:t>Kafka Connect</a:t>
            </a:r>
            <a:r>
              <a:rPr lang="hu-HU" dirty="0"/>
              <a:t>, </a:t>
            </a:r>
            <a:r>
              <a:rPr lang="en-US" dirty="0"/>
              <a:t>Kafka Streams</a:t>
            </a:r>
            <a:r>
              <a:rPr lang="hu-HU" dirty="0"/>
              <a:t>, </a:t>
            </a:r>
            <a:r>
              <a:rPr lang="en-US" dirty="0"/>
              <a:t>Schema Registry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5B43F0-6238-1983-D984-012396E49549}"/>
              </a:ext>
            </a:extLst>
          </p:cNvPr>
          <p:cNvSpPr txBox="1">
            <a:spLocks/>
          </p:cNvSpPr>
          <p:nvPr/>
        </p:nvSpPr>
        <p:spPr>
          <a:xfrm>
            <a:off x="6061166" y="847420"/>
            <a:ext cx="5934076" cy="57911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Additional Kafka Ecosystem Components:</a:t>
            </a:r>
          </a:p>
          <a:p>
            <a:pPr lvl="1"/>
            <a:r>
              <a:rPr lang="en-US" sz="1400" dirty="0"/>
              <a:t>Kafka Bridge</a:t>
            </a:r>
            <a:r>
              <a:rPr lang="hu-HU" sz="1400" dirty="0"/>
              <a:t>, </a:t>
            </a:r>
          </a:p>
          <a:p>
            <a:pPr lvl="1"/>
            <a:r>
              <a:rPr lang="en-US" sz="1400" dirty="0"/>
              <a:t>Kafka Mirror Maker</a:t>
            </a:r>
            <a:r>
              <a:rPr lang="hu-HU" sz="1400" dirty="0"/>
              <a:t>, </a:t>
            </a:r>
          </a:p>
          <a:p>
            <a:pPr lvl="1"/>
            <a:r>
              <a:rPr lang="en-US" sz="1400" dirty="0" err="1"/>
              <a:t>ksqlDB</a:t>
            </a:r>
            <a:endParaRPr lang="hu-HU" sz="1400" dirty="0"/>
          </a:p>
          <a:p>
            <a:r>
              <a:rPr lang="en-US" sz="1600" dirty="0"/>
              <a:t>Examples / Case Studies</a:t>
            </a:r>
          </a:p>
          <a:p>
            <a:r>
              <a:rPr lang="en-US" sz="1600" dirty="0"/>
              <a:t>Kafka Graphical Interfaces:</a:t>
            </a:r>
            <a:r>
              <a:rPr lang="hu-HU" sz="1600" dirty="0"/>
              <a:t> </a:t>
            </a:r>
          </a:p>
          <a:p>
            <a:pPr lvl="1"/>
            <a:r>
              <a:rPr lang="en-US" sz="1400" dirty="0"/>
              <a:t>Kafka UI</a:t>
            </a:r>
            <a:r>
              <a:rPr lang="hu-HU" sz="1400" dirty="0"/>
              <a:t>, </a:t>
            </a:r>
            <a:r>
              <a:rPr lang="en-US" sz="1400" dirty="0" err="1"/>
              <a:t>Kafdrop</a:t>
            </a:r>
            <a:endParaRPr lang="en-US" sz="14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Administrative Considerations:</a:t>
            </a:r>
          </a:p>
          <a:p>
            <a:pPr lvl="1"/>
            <a:r>
              <a:rPr lang="en-US" sz="1400" dirty="0"/>
              <a:t>Topic Configuration</a:t>
            </a:r>
          </a:p>
          <a:p>
            <a:pPr lvl="1"/>
            <a:r>
              <a:rPr lang="en-US" sz="1400" dirty="0"/>
              <a:t>Log Retention</a:t>
            </a:r>
          </a:p>
          <a:p>
            <a:pPr lvl="1"/>
            <a:r>
              <a:rPr lang="en-US" sz="1400" dirty="0"/>
              <a:t>Kafka Mirror Maker</a:t>
            </a:r>
          </a:p>
          <a:p>
            <a:pPr lvl="1"/>
            <a:r>
              <a:rPr lang="en-US" sz="1400" dirty="0" err="1"/>
              <a:t>Strimzi</a:t>
            </a:r>
            <a:r>
              <a:rPr lang="en-US" sz="1400" dirty="0"/>
              <a:t> Kafka Operator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Monitoring:</a:t>
            </a:r>
          </a:p>
          <a:p>
            <a:pPr lvl="1"/>
            <a:r>
              <a:rPr lang="en-US" sz="1400" dirty="0"/>
              <a:t>JMX Exporters</a:t>
            </a:r>
          </a:p>
          <a:p>
            <a:pPr lvl="1"/>
            <a:r>
              <a:rPr lang="en-US" sz="1400" dirty="0"/>
              <a:t>Prometheus</a:t>
            </a:r>
          </a:p>
          <a:p>
            <a:pPr lvl="1"/>
            <a:r>
              <a:rPr lang="en-US" sz="1400" dirty="0"/>
              <a:t>Grafana</a:t>
            </a:r>
          </a:p>
          <a:p>
            <a:endParaRPr lang="en-US" sz="1600" dirty="0"/>
          </a:p>
          <a:p>
            <a:endParaRPr lang="en-US" sz="1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3784F7-39AA-DD71-57FA-95A0803A4640}"/>
              </a:ext>
            </a:extLst>
          </p:cNvPr>
          <p:cNvCxnSpPr>
            <a:cxnSpLocks/>
          </p:cNvCxnSpPr>
          <p:nvPr/>
        </p:nvCxnSpPr>
        <p:spPr>
          <a:xfrm>
            <a:off x="431074" y="2991394"/>
            <a:ext cx="5212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E28A3-5B93-D358-A875-84696FC71852}"/>
              </a:ext>
            </a:extLst>
          </p:cNvPr>
          <p:cNvCxnSpPr>
            <a:cxnSpLocks/>
          </p:cNvCxnSpPr>
          <p:nvPr/>
        </p:nvCxnSpPr>
        <p:spPr>
          <a:xfrm>
            <a:off x="431074" y="4776651"/>
            <a:ext cx="5212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76F064-FE5A-D590-22FE-028F823A2F08}"/>
              </a:ext>
            </a:extLst>
          </p:cNvPr>
          <p:cNvCxnSpPr>
            <a:cxnSpLocks/>
          </p:cNvCxnSpPr>
          <p:nvPr/>
        </p:nvCxnSpPr>
        <p:spPr>
          <a:xfrm>
            <a:off x="6357256" y="2991394"/>
            <a:ext cx="5212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257D27-B41D-A42B-5E1D-3C42589EF59D}"/>
              </a:ext>
            </a:extLst>
          </p:cNvPr>
          <p:cNvCxnSpPr>
            <a:cxnSpLocks/>
          </p:cNvCxnSpPr>
          <p:nvPr/>
        </p:nvCxnSpPr>
        <p:spPr>
          <a:xfrm>
            <a:off x="6357256" y="4776651"/>
            <a:ext cx="5212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48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B2FE-25E0-6D85-313D-FEE4A281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35EBC3-72A7-F94C-53AA-669EFCAC2C0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Apache Kafka?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22042-37BA-54D6-26CC-2162420BF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hu-HU" sz="2000" dirty="0"/>
              <a:t>An open-source distributed </a:t>
            </a:r>
            <a:r>
              <a:rPr lang="hu-HU" sz="2000" b="1" dirty="0"/>
              <a:t>event streaming platform </a:t>
            </a:r>
            <a:r>
              <a:rPr lang="hu-HU" sz="2000" dirty="0"/>
              <a:t>for 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data integration,</a:t>
            </a:r>
            <a:endParaRPr lang="hu-HU" sz="1800" dirty="0"/>
          </a:p>
          <a:p>
            <a:pPr lvl="1">
              <a:spcBef>
                <a:spcPts val="1200"/>
              </a:spcBef>
            </a:pPr>
            <a:r>
              <a:rPr lang="en-US" sz="1800" dirty="0"/>
              <a:t>mission-critical applications</a:t>
            </a:r>
            <a:r>
              <a:rPr lang="hu-HU" sz="1800" dirty="0"/>
              <a:t>,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streaming analytics</a:t>
            </a:r>
            <a:r>
              <a:rPr lang="hu-HU" sz="1800" dirty="0"/>
              <a:t> and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high-performance data pipelines</a:t>
            </a:r>
            <a:endParaRPr lang="hu-HU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AE77A4-56DF-D818-FF3D-15EDE5B59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0804" t="25801" r="7927" b="22078"/>
          <a:stretch>
            <a:fillRect/>
          </a:stretch>
        </p:blipFill>
        <p:spPr>
          <a:xfrm>
            <a:off x="7940677" y="847420"/>
            <a:ext cx="4089399" cy="198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0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A0B6-0613-26FF-D0F7-48EC668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DE532E-2B58-013E-7189-0DCBECD123D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Event Streaming?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25C7-ED18-8444-EFF0-3F1F4072C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It is</a:t>
            </a:r>
            <a:r>
              <a:rPr lang="en-US" sz="2000" dirty="0"/>
              <a:t> the practice of capturing data in</a:t>
            </a:r>
            <a:r>
              <a:rPr lang="hu-HU" sz="2000" dirty="0"/>
              <a:t> </a:t>
            </a:r>
          </a:p>
          <a:p>
            <a:pPr lvl="1"/>
            <a:r>
              <a:rPr lang="hu-HU" sz="1800" dirty="0"/>
              <a:t>i)</a:t>
            </a:r>
            <a:r>
              <a:rPr lang="en-US" sz="1800" dirty="0"/>
              <a:t> real-time from event sources </a:t>
            </a:r>
            <a:r>
              <a:rPr lang="hu-HU" sz="1800" dirty="0"/>
              <a:t>(e.g. </a:t>
            </a:r>
            <a:r>
              <a:rPr lang="en-US" sz="1800" dirty="0"/>
              <a:t>databases, sensors,</a:t>
            </a:r>
            <a:r>
              <a:rPr lang="hu-HU" sz="1800" dirty="0"/>
              <a:t> applications) </a:t>
            </a:r>
            <a:r>
              <a:rPr lang="en-US" sz="1800" dirty="0"/>
              <a:t>in the form of streams of events; </a:t>
            </a:r>
            <a:endParaRPr lang="hu-HU" sz="1800" dirty="0"/>
          </a:p>
          <a:p>
            <a:pPr lvl="1"/>
            <a:r>
              <a:rPr lang="hu-HU" sz="1800" dirty="0"/>
              <a:t>ii) </a:t>
            </a:r>
            <a:r>
              <a:rPr lang="en-US" sz="1800" dirty="0"/>
              <a:t>storing these event streams durably for later retrieval; </a:t>
            </a:r>
            <a:endParaRPr lang="hu-HU" sz="1800" dirty="0"/>
          </a:p>
          <a:p>
            <a:pPr lvl="1"/>
            <a:r>
              <a:rPr lang="hu-HU" sz="1800" dirty="0"/>
              <a:t>iii) </a:t>
            </a:r>
            <a:r>
              <a:rPr lang="en-US" sz="1800" dirty="0"/>
              <a:t>manipulating, processing, and reacting to the event streams in real-time as well as retrospectively;</a:t>
            </a:r>
            <a:endParaRPr lang="hu-HU" sz="1800" dirty="0"/>
          </a:p>
          <a:p>
            <a:pPr lvl="1"/>
            <a:r>
              <a:rPr lang="hu-HU" sz="1800" dirty="0"/>
              <a:t>iv)</a:t>
            </a:r>
            <a:r>
              <a:rPr lang="en-US" sz="1800" dirty="0"/>
              <a:t> and routing the event streams to different destination technologies as needed.</a:t>
            </a:r>
          </a:p>
          <a:p>
            <a:endParaRPr lang="hu-HU" sz="2000" dirty="0"/>
          </a:p>
          <a:p>
            <a:endParaRPr lang="hu-HU" sz="2000" dirty="0"/>
          </a:p>
          <a:p>
            <a:endParaRPr lang="hu-HU" sz="2000" dirty="0"/>
          </a:p>
          <a:p>
            <a:r>
              <a:rPr lang="hu-HU" sz="2000" dirty="0"/>
              <a:t>A typical challenge is data integration:</a:t>
            </a:r>
          </a:p>
          <a:p>
            <a:pPr lvl="1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Protocol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endParaRPr lang="hu-H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data is transported</a:t>
            </a:r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TCP, HTTP, REST, FTP, JDBC…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format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endParaRPr lang="hu-H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data is parsed</a:t>
            </a:r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Binary, CSV, JSON, Avro…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schema &amp; evolution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endParaRPr lang="hu-H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data is shaped and may change</a:t>
            </a:r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1DDC6E-8983-23B0-922E-94970C6F6019}"/>
              </a:ext>
            </a:extLst>
          </p:cNvPr>
          <p:cNvGrpSpPr/>
          <p:nvPr/>
        </p:nvGrpSpPr>
        <p:grpSpPr>
          <a:xfrm>
            <a:off x="6184125" y="4088579"/>
            <a:ext cx="5697524" cy="2275892"/>
            <a:chOff x="6184125" y="4088579"/>
            <a:chExt cx="5697524" cy="22758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1AC67F-18D4-23F1-1F60-107759DF376F}"/>
                </a:ext>
              </a:extLst>
            </p:cNvPr>
            <p:cNvSpPr/>
            <p:nvPr/>
          </p:nvSpPr>
          <p:spPr>
            <a:xfrm>
              <a:off x="6184125" y="4088581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B6002-EBD3-835F-248C-84EEB5DD1E2E}"/>
                </a:ext>
              </a:extLst>
            </p:cNvPr>
            <p:cNvSpPr/>
            <p:nvPr/>
          </p:nvSpPr>
          <p:spPr>
            <a:xfrm>
              <a:off x="7963307" y="4088580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0A68F2-0DA7-9B95-3BFF-57900CF36E67}"/>
                </a:ext>
              </a:extLst>
            </p:cNvPr>
            <p:cNvSpPr/>
            <p:nvPr/>
          </p:nvSpPr>
          <p:spPr>
            <a:xfrm>
              <a:off x="9742489" y="4088579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62249D-84DE-4D35-EA41-3CBA20E41427}"/>
                </a:ext>
              </a:extLst>
            </p:cNvPr>
            <p:cNvSpPr txBox="1"/>
            <p:nvPr/>
          </p:nvSpPr>
          <p:spPr>
            <a:xfrm>
              <a:off x="11396587" y="4094952"/>
              <a:ext cx="4850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dirty="0"/>
                <a:t>. . .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B46C10-7413-17CE-35F4-DD65DFDCF488}"/>
                </a:ext>
              </a:extLst>
            </p:cNvPr>
            <p:cNvSpPr/>
            <p:nvPr/>
          </p:nvSpPr>
          <p:spPr>
            <a:xfrm>
              <a:off x="6184125" y="5891322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Target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BB26FA-6938-59AE-F48D-5150F87002B0}"/>
                </a:ext>
              </a:extLst>
            </p:cNvPr>
            <p:cNvSpPr/>
            <p:nvPr/>
          </p:nvSpPr>
          <p:spPr>
            <a:xfrm>
              <a:off x="7963307" y="5891321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Target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9F49E5-4269-FD90-12D6-282437CC6934}"/>
                </a:ext>
              </a:extLst>
            </p:cNvPr>
            <p:cNvSpPr/>
            <p:nvPr/>
          </p:nvSpPr>
          <p:spPr>
            <a:xfrm>
              <a:off x="9742489" y="5891320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Target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20B56B-723A-6830-AC38-B30F586BB359}"/>
                </a:ext>
              </a:extLst>
            </p:cNvPr>
            <p:cNvSpPr txBox="1"/>
            <p:nvPr/>
          </p:nvSpPr>
          <p:spPr>
            <a:xfrm>
              <a:off x="11396587" y="5897693"/>
              <a:ext cx="4850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dirty="0"/>
                <a:t>. . .</a:t>
              </a:r>
              <a:endParaRPr lang="en-US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5E0A978-BEE0-6306-343E-ADC6C474816A}"/>
                </a:ext>
              </a:extLst>
            </p:cNvPr>
            <p:cNvCxnSpPr>
              <a:stCxn id="4" idx="2"/>
              <a:endCxn id="9" idx="0"/>
            </p:cNvCxnSpPr>
            <p:nvPr/>
          </p:nvCxnSpPr>
          <p:spPr>
            <a:xfrm>
              <a:off x="6907139" y="4561730"/>
              <a:ext cx="0" cy="1329592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F453C8D-3671-AAB7-F82C-CC277FE5AA90}"/>
                </a:ext>
              </a:extLst>
            </p:cNvPr>
            <p:cNvCxnSpPr>
              <a:cxnSpLocks/>
              <a:stCxn id="4" idx="2"/>
              <a:endCxn id="10" idx="0"/>
            </p:cNvCxnSpPr>
            <p:nvPr/>
          </p:nvCxnSpPr>
          <p:spPr>
            <a:xfrm>
              <a:off x="6907139" y="4561730"/>
              <a:ext cx="1779182" cy="13295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29A0DF7-71BE-0ADB-8981-517591808169}"/>
                </a:ext>
              </a:extLst>
            </p:cNvPr>
            <p:cNvCxnSpPr>
              <a:cxnSpLocks/>
              <a:stCxn id="4" idx="2"/>
              <a:endCxn id="11" idx="0"/>
            </p:cNvCxnSpPr>
            <p:nvPr/>
          </p:nvCxnSpPr>
          <p:spPr>
            <a:xfrm>
              <a:off x="6907139" y="4561730"/>
              <a:ext cx="3558364" cy="132959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3ECA190-657F-55CE-ED6C-CB49267A7261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 flipH="1">
              <a:off x="6907139" y="4561729"/>
              <a:ext cx="1779182" cy="132959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B42A6D-50E6-B50D-BA5C-27C04FD5ACD7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8686321" y="4561729"/>
              <a:ext cx="1779182" cy="13295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9937B5E-FAB9-6FC5-6A9C-4B92ABDC0D82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 flipH="1">
              <a:off x="8686321" y="4561728"/>
              <a:ext cx="1779182" cy="132959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DAFD906-17A9-B263-E307-4595297F5B3B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10465503" y="4561728"/>
              <a:ext cx="0" cy="1329592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42B8770-46E3-29D7-CB5B-0D859D264B5B}"/>
                </a:ext>
              </a:extLst>
            </p:cNvPr>
            <p:cNvSpPr/>
            <p:nvPr/>
          </p:nvSpPr>
          <p:spPr>
            <a:xfrm>
              <a:off x="6532543" y="5134583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F8EE0D6-AF28-0809-C8BD-B4DFC1C3DC0F}"/>
                </a:ext>
              </a:extLst>
            </p:cNvPr>
            <p:cNvSpPr/>
            <p:nvPr/>
          </p:nvSpPr>
          <p:spPr>
            <a:xfrm>
              <a:off x="8304935" y="5134583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7BD77B6-A4E9-B164-E0F0-A5AF7013B6B1}"/>
                </a:ext>
              </a:extLst>
            </p:cNvPr>
            <p:cNvSpPr/>
            <p:nvPr/>
          </p:nvSpPr>
          <p:spPr>
            <a:xfrm>
              <a:off x="10097700" y="5161148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416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0B3F-5F3A-87B6-32C5-384C4E59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872F5A-8E55-4073-C832-F5C95D3BC9E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Event Streaming?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A49E-FF1B-77BA-2F05-6CA3386B6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It is</a:t>
            </a:r>
            <a:r>
              <a:rPr lang="en-US" sz="2000" dirty="0"/>
              <a:t> the practice of capturing data in</a:t>
            </a:r>
            <a:r>
              <a:rPr lang="hu-HU" sz="2000" dirty="0"/>
              <a:t> </a:t>
            </a:r>
          </a:p>
          <a:p>
            <a:pPr lvl="1"/>
            <a:r>
              <a:rPr lang="hu-HU" sz="1800" dirty="0"/>
              <a:t>i)</a:t>
            </a:r>
            <a:r>
              <a:rPr lang="en-US" sz="1800" dirty="0"/>
              <a:t> real-time from event sources </a:t>
            </a:r>
            <a:r>
              <a:rPr lang="hu-HU" sz="1800" dirty="0"/>
              <a:t>(e.g. </a:t>
            </a:r>
            <a:r>
              <a:rPr lang="en-US" sz="1800" dirty="0"/>
              <a:t>databases, sensors,</a:t>
            </a:r>
            <a:r>
              <a:rPr lang="hu-HU" sz="1800" dirty="0"/>
              <a:t> applications) </a:t>
            </a:r>
            <a:r>
              <a:rPr lang="en-US" sz="1800" dirty="0"/>
              <a:t>in the form of streams of events; </a:t>
            </a:r>
            <a:endParaRPr lang="hu-HU" sz="1800" dirty="0"/>
          </a:p>
          <a:p>
            <a:pPr lvl="1"/>
            <a:r>
              <a:rPr lang="hu-HU" sz="1800" dirty="0"/>
              <a:t>ii) </a:t>
            </a:r>
            <a:r>
              <a:rPr lang="en-US" sz="1800" dirty="0"/>
              <a:t>storing these event streams durably for later retrieval; </a:t>
            </a:r>
            <a:endParaRPr lang="hu-HU" sz="1800" dirty="0"/>
          </a:p>
          <a:p>
            <a:pPr lvl="1"/>
            <a:r>
              <a:rPr lang="hu-HU" sz="1800" dirty="0"/>
              <a:t>iii) </a:t>
            </a:r>
            <a:r>
              <a:rPr lang="en-US" sz="1800" dirty="0"/>
              <a:t>manipulating, processing, and reacting to the event streams in real-time as well as retrospectively;</a:t>
            </a:r>
            <a:endParaRPr lang="hu-HU" sz="1800" dirty="0"/>
          </a:p>
          <a:p>
            <a:pPr lvl="1"/>
            <a:r>
              <a:rPr lang="hu-HU" sz="1800" dirty="0"/>
              <a:t>iv)</a:t>
            </a:r>
            <a:r>
              <a:rPr lang="en-US" sz="1800" dirty="0"/>
              <a:t> and routing the event streams to different destination technologies as needed.</a:t>
            </a:r>
          </a:p>
          <a:p>
            <a:endParaRPr lang="hu-HU" sz="2000" dirty="0"/>
          </a:p>
          <a:p>
            <a:endParaRPr lang="hu-HU" sz="2000" dirty="0"/>
          </a:p>
          <a:p>
            <a:endParaRPr lang="hu-HU" sz="2000" dirty="0"/>
          </a:p>
          <a:p>
            <a:r>
              <a:rPr lang="hu-HU" sz="2000" dirty="0"/>
              <a:t>A typical challenge is data integration:</a:t>
            </a:r>
          </a:p>
          <a:p>
            <a:pPr lvl="1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Protocol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endParaRPr lang="hu-H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data is transported</a:t>
            </a:r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TCP, HTTP, REST, FTP, JDBC…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format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endParaRPr lang="hu-H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data is parsed</a:t>
            </a:r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Binary, CSV, JSON, Avro…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schema &amp; evolution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endParaRPr lang="hu-H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data is shaped and may change</a:t>
            </a:r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882B4-2759-55B4-10ED-45CD79416282}"/>
              </a:ext>
            </a:extLst>
          </p:cNvPr>
          <p:cNvSpPr/>
          <p:nvPr/>
        </p:nvSpPr>
        <p:spPr>
          <a:xfrm>
            <a:off x="6184125" y="4078086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Events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3B40A-E0DC-A480-44F6-4B922A57F70B}"/>
              </a:ext>
            </a:extLst>
          </p:cNvPr>
          <p:cNvSpPr/>
          <p:nvPr/>
        </p:nvSpPr>
        <p:spPr>
          <a:xfrm>
            <a:off x="7963307" y="407808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Pricing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F11DA-5316-5FC4-00D4-D009A85E0AE8}"/>
              </a:ext>
            </a:extLst>
          </p:cNvPr>
          <p:cNvSpPr/>
          <p:nvPr/>
        </p:nvSpPr>
        <p:spPr>
          <a:xfrm>
            <a:off x="9742489" y="4078084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E6BAF-D50B-D8A9-618E-A6DDD8C48D1C}"/>
              </a:ext>
            </a:extLst>
          </p:cNvPr>
          <p:cNvSpPr txBox="1"/>
          <p:nvPr/>
        </p:nvSpPr>
        <p:spPr>
          <a:xfrm>
            <a:off x="11396587" y="4084457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C67914-DC61-2F6B-EADF-853D99AB3A08}"/>
              </a:ext>
            </a:extLst>
          </p:cNvPr>
          <p:cNvSpPr/>
          <p:nvPr/>
        </p:nvSpPr>
        <p:spPr>
          <a:xfrm>
            <a:off x="6184125" y="5880827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3A83B2-420C-E27F-3D75-8E4EF5133EEC}"/>
              </a:ext>
            </a:extLst>
          </p:cNvPr>
          <p:cNvSpPr/>
          <p:nvPr/>
        </p:nvSpPr>
        <p:spPr>
          <a:xfrm>
            <a:off x="7963307" y="5880826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517436-C89E-D5AA-4067-8FE881E5845E}"/>
              </a:ext>
            </a:extLst>
          </p:cNvPr>
          <p:cNvSpPr/>
          <p:nvPr/>
        </p:nvSpPr>
        <p:spPr>
          <a:xfrm>
            <a:off x="9742489" y="588082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186BF-D80D-433B-6DA4-883FF79F4FE0}"/>
              </a:ext>
            </a:extLst>
          </p:cNvPr>
          <p:cNvSpPr txBox="1"/>
          <p:nvPr/>
        </p:nvSpPr>
        <p:spPr>
          <a:xfrm>
            <a:off x="11396587" y="5887198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9A53D9-698E-3EBF-627E-3D6D2D128AE1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6907139" y="4551235"/>
            <a:ext cx="0" cy="132959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D79BAC-9646-1C86-E526-90DA78F0C83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907139" y="4551235"/>
            <a:ext cx="1779182" cy="132959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75A049-7EB5-182F-983A-550B2C5B7B47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907139" y="4551235"/>
            <a:ext cx="3558364" cy="132959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3F3570-3376-AF25-28F7-22B1D9A5CCFC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6907139" y="4551234"/>
            <a:ext cx="1779182" cy="132959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008384-7914-A400-53BF-AF5BE2F74A1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686321" y="4551234"/>
            <a:ext cx="1779182" cy="132959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799761-57CA-CBE7-99C7-6615FD1307B8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8686321" y="4551233"/>
            <a:ext cx="1779182" cy="132959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9CCD78-7072-8254-A02A-6716BC952E9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10465503" y="4551233"/>
            <a:ext cx="0" cy="132959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FE8F878-6724-586E-DC35-05BF37E093DF}"/>
              </a:ext>
            </a:extLst>
          </p:cNvPr>
          <p:cNvSpPr/>
          <p:nvPr/>
        </p:nvSpPr>
        <p:spPr>
          <a:xfrm>
            <a:off x="6532543" y="5124088"/>
            <a:ext cx="736595" cy="2104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49CCEF0-9ABE-94D9-A01B-A7BF370FE2C3}"/>
              </a:ext>
            </a:extLst>
          </p:cNvPr>
          <p:cNvSpPr/>
          <p:nvPr/>
        </p:nvSpPr>
        <p:spPr>
          <a:xfrm>
            <a:off x="8304935" y="5124088"/>
            <a:ext cx="736595" cy="2104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C708758-1663-4E16-3827-F8A21FC5877D}"/>
              </a:ext>
            </a:extLst>
          </p:cNvPr>
          <p:cNvSpPr/>
          <p:nvPr/>
        </p:nvSpPr>
        <p:spPr>
          <a:xfrm>
            <a:off x="10097700" y="5150653"/>
            <a:ext cx="736595" cy="2104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48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C1C9-C4EA-4908-9CFD-B18C6EEE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EF14AD-4607-C988-654D-10A725BD99D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to the Rescue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D882-1248-0069-C611-C6B6DA80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was created at LinkedIn </a:t>
            </a:r>
            <a:r>
              <a:rPr lang="hu-HU" dirty="0"/>
              <a:t>at 2011 to service internal stream processing</a:t>
            </a:r>
          </a:p>
          <a:p>
            <a:r>
              <a:rPr lang="hu-HU" dirty="0"/>
              <a:t>Written in </a:t>
            </a:r>
            <a:r>
              <a:rPr lang="hu-HU" b="1" dirty="0"/>
              <a:t>Java</a:t>
            </a:r>
          </a:p>
          <a:p>
            <a:r>
              <a:rPr lang="hu-HU" dirty="0"/>
              <a:t>Quickly gained popularity and became an Apache Foundation project</a:t>
            </a:r>
          </a:p>
          <a:p>
            <a:r>
              <a:rPr lang="hu-HU" dirty="0"/>
              <a:t>Nowadays mainly maintained by Confluent, IBM, Yelp, Netflix, ...</a:t>
            </a:r>
          </a:p>
          <a:p>
            <a:r>
              <a:rPr lang="hu-HU" dirty="0"/>
              <a:t>Typical use-cases: 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Messaging systems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Activity Tracking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Gather metrics from many different locations, for example, IoT devices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Application logs analysis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De-coupling of system dependencies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Integration with Big Data technologies like Spark,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hu-HU" dirty="0"/>
              <a:t>    Flink, Storm, Hadoop.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Event-sourcing store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08B7B6-15C6-3A6A-6800-F710D27DD44F}"/>
              </a:ext>
            </a:extLst>
          </p:cNvPr>
          <p:cNvSpPr/>
          <p:nvPr/>
        </p:nvSpPr>
        <p:spPr>
          <a:xfrm>
            <a:off x="6184125" y="4078086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Events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D2F0A-8E61-A19B-24A8-ACE9F4B9E10C}"/>
              </a:ext>
            </a:extLst>
          </p:cNvPr>
          <p:cNvSpPr/>
          <p:nvPr/>
        </p:nvSpPr>
        <p:spPr>
          <a:xfrm>
            <a:off x="7963307" y="407808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Pricing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77B4D2-9275-272D-0AF7-93C1F4798381}"/>
              </a:ext>
            </a:extLst>
          </p:cNvPr>
          <p:cNvSpPr/>
          <p:nvPr/>
        </p:nvSpPr>
        <p:spPr>
          <a:xfrm>
            <a:off x="9742489" y="4078084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8E697F-E76A-7508-BE36-5A54D47285EE}"/>
              </a:ext>
            </a:extLst>
          </p:cNvPr>
          <p:cNvSpPr txBox="1"/>
          <p:nvPr/>
        </p:nvSpPr>
        <p:spPr>
          <a:xfrm>
            <a:off x="11396587" y="4084457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6C440A-FA6E-813D-EF42-425008F3B89D}"/>
              </a:ext>
            </a:extLst>
          </p:cNvPr>
          <p:cNvSpPr/>
          <p:nvPr/>
        </p:nvSpPr>
        <p:spPr>
          <a:xfrm>
            <a:off x="6184125" y="5880827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4D033D-DB3B-6E82-72AE-EB4E11E167F8}"/>
              </a:ext>
            </a:extLst>
          </p:cNvPr>
          <p:cNvSpPr/>
          <p:nvPr/>
        </p:nvSpPr>
        <p:spPr>
          <a:xfrm>
            <a:off x="7963307" y="5880826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65C474-8622-4F72-7063-458A5EE0CBB7}"/>
              </a:ext>
            </a:extLst>
          </p:cNvPr>
          <p:cNvSpPr/>
          <p:nvPr/>
        </p:nvSpPr>
        <p:spPr>
          <a:xfrm>
            <a:off x="9742489" y="588082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CDF3AE-F055-0BBD-B71A-7C0B7335F2A4}"/>
              </a:ext>
            </a:extLst>
          </p:cNvPr>
          <p:cNvSpPr txBox="1"/>
          <p:nvPr/>
        </p:nvSpPr>
        <p:spPr>
          <a:xfrm>
            <a:off x="11396587" y="5887198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EFCF047-3D7E-2850-BE20-771823081B5F}"/>
              </a:ext>
            </a:extLst>
          </p:cNvPr>
          <p:cNvSpPr/>
          <p:nvPr/>
        </p:nvSpPr>
        <p:spPr>
          <a:xfrm>
            <a:off x="6438581" y="4862023"/>
            <a:ext cx="4495479" cy="734237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871E5DB-E985-42A2-7FCA-977B109F3BAD}"/>
              </a:ext>
            </a:extLst>
          </p:cNvPr>
          <p:cNvCxnSpPr>
            <a:cxnSpLocks/>
          </p:cNvCxnSpPr>
          <p:nvPr/>
        </p:nvCxnSpPr>
        <p:spPr>
          <a:xfrm>
            <a:off x="6907139" y="4558502"/>
            <a:ext cx="1056168" cy="30352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A02152E-91A1-2E4A-D5B2-A6D381AB2DC3}"/>
              </a:ext>
            </a:extLst>
          </p:cNvPr>
          <p:cNvCxnSpPr>
            <a:cxnSpLocks/>
          </p:cNvCxnSpPr>
          <p:nvPr/>
        </p:nvCxnSpPr>
        <p:spPr>
          <a:xfrm>
            <a:off x="8686321" y="4558501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528A9F-FFFD-0510-61AB-F3053B1E3413}"/>
              </a:ext>
            </a:extLst>
          </p:cNvPr>
          <p:cNvCxnSpPr>
            <a:cxnSpLocks/>
          </p:cNvCxnSpPr>
          <p:nvPr/>
        </p:nvCxnSpPr>
        <p:spPr>
          <a:xfrm flipH="1">
            <a:off x="9409335" y="4558502"/>
            <a:ext cx="1038532" cy="30352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915A4B0-CAD1-1C31-06A7-EBD94F9A7EE9}"/>
              </a:ext>
            </a:extLst>
          </p:cNvPr>
          <p:cNvCxnSpPr>
            <a:cxnSpLocks/>
          </p:cNvCxnSpPr>
          <p:nvPr/>
        </p:nvCxnSpPr>
        <p:spPr>
          <a:xfrm flipH="1">
            <a:off x="6907139" y="5596260"/>
            <a:ext cx="1056168" cy="29183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D015579-D5C4-D546-2DA1-D669F80DE34D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8686321" y="5596260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8C7669-FC48-BCF3-D75F-5887FFCC0234}"/>
              </a:ext>
            </a:extLst>
          </p:cNvPr>
          <p:cNvCxnSpPr>
            <a:cxnSpLocks/>
          </p:cNvCxnSpPr>
          <p:nvPr/>
        </p:nvCxnSpPr>
        <p:spPr>
          <a:xfrm>
            <a:off x="9409335" y="5596260"/>
            <a:ext cx="1056168" cy="29183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2" descr="Apache Kafka">
            <a:extLst>
              <a:ext uri="{FF2B5EF4-FFF2-40B4-BE49-F238E27FC236}">
                <a16:creationId xmlns:a16="http://schemas.microsoft.com/office/drawing/2014/main" id="{01F833C1-9727-11F0-FF8E-DA5167989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479" y="4934744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9B7E16-569B-94CF-949F-74361E302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0804" t="25801" r="7927" b="22078"/>
          <a:stretch>
            <a:fillRect/>
          </a:stretch>
        </p:blipFill>
        <p:spPr>
          <a:xfrm>
            <a:off x="9554024" y="4948403"/>
            <a:ext cx="1158174" cy="56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9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CE72-DBBD-C903-90BC-0314CA3E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56FADC-9936-C1F8-3ED5-E5DCF1393664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2766022" y="2198390"/>
            <a:ext cx="2" cy="49168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7CF244-EF83-5FAB-859C-6198A6FF4B80}"/>
              </a:ext>
            </a:extLst>
          </p:cNvPr>
          <p:cNvCxnSpPr>
            <a:cxnSpLocks/>
          </p:cNvCxnSpPr>
          <p:nvPr/>
        </p:nvCxnSpPr>
        <p:spPr>
          <a:xfrm>
            <a:off x="2780497" y="3080049"/>
            <a:ext cx="2" cy="49168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B1FECB-AF96-1197-E63F-17AAAFBB0FB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and Event-Driven Systems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E434A-B6E9-2CB1-1D83-796CE42A5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27774"/>
            <a:ext cx="11877675" cy="5810766"/>
          </a:xfrm>
        </p:spPr>
        <p:txBody>
          <a:bodyPr/>
          <a:lstStyle/>
          <a:p>
            <a:r>
              <a:rPr lang="hu-HU" dirty="0"/>
              <a:t>Event-Driven System / Architecture:</a:t>
            </a:r>
          </a:p>
          <a:p>
            <a:pPr lvl="1"/>
            <a:r>
              <a:rPr lang="hu-HU" dirty="0"/>
              <a:t>A</a:t>
            </a:r>
            <a:r>
              <a:rPr lang="en-US" dirty="0" err="1"/>
              <a:t>rchitectural</a:t>
            </a:r>
            <a:r>
              <a:rPr lang="en-US" dirty="0"/>
              <a:t> concept where system components </a:t>
            </a:r>
            <a:r>
              <a:rPr lang="en-US" b="1" dirty="0"/>
              <a:t>communicate by producing and responding to events</a:t>
            </a:r>
            <a:r>
              <a:rPr lang="hu-HU" b="1" dirty="0"/>
              <a:t>.</a:t>
            </a:r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r>
              <a:rPr lang="en-US" dirty="0"/>
              <a:t>Key </a:t>
            </a:r>
            <a:r>
              <a:rPr lang="hu-HU" dirty="0"/>
              <a:t>c</a:t>
            </a:r>
            <a:r>
              <a:rPr lang="en-US" dirty="0" err="1"/>
              <a:t>haracteristics</a:t>
            </a:r>
            <a:r>
              <a:rPr lang="hu-HU" dirty="0"/>
              <a:t>:</a:t>
            </a:r>
            <a:endParaRPr lang="en-US" dirty="0"/>
          </a:p>
          <a:p>
            <a:pPr lvl="1"/>
            <a:r>
              <a:rPr lang="en-US" i="1" dirty="0"/>
              <a:t>Loose Coupling</a:t>
            </a:r>
            <a:r>
              <a:rPr lang="en-US" dirty="0"/>
              <a:t>: Producers don’t need to know about consumers.</a:t>
            </a:r>
          </a:p>
          <a:p>
            <a:pPr lvl="1"/>
            <a:r>
              <a:rPr lang="hu-HU" i="1" dirty="0"/>
              <a:t>A</a:t>
            </a:r>
            <a:r>
              <a:rPr lang="en-US" i="1" dirty="0"/>
              <a:t>synchronous Communication</a:t>
            </a:r>
            <a:r>
              <a:rPr lang="en-US" dirty="0"/>
              <a:t>: Events are sent and received independently.</a:t>
            </a:r>
          </a:p>
          <a:p>
            <a:pPr lvl="1"/>
            <a:r>
              <a:rPr lang="en-US" i="1" dirty="0"/>
              <a:t>Scalability</a:t>
            </a:r>
            <a:r>
              <a:rPr lang="en-US" dirty="0"/>
              <a:t>: Services can scale independently with increased event load.</a:t>
            </a:r>
          </a:p>
          <a:p>
            <a:pPr lvl="1"/>
            <a:r>
              <a:rPr lang="en-US" i="1" dirty="0"/>
              <a:t>Real-Time Responsiveness</a:t>
            </a:r>
            <a:r>
              <a:rPr lang="en-US" dirty="0"/>
              <a:t>: Enables systems to react instantly to change.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6A3307-3D1C-3FD9-1F3F-8D3578286088}"/>
              </a:ext>
            </a:extLst>
          </p:cNvPr>
          <p:cNvSpPr txBox="1"/>
          <p:nvPr/>
        </p:nvSpPr>
        <p:spPr>
          <a:xfrm>
            <a:off x="2034398" y="2690076"/>
            <a:ext cx="1463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Event Broker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3B441A-ACF2-308A-06CD-F578E7C08CFB}"/>
              </a:ext>
            </a:extLst>
          </p:cNvPr>
          <p:cNvSpPr txBox="1"/>
          <p:nvPr/>
        </p:nvSpPr>
        <p:spPr>
          <a:xfrm>
            <a:off x="1997862" y="1750144"/>
            <a:ext cx="168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Event Producer</a:t>
            </a:r>
            <a:endParaRPr 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F5B47C-1E46-7A3F-5EC2-DED08B2BF02C}"/>
              </a:ext>
            </a:extLst>
          </p:cNvPr>
          <p:cNvSpPr txBox="1"/>
          <p:nvPr/>
        </p:nvSpPr>
        <p:spPr>
          <a:xfrm>
            <a:off x="1939391" y="3572622"/>
            <a:ext cx="180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Event Consumer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7A5709-A710-37D4-699D-7070D797950F}"/>
              </a:ext>
            </a:extLst>
          </p:cNvPr>
          <p:cNvSpPr txBox="1"/>
          <p:nvPr/>
        </p:nvSpPr>
        <p:spPr>
          <a:xfrm>
            <a:off x="2338282" y="2253448"/>
            <a:ext cx="8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/>
              <a:t>{ event }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5C1373-4DD5-4936-CE38-09BF26A2825D}"/>
              </a:ext>
            </a:extLst>
          </p:cNvPr>
          <p:cNvSpPr txBox="1"/>
          <p:nvPr/>
        </p:nvSpPr>
        <p:spPr>
          <a:xfrm>
            <a:off x="2332171" y="3157482"/>
            <a:ext cx="8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/>
              <a:t>{ event 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4754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6DEC9-9679-E39B-2B16-E39C3484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7E38D7-547E-6BA0-9934-C62BC2C7145A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2764001" y="2197458"/>
            <a:ext cx="2" cy="49168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7EE09F-4D3F-FD0C-921A-1184D86DD281}"/>
              </a:ext>
            </a:extLst>
          </p:cNvPr>
          <p:cNvCxnSpPr>
            <a:cxnSpLocks/>
          </p:cNvCxnSpPr>
          <p:nvPr/>
        </p:nvCxnSpPr>
        <p:spPr>
          <a:xfrm>
            <a:off x="2778476" y="3079117"/>
            <a:ext cx="2" cy="49168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D65F56-8062-B08D-F23C-D675267B9E1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an Event-Driven System?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A0F8F-0273-6637-3332-708EE2BD5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27774"/>
            <a:ext cx="11877675" cy="5810766"/>
          </a:xfrm>
        </p:spPr>
        <p:txBody>
          <a:bodyPr/>
          <a:lstStyle/>
          <a:p>
            <a:r>
              <a:rPr lang="hu-HU" dirty="0"/>
              <a:t>Event-Driven System / Architecture:</a:t>
            </a:r>
          </a:p>
          <a:p>
            <a:pPr lvl="1"/>
            <a:r>
              <a:rPr lang="hu-HU" dirty="0"/>
              <a:t>A</a:t>
            </a:r>
            <a:r>
              <a:rPr lang="en-US" dirty="0" err="1"/>
              <a:t>rchitectural</a:t>
            </a:r>
            <a:r>
              <a:rPr lang="en-US" dirty="0"/>
              <a:t> concept where system components </a:t>
            </a:r>
            <a:r>
              <a:rPr lang="en-US" b="1" dirty="0"/>
              <a:t>communicate by producing and responding to events</a:t>
            </a:r>
            <a:r>
              <a:rPr lang="hu-HU" b="1" dirty="0"/>
              <a:t>.</a:t>
            </a:r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endParaRPr lang="hu-HU" sz="1100" dirty="0"/>
          </a:p>
          <a:p>
            <a:r>
              <a:rPr lang="hu-HU" dirty="0"/>
              <a:t> </a:t>
            </a:r>
            <a:r>
              <a:rPr lang="en-US" dirty="0"/>
              <a:t>Common </a:t>
            </a:r>
            <a:r>
              <a:rPr lang="hu-HU" dirty="0"/>
              <a:t>u</a:t>
            </a:r>
            <a:r>
              <a:rPr lang="en-US" dirty="0"/>
              <a:t>se</a:t>
            </a:r>
            <a:r>
              <a:rPr lang="hu-HU" dirty="0"/>
              <a:t>-c</a:t>
            </a:r>
            <a:r>
              <a:rPr lang="en-US" dirty="0" err="1"/>
              <a:t>ases</a:t>
            </a:r>
            <a:r>
              <a:rPr lang="hu-HU" dirty="0"/>
              <a:t>:</a:t>
            </a:r>
            <a:endParaRPr lang="en-US" dirty="0"/>
          </a:p>
          <a:p>
            <a:pPr lvl="1"/>
            <a:r>
              <a:rPr lang="en-US" dirty="0"/>
              <a:t>Microservices communication</a:t>
            </a:r>
          </a:p>
          <a:p>
            <a:pPr lvl="1"/>
            <a:r>
              <a:rPr lang="en-US" dirty="0"/>
              <a:t>User activity tracking</a:t>
            </a:r>
          </a:p>
          <a:p>
            <a:pPr lvl="1"/>
            <a:r>
              <a:rPr lang="en-US" dirty="0"/>
              <a:t>Financial transactions</a:t>
            </a:r>
          </a:p>
          <a:p>
            <a:pPr lvl="1"/>
            <a:r>
              <a:rPr lang="en-US" dirty="0"/>
              <a:t>IoT sensor updates</a:t>
            </a:r>
            <a:endParaRPr lang="hu-HU" dirty="0"/>
          </a:p>
          <a:p>
            <a:pPr>
              <a:lnSpc>
                <a:spcPct val="120000"/>
              </a:lnSpc>
            </a:pPr>
            <a:r>
              <a:rPr lang="en-US" dirty="0"/>
              <a:t>Event Streaming </a:t>
            </a:r>
            <a:r>
              <a:rPr lang="en-US" b="1" dirty="0"/>
              <a:t>feeds</a:t>
            </a:r>
            <a:r>
              <a:rPr lang="en-US" dirty="0"/>
              <a:t> </a:t>
            </a:r>
            <a:r>
              <a:rPr lang="hu-HU" dirty="0"/>
              <a:t>EDS by </a:t>
            </a:r>
            <a:br>
              <a:rPr lang="hu-HU" dirty="0"/>
            </a:br>
            <a:r>
              <a:rPr lang="hu-HU" dirty="0"/>
              <a:t>delivering events reliably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F6355-E297-A338-B8AA-EA304F4DD6E7}"/>
              </a:ext>
            </a:extLst>
          </p:cNvPr>
          <p:cNvSpPr/>
          <p:nvPr/>
        </p:nvSpPr>
        <p:spPr>
          <a:xfrm>
            <a:off x="4310096" y="1679244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Events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B3484-D6A7-0DAB-B29E-8E85912DD4F7}"/>
              </a:ext>
            </a:extLst>
          </p:cNvPr>
          <p:cNvSpPr/>
          <p:nvPr/>
        </p:nvSpPr>
        <p:spPr>
          <a:xfrm>
            <a:off x="6089278" y="1679243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Pricing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78F41-E099-F60D-0082-2AA1880951B4}"/>
              </a:ext>
            </a:extLst>
          </p:cNvPr>
          <p:cNvSpPr/>
          <p:nvPr/>
        </p:nvSpPr>
        <p:spPr>
          <a:xfrm>
            <a:off x="7868460" y="1679242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5E6D1-959F-D22D-0AAB-59B2A69D14DC}"/>
              </a:ext>
            </a:extLst>
          </p:cNvPr>
          <p:cNvSpPr txBox="1"/>
          <p:nvPr/>
        </p:nvSpPr>
        <p:spPr>
          <a:xfrm>
            <a:off x="9522558" y="1685615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0285AC-A9C6-D178-5A09-D600F8FD8707}"/>
              </a:ext>
            </a:extLst>
          </p:cNvPr>
          <p:cNvSpPr/>
          <p:nvPr/>
        </p:nvSpPr>
        <p:spPr>
          <a:xfrm>
            <a:off x="4310096" y="348198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EF85BE-14A7-737D-2AFD-445DA790119A}"/>
              </a:ext>
            </a:extLst>
          </p:cNvPr>
          <p:cNvSpPr/>
          <p:nvPr/>
        </p:nvSpPr>
        <p:spPr>
          <a:xfrm>
            <a:off x="6089278" y="3481984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3F0CF5-4E41-7F4B-6AB0-B9363414E6AB}"/>
              </a:ext>
            </a:extLst>
          </p:cNvPr>
          <p:cNvSpPr/>
          <p:nvPr/>
        </p:nvSpPr>
        <p:spPr>
          <a:xfrm>
            <a:off x="7868460" y="3481983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9E2D5-7D57-A501-93B1-9B5B520E02C3}"/>
              </a:ext>
            </a:extLst>
          </p:cNvPr>
          <p:cNvSpPr txBox="1"/>
          <p:nvPr/>
        </p:nvSpPr>
        <p:spPr>
          <a:xfrm>
            <a:off x="9522558" y="3488356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B71261-2E3A-3FF7-439D-492F1E887A4C}"/>
              </a:ext>
            </a:extLst>
          </p:cNvPr>
          <p:cNvSpPr/>
          <p:nvPr/>
        </p:nvSpPr>
        <p:spPr>
          <a:xfrm>
            <a:off x="4564552" y="2463181"/>
            <a:ext cx="4495479" cy="734237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E3682B-E67C-2E4F-2C19-A90A2E86EC9F}"/>
              </a:ext>
            </a:extLst>
          </p:cNvPr>
          <p:cNvCxnSpPr>
            <a:cxnSpLocks/>
          </p:cNvCxnSpPr>
          <p:nvPr/>
        </p:nvCxnSpPr>
        <p:spPr>
          <a:xfrm>
            <a:off x="5033110" y="2159660"/>
            <a:ext cx="1056168" cy="30352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E1A6AB-31F3-1952-339F-28AAEAA295C5}"/>
              </a:ext>
            </a:extLst>
          </p:cNvPr>
          <p:cNvCxnSpPr>
            <a:cxnSpLocks/>
          </p:cNvCxnSpPr>
          <p:nvPr/>
        </p:nvCxnSpPr>
        <p:spPr>
          <a:xfrm>
            <a:off x="6812292" y="2159659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9BA97F-643C-6751-C988-730387D07AD7}"/>
              </a:ext>
            </a:extLst>
          </p:cNvPr>
          <p:cNvCxnSpPr>
            <a:cxnSpLocks/>
          </p:cNvCxnSpPr>
          <p:nvPr/>
        </p:nvCxnSpPr>
        <p:spPr>
          <a:xfrm flipH="1">
            <a:off x="7535306" y="2159660"/>
            <a:ext cx="1038532" cy="30352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5E0CBE-AF29-C62E-9660-BADEA5B251DD}"/>
              </a:ext>
            </a:extLst>
          </p:cNvPr>
          <p:cNvCxnSpPr>
            <a:cxnSpLocks/>
          </p:cNvCxnSpPr>
          <p:nvPr/>
        </p:nvCxnSpPr>
        <p:spPr>
          <a:xfrm flipH="1">
            <a:off x="5033110" y="3197418"/>
            <a:ext cx="1056168" cy="29183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B55A3B-B189-7816-0EC5-BD2060F8598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812292" y="3197418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D093D9-C644-44A2-0A25-9AE90A3A565D}"/>
              </a:ext>
            </a:extLst>
          </p:cNvPr>
          <p:cNvCxnSpPr>
            <a:cxnSpLocks/>
          </p:cNvCxnSpPr>
          <p:nvPr/>
        </p:nvCxnSpPr>
        <p:spPr>
          <a:xfrm>
            <a:off x="7535306" y="3197418"/>
            <a:ext cx="1056168" cy="29183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Apache Kafka">
            <a:extLst>
              <a:ext uri="{FF2B5EF4-FFF2-40B4-BE49-F238E27FC236}">
                <a16:creationId xmlns:a16="http://schemas.microsoft.com/office/drawing/2014/main" id="{8D06031A-6443-D75A-76E8-4BAFD4CF3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450" y="2535902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A3938C-5559-8DBF-9E75-A28213571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0804" t="25801" r="7927" b="22078"/>
          <a:stretch>
            <a:fillRect/>
          </a:stretch>
        </p:blipFill>
        <p:spPr>
          <a:xfrm>
            <a:off x="7679995" y="2549561"/>
            <a:ext cx="1158174" cy="56147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3DCCF89-7E3B-70D4-E595-33C585C66799}"/>
              </a:ext>
            </a:extLst>
          </p:cNvPr>
          <p:cNvSpPr txBox="1"/>
          <p:nvPr/>
        </p:nvSpPr>
        <p:spPr>
          <a:xfrm>
            <a:off x="4621147" y="2123314"/>
            <a:ext cx="8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/>
              <a:t>{ event }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AACBD1-E206-873C-87BE-083BC185AB91}"/>
              </a:ext>
            </a:extLst>
          </p:cNvPr>
          <p:cNvSpPr txBox="1"/>
          <p:nvPr/>
        </p:nvSpPr>
        <p:spPr>
          <a:xfrm>
            <a:off x="6786521" y="3157678"/>
            <a:ext cx="8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/>
              <a:t>{ event }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A59C27-AF4A-D0EB-5804-E269734B030C}"/>
              </a:ext>
            </a:extLst>
          </p:cNvPr>
          <p:cNvSpPr txBox="1"/>
          <p:nvPr/>
        </p:nvSpPr>
        <p:spPr>
          <a:xfrm>
            <a:off x="2032377" y="2689144"/>
            <a:ext cx="1463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Event Broker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C9DB49-260B-32D2-0E1F-55F01195C502}"/>
              </a:ext>
            </a:extLst>
          </p:cNvPr>
          <p:cNvSpPr txBox="1"/>
          <p:nvPr/>
        </p:nvSpPr>
        <p:spPr>
          <a:xfrm>
            <a:off x="1995841" y="1749212"/>
            <a:ext cx="168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Event Producer</a:t>
            </a:r>
            <a:endParaRPr 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C0EC76-ABC9-C4E0-0CAA-CB9050E0A558}"/>
              </a:ext>
            </a:extLst>
          </p:cNvPr>
          <p:cNvSpPr txBox="1"/>
          <p:nvPr/>
        </p:nvSpPr>
        <p:spPr>
          <a:xfrm>
            <a:off x="1937370" y="3571690"/>
            <a:ext cx="180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Event Consumer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CD0BC-7CE5-782D-2431-A5A453893C8F}"/>
              </a:ext>
            </a:extLst>
          </p:cNvPr>
          <p:cNvSpPr txBox="1"/>
          <p:nvPr/>
        </p:nvSpPr>
        <p:spPr>
          <a:xfrm>
            <a:off x="2336261" y="2252516"/>
            <a:ext cx="8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/>
              <a:t>{ event }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124D23-6578-CD17-FF89-1DE7EEA08378}"/>
              </a:ext>
            </a:extLst>
          </p:cNvPr>
          <p:cNvSpPr txBox="1"/>
          <p:nvPr/>
        </p:nvSpPr>
        <p:spPr>
          <a:xfrm>
            <a:off x="2330150" y="3156550"/>
            <a:ext cx="8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/>
              <a:t>{ event 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944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11" grpId="0"/>
      <p:bldP spid="12" grpId="0" animBg="1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EBF13-1918-E4E7-8F67-7BAF5666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334447-4784-0862-2D82-821F899F81A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Side Note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2C894-C078-0970-9563-C627EFC6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27774"/>
            <a:ext cx="11877675" cy="5810766"/>
          </a:xfrm>
        </p:spPr>
        <p:txBody>
          <a:bodyPr/>
          <a:lstStyle/>
          <a:p>
            <a:r>
              <a:rPr lang="en-US" dirty="0"/>
              <a:t>Difference in Focus</a:t>
            </a:r>
            <a:r>
              <a:rPr lang="hu-HU" dirty="0"/>
              <a:t>:</a:t>
            </a:r>
            <a:endParaRPr lang="en-US" dirty="0"/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b="1" dirty="0"/>
              <a:t>Event-Driven </a:t>
            </a:r>
            <a:r>
              <a:rPr lang="hu-HU" b="1" dirty="0"/>
              <a:t>Systems</a:t>
            </a:r>
            <a:r>
              <a:rPr lang="en-US" dirty="0"/>
              <a:t> focuses on </a:t>
            </a:r>
            <a:r>
              <a:rPr lang="en-US" i="1" dirty="0"/>
              <a:t>reacting to events</a:t>
            </a:r>
            <a:br>
              <a:rPr lang="hu-HU" i="1" dirty="0"/>
            </a:br>
            <a:r>
              <a:rPr lang="en-US" dirty="0"/>
              <a:t>—it's about </a:t>
            </a:r>
            <a:r>
              <a:rPr lang="en-US" b="1" dirty="0"/>
              <a:t>event-triggered behavior and loosely coupled service interactions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b="1" dirty="0"/>
              <a:t>Event Streaming</a:t>
            </a:r>
            <a:r>
              <a:rPr lang="en-US" dirty="0"/>
              <a:t> focuses on </a:t>
            </a:r>
            <a:r>
              <a:rPr lang="en-US" i="1" dirty="0"/>
              <a:t>capturing and processing a continuous flow of events</a:t>
            </a:r>
            <a:br>
              <a:rPr lang="hu-HU" i="1" dirty="0"/>
            </a:br>
            <a:r>
              <a:rPr lang="en-US" dirty="0"/>
              <a:t>—it's about </a:t>
            </a:r>
            <a:r>
              <a:rPr lang="en-US" b="1" dirty="0"/>
              <a:t>real-time data movement and processing over time</a:t>
            </a:r>
            <a:r>
              <a:rPr lang="en-US" dirty="0"/>
              <a:t>.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>
              <a:spcBef>
                <a:spcPts val="1200"/>
              </a:spcBef>
            </a:pPr>
            <a:endParaRPr lang="hu-HU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85B2A2-793C-08E1-B1C7-A70CAB77730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AEF"/>
              </a:clrFrom>
              <a:clrTo>
                <a:srgbClr val="FEFAEF">
                  <a:alpha val="0"/>
                </a:srgbClr>
              </a:clrTo>
            </a:clrChange>
          </a:blip>
          <a:srcRect l="12073" t="15461" r="12391" b="13728"/>
          <a:stretch>
            <a:fillRect/>
          </a:stretch>
        </p:blipFill>
        <p:spPr>
          <a:xfrm>
            <a:off x="9020876" y="827774"/>
            <a:ext cx="3009200" cy="188066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2FADCB4-F74B-69E2-C0E8-685BFB1D0A9D}"/>
              </a:ext>
            </a:extLst>
          </p:cNvPr>
          <p:cNvSpPr/>
          <p:nvPr/>
        </p:nvSpPr>
        <p:spPr>
          <a:xfrm>
            <a:off x="2790701" y="3135086"/>
            <a:ext cx="3728852" cy="350345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39DDDA-C070-196F-C387-9108749752CB}"/>
              </a:ext>
            </a:extLst>
          </p:cNvPr>
          <p:cNvSpPr/>
          <p:nvPr/>
        </p:nvSpPr>
        <p:spPr>
          <a:xfrm>
            <a:off x="5104410" y="3135086"/>
            <a:ext cx="3728852" cy="350345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B1D17-9772-D7C6-C035-C2B27B5B5A9F}"/>
              </a:ext>
            </a:extLst>
          </p:cNvPr>
          <p:cNvSpPr txBox="1"/>
          <p:nvPr/>
        </p:nvSpPr>
        <p:spPr>
          <a:xfrm>
            <a:off x="3730438" y="2488755"/>
            <a:ext cx="1804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EDA but not Event Streaming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39327-608C-4789-216C-0CFDCE893D31}"/>
              </a:ext>
            </a:extLst>
          </p:cNvPr>
          <p:cNvSpPr txBox="1"/>
          <p:nvPr/>
        </p:nvSpPr>
        <p:spPr>
          <a:xfrm>
            <a:off x="6107875" y="2488755"/>
            <a:ext cx="1721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Event Steaming but not EDA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94076-2AD2-C993-73FA-A5101F932274}"/>
              </a:ext>
            </a:extLst>
          </p:cNvPr>
          <p:cNvSpPr txBox="1"/>
          <p:nvPr/>
        </p:nvSpPr>
        <p:spPr>
          <a:xfrm>
            <a:off x="3094512" y="4368413"/>
            <a:ext cx="30588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package delivery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 emits “Parcel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Shipped” events via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message queue,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triggering customer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notifications — no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streaming or historical 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playback is needed.</a:t>
            </a:r>
          </a:p>
        </p:txBody>
      </p:sp>
      <p:pic>
        <p:nvPicPr>
          <p:cNvPr id="1026" name="Picture 2" descr="Wind Turbine Icon Black Icon Isolated">
            <a:extLst>
              <a:ext uri="{FF2B5EF4-FFF2-40B4-BE49-F238E27FC236}">
                <a16:creationId xmlns:a16="http://schemas.microsoft.com/office/drawing/2014/main" id="{BDADFDF2-2157-4ACF-B3FC-5804C31C70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4" t="8256" r="6428" b="12976"/>
          <a:stretch>
            <a:fillRect/>
          </a:stretch>
        </p:blipFill>
        <p:spPr bwMode="auto">
          <a:xfrm>
            <a:off x="6810997" y="3273334"/>
            <a:ext cx="931715" cy="101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duct delivered, parcel delivery, package shipping concept ...">
            <a:extLst>
              <a:ext uri="{FF2B5EF4-FFF2-40B4-BE49-F238E27FC236}">
                <a16:creationId xmlns:a16="http://schemas.microsoft.com/office/drawing/2014/main" id="{C992B9F0-8CB6-2312-90A5-89BCD55A3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417" y="3214000"/>
            <a:ext cx="1267351" cy="119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B1D17C-67AE-89A3-CB5B-C0DA7612572D}"/>
              </a:ext>
            </a:extLst>
          </p:cNvPr>
          <p:cNvSpPr txBox="1"/>
          <p:nvPr/>
        </p:nvSpPr>
        <p:spPr>
          <a:xfrm>
            <a:off x="6519553" y="4368413"/>
            <a:ext cx="24630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telemetry pipeline 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continuously streams 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 data from wind 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turbines into a data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lake via Kafka for 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analytics—no services 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to events </a:t>
            </a:r>
            <a:endParaRPr lang="hu-HU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real time.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24F9B3-D4AC-7BAB-BCA6-8181AE2266F4}"/>
              </a:ext>
            </a:extLst>
          </p:cNvPr>
          <p:cNvGrpSpPr/>
          <p:nvPr/>
        </p:nvGrpSpPr>
        <p:grpSpPr>
          <a:xfrm>
            <a:off x="5115732" y="3994439"/>
            <a:ext cx="1403821" cy="1687874"/>
            <a:chOff x="5115732" y="3994439"/>
            <a:chExt cx="1403821" cy="1687874"/>
          </a:xfrm>
        </p:grpSpPr>
        <p:pic>
          <p:nvPicPr>
            <p:cNvPr id="1034" name="Picture 10" descr="generate a similar icon to the uploaded image">
              <a:extLst>
                <a:ext uri="{FF2B5EF4-FFF2-40B4-BE49-F238E27FC236}">
                  <a16:creationId xmlns:a16="http://schemas.microsoft.com/office/drawing/2014/main" id="{3BF0AF9C-58FE-AAEA-9C8C-F468E5CA3C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86" t="10919" r="11443" b="17749"/>
            <a:stretch>
              <a:fillRect/>
            </a:stretch>
          </p:blipFill>
          <p:spPr bwMode="auto">
            <a:xfrm>
              <a:off x="5397673" y="3994439"/>
              <a:ext cx="868475" cy="828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6E5DA6-536F-7EDC-3110-6D958F64D8AE}"/>
                </a:ext>
              </a:extLst>
            </p:cNvPr>
            <p:cNvSpPr txBox="1"/>
            <p:nvPr/>
          </p:nvSpPr>
          <p:spPr>
            <a:xfrm>
              <a:off x="5115732" y="4943649"/>
              <a:ext cx="140382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Smart traffic 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management 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BF6B55-CB0A-4C8F-1116-B769E7023CC2}"/>
              </a:ext>
            </a:extLst>
          </p:cNvPr>
          <p:cNvGrpSpPr/>
          <p:nvPr/>
        </p:nvGrpSpPr>
        <p:grpSpPr>
          <a:xfrm>
            <a:off x="5201826" y="4289499"/>
            <a:ext cx="1249278" cy="1218018"/>
            <a:chOff x="5201826" y="4289499"/>
            <a:chExt cx="1249278" cy="121801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45FAF88-3CCF-F620-A669-D400D7724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9FBF9"/>
                </a:clrFrom>
                <a:clrTo>
                  <a:srgbClr val="F9FBF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rcRect l="10804" t="25801" r="7927" b="22078"/>
            <a:stretch>
              <a:fillRect/>
            </a:stretch>
          </p:blipFill>
          <p:spPr>
            <a:xfrm>
              <a:off x="5201826" y="4901874"/>
              <a:ext cx="1249278" cy="605643"/>
            </a:xfrm>
            <a:prstGeom prst="rect">
              <a:avLst/>
            </a:prstGeom>
          </p:spPr>
        </p:pic>
        <p:pic>
          <p:nvPicPr>
            <p:cNvPr id="15" name="Picture 2" descr="Apache Kafka">
              <a:extLst>
                <a:ext uri="{FF2B5EF4-FFF2-40B4-BE49-F238E27FC236}">
                  <a16:creationId xmlns:a16="http://schemas.microsoft.com/office/drawing/2014/main" id="{83E0EEF7-4A9F-34A4-07D6-C9A9208FA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8225" y="4289499"/>
              <a:ext cx="1142005" cy="520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7574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A793B-A6D5-05E6-C0F7-EC791F67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52B8CD-05EB-2F90-2266-255EF0D5636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Overview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C7542-95F7-6BFE-5956-78FEF06E47DF}"/>
              </a:ext>
            </a:extLst>
          </p:cNvPr>
          <p:cNvSpPr/>
          <p:nvPr/>
        </p:nvSpPr>
        <p:spPr>
          <a:xfrm>
            <a:off x="9059323" y="918648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BB6733-96F1-0D44-00EB-065C7A984550}"/>
              </a:ext>
            </a:extLst>
          </p:cNvPr>
          <p:cNvSpPr/>
          <p:nvPr/>
        </p:nvSpPr>
        <p:spPr>
          <a:xfrm>
            <a:off x="9059323" y="3774191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5B7E0BA-997C-F2A4-BB54-02052AF3C7AA}"/>
              </a:ext>
            </a:extLst>
          </p:cNvPr>
          <p:cNvSpPr/>
          <p:nvPr/>
        </p:nvSpPr>
        <p:spPr>
          <a:xfrm>
            <a:off x="7534597" y="1709854"/>
            <a:ext cx="4495479" cy="1779772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                     ...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B77E77-BF33-BAD9-D545-4AC41A2B0383}"/>
              </a:ext>
            </a:extLst>
          </p:cNvPr>
          <p:cNvCxnSpPr>
            <a:cxnSpLocks/>
          </p:cNvCxnSpPr>
          <p:nvPr/>
        </p:nvCxnSpPr>
        <p:spPr>
          <a:xfrm>
            <a:off x="9782337" y="1399064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C0C308B-5CAA-4D54-039E-AB97B5C6279A}"/>
              </a:ext>
            </a:extLst>
          </p:cNvPr>
          <p:cNvCxnSpPr>
            <a:cxnSpLocks/>
          </p:cNvCxnSpPr>
          <p:nvPr/>
        </p:nvCxnSpPr>
        <p:spPr>
          <a:xfrm>
            <a:off x="9782337" y="3489625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8A2365D-7BEA-CB28-37E8-93E4C4AA2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0"/>
            <a:ext cx="11877675" cy="5791123"/>
          </a:xfrm>
        </p:spPr>
        <p:txBody>
          <a:bodyPr/>
          <a:lstStyle/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Topics</a:t>
            </a:r>
            <a:r>
              <a:rPr lang="hu-HU" sz="1600" dirty="0"/>
              <a:t> oragnize </a:t>
            </a:r>
            <a:r>
              <a:rPr lang="hu-HU" sz="1600" b="1" dirty="0"/>
              <a:t>related</a:t>
            </a:r>
            <a:r>
              <a:rPr lang="hu-HU" sz="1600" dirty="0"/>
              <a:t> </a:t>
            </a:r>
            <a:r>
              <a:rPr lang="hu-HU" sz="1600" b="1" dirty="0"/>
              <a:t>events</a:t>
            </a:r>
            <a:r>
              <a:rPr lang="hu-HU" sz="1600" dirty="0"/>
              <a:t>:</a:t>
            </a:r>
          </a:p>
          <a:p>
            <a:pPr lvl="1"/>
            <a:r>
              <a:rPr lang="hu-HU" sz="1400" dirty="0"/>
              <a:t>E.g. logs of a specific application</a:t>
            </a:r>
          </a:p>
          <a:p>
            <a:pPr lvl="1"/>
            <a:r>
              <a:rPr lang="hu-HU" sz="1400" dirty="0"/>
              <a:t>Rougly analogous to </a:t>
            </a:r>
            <a:r>
              <a:rPr lang="hu-HU" sz="1400" b="1" dirty="0"/>
              <a:t>SQL tables</a:t>
            </a:r>
          </a:p>
          <a:p>
            <a:pPr lvl="1"/>
            <a:endParaRPr lang="hu-HU" sz="1400" b="1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Producers</a:t>
            </a:r>
            <a:r>
              <a:rPr lang="hu-HU" sz="1600" dirty="0"/>
              <a:t> are applications that send data into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Consumers</a:t>
            </a:r>
            <a:r>
              <a:rPr lang="hu-HU" sz="1600" dirty="0"/>
              <a:t> are applications that pull data from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/>
              <a:t>Client-server </a:t>
            </a:r>
            <a:r>
              <a:rPr lang="hu-HU" sz="1600" dirty="0"/>
              <a:t>architecture:</a:t>
            </a:r>
          </a:p>
          <a:p>
            <a:pPr lvl="1"/>
            <a:r>
              <a:rPr lang="hu-HU" sz="1400" dirty="0"/>
              <a:t>Topics are stored on servers, called </a:t>
            </a:r>
            <a:r>
              <a:rPr lang="hu-HU" sz="1400" b="1" dirty="0">
                <a:solidFill>
                  <a:schemeClr val="accent1">
                    <a:lumMod val="75000"/>
                  </a:schemeClr>
                </a:solidFill>
              </a:rPr>
              <a:t>Kafka brokers</a:t>
            </a:r>
          </a:p>
          <a:p>
            <a:pPr lvl="1"/>
            <a:r>
              <a:rPr lang="hu-HU" sz="1400" dirty="0"/>
              <a:t>Producers and consumers are the clients</a:t>
            </a:r>
          </a:p>
          <a:p>
            <a:pPr lvl="1"/>
            <a:endParaRPr lang="hu-HU" sz="1400" dirty="0"/>
          </a:p>
          <a:p>
            <a:r>
              <a:rPr lang="hu-HU" sz="1600" dirty="0"/>
              <a:t>Can scale to 100s of brokers</a:t>
            </a:r>
          </a:p>
          <a:p>
            <a:r>
              <a:rPr lang="hu-HU" sz="1600" dirty="0"/>
              <a:t>Can scale to millions of messages per second</a:t>
            </a:r>
          </a:p>
          <a:p>
            <a:r>
              <a:rPr lang="hu-HU" sz="1600" dirty="0"/>
              <a:t>Latency of less than 10 ms ~ real time</a:t>
            </a:r>
          </a:p>
          <a:p>
            <a:pPr lvl="1"/>
            <a:endParaRPr lang="hu-HU" sz="1400" dirty="0"/>
          </a:p>
          <a:p>
            <a:pPr lvl="1"/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92183-FFB4-32BF-FD1B-C5F069D7BBF5}"/>
              </a:ext>
            </a:extLst>
          </p:cNvPr>
          <p:cNvSpPr/>
          <p:nvPr/>
        </p:nvSpPr>
        <p:spPr>
          <a:xfrm>
            <a:off x="8869554" y="1918921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E5226F1-7E62-56A5-36D1-0ED80159ED2B}"/>
              </a:ext>
            </a:extLst>
          </p:cNvPr>
          <p:cNvSpPr/>
          <p:nvPr/>
        </p:nvSpPr>
        <p:spPr>
          <a:xfrm>
            <a:off x="9039980" y="2322050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EF0259-01F8-C3ED-06B2-5D7D20DF2741}"/>
              </a:ext>
            </a:extLst>
          </p:cNvPr>
          <p:cNvSpPr/>
          <p:nvPr/>
        </p:nvSpPr>
        <p:spPr>
          <a:xfrm>
            <a:off x="9039980" y="2911030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9E063-2988-8753-F31B-D464DEA4203F}"/>
              </a:ext>
            </a:extLst>
          </p:cNvPr>
          <p:cNvSpPr txBox="1"/>
          <p:nvPr/>
        </p:nvSpPr>
        <p:spPr>
          <a:xfrm>
            <a:off x="8869554" y="1915639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8C78EE-1A7E-AB1D-B87F-D063E23D53A7}"/>
              </a:ext>
            </a:extLst>
          </p:cNvPr>
          <p:cNvSpPr/>
          <p:nvPr/>
        </p:nvSpPr>
        <p:spPr>
          <a:xfrm>
            <a:off x="10679801" y="1918921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B911D2-57FD-B3DA-6A6C-68DD358CB29F}"/>
              </a:ext>
            </a:extLst>
          </p:cNvPr>
          <p:cNvSpPr/>
          <p:nvPr/>
        </p:nvSpPr>
        <p:spPr>
          <a:xfrm>
            <a:off x="10850227" y="2322050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1C8626-A2D3-0B7A-F0F9-DEE59222A737}"/>
              </a:ext>
            </a:extLst>
          </p:cNvPr>
          <p:cNvSpPr/>
          <p:nvPr/>
        </p:nvSpPr>
        <p:spPr>
          <a:xfrm>
            <a:off x="10850227" y="2911030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02E02-982D-CB0A-DBE3-96E10B97DD00}"/>
              </a:ext>
            </a:extLst>
          </p:cNvPr>
          <p:cNvSpPr txBox="1"/>
          <p:nvPr/>
        </p:nvSpPr>
        <p:spPr>
          <a:xfrm>
            <a:off x="10679801" y="1915639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pic>
        <p:nvPicPr>
          <p:cNvPr id="10" name="Picture 2" descr="Apache Kafka">
            <a:extLst>
              <a:ext uri="{FF2B5EF4-FFF2-40B4-BE49-F238E27FC236}">
                <a16:creationId xmlns:a16="http://schemas.microsoft.com/office/drawing/2014/main" id="{4ED9AF21-4F87-3B45-0FE6-3E1C2F78D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875" y="2394716"/>
            <a:ext cx="899556" cy="41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184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311E-4D66-4767-202E-84EBA0CE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304F68-7F04-EB52-9975-7A298A64128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Comparing Kafka to Other Message Brokers?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16C8555-EE3C-F062-F992-975DB486F4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2962" y="1147973"/>
          <a:ext cx="10515600" cy="4693920"/>
        </p:xfrm>
        <a:graphic>
          <a:graphicData uri="http://schemas.openxmlformats.org/drawingml/2006/table">
            <a:tbl>
              <a:tblPr firstRow="1" firstCol="1">
                <a:tableStyleId>{5FD0F851-EC5A-4D38-B0AD-8093EC10F338}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49170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70143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179534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486058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42463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Feature / Broker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Apache Kafka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RabbitMQ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Redis Streams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Cloud-Native Brokers</a:t>
                      </a:r>
                      <a:r>
                        <a:rPr lang="en-US" sz="1600" dirty="0"/>
                        <a:t> (AWS, Azure, GCP)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992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Message Retention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✅ Long-term, configurable (disk-based)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Short-term (until consumed)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Short-term (memory-based, optional persistence)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Limited (varies by service; often time-bound)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25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Throughput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🔥 Extremely high (millions/sec)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Moderate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High (in-memory, low latency)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Moderate to high (depends on service tier)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41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Replay Support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✅ Native replay from log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❌ Not supported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Limited (manual tracking needed)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❌ Typically not supported (some exceptions)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22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Ordering Guarantees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Per partition (strong ordering)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Per queue (FIFO optional)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Per stream (by ID)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Varies: some offer FIFO queues, others don’t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887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Use Case Fit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❌ Not lightweight (requires cluster)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Lightweight, easy to deploy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Lightweight, in-memory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✅ Lightweight, fully managed (cloud-native)</a:t>
                      </a:r>
                      <a:endParaRPr lang="en-US" sz="16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5932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9EF3A7-4BD1-2A47-42C8-8F6F59507649}"/>
              </a:ext>
            </a:extLst>
          </p:cNvPr>
          <p:cNvSpPr txBox="1"/>
          <p:nvPr/>
        </p:nvSpPr>
        <p:spPr>
          <a:xfrm>
            <a:off x="842962" y="6109257"/>
            <a:ext cx="8989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isn’t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message broker—it’s a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distributed event streaming platform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837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5953-86CD-1EA7-1DE9-03AB35ED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21747F-4DAB-2A3A-4BBC-47CB955A8E9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&amp; Ecosystem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F4E0E8-C7DD-7621-8D86-8A1EA07FA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775" y="1638794"/>
            <a:ext cx="4014449" cy="40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09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5D7A-7A3F-9E22-629E-C53D9239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3B3DB140-5CFB-F803-47D5-8FE27A4D951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hu-HU" dirty="0"/>
              <a:t>Cloud Native Architecture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27CEC2A-6AF2-4899-3FFF-598E512208C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ctr"/>
            <a:r>
              <a:rPr lang="hu-HU" sz="4000" dirty="0">
                <a:solidFill>
                  <a:srgbClr val="012863"/>
                </a:solidFill>
              </a:rPr>
              <a:t>Kafka Core Concepts</a:t>
            </a:r>
            <a:endParaRPr lang="en-US" sz="4000" dirty="0">
              <a:solidFill>
                <a:srgbClr val="012863"/>
              </a:solidFill>
            </a:endParaRPr>
          </a:p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979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Overview 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7963307" y="407808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7963307" y="5880826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DC05DC-FB55-58E3-E878-50D2A0C7DB12}"/>
              </a:ext>
            </a:extLst>
          </p:cNvPr>
          <p:cNvSpPr/>
          <p:nvPr/>
        </p:nvSpPr>
        <p:spPr>
          <a:xfrm>
            <a:off x="6438581" y="4862023"/>
            <a:ext cx="4495479" cy="734237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Apache Kafka">
            <a:extLst>
              <a:ext uri="{FF2B5EF4-FFF2-40B4-BE49-F238E27FC236}">
                <a16:creationId xmlns:a16="http://schemas.microsoft.com/office/drawing/2014/main" id="{D39148AD-1325-F8EC-08D9-BB1583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859" y="4934744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8686321" y="4558501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8686321" y="5596260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0"/>
            <a:ext cx="11877675" cy="5791123"/>
          </a:xfrm>
        </p:spPr>
        <p:txBody>
          <a:bodyPr/>
          <a:lstStyle/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Topics</a:t>
            </a:r>
            <a:r>
              <a:rPr lang="hu-HU" sz="1600" dirty="0"/>
              <a:t> organize </a:t>
            </a:r>
            <a:r>
              <a:rPr lang="hu-HU" sz="1600" b="1" dirty="0"/>
              <a:t>related</a:t>
            </a:r>
            <a:r>
              <a:rPr lang="hu-HU" sz="1600" dirty="0"/>
              <a:t> </a:t>
            </a:r>
            <a:r>
              <a:rPr lang="hu-HU" sz="1600" b="1" dirty="0"/>
              <a:t>events</a:t>
            </a:r>
            <a:r>
              <a:rPr lang="hu-HU" sz="1600" dirty="0"/>
              <a:t>:</a:t>
            </a:r>
          </a:p>
          <a:p>
            <a:pPr lvl="1"/>
            <a:r>
              <a:rPr lang="hu-HU" sz="1400" dirty="0"/>
              <a:t>E.g. logs of a specific application</a:t>
            </a:r>
          </a:p>
          <a:p>
            <a:pPr lvl="1"/>
            <a:r>
              <a:rPr lang="hu-HU" sz="1400" dirty="0"/>
              <a:t>Rougly analogous to </a:t>
            </a:r>
            <a:r>
              <a:rPr lang="hu-HU" sz="1400" b="1" dirty="0"/>
              <a:t>SQL tables</a:t>
            </a:r>
          </a:p>
          <a:p>
            <a:pPr lvl="1"/>
            <a:endParaRPr lang="hu-HU" sz="1400" b="1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Producers</a:t>
            </a:r>
            <a:r>
              <a:rPr lang="hu-HU" sz="1600" dirty="0"/>
              <a:t> are applications that send data into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Consumers</a:t>
            </a:r>
            <a:r>
              <a:rPr lang="hu-HU" sz="1600" dirty="0"/>
              <a:t> are applications that pull data from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en-US" sz="14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8114820" y="5065417"/>
            <a:ext cx="1143000" cy="327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topic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Overview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7963307" y="335241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1C1092-D374-A51B-C702-73D85B05EF80}"/>
              </a:ext>
            </a:extLst>
          </p:cNvPr>
          <p:cNvSpPr txBox="1"/>
          <p:nvPr/>
        </p:nvSpPr>
        <p:spPr>
          <a:xfrm>
            <a:off x="11396587" y="3358782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7963307" y="6207953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3EF817-2751-E427-7227-AFD7480D74D2}"/>
              </a:ext>
            </a:extLst>
          </p:cNvPr>
          <p:cNvSpPr txBox="1"/>
          <p:nvPr/>
        </p:nvSpPr>
        <p:spPr>
          <a:xfrm>
            <a:off x="11396587" y="6214325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DC05DC-FB55-58E3-E878-50D2A0C7DB12}"/>
              </a:ext>
            </a:extLst>
          </p:cNvPr>
          <p:cNvSpPr/>
          <p:nvPr/>
        </p:nvSpPr>
        <p:spPr>
          <a:xfrm>
            <a:off x="6438581" y="4143616"/>
            <a:ext cx="4495479" cy="1779772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                     ...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8686321" y="3832826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</p:cNvCxnSpPr>
          <p:nvPr/>
        </p:nvCxnSpPr>
        <p:spPr>
          <a:xfrm>
            <a:off x="8686321" y="5923387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0"/>
            <a:ext cx="11877675" cy="5791123"/>
          </a:xfrm>
        </p:spPr>
        <p:txBody>
          <a:bodyPr/>
          <a:lstStyle/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Topics</a:t>
            </a:r>
            <a:r>
              <a:rPr lang="hu-HU" sz="1600" dirty="0"/>
              <a:t> oragnize </a:t>
            </a:r>
            <a:r>
              <a:rPr lang="hu-HU" sz="1600" b="1" dirty="0"/>
              <a:t>related</a:t>
            </a:r>
            <a:r>
              <a:rPr lang="hu-HU" sz="1600" dirty="0"/>
              <a:t> </a:t>
            </a:r>
            <a:r>
              <a:rPr lang="hu-HU" sz="1600" b="1" dirty="0"/>
              <a:t>events</a:t>
            </a:r>
            <a:r>
              <a:rPr lang="hu-HU" sz="1600" dirty="0"/>
              <a:t>:</a:t>
            </a:r>
          </a:p>
          <a:p>
            <a:pPr lvl="1"/>
            <a:r>
              <a:rPr lang="hu-HU" sz="1400" dirty="0"/>
              <a:t>E.g. logs of a specific application</a:t>
            </a:r>
          </a:p>
          <a:p>
            <a:pPr lvl="1"/>
            <a:r>
              <a:rPr lang="hu-HU" sz="1400" dirty="0"/>
              <a:t>Rougly analogous to </a:t>
            </a:r>
            <a:r>
              <a:rPr lang="hu-HU" sz="1400" b="1" dirty="0"/>
              <a:t>SQL tables</a:t>
            </a:r>
          </a:p>
          <a:p>
            <a:pPr lvl="1"/>
            <a:endParaRPr lang="hu-HU" sz="1400" b="1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Producers</a:t>
            </a:r>
            <a:r>
              <a:rPr lang="hu-HU" sz="1600" dirty="0"/>
              <a:t> are applications that send data into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Consumers</a:t>
            </a:r>
            <a:r>
              <a:rPr lang="hu-HU" sz="1600" dirty="0"/>
              <a:t> are applications that pull data from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/>
              <a:t>Client-server </a:t>
            </a:r>
            <a:r>
              <a:rPr lang="hu-HU" sz="1600" dirty="0"/>
              <a:t>architecture:</a:t>
            </a:r>
          </a:p>
          <a:p>
            <a:pPr lvl="1"/>
            <a:r>
              <a:rPr lang="hu-HU" sz="1400" dirty="0"/>
              <a:t>Topics are stored on servers, called </a:t>
            </a:r>
            <a:r>
              <a:rPr lang="hu-HU" sz="1400" b="1" dirty="0">
                <a:solidFill>
                  <a:schemeClr val="accent1">
                    <a:lumMod val="75000"/>
                  </a:schemeClr>
                </a:solidFill>
              </a:rPr>
              <a:t>Kafka brokers</a:t>
            </a:r>
          </a:p>
          <a:p>
            <a:pPr lvl="1"/>
            <a:r>
              <a:rPr lang="hu-HU" sz="1400" dirty="0"/>
              <a:t>Producers and consumers are the clients</a:t>
            </a:r>
          </a:p>
          <a:p>
            <a:pPr lvl="1"/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840F6-E521-6126-E985-DF7DFA1796C2}"/>
              </a:ext>
            </a:extLst>
          </p:cNvPr>
          <p:cNvSpPr/>
          <p:nvPr/>
        </p:nvSpPr>
        <p:spPr>
          <a:xfrm>
            <a:off x="7773538" y="4352683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7943964" y="475581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4D9085-C9CF-C4FE-AC6D-EAC02F8A2BF7}"/>
              </a:ext>
            </a:extLst>
          </p:cNvPr>
          <p:cNvSpPr/>
          <p:nvPr/>
        </p:nvSpPr>
        <p:spPr>
          <a:xfrm>
            <a:off x="7943964" y="534479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87962-ED6E-F7EA-FCF4-306FCEE06B1A}"/>
              </a:ext>
            </a:extLst>
          </p:cNvPr>
          <p:cNvSpPr txBox="1"/>
          <p:nvPr/>
        </p:nvSpPr>
        <p:spPr>
          <a:xfrm>
            <a:off x="7773538" y="4349401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62CED-1931-B0D8-B026-D8FB5F5295A7}"/>
              </a:ext>
            </a:extLst>
          </p:cNvPr>
          <p:cNvSpPr/>
          <p:nvPr/>
        </p:nvSpPr>
        <p:spPr>
          <a:xfrm>
            <a:off x="9583785" y="4352683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DCCD81-C791-DB75-9255-774C84A96548}"/>
              </a:ext>
            </a:extLst>
          </p:cNvPr>
          <p:cNvSpPr/>
          <p:nvPr/>
        </p:nvSpPr>
        <p:spPr>
          <a:xfrm>
            <a:off x="9754211" y="475581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C8B5E9-ADB0-0321-241B-92BC89530879}"/>
              </a:ext>
            </a:extLst>
          </p:cNvPr>
          <p:cNvSpPr/>
          <p:nvPr/>
        </p:nvSpPr>
        <p:spPr>
          <a:xfrm>
            <a:off x="9754211" y="534479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2A26F-CD16-D4E6-B543-176FA279C54D}"/>
              </a:ext>
            </a:extLst>
          </p:cNvPr>
          <p:cNvSpPr txBox="1"/>
          <p:nvPr/>
        </p:nvSpPr>
        <p:spPr>
          <a:xfrm>
            <a:off x="9583785" y="4349401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pic>
        <p:nvPicPr>
          <p:cNvPr id="10" name="Picture 2" descr="Apache Kafka">
            <a:extLst>
              <a:ext uri="{FF2B5EF4-FFF2-40B4-BE49-F238E27FC236}">
                <a16:creationId xmlns:a16="http://schemas.microsoft.com/office/drawing/2014/main" id="{818F931D-A22E-CA98-D6FB-DAC5F3994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859" y="4828478"/>
            <a:ext cx="899556" cy="41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2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Overview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7963307" y="335241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1C1092-D374-A51B-C702-73D85B05EF80}"/>
              </a:ext>
            </a:extLst>
          </p:cNvPr>
          <p:cNvSpPr txBox="1"/>
          <p:nvPr/>
        </p:nvSpPr>
        <p:spPr>
          <a:xfrm>
            <a:off x="11396587" y="3358782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7963307" y="6207953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3EF817-2751-E427-7227-AFD7480D74D2}"/>
              </a:ext>
            </a:extLst>
          </p:cNvPr>
          <p:cNvSpPr txBox="1"/>
          <p:nvPr/>
        </p:nvSpPr>
        <p:spPr>
          <a:xfrm>
            <a:off x="11396587" y="6214325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DC05DC-FB55-58E3-E878-50D2A0C7DB12}"/>
              </a:ext>
            </a:extLst>
          </p:cNvPr>
          <p:cNvSpPr/>
          <p:nvPr/>
        </p:nvSpPr>
        <p:spPr>
          <a:xfrm>
            <a:off x="6438581" y="4143616"/>
            <a:ext cx="4495479" cy="1779772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                     ...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8686321" y="3832826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</p:cNvCxnSpPr>
          <p:nvPr/>
        </p:nvCxnSpPr>
        <p:spPr>
          <a:xfrm>
            <a:off x="8686321" y="5923387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0"/>
            <a:ext cx="11877675" cy="5791123"/>
          </a:xfrm>
        </p:spPr>
        <p:txBody>
          <a:bodyPr/>
          <a:lstStyle/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Topics</a:t>
            </a:r>
            <a:r>
              <a:rPr lang="hu-HU" sz="1600" dirty="0"/>
              <a:t> oragnize </a:t>
            </a:r>
            <a:r>
              <a:rPr lang="hu-HU" sz="1600" b="1" dirty="0"/>
              <a:t>related</a:t>
            </a:r>
            <a:r>
              <a:rPr lang="hu-HU" sz="1600" dirty="0"/>
              <a:t> </a:t>
            </a:r>
            <a:r>
              <a:rPr lang="hu-HU" sz="1600" b="1" dirty="0"/>
              <a:t>events</a:t>
            </a:r>
            <a:r>
              <a:rPr lang="hu-HU" sz="1600" dirty="0"/>
              <a:t>:</a:t>
            </a:r>
          </a:p>
          <a:p>
            <a:pPr lvl="1"/>
            <a:r>
              <a:rPr lang="hu-HU" sz="1400" dirty="0"/>
              <a:t>E.g. logs of a specific application</a:t>
            </a:r>
          </a:p>
          <a:p>
            <a:pPr lvl="1"/>
            <a:r>
              <a:rPr lang="hu-HU" sz="1400" dirty="0"/>
              <a:t>Rougly analogous to </a:t>
            </a:r>
            <a:r>
              <a:rPr lang="hu-HU" sz="1400" b="1" dirty="0"/>
              <a:t>SQL tables</a:t>
            </a:r>
          </a:p>
          <a:p>
            <a:pPr lvl="1"/>
            <a:endParaRPr lang="hu-HU" sz="1400" b="1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Producers</a:t>
            </a:r>
            <a:r>
              <a:rPr lang="hu-HU" sz="1600" dirty="0"/>
              <a:t> are applications that send data into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Consumers</a:t>
            </a:r>
            <a:r>
              <a:rPr lang="hu-HU" sz="1600" dirty="0"/>
              <a:t> are applications that pull data from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/>
              <a:t>Client-server </a:t>
            </a:r>
            <a:r>
              <a:rPr lang="hu-HU" sz="1600" dirty="0"/>
              <a:t>architecture:</a:t>
            </a:r>
          </a:p>
          <a:p>
            <a:pPr lvl="1"/>
            <a:r>
              <a:rPr lang="hu-HU" sz="1400" dirty="0"/>
              <a:t>Topics are stored on servers, called </a:t>
            </a:r>
            <a:r>
              <a:rPr lang="hu-HU" sz="1400" b="1" dirty="0">
                <a:solidFill>
                  <a:schemeClr val="accent1">
                    <a:lumMod val="75000"/>
                  </a:schemeClr>
                </a:solidFill>
              </a:rPr>
              <a:t>Kafka brokers</a:t>
            </a:r>
          </a:p>
          <a:p>
            <a:pPr lvl="1"/>
            <a:r>
              <a:rPr lang="hu-HU" sz="1400" dirty="0"/>
              <a:t>Producers and consumers are the clients</a:t>
            </a:r>
          </a:p>
          <a:p>
            <a:pPr lvl="1"/>
            <a:endParaRPr lang="hu-HU" sz="1400" dirty="0"/>
          </a:p>
          <a:p>
            <a:r>
              <a:rPr lang="hu-HU" sz="1600" dirty="0"/>
              <a:t>Can scale to 100s of brokers</a:t>
            </a:r>
          </a:p>
          <a:p>
            <a:r>
              <a:rPr lang="hu-HU" sz="1600" dirty="0"/>
              <a:t>Can scale to millions of messages per second</a:t>
            </a:r>
          </a:p>
          <a:p>
            <a:r>
              <a:rPr lang="hu-HU" sz="1600" dirty="0"/>
              <a:t>Latency of less than 10 ms ~ real time</a:t>
            </a:r>
          </a:p>
          <a:p>
            <a:pPr lvl="1"/>
            <a:endParaRPr lang="hu-HU" sz="1400" dirty="0"/>
          </a:p>
          <a:p>
            <a:pPr lvl="1"/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840F6-E521-6126-E985-DF7DFA1796C2}"/>
              </a:ext>
            </a:extLst>
          </p:cNvPr>
          <p:cNvSpPr/>
          <p:nvPr/>
        </p:nvSpPr>
        <p:spPr>
          <a:xfrm>
            <a:off x="7773538" y="4352683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7943964" y="475581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4D9085-C9CF-C4FE-AC6D-EAC02F8A2BF7}"/>
              </a:ext>
            </a:extLst>
          </p:cNvPr>
          <p:cNvSpPr/>
          <p:nvPr/>
        </p:nvSpPr>
        <p:spPr>
          <a:xfrm>
            <a:off x="7943964" y="534479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87962-ED6E-F7EA-FCF4-306FCEE06B1A}"/>
              </a:ext>
            </a:extLst>
          </p:cNvPr>
          <p:cNvSpPr txBox="1"/>
          <p:nvPr/>
        </p:nvSpPr>
        <p:spPr>
          <a:xfrm>
            <a:off x="7773538" y="4349401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62CED-1931-B0D8-B026-D8FB5F5295A7}"/>
              </a:ext>
            </a:extLst>
          </p:cNvPr>
          <p:cNvSpPr/>
          <p:nvPr/>
        </p:nvSpPr>
        <p:spPr>
          <a:xfrm>
            <a:off x="9583785" y="4352683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DCCD81-C791-DB75-9255-774C84A96548}"/>
              </a:ext>
            </a:extLst>
          </p:cNvPr>
          <p:cNvSpPr/>
          <p:nvPr/>
        </p:nvSpPr>
        <p:spPr>
          <a:xfrm>
            <a:off x="9754211" y="475581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C8B5E9-ADB0-0321-241B-92BC89530879}"/>
              </a:ext>
            </a:extLst>
          </p:cNvPr>
          <p:cNvSpPr/>
          <p:nvPr/>
        </p:nvSpPr>
        <p:spPr>
          <a:xfrm>
            <a:off x="9754211" y="5344792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2A26F-CD16-D4E6-B543-176FA279C54D}"/>
              </a:ext>
            </a:extLst>
          </p:cNvPr>
          <p:cNvSpPr txBox="1"/>
          <p:nvPr/>
        </p:nvSpPr>
        <p:spPr>
          <a:xfrm>
            <a:off x="9583785" y="4349401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pic>
        <p:nvPicPr>
          <p:cNvPr id="10" name="Picture 2" descr="Apache Kafka">
            <a:extLst>
              <a:ext uri="{FF2B5EF4-FFF2-40B4-BE49-F238E27FC236}">
                <a16:creationId xmlns:a16="http://schemas.microsoft.com/office/drawing/2014/main" id="{818F931D-A22E-CA98-D6FB-DAC5F3994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859" y="4828478"/>
            <a:ext cx="899556" cy="41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928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Topics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9960610" y="91666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9940963" y="4168370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9" name="Picture 2" descr="Apache Kafka">
            <a:extLst>
              <a:ext uri="{FF2B5EF4-FFF2-40B4-BE49-F238E27FC236}">
                <a16:creationId xmlns:a16="http://schemas.microsoft.com/office/drawing/2014/main" id="{D39148AD-1325-F8EC-08D9-BB1583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10" y="2654633"/>
            <a:ext cx="650400" cy="29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10683624" y="1397076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</p:cNvCxnSpPr>
          <p:nvPr/>
        </p:nvCxnSpPr>
        <p:spPr>
          <a:xfrm>
            <a:off x="10663977" y="3883804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3"/>
          </a:xfrm>
        </p:spPr>
        <p:txBody>
          <a:bodyPr/>
          <a:lstStyle/>
          <a:p>
            <a:r>
              <a:rPr lang="hu-HU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A topic is a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particular stream of data</a:t>
            </a:r>
          </a:p>
          <a:p>
            <a:pPr lvl="1"/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Stream: sequence of messages</a:t>
            </a: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Similar to </a:t>
            </a:r>
            <a:r>
              <a:rPr lang="hu-HU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a table in a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 database</a:t>
            </a:r>
            <a:endParaRPr lang="hu-HU" b="0" i="0" dirty="0">
              <a:solidFill>
                <a:srgbClr val="1A1523"/>
              </a:solidFill>
              <a:effectLst/>
              <a:highlight>
                <a:srgbClr val="FFFFFF"/>
              </a:highlight>
            </a:endParaRPr>
          </a:p>
          <a:p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Identified by its name</a:t>
            </a:r>
          </a:p>
          <a:p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Any kind of message format (JSON, Avro, binary, ...)</a:t>
            </a:r>
          </a:p>
          <a:p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You can have as many as you want</a:t>
            </a: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b="1" dirty="0">
                <a:solidFill>
                  <a:srgbClr val="1A1523"/>
                </a:solidFill>
                <a:highlight>
                  <a:srgbClr val="FFFFFF"/>
                </a:highlight>
              </a:rPr>
              <a:t>Its not queryable, use producers to write them and consumers to read them</a:t>
            </a:r>
            <a:endParaRPr lang="hu-HU" b="1" i="0" dirty="0">
              <a:solidFill>
                <a:srgbClr val="1A1523"/>
              </a:solidFill>
              <a:effectLst/>
              <a:highlight>
                <a:srgbClr val="FFFFFF"/>
              </a:highlight>
            </a:endParaRP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F9B221-A434-609F-1834-F04D36ECEBA9}"/>
              </a:ext>
            </a:extLst>
          </p:cNvPr>
          <p:cNvGrpSpPr/>
          <p:nvPr/>
        </p:nvGrpSpPr>
        <p:grpSpPr>
          <a:xfrm>
            <a:off x="10132349" y="1818719"/>
            <a:ext cx="1093536" cy="1965020"/>
            <a:chOff x="5831764" y="4342133"/>
            <a:chExt cx="1093536" cy="196502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4305DA-12EC-995D-8052-C34539E512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4547" y="5916119"/>
              <a:ext cx="0" cy="29183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C2832E-852C-B5C8-E3BE-C5FB80C3EE15}"/>
                </a:ext>
              </a:extLst>
            </p:cNvPr>
            <p:cNvSpPr/>
            <p:nvPr/>
          </p:nvSpPr>
          <p:spPr>
            <a:xfrm>
              <a:off x="5831764" y="4345415"/>
              <a:ext cx="1093536" cy="19617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en-US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785100-DBBA-E530-37F1-965EC86C64CD}"/>
                </a:ext>
              </a:extLst>
            </p:cNvPr>
            <p:cNvSpPr txBox="1"/>
            <p:nvPr/>
          </p:nvSpPr>
          <p:spPr>
            <a:xfrm>
              <a:off x="5831764" y="4342133"/>
              <a:ext cx="1063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/>
                <a:t>broker</a:t>
              </a:r>
              <a:endParaRPr lang="en-US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5949096" y="4747794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traffic</a:t>
              </a:r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0F2EA6D-8BCE-86C0-497A-C526DBFF6CB5}"/>
                </a:ext>
              </a:extLst>
            </p:cNvPr>
            <p:cNvSpPr/>
            <p:nvPr/>
          </p:nvSpPr>
          <p:spPr>
            <a:xfrm>
              <a:off x="5949095" y="5224894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logs</a:t>
              </a:r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9E12EE6-A80E-4571-C00A-37088C93A3B2}"/>
                </a:ext>
              </a:extLst>
            </p:cNvPr>
            <p:cNvSpPr/>
            <p:nvPr/>
          </p:nvSpPr>
          <p:spPr>
            <a:xfrm>
              <a:off x="5952601" y="5701994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orders</a:t>
              </a:r>
              <a:endParaRPr lang="en-US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73BA5E-B50C-825F-3922-A089E4154B2D}"/>
              </a:ext>
            </a:extLst>
          </p:cNvPr>
          <p:cNvSpPr/>
          <p:nvPr/>
        </p:nvSpPr>
        <p:spPr>
          <a:xfrm>
            <a:off x="9080206" y="1701209"/>
            <a:ext cx="2647506" cy="2190307"/>
          </a:xfrm>
          <a:prstGeom prst="roundRect">
            <a:avLst/>
          </a:prstGeom>
          <a:noFill/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07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Partitions and Offsets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r>
              <a:rPr lang="hu-HU" sz="1600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Topics are broken down into a number of partitions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single topic may have multiple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partitions: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no hard limit on how many (up to 100 its quite common)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The number is specified at topic creation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Messages within each partition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ordered</a:t>
            </a:r>
          </a:p>
          <a:p>
            <a:pPr lvl="1"/>
            <a:r>
              <a:rPr lang="hu-HU" sz="1400" b="1" dirty="0">
                <a:solidFill>
                  <a:srgbClr val="1A1523"/>
                </a:solidFill>
                <a:highlight>
                  <a:srgbClr val="FFFFFF"/>
                </a:highlight>
              </a:rPr>
              <a:t>but not accross partitions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Each message within a partition gets incremental id,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called offset:</a:t>
            </a:r>
          </a:p>
          <a:p>
            <a:pPr lvl="1"/>
            <a:r>
              <a:rPr lang="hu-HU" sz="1400" b="1" dirty="0">
                <a:solidFill>
                  <a:srgbClr val="1A1523"/>
                </a:solidFill>
                <a:highlight>
                  <a:srgbClr val="FFFFFF"/>
                </a:highlight>
              </a:rPr>
              <a:t>an offset only have meaning for a specific partition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same offset for another partition does not guarantee the same message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Kafka topics are immutable: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once message is written it cannot be modified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Message is assigned randomly to a partition if no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message key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is provided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58F60F3-E731-93DD-9ADF-F042DFF51AF1}"/>
                </a:ext>
              </a:extLst>
            </p:cNvPr>
            <p:cNvCxnSpPr>
              <a:cxnSpLocks/>
            </p:cNvCxnSpPr>
            <p:nvPr/>
          </p:nvCxnSpPr>
          <p:spPr>
            <a:xfrm>
              <a:off x="3459630" y="3221112"/>
              <a:ext cx="753914" cy="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05003" y="2923924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write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334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4006634" y="2754581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write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52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endParaRPr lang="hu-HU" sz="14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844383" y="2653505"/>
              <a:ext cx="1358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key: null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6"/>
            <a:ext cx="2645439" cy="327449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81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!=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same partition is assigned to the same key</a:t>
            </a: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11845" y="3564499"/>
              <a:ext cx="23634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key (person_id): 6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5"/>
            <a:ext cx="2504875" cy="677758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E898C7E-7E86-F12F-FD27-720DC72C3E41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270BF-07B1-D3B3-185A-CF8E34BAC316}"/>
              </a:ext>
            </a:extLst>
          </p:cNvPr>
          <p:cNvSpPr txBox="1"/>
          <p:nvPr/>
        </p:nvSpPr>
        <p:spPr>
          <a:xfrm>
            <a:off x="4823011" y="2674655"/>
            <a:ext cx="2363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key (person_id): 1</a:t>
            </a:r>
            <a:endParaRPr lang="en-US" sz="1400" dirty="0"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4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!=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same partition is assigned to the same key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Use key if order is important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11845" y="3564499"/>
              <a:ext cx="23634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person_id_6</a:t>
              </a:r>
            </a:p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person_id_7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5"/>
            <a:ext cx="2504875" cy="677758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E898C7E-7E86-F12F-FD27-720DC72C3E41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270BF-07B1-D3B3-185A-CF8E34BAC316}"/>
              </a:ext>
            </a:extLst>
          </p:cNvPr>
          <p:cNvSpPr txBox="1"/>
          <p:nvPr/>
        </p:nvSpPr>
        <p:spPr>
          <a:xfrm>
            <a:off x="4817699" y="2387180"/>
            <a:ext cx="2363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person_id_1</a:t>
            </a:r>
          </a:p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person_id_2</a:t>
            </a:r>
            <a:endParaRPr lang="en-US" sz="1400" dirty="0"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38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!=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same partition is assigned to the same key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Use key if order is important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(Typically a broker does not contain all the partitions for a topic (there are parameters to fine-tune this))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11845" y="3564499"/>
              <a:ext cx="23634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person_id_6</a:t>
              </a:r>
            </a:p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person_id_7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5"/>
            <a:ext cx="2504875" cy="677758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E898C7E-7E86-F12F-FD27-720DC72C3E41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270BF-07B1-D3B3-185A-CF8E34BAC316}"/>
              </a:ext>
            </a:extLst>
          </p:cNvPr>
          <p:cNvSpPr txBox="1"/>
          <p:nvPr/>
        </p:nvSpPr>
        <p:spPr>
          <a:xfrm>
            <a:off x="4817699" y="2387180"/>
            <a:ext cx="2363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person_id_1</a:t>
            </a:r>
          </a:p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person_id_2</a:t>
            </a:r>
            <a:endParaRPr lang="en-US" sz="1400" dirty="0"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51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AC4C71-C978-6C4A-DC55-C07D81848C2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Anatomy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E5C2D2-BCDD-3A0C-EDB8-954598070911}"/>
              </a:ext>
            </a:extLst>
          </p:cNvPr>
          <p:cNvSpPr/>
          <p:nvPr/>
        </p:nvSpPr>
        <p:spPr>
          <a:xfrm>
            <a:off x="4026896" y="1128703"/>
            <a:ext cx="1650889" cy="9574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Key-binary</a:t>
            </a:r>
          </a:p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(can be null)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61C35-DE51-7F65-BB97-99A57558933D}"/>
              </a:ext>
            </a:extLst>
          </p:cNvPr>
          <p:cNvSpPr/>
          <p:nvPr/>
        </p:nvSpPr>
        <p:spPr>
          <a:xfrm>
            <a:off x="5677785" y="1128702"/>
            <a:ext cx="2860159" cy="9574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Value-binary</a:t>
            </a:r>
          </a:p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(can be null)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EADBC-8462-E09C-A23A-8618478F29DA}"/>
              </a:ext>
            </a:extLst>
          </p:cNvPr>
          <p:cNvSpPr/>
          <p:nvPr/>
        </p:nvSpPr>
        <p:spPr>
          <a:xfrm>
            <a:off x="4026896" y="2086105"/>
            <a:ext cx="4511048" cy="5759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Compression Type</a:t>
            </a:r>
          </a:p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(none, gzip, snappy, lz4, zstd)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D3A3D-064F-259B-77CC-093286441187}"/>
              </a:ext>
            </a:extLst>
          </p:cNvPr>
          <p:cNvSpPr/>
          <p:nvPr/>
        </p:nvSpPr>
        <p:spPr>
          <a:xfrm>
            <a:off x="4026896" y="2666408"/>
            <a:ext cx="4511048" cy="137514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342BE-B3ED-44B1-C96E-D6AC5BAE28E4}"/>
              </a:ext>
            </a:extLst>
          </p:cNvPr>
          <p:cNvSpPr txBox="1"/>
          <p:nvPr/>
        </p:nvSpPr>
        <p:spPr>
          <a:xfrm>
            <a:off x="4026896" y="2782539"/>
            <a:ext cx="4511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Headers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(optional)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7E5C2-DAF8-5C19-BD38-0A5B2BFE5B42}"/>
              </a:ext>
            </a:extLst>
          </p:cNvPr>
          <p:cNvSpPr/>
          <p:nvPr/>
        </p:nvSpPr>
        <p:spPr>
          <a:xfrm>
            <a:off x="4179296" y="3210819"/>
            <a:ext cx="1650889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D8037-2666-B951-034B-F1D8521E35C1}"/>
              </a:ext>
            </a:extLst>
          </p:cNvPr>
          <p:cNvSpPr/>
          <p:nvPr/>
        </p:nvSpPr>
        <p:spPr>
          <a:xfrm>
            <a:off x="4179295" y="3519803"/>
            <a:ext cx="1650889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C10E8-D70C-E09E-2711-7E691DF53B89}"/>
              </a:ext>
            </a:extLst>
          </p:cNvPr>
          <p:cNvSpPr/>
          <p:nvPr/>
        </p:nvSpPr>
        <p:spPr>
          <a:xfrm>
            <a:off x="5830185" y="3212025"/>
            <a:ext cx="2556068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40C46B-7F38-087B-FB3F-E5E19939000E}"/>
              </a:ext>
            </a:extLst>
          </p:cNvPr>
          <p:cNvSpPr/>
          <p:nvPr/>
        </p:nvSpPr>
        <p:spPr>
          <a:xfrm>
            <a:off x="5830185" y="3519803"/>
            <a:ext cx="2556068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23B90-93EB-ED9D-7D88-46445096541C}"/>
              </a:ext>
            </a:extLst>
          </p:cNvPr>
          <p:cNvSpPr/>
          <p:nvPr/>
        </p:nvSpPr>
        <p:spPr>
          <a:xfrm>
            <a:off x="4026896" y="4041552"/>
            <a:ext cx="4511048" cy="4294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+ Offset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54AC7-2B14-F19A-38A8-CF923D21A0D2}"/>
              </a:ext>
            </a:extLst>
          </p:cNvPr>
          <p:cNvSpPr/>
          <p:nvPr/>
        </p:nvSpPr>
        <p:spPr>
          <a:xfrm>
            <a:off x="4026896" y="4474042"/>
            <a:ext cx="4511048" cy="4294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Timestamp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(system or user set)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AB1F9B-85FD-7F22-D0D0-1ABC36A94231}"/>
              </a:ext>
            </a:extLst>
          </p:cNvPr>
          <p:cNvSpPr/>
          <p:nvPr/>
        </p:nvSpPr>
        <p:spPr>
          <a:xfrm>
            <a:off x="1623228" y="2782539"/>
            <a:ext cx="1026854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FCEED9-1821-5A65-18AE-36004FAC60FA}"/>
              </a:ext>
            </a:extLst>
          </p:cNvPr>
          <p:cNvCxnSpPr>
            <a:cxnSpLocks/>
          </p:cNvCxnSpPr>
          <p:nvPr/>
        </p:nvCxnSpPr>
        <p:spPr>
          <a:xfrm>
            <a:off x="2925951" y="3075238"/>
            <a:ext cx="753914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08A1DE-BCE7-4B5A-39C6-2B41BF1E4445}"/>
              </a:ext>
            </a:extLst>
          </p:cNvPr>
          <p:cNvSpPr txBox="1"/>
          <p:nvPr/>
        </p:nvSpPr>
        <p:spPr>
          <a:xfrm>
            <a:off x="2771324" y="2778050"/>
            <a:ext cx="1070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8" name="Picture 2" descr="Apache Kafka">
            <a:extLst>
              <a:ext uri="{FF2B5EF4-FFF2-40B4-BE49-F238E27FC236}">
                <a16:creationId xmlns:a16="http://schemas.microsoft.com/office/drawing/2014/main" id="{09BD2E0D-0EBC-B968-EFF3-1717209CF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991" y="2637541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C717A4C3-2F5E-6184-A585-FF390B0A68EE}"/>
              </a:ext>
            </a:extLst>
          </p:cNvPr>
          <p:cNvSpPr/>
          <p:nvPr/>
        </p:nvSpPr>
        <p:spPr>
          <a:xfrm>
            <a:off x="8697433" y="2848992"/>
            <a:ext cx="659218" cy="170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B1C7FC8-E372-A731-532D-4FD367C0C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5791124"/>
          </a:xfrm>
        </p:spPr>
        <p:txBody>
          <a:bodyPr/>
          <a:lstStyle/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So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Kafka only accepts bytes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Clients obviously uses higher-level objects (Integer, String, etc.) for Key and Value </a:t>
            </a:r>
          </a:p>
          <a:p>
            <a:pPr lvl="1"/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To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transform these objects into binaries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a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Producer </a:t>
            </a:r>
            <a:r>
              <a:rPr lang="en-US" b="1" dirty="0">
                <a:solidFill>
                  <a:srgbClr val="1A1523"/>
                </a:solidFill>
                <a:highlight>
                  <a:srgbClr val="FFFFFF"/>
                </a:highlight>
              </a:rPr>
              <a:t>Serializer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 is needed</a:t>
            </a:r>
          </a:p>
          <a:p>
            <a:pPr lvl="1"/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To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transform the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binaries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 into objects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a Consumer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b="1" dirty="0">
                <a:solidFill>
                  <a:srgbClr val="1A1523"/>
                </a:solidFill>
                <a:highlight>
                  <a:srgbClr val="FFFFFF"/>
                </a:highlight>
              </a:rPr>
              <a:t>Des</a:t>
            </a:r>
            <a:r>
              <a:rPr lang="en-US" b="1" dirty="0" err="1">
                <a:solidFill>
                  <a:srgbClr val="1A1523"/>
                </a:solidFill>
                <a:highlight>
                  <a:srgbClr val="FFFFFF"/>
                </a:highlight>
              </a:rPr>
              <a:t>erializer</a:t>
            </a:r>
            <a:r>
              <a:rPr lang="hu-HU" b="1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is needed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5713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Serialization / Deserialization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255E72-E68E-6ED6-AA03-9ADB069D90E2}"/>
              </a:ext>
            </a:extLst>
          </p:cNvPr>
          <p:cNvGrpSpPr/>
          <p:nvPr/>
        </p:nvGrpSpPr>
        <p:grpSpPr>
          <a:xfrm>
            <a:off x="787169" y="967360"/>
            <a:ext cx="4840157" cy="4619720"/>
            <a:chOff x="787169" y="967360"/>
            <a:chExt cx="4840157" cy="461972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FE3F59-69BA-1876-BBD8-F0E9BE0DC674}"/>
                </a:ext>
              </a:extLst>
            </p:cNvPr>
            <p:cNvSpPr/>
            <p:nvPr/>
          </p:nvSpPr>
          <p:spPr>
            <a:xfrm>
              <a:off x="787169" y="1684059"/>
              <a:ext cx="1785363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123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B12472-0C4A-900A-E074-1A18E10B4D63}"/>
                </a:ext>
              </a:extLst>
            </p:cNvPr>
            <p:cNvSpPr/>
            <p:nvPr/>
          </p:nvSpPr>
          <p:spPr>
            <a:xfrm>
              <a:off x="3114426" y="1679096"/>
              <a:ext cx="2046364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„hello world”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CC0DCD-510E-AFF6-9C12-9F2DF168EF66}"/>
                </a:ext>
              </a:extLst>
            </p:cNvPr>
            <p:cNvSpPr/>
            <p:nvPr/>
          </p:nvSpPr>
          <p:spPr>
            <a:xfrm>
              <a:off x="787169" y="3152024"/>
              <a:ext cx="1785363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 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Integer 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2CCFE4-0960-5C69-C3D6-E36C9624A952}"/>
                </a:ext>
              </a:extLst>
            </p:cNvPr>
            <p:cNvSpPr/>
            <p:nvPr/>
          </p:nvSpPr>
          <p:spPr>
            <a:xfrm>
              <a:off x="3114426" y="3145203"/>
              <a:ext cx="2046364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 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 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F25945-A258-00FB-1B3F-6F082D7FF74B}"/>
                </a:ext>
              </a:extLst>
            </p:cNvPr>
            <p:cNvSpPr/>
            <p:nvPr/>
          </p:nvSpPr>
          <p:spPr>
            <a:xfrm>
              <a:off x="787169" y="4629677"/>
              <a:ext cx="1785363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01110011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0EBA5A-1F4F-A9BF-19DB-F83FB9CF8C12}"/>
                </a:ext>
              </a:extLst>
            </p:cNvPr>
            <p:cNvSpPr/>
            <p:nvPr/>
          </p:nvSpPr>
          <p:spPr>
            <a:xfrm>
              <a:off x="2572531" y="4629676"/>
              <a:ext cx="3054795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101011101110000001010110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0B0536F-62C2-1848-63EA-9EDA9928B747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1679851" y="2641462"/>
              <a:ext cx="0" cy="5105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1D3EF68-D626-D2F9-8B0A-BDE648DFE8B2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>
              <a:off x="1679851" y="4109427"/>
              <a:ext cx="0" cy="520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17DB0FC-FD87-5CC1-F92F-1E56C7507D8E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4137608" y="2636499"/>
              <a:ext cx="0" cy="5087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27096EA-17B2-0A11-E30D-E5EDC43B3E84}"/>
                </a:ext>
              </a:extLst>
            </p:cNvPr>
            <p:cNvSpPr txBox="1"/>
            <p:nvPr/>
          </p:nvSpPr>
          <p:spPr>
            <a:xfrm>
              <a:off x="1693937" y="2740022"/>
              <a:ext cx="5974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5CE31E-ACA2-73CD-EFAC-4B703E41A431}"/>
                </a:ext>
              </a:extLst>
            </p:cNvPr>
            <p:cNvSpPr txBox="1"/>
            <p:nvPr/>
          </p:nvSpPr>
          <p:spPr>
            <a:xfrm>
              <a:off x="4159617" y="2721574"/>
              <a:ext cx="786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04C977-3EB3-EF8C-0631-EFFEF72F75A5}"/>
                </a:ext>
              </a:extLst>
            </p:cNvPr>
            <p:cNvSpPr txBox="1"/>
            <p:nvPr/>
          </p:nvSpPr>
          <p:spPr>
            <a:xfrm>
              <a:off x="1696204" y="4207987"/>
              <a:ext cx="7657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F77BDCC-A001-58FE-3143-8B33360E56B4}"/>
                </a:ext>
              </a:extLst>
            </p:cNvPr>
            <p:cNvSpPr txBox="1"/>
            <p:nvPr/>
          </p:nvSpPr>
          <p:spPr>
            <a:xfrm>
              <a:off x="4236519" y="4187681"/>
              <a:ext cx="729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064" name="Straight Arrow Connector 2063">
              <a:extLst>
                <a:ext uri="{FF2B5EF4-FFF2-40B4-BE49-F238E27FC236}">
                  <a16:creationId xmlns:a16="http://schemas.microsoft.com/office/drawing/2014/main" id="{2D379D2D-B786-F6F2-E39C-66FA2E3D827B}"/>
                </a:ext>
              </a:extLst>
            </p:cNvPr>
            <p:cNvCxnSpPr/>
            <p:nvPr/>
          </p:nvCxnSpPr>
          <p:spPr>
            <a:xfrm>
              <a:off x="4137608" y="4109426"/>
              <a:ext cx="0" cy="520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2" name="TextBox 2071">
              <a:extLst>
                <a:ext uri="{FF2B5EF4-FFF2-40B4-BE49-F238E27FC236}">
                  <a16:creationId xmlns:a16="http://schemas.microsoft.com/office/drawing/2014/main" id="{DDE2724B-E887-11D1-A9BE-8F2369FEC57A}"/>
                </a:ext>
              </a:extLst>
            </p:cNvPr>
            <p:cNvSpPr txBox="1"/>
            <p:nvPr/>
          </p:nvSpPr>
          <p:spPr>
            <a:xfrm>
              <a:off x="1995120" y="967360"/>
              <a:ext cx="2241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b="1" dirty="0"/>
                <a:t>Producer</a:t>
              </a:r>
              <a:endParaRPr lang="en-US" b="1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B63F657-6287-A6F5-9EB9-7B8C1518612C}"/>
              </a:ext>
            </a:extLst>
          </p:cNvPr>
          <p:cNvGrpSpPr/>
          <p:nvPr/>
        </p:nvGrpSpPr>
        <p:grpSpPr>
          <a:xfrm>
            <a:off x="6558460" y="966702"/>
            <a:ext cx="4915219" cy="4620379"/>
            <a:chOff x="6558460" y="966702"/>
            <a:chExt cx="4915219" cy="462037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659E729-630C-EC9F-41B7-02D49303DD1D}"/>
                </a:ext>
              </a:extLst>
            </p:cNvPr>
            <p:cNvSpPr/>
            <p:nvPr/>
          </p:nvSpPr>
          <p:spPr>
            <a:xfrm>
              <a:off x="6558461" y="1684060"/>
              <a:ext cx="1860424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123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CB466B-BE1B-0B35-CF5A-386BB6658E14}"/>
                </a:ext>
              </a:extLst>
            </p:cNvPr>
            <p:cNvSpPr/>
            <p:nvPr/>
          </p:nvSpPr>
          <p:spPr>
            <a:xfrm>
              <a:off x="8960779" y="1679097"/>
              <a:ext cx="1954271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„hello world”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0E7D040-1A74-79DC-113F-21C491B01E24}"/>
                </a:ext>
              </a:extLst>
            </p:cNvPr>
            <p:cNvSpPr/>
            <p:nvPr/>
          </p:nvSpPr>
          <p:spPr>
            <a:xfrm>
              <a:off x="6558460" y="3152025"/>
              <a:ext cx="1860425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 Deserializer=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Integer Deserializer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FFBB8C2-5DCD-740B-07AC-F5B3FBD2A36D}"/>
                </a:ext>
              </a:extLst>
            </p:cNvPr>
            <p:cNvSpPr/>
            <p:nvPr/>
          </p:nvSpPr>
          <p:spPr>
            <a:xfrm>
              <a:off x="8960779" y="3145204"/>
              <a:ext cx="1954271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 Deserializer=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 Deserializer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5D0E39E-9BB7-D037-D885-F7DA50FEB105}"/>
                </a:ext>
              </a:extLst>
            </p:cNvPr>
            <p:cNvSpPr/>
            <p:nvPr/>
          </p:nvSpPr>
          <p:spPr>
            <a:xfrm>
              <a:off x="6558461" y="4629678"/>
              <a:ext cx="1860424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01110011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9B6FC0D-E4BF-47C2-1AD9-D07909B7EF2E}"/>
                </a:ext>
              </a:extLst>
            </p:cNvPr>
            <p:cNvSpPr/>
            <p:nvPr/>
          </p:nvSpPr>
          <p:spPr>
            <a:xfrm>
              <a:off x="8418884" y="4629677"/>
              <a:ext cx="3054795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101011101110000001010110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CB4562-8372-833B-6715-4E223EDC8C91}"/>
                </a:ext>
              </a:extLst>
            </p:cNvPr>
            <p:cNvCxnSpPr>
              <a:cxnSpLocks/>
              <a:stCxn id="50" idx="2"/>
              <a:endCxn id="54" idx="0"/>
            </p:cNvCxnSpPr>
            <p:nvPr/>
          </p:nvCxnSpPr>
          <p:spPr>
            <a:xfrm>
              <a:off x="7488673" y="2641463"/>
              <a:ext cx="0" cy="5105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Arrow Connector 2047">
              <a:extLst>
                <a:ext uri="{FF2B5EF4-FFF2-40B4-BE49-F238E27FC236}">
                  <a16:creationId xmlns:a16="http://schemas.microsoft.com/office/drawing/2014/main" id="{EDA7E5AE-D883-3D13-5FE5-7D48200CDE5E}"/>
                </a:ext>
              </a:extLst>
            </p:cNvPr>
            <p:cNvCxnSpPr>
              <a:cxnSpLocks/>
              <a:stCxn id="54" idx="2"/>
              <a:endCxn id="57" idx="0"/>
            </p:cNvCxnSpPr>
            <p:nvPr/>
          </p:nvCxnSpPr>
          <p:spPr>
            <a:xfrm>
              <a:off x="7488673" y="4109428"/>
              <a:ext cx="0" cy="52025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2558FB9A-B60C-F504-864C-3A46183941D3}"/>
                </a:ext>
              </a:extLst>
            </p:cNvPr>
            <p:cNvCxnSpPr>
              <a:cxnSpLocks/>
              <a:stCxn id="52" idx="2"/>
              <a:endCxn id="56" idx="0"/>
            </p:cNvCxnSpPr>
            <p:nvPr/>
          </p:nvCxnSpPr>
          <p:spPr>
            <a:xfrm>
              <a:off x="9937915" y="2636500"/>
              <a:ext cx="0" cy="5087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Arrow Connector 2050">
              <a:extLst>
                <a:ext uri="{FF2B5EF4-FFF2-40B4-BE49-F238E27FC236}">
                  <a16:creationId xmlns:a16="http://schemas.microsoft.com/office/drawing/2014/main" id="{7ACC9B11-BCC8-3CA2-08A9-9D6108D23829}"/>
                </a:ext>
              </a:extLst>
            </p:cNvPr>
            <p:cNvCxnSpPr>
              <a:cxnSpLocks/>
            </p:cNvCxnSpPr>
            <p:nvPr/>
          </p:nvCxnSpPr>
          <p:spPr>
            <a:xfrm>
              <a:off x="9937268" y="4102606"/>
              <a:ext cx="0" cy="52707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2" name="TextBox 2051">
              <a:extLst>
                <a:ext uri="{FF2B5EF4-FFF2-40B4-BE49-F238E27FC236}">
                  <a16:creationId xmlns:a16="http://schemas.microsoft.com/office/drawing/2014/main" id="{98F180F6-C2AE-DC8F-C813-E7195DE55B84}"/>
                </a:ext>
              </a:extLst>
            </p:cNvPr>
            <p:cNvSpPr txBox="1"/>
            <p:nvPr/>
          </p:nvSpPr>
          <p:spPr>
            <a:xfrm>
              <a:off x="7515171" y="2740023"/>
              <a:ext cx="622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635A9449-D512-16CC-83B1-6111FEFAD0C0}"/>
                </a:ext>
              </a:extLst>
            </p:cNvPr>
            <p:cNvSpPr txBox="1"/>
            <p:nvPr/>
          </p:nvSpPr>
          <p:spPr>
            <a:xfrm>
              <a:off x="9946281" y="2721575"/>
              <a:ext cx="786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54" name="TextBox 2053">
              <a:extLst>
                <a:ext uri="{FF2B5EF4-FFF2-40B4-BE49-F238E27FC236}">
                  <a16:creationId xmlns:a16="http://schemas.microsoft.com/office/drawing/2014/main" id="{86C82F4A-D3F1-F6EB-7341-164863226B1A}"/>
                </a:ext>
              </a:extLst>
            </p:cNvPr>
            <p:cNvSpPr txBox="1"/>
            <p:nvPr/>
          </p:nvSpPr>
          <p:spPr>
            <a:xfrm>
              <a:off x="7510363" y="4207988"/>
              <a:ext cx="797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67738E2B-2EEA-489D-FF39-C728660208B6}"/>
                </a:ext>
              </a:extLst>
            </p:cNvPr>
            <p:cNvSpPr txBox="1"/>
            <p:nvPr/>
          </p:nvSpPr>
          <p:spPr>
            <a:xfrm>
              <a:off x="9975017" y="4187682"/>
              <a:ext cx="729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73" name="TextBox 2072">
              <a:extLst>
                <a:ext uri="{FF2B5EF4-FFF2-40B4-BE49-F238E27FC236}">
                  <a16:creationId xmlns:a16="http://schemas.microsoft.com/office/drawing/2014/main" id="{7E1C3DA5-4582-4FC8-746A-C0285C9E5F0E}"/>
                </a:ext>
              </a:extLst>
            </p:cNvPr>
            <p:cNvSpPr txBox="1"/>
            <p:nvPr/>
          </p:nvSpPr>
          <p:spPr>
            <a:xfrm>
              <a:off x="7515171" y="966702"/>
              <a:ext cx="2241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b="1" dirty="0"/>
                <a:t>Consumer</a:t>
              </a:r>
              <a:endParaRPr lang="en-US" b="1" dirty="0"/>
            </a:p>
          </p:txBody>
        </p:sp>
      </p:grpSp>
      <p:sp>
        <p:nvSpPr>
          <p:cNvPr id="2075" name="Content Placeholder 2074">
            <a:extLst>
              <a:ext uri="{FF2B5EF4-FFF2-40B4-BE49-F238E27FC236}">
                <a16:creationId xmlns:a16="http://schemas.microsoft.com/office/drawing/2014/main" id="{98DF36CE-E5B4-6BFD-374D-0A9DF70D4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5809056"/>
            <a:ext cx="11877675" cy="829483"/>
          </a:xfrm>
        </p:spPr>
        <p:txBody>
          <a:bodyPr/>
          <a:lstStyle/>
          <a:p>
            <a:r>
              <a:rPr lang="hu-HU" dirty="0"/>
              <a:t>The serialization/deserialization is an important implementation choice</a:t>
            </a:r>
          </a:p>
          <a:p>
            <a:r>
              <a:rPr lang="hu-HU" b="1" dirty="0"/>
              <a:t>Changing the serialization</a:t>
            </a:r>
            <a:r>
              <a:rPr lang="hu-HU" dirty="0"/>
              <a:t> type for the topic </a:t>
            </a:r>
            <a:r>
              <a:rPr lang="hu-HU" b="1" dirty="0"/>
              <a:t>breaks the client</a:t>
            </a:r>
            <a:r>
              <a:rPr lang="hu-HU" dirty="0"/>
              <a:t> at code level (better to create a new topic)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2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Consumers 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1707463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Consumer reads data from a topic in a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pull model</a:t>
            </a: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consumer can read multiple partitions 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Each partition is being read in order, from lower to higher offset values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Typically a broker does not contain all partitions, but a consumer knows which broker to read from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In case of broker failure, a consumer knows how to recover </a:t>
            </a: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544363" y="2958453"/>
            <a:ext cx="5970282" cy="2718529"/>
            <a:chOff x="4436329" y="2158203"/>
            <a:chExt cx="5970282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7644571" y="2972171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6316133" y="3211033"/>
            <a:ext cx="1087636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DCB197-E836-97DC-193D-D75C7CD24613}"/>
              </a:ext>
            </a:extLst>
          </p:cNvPr>
          <p:cNvCxnSpPr>
            <a:cxnSpLocks/>
          </p:cNvCxnSpPr>
          <p:nvPr/>
        </p:nvCxnSpPr>
        <p:spPr>
          <a:xfrm flipV="1">
            <a:off x="5401733" y="3302646"/>
            <a:ext cx="2002036" cy="55996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9666BF-A64D-6163-0326-3D6396AE0F54}"/>
              </a:ext>
            </a:extLst>
          </p:cNvPr>
          <p:cNvCxnSpPr>
            <a:cxnSpLocks/>
          </p:cNvCxnSpPr>
          <p:nvPr/>
        </p:nvCxnSpPr>
        <p:spPr>
          <a:xfrm>
            <a:off x="6556935" y="4667299"/>
            <a:ext cx="846834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7644571" y="4437188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85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57523" y="2454442"/>
            <a:ext cx="2473693" cy="27046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11877674" cy="1147166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</a:t>
            </a:r>
            <a:r>
              <a:rPr lang="en-US" sz="1600" dirty="0">
                <a:solidFill>
                  <a:srgbClr val="1A1523"/>
                </a:solidFill>
                <a:highlight>
                  <a:srgbClr val="FFFFFF"/>
                </a:highlight>
              </a:rPr>
              <a:t>set of consumers from the same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 application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consumer always belong to a group, even if it is a lonely consumer</a:t>
            </a:r>
            <a:endParaRPr lang="hu-HU" sz="12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Each consumer in the same group reads exlusive partitions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838492" y="3922045"/>
            <a:ext cx="858871" cy="32744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54279" y="266467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71355" y="266876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74550" y="287074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71355" y="334872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54279" y="327210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54279" y="387952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92636-DA3E-1228-3787-B5B86A12CC3E}"/>
              </a:ext>
            </a:extLst>
          </p:cNvPr>
          <p:cNvSpPr/>
          <p:nvPr/>
        </p:nvSpPr>
        <p:spPr>
          <a:xfrm>
            <a:off x="1954279" y="446528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5FA5F2-9D36-44DC-F0A5-04AA75FE1D51}"/>
              </a:ext>
            </a:extLst>
          </p:cNvPr>
          <p:cNvSpPr/>
          <p:nvPr/>
        </p:nvSpPr>
        <p:spPr>
          <a:xfrm>
            <a:off x="1954279" y="5072715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29EF08-D128-523A-216C-BBB8D2F738AB}"/>
              </a:ext>
            </a:extLst>
          </p:cNvPr>
          <p:cNvSpPr/>
          <p:nvPr/>
        </p:nvSpPr>
        <p:spPr>
          <a:xfrm>
            <a:off x="5971355" y="4033417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93143" y="4710064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2EA556E-D4F9-33F9-2715-2074576B3C20}"/>
              </a:ext>
            </a:extLst>
          </p:cNvPr>
          <p:cNvCxnSpPr>
            <a:cxnSpLocks/>
          </p:cNvCxnSpPr>
          <p:nvPr/>
        </p:nvCxnSpPr>
        <p:spPr>
          <a:xfrm flipV="1">
            <a:off x="3274550" y="3016520"/>
            <a:ext cx="2473693" cy="412480"/>
          </a:xfrm>
          <a:prstGeom prst="bentConnector3">
            <a:avLst>
              <a:gd name="adj1" fmla="val 16116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583A8A3-7A5D-D43A-C0B8-1F2B0E60F7A9}"/>
              </a:ext>
            </a:extLst>
          </p:cNvPr>
          <p:cNvCxnSpPr>
            <a:cxnSpLocks/>
          </p:cNvCxnSpPr>
          <p:nvPr/>
        </p:nvCxnSpPr>
        <p:spPr>
          <a:xfrm flipV="1">
            <a:off x="3240746" y="3585295"/>
            <a:ext cx="2473693" cy="500474"/>
          </a:xfrm>
          <a:prstGeom prst="bentConnector3">
            <a:avLst>
              <a:gd name="adj1" fmla="val 43497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702C849A-8890-4E79-0D66-ADF81395DC3D}"/>
              </a:ext>
            </a:extLst>
          </p:cNvPr>
          <p:cNvCxnSpPr>
            <a:cxnSpLocks/>
          </p:cNvCxnSpPr>
          <p:nvPr/>
        </p:nvCxnSpPr>
        <p:spPr>
          <a:xfrm flipV="1">
            <a:off x="3240746" y="3746908"/>
            <a:ext cx="2473693" cy="952890"/>
          </a:xfrm>
          <a:prstGeom prst="bentConnector3">
            <a:avLst>
              <a:gd name="adj1" fmla="val 48631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E859BB1E-7DE0-0DEF-FEB2-A52FA8026DF4}"/>
              </a:ext>
            </a:extLst>
          </p:cNvPr>
          <p:cNvCxnSpPr>
            <a:cxnSpLocks/>
          </p:cNvCxnSpPr>
          <p:nvPr/>
        </p:nvCxnSpPr>
        <p:spPr>
          <a:xfrm flipV="1">
            <a:off x="3240746" y="4269992"/>
            <a:ext cx="2507497" cy="1022070"/>
          </a:xfrm>
          <a:prstGeom prst="bentConnector3">
            <a:avLst>
              <a:gd name="adj1" fmla="val 80051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1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57523" y="2454441"/>
            <a:ext cx="2473693" cy="33615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11877674" cy="1147166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there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more consumers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than partitions: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838492" y="3303610"/>
            <a:ext cx="858871" cy="32744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54279" y="266467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71355" y="266876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74550" y="287074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71355" y="334872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54279" y="327210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54279" y="387952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29EF08-D128-523A-216C-BBB8D2F738AB}"/>
              </a:ext>
            </a:extLst>
          </p:cNvPr>
          <p:cNvSpPr/>
          <p:nvPr/>
        </p:nvSpPr>
        <p:spPr>
          <a:xfrm>
            <a:off x="5971355" y="4033417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93143" y="5322396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2EA556E-D4F9-33F9-2715-2074576B3C20}"/>
              </a:ext>
            </a:extLst>
          </p:cNvPr>
          <p:cNvCxnSpPr>
            <a:cxnSpLocks/>
          </p:cNvCxnSpPr>
          <p:nvPr/>
        </p:nvCxnSpPr>
        <p:spPr>
          <a:xfrm>
            <a:off x="3274550" y="3429000"/>
            <a:ext cx="2473693" cy="156295"/>
          </a:xfrm>
          <a:prstGeom prst="bentConnector3">
            <a:avLst>
              <a:gd name="adj1" fmla="val 50000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583A8A3-7A5D-D43A-C0B8-1F2B0E60F7A9}"/>
              </a:ext>
            </a:extLst>
          </p:cNvPr>
          <p:cNvCxnSpPr>
            <a:cxnSpLocks/>
          </p:cNvCxnSpPr>
          <p:nvPr/>
        </p:nvCxnSpPr>
        <p:spPr>
          <a:xfrm>
            <a:off x="3240746" y="4085769"/>
            <a:ext cx="2507497" cy="184222"/>
          </a:xfrm>
          <a:prstGeom prst="bentConnector3">
            <a:avLst>
              <a:gd name="adj1" fmla="val 50000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D755E68-A1E5-4D9A-24F0-AE9B4D4CFE16}"/>
              </a:ext>
            </a:extLst>
          </p:cNvPr>
          <p:cNvSpPr/>
          <p:nvPr/>
        </p:nvSpPr>
        <p:spPr>
          <a:xfrm>
            <a:off x="5971355" y="4729845"/>
            <a:ext cx="1446028" cy="4731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8597B28-89FC-C12F-083A-6ED511CFCCF3}"/>
              </a:ext>
            </a:extLst>
          </p:cNvPr>
          <p:cNvSpPr txBox="1"/>
          <p:nvPr/>
        </p:nvSpPr>
        <p:spPr>
          <a:xfrm>
            <a:off x="5061258" y="4826086"/>
            <a:ext cx="905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inactive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836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57523" y="1461131"/>
            <a:ext cx="2473693" cy="1815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11877674" cy="1147166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there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more consumer groups on one topic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: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796699" y="2317101"/>
            <a:ext cx="858871" cy="31384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54279" y="167136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71355" y="167545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74550" y="187743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71355" y="235541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54279" y="227879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54279" y="288621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93143" y="2894787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21674-9E94-E350-7B92-C4C32BC96659}"/>
              </a:ext>
            </a:extLst>
          </p:cNvPr>
          <p:cNvSpPr/>
          <p:nvPr/>
        </p:nvSpPr>
        <p:spPr>
          <a:xfrm>
            <a:off x="5457523" y="3427773"/>
            <a:ext cx="2473693" cy="18155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9CBEE6-7373-B90B-7ED8-09AB4CAFF243}"/>
              </a:ext>
            </a:extLst>
          </p:cNvPr>
          <p:cNvSpPr/>
          <p:nvPr/>
        </p:nvSpPr>
        <p:spPr>
          <a:xfrm>
            <a:off x="5971355" y="3642095"/>
            <a:ext cx="1446028" cy="4731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5D7BE-5803-F455-0D41-44A9953B10CE}"/>
              </a:ext>
            </a:extLst>
          </p:cNvPr>
          <p:cNvSpPr/>
          <p:nvPr/>
        </p:nvSpPr>
        <p:spPr>
          <a:xfrm>
            <a:off x="5971355" y="4322052"/>
            <a:ext cx="1446028" cy="4731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A22A27-F322-6097-02F0-AA73476DF9C2}"/>
              </a:ext>
            </a:extLst>
          </p:cNvPr>
          <p:cNvSpPr txBox="1"/>
          <p:nvPr/>
        </p:nvSpPr>
        <p:spPr>
          <a:xfrm>
            <a:off x="5593143" y="4854822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app-2-consumer-group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91A2D7-54DB-7808-79EA-6975FF3D35A3}"/>
              </a:ext>
            </a:extLst>
          </p:cNvPr>
          <p:cNvCxnSpPr>
            <a:cxnSpLocks/>
          </p:cNvCxnSpPr>
          <p:nvPr/>
        </p:nvCxnSpPr>
        <p:spPr>
          <a:xfrm flipV="1">
            <a:off x="3274550" y="2023947"/>
            <a:ext cx="2473693" cy="43769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F731E-7E73-3CB6-CCD0-BDD41387FB4F}"/>
              </a:ext>
            </a:extLst>
          </p:cNvPr>
          <p:cNvCxnSpPr>
            <a:cxnSpLocks/>
          </p:cNvCxnSpPr>
          <p:nvPr/>
        </p:nvCxnSpPr>
        <p:spPr>
          <a:xfrm flipV="1">
            <a:off x="3274550" y="2574077"/>
            <a:ext cx="2473693" cy="44990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B2B07B-B608-76A7-4A10-092759A63C93}"/>
              </a:ext>
            </a:extLst>
          </p:cNvPr>
          <p:cNvCxnSpPr>
            <a:cxnSpLocks/>
          </p:cNvCxnSpPr>
          <p:nvPr/>
        </p:nvCxnSpPr>
        <p:spPr>
          <a:xfrm>
            <a:off x="3274550" y="1877437"/>
            <a:ext cx="2473693" cy="206451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6313DC-0DCE-392A-F99F-D5CF1D76940D}"/>
              </a:ext>
            </a:extLst>
          </p:cNvPr>
          <p:cNvCxnSpPr>
            <a:cxnSpLocks/>
          </p:cNvCxnSpPr>
          <p:nvPr/>
        </p:nvCxnSpPr>
        <p:spPr>
          <a:xfrm>
            <a:off x="3333989" y="2490997"/>
            <a:ext cx="2414254" cy="205018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2A2ED2-7301-D2D4-AB79-94C79373C597}"/>
              </a:ext>
            </a:extLst>
          </p:cNvPr>
          <p:cNvCxnSpPr>
            <a:cxnSpLocks/>
          </p:cNvCxnSpPr>
          <p:nvPr/>
        </p:nvCxnSpPr>
        <p:spPr>
          <a:xfrm>
            <a:off x="3274550" y="3023983"/>
            <a:ext cx="2473693" cy="151719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76F7700-D54D-F474-5E38-0F2BF4C2D518}"/>
              </a:ext>
            </a:extLst>
          </p:cNvPr>
          <p:cNvSpPr/>
          <p:nvPr/>
        </p:nvSpPr>
        <p:spPr>
          <a:xfrm>
            <a:off x="5471027" y="5411516"/>
            <a:ext cx="2473693" cy="11256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89536C-43DA-631E-82F0-A4E5810854EB}"/>
              </a:ext>
            </a:extLst>
          </p:cNvPr>
          <p:cNvSpPr/>
          <p:nvPr/>
        </p:nvSpPr>
        <p:spPr>
          <a:xfrm>
            <a:off x="5984859" y="5625838"/>
            <a:ext cx="1446028" cy="47314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C93903-BCFB-7C24-FB01-73A262C3FE2A}"/>
              </a:ext>
            </a:extLst>
          </p:cNvPr>
          <p:cNvSpPr txBox="1"/>
          <p:nvPr/>
        </p:nvSpPr>
        <p:spPr>
          <a:xfrm>
            <a:off x="5606647" y="6159420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app-3-consumer-group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40B1C0-96B7-7918-1730-153EEED66475}"/>
              </a:ext>
            </a:extLst>
          </p:cNvPr>
          <p:cNvCxnSpPr>
            <a:cxnSpLocks/>
          </p:cNvCxnSpPr>
          <p:nvPr/>
        </p:nvCxnSpPr>
        <p:spPr>
          <a:xfrm>
            <a:off x="3274549" y="1866598"/>
            <a:ext cx="2473694" cy="3880152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C976F85-4C94-5074-CC3D-39C46DEAC8BA}"/>
              </a:ext>
            </a:extLst>
          </p:cNvPr>
          <p:cNvCxnSpPr>
            <a:cxnSpLocks/>
          </p:cNvCxnSpPr>
          <p:nvPr/>
        </p:nvCxnSpPr>
        <p:spPr>
          <a:xfrm>
            <a:off x="3333989" y="2474023"/>
            <a:ext cx="2414254" cy="3399938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833D078-6CFA-A67B-519C-ADF674B6BA11}"/>
              </a:ext>
            </a:extLst>
          </p:cNvPr>
          <p:cNvCxnSpPr>
            <a:cxnSpLocks/>
          </p:cNvCxnSpPr>
          <p:nvPr/>
        </p:nvCxnSpPr>
        <p:spPr>
          <a:xfrm>
            <a:off x="3274550" y="3013764"/>
            <a:ext cx="2473693" cy="3012597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994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57523" y="1461131"/>
            <a:ext cx="2473693" cy="1815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11877674" cy="1147166"/>
          </a:xfrm>
        </p:spPr>
        <p:txBody>
          <a:bodyPr/>
          <a:lstStyle/>
          <a:p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A consumer in a group can read from one of more topics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: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796699" y="2317101"/>
            <a:ext cx="858871" cy="31384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54279" y="167136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71355" y="167545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74550" y="187743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71355" y="235541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54279" y="227879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54279" y="288621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93143" y="2894787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21674-9E94-E350-7B92-C4C32BC96659}"/>
              </a:ext>
            </a:extLst>
          </p:cNvPr>
          <p:cNvSpPr/>
          <p:nvPr/>
        </p:nvSpPr>
        <p:spPr>
          <a:xfrm>
            <a:off x="5457523" y="3427773"/>
            <a:ext cx="2473693" cy="18155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9CBEE6-7373-B90B-7ED8-09AB4CAFF243}"/>
              </a:ext>
            </a:extLst>
          </p:cNvPr>
          <p:cNvSpPr/>
          <p:nvPr/>
        </p:nvSpPr>
        <p:spPr>
          <a:xfrm>
            <a:off x="5971355" y="3642095"/>
            <a:ext cx="1446028" cy="4731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5D7BE-5803-F455-0D41-44A9953B10CE}"/>
              </a:ext>
            </a:extLst>
          </p:cNvPr>
          <p:cNvSpPr/>
          <p:nvPr/>
        </p:nvSpPr>
        <p:spPr>
          <a:xfrm>
            <a:off x="5971355" y="4322052"/>
            <a:ext cx="1446028" cy="4731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A22A27-F322-6097-02F0-AA73476DF9C2}"/>
              </a:ext>
            </a:extLst>
          </p:cNvPr>
          <p:cNvSpPr txBox="1"/>
          <p:nvPr/>
        </p:nvSpPr>
        <p:spPr>
          <a:xfrm>
            <a:off x="5593143" y="4854822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app-2-consumer-group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91A2D7-54DB-7808-79EA-6975FF3D35A3}"/>
              </a:ext>
            </a:extLst>
          </p:cNvPr>
          <p:cNvCxnSpPr>
            <a:cxnSpLocks/>
          </p:cNvCxnSpPr>
          <p:nvPr/>
        </p:nvCxnSpPr>
        <p:spPr>
          <a:xfrm flipV="1">
            <a:off x="3274550" y="2023947"/>
            <a:ext cx="2473693" cy="43769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F731E-7E73-3CB6-CCD0-BDD41387FB4F}"/>
              </a:ext>
            </a:extLst>
          </p:cNvPr>
          <p:cNvCxnSpPr>
            <a:cxnSpLocks/>
          </p:cNvCxnSpPr>
          <p:nvPr/>
        </p:nvCxnSpPr>
        <p:spPr>
          <a:xfrm flipV="1">
            <a:off x="3274550" y="2574077"/>
            <a:ext cx="2473693" cy="44990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B2B07B-B608-76A7-4A10-092759A63C93}"/>
              </a:ext>
            </a:extLst>
          </p:cNvPr>
          <p:cNvCxnSpPr>
            <a:cxnSpLocks/>
          </p:cNvCxnSpPr>
          <p:nvPr/>
        </p:nvCxnSpPr>
        <p:spPr>
          <a:xfrm>
            <a:off x="3274550" y="1877437"/>
            <a:ext cx="2473693" cy="206451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6313DC-0DCE-392A-F99F-D5CF1D76940D}"/>
              </a:ext>
            </a:extLst>
          </p:cNvPr>
          <p:cNvCxnSpPr>
            <a:cxnSpLocks/>
          </p:cNvCxnSpPr>
          <p:nvPr/>
        </p:nvCxnSpPr>
        <p:spPr>
          <a:xfrm>
            <a:off x="3333989" y="2490997"/>
            <a:ext cx="2414254" cy="205018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2A2ED2-7301-D2D4-AB79-94C79373C597}"/>
              </a:ext>
            </a:extLst>
          </p:cNvPr>
          <p:cNvCxnSpPr>
            <a:cxnSpLocks/>
          </p:cNvCxnSpPr>
          <p:nvPr/>
        </p:nvCxnSpPr>
        <p:spPr>
          <a:xfrm>
            <a:off x="3274550" y="3023983"/>
            <a:ext cx="2473693" cy="151719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76F7700-D54D-F474-5E38-0F2BF4C2D518}"/>
              </a:ext>
            </a:extLst>
          </p:cNvPr>
          <p:cNvSpPr/>
          <p:nvPr/>
        </p:nvSpPr>
        <p:spPr>
          <a:xfrm>
            <a:off x="5471027" y="5411516"/>
            <a:ext cx="2473693" cy="11256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89536C-43DA-631E-82F0-A4E5810854EB}"/>
              </a:ext>
            </a:extLst>
          </p:cNvPr>
          <p:cNvSpPr/>
          <p:nvPr/>
        </p:nvSpPr>
        <p:spPr>
          <a:xfrm>
            <a:off x="5984859" y="5625838"/>
            <a:ext cx="1446028" cy="47314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C93903-BCFB-7C24-FB01-73A262C3FE2A}"/>
              </a:ext>
            </a:extLst>
          </p:cNvPr>
          <p:cNvSpPr txBox="1"/>
          <p:nvPr/>
        </p:nvSpPr>
        <p:spPr>
          <a:xfrm>
            <a:off x="5606647" y="6159420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app-3-consumer-group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40B1C0-96B7-7918-1730-153EEED66475}"/>
              </a:ext>
            </a:extLst>
          </p:cNvPr>
          <p:cNvCxnSpPr>
            <a:cxnSpLocks/>
          </p:cNvCxnSpPr>
          <p:nvPr/>
        </p:nvCxnSpPr>
        <p:spPr>
          <a:xfrm>
            <a:off x="3274549" y="1866598"/>
            <a:ext cx="2473694" cy="3880152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C976F85-4C94-5074-CC3D-39C46DEAC8BA}"/>
              </a:ext>
            </a:extLst>
          </p:cNvPr>
          <p:cNvCxnSpPr>
            <a:cxnSpLocks/>
          </p:cNvCxnSpPr>
          <p:nvPr/>
        </p:nvCxnSpPr>
        <p:spPr>
          <a:xfrm>
            <a:off x="3333989" y="2474023"/>
            <a:ext cx="2414254" cy="3399938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833D078-6CFA-A67B-519C-ADF674B6BA11}"/>
              </a:ext>
            </a:extLst>
          </p:cNvPr>
          <p:cNvCxnSpPr>
            <a:cxnSpLocks/>
          </p:cNvCxnSpPr>
          <p:nvPr/>
        </p:nvCxnSpPr>
        <p:spPr>
          <a:xfrm>
            <a:off x="3274550" y="3013764"/>
            <a:ext cx="2473693" cy="3012597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FFECFB-9BF7-86BB-AF6D-A88E2F9C0ECF}"/>
              </a:ext>
            </a:extLst>
          </p:cNvPr>
          <p:cNvSpPr/>
          <p:nvPr/>
        </p:nvSpPr>
        <p:spPr>
          <a:xfrm>
            <a:off x="796699" y="4398249"/>
            <a:ext cx="858871" cy="3138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B01D1-2E51-4541-A283-65ED91AB5BF9}"/>
              </a:ext>
            </a:extLst>
          </p:cNvPr>
          <p:cNvSpPr/>
          <p:nvPr/>
        </p:nvSpPr>
        <p:spPr>
          <a:xfrm>
            <a:off x="1954279" y="4359939"/>
            <a:ext cx="1156598" cy="3904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3DDE20-07C0-2B64-7AA3-C3623EF6FB49}"/>
              </a:ext>
            </a:extLst>
          </p:cNvPr>
          <p:cNvCxnSpPr>
            <a:cxnSpLocks/>
          </p:cNvCxnSpPr>
          <p:nvPr/>
        </p:nvCxnSpPr>
        <p:spPr>
          <a:xfrm>
            <a:off x="3347493" y="4541177"/>
            <a:ext cx="2400750" cy="1465843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199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Offset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0"/>
            <a:ext cx="11877674" cy="1650245"/>
          </a:xfrm>
        </p:spPr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After a consumer reads a message it sends commit to Kafka regarding the offset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Kafka keep track of this information in the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__consumer_offsets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 topic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a consumer fails and recover it can continue from where it was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There are multiple strategies from consumers side when to send the commit (see later)</a:t>
            </a:r>
            <a:endParaRPr lang="hu-HU" sz="14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DEBB80-0D48-16E0-458A-E344ECF03F20}"/>
              </a:ext>
            </a:extLst>
          </p:cNvPr>
          <p:cNvSpPr/>
          <p:nvPr/>
        </p:nvSpPr>
        <p:spPr>
          <a:xfrm>
            <a:off x="1904284" y="3599910"/>
            <a:ext cx="858871" cy="32744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96E602-22E6-EFC3-4C0D-E9A5493C3013}"/>
              </a:ext>
            </a:extLst>
          </p:cNvPr>
          <p:cNvSpPr txBox="1"/>
          <p:nvPr/>
        </p:nvSpPr>
        <p:spPr>
          <a:xfrm>
            <a:off x="2918271" y="3357229"/>
            <a:ext cx="1070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A4899-E06D-4CCA-F470-F7AD2E445FCE}"/>
              </a:ext>
            </a:extLst>
          </p:cNvPr>
          <p:cNvSpPr txBox="1"/>
          <p:nvPr/>
        </p:nvSpPr>
        <p:spPr>
          <a:xfrm>
            <a:off x="2918271" y="3927358"/>
            <a:ext cx="1070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8AA036-FAE6-C6BD-A2E6-C7AEE79D7DA2}"/>
              </a:ext>
            </a:extLst>
          </p:cNvPr>
          <p:cNvSpPr/>
          <p:nvPr/>
        </p:nvSpPr>
        <p:spPr>
          <a:xfrm>
            <a:off x="4162040" y="3274543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B4D8F7-B041-79F9-226F-F0E6884C0E72}"/>
              </a:ext>
            </a:extLst>
          </p:cNvPr>
          <p:cNvSpPr/>
          <p:nvPr/>
        </p:nvSpPr>
        <p:spPr>
          <a:xfrm>
            <a:off x="4561238" y="3274542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0C9267-F3B2-2FD7-1A66-550604958D70}"/>
              </a:ext>
            </a:extLst>
          </p:cNvPr>
          <p:cNvSpPr/>
          <p:nvPr/>
        </p:nvSpPr>
        <p:spPr>
          <a:xfrm>
            <a:off x="4960436" y="3274544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F9CB30-C2FE-6B19-7D8B-1D108C6DDE06}"/>
              </a:ext>
            </a:extLst>
          </p:cNvPr>
          <p:cNvSpPr/>
          <p:nvPr/>
        </p:nvSpPr>
        <p:spPr>
          <a:xfrm>
            <a:off x="5359634" y="3274543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720571-6053-F34A-7E28-DF838A9A875C}"/>
              </a:ext>
            </a:extLst>
          </p:cNvPr>
          <p:cNvSpPr/>
          <p:nvPr/>
        </p:nvSpPr>
        <p:spPr>
          <a:xfrm>
            <a:off x="5758832" y="3274543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FDA1B20-0126-D3E2-350F-03AFE1041DAE}"/>
              </a:ext>
            </a:extLst>
          </p:cNvPr>
          <p:cNvSpPr/>
          <p:nvPr/>
        </p:nvSpPr>
        <p:spPr>
          <a:xfrm>
            <a:off x="6158030" y="3274542"/>
            <a:ext cx="399198" cy="3904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4CE702-7DF4-7AE2-84B4-94C2AC9CB373}"/>
              </a:ext>
            </a:extLst>
          </p:cNvPr>
          <p:cNvSpPr/>
          <p:nvPr/>
        </p:nvSpPr>
        <p:spPr>
          <a:xfrm>
            <a:off x="4152269" y="3874688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0ACFCA-D077-95BF-24C0-57B58615C020}"/>
              </a:ext>
            </a:extLst>
          </p:cNvPr>
          <p:cNvSpPr/>
          <p:nvPr/>
        </p:nvSpPr>
        <p:spPr>
          <a:xfrm>
            <a:off x="4551467" y="3874687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931D66-5881-B8A8-F977-995318949C91}"/>
              </a:ext>
            </a:extLst>
          </p:cNvPr>
          <p:cNvSpPr/>
          <p:nvPr/>
        </p:nvSpPr>
        <p:spPr>
          <a:xfrm>
            <a:off x="4950665" y="3874689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8C0FD8-DAC3-FB2E-38A3-69A93FC0BE09}"/>
              </a:ext>
            </a:extLst>
          </p:cNvPr>
          <p:cNvSpPr/>
          <p:nvPr/>
        </p:nvSpPr>
        <p:spPr>
          <a:xfrm>
            <a:off x="5349863" y="3874688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802A89-BDDB-4DB2-7FBB-AB028E2D1647}"/>
              </a:ext>
            </a:extLst>
          </p:cNvPr>
          <p:cNvSpPr/>
          <p:nvPr/>
        </p:nvSpPr>
        <p:spPr>
          <a:xfrm>
            <a:off x="5749061" y="3874688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EC244A-1AAF-7582-D73A-847486D00BBB}"/>
              </a:ext>
            </a:extLst>
          </p:cNvPr>
          <p:cNvSpPr/>
          <p:nvPr/>
        </p:nvSpPr>
        <p:spPr>
          <a:xfrm>
            <a:off x="6148259" y="3874687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108C67E-08FE-0DC9-04AC-11FC7DA3865D}"/>
              </a:ext>
            </a:extLst>
          </p:cNvPr>
          <p:cNvSpPr/>
          <p:nvPr/>
        </p:nvSpPr>
        <p:spPr>
          <a:xfrm>
            <a:off x="6547457" y="3874689"/>
            <a:ext cx="399198" cy="3904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D307C-4123-F28F-6EF3-EE4882D16D62}"/>
              </a:ext>
            </a:extLst>
          </p:cNvPr>
          <p:cNvSpPr txBox="1"/>
          <p:nvPr/>
        </p:nvSpPr>
        <p:spPr>
          <a:xfrm>
            <a:off x="5601523" y="4459456"/>
            <a:ext cx="1823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message offset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025E1C-6628-86B3-E6F6-E55D11EF9BB4}"/>
              </a:ext>
            </a:extLst>
          </p:cNvPr>
          <p:cNvSpPr txBox="1"/>
          <p:nvPr/>
        </p:nvSpPr>
        <p:spPr>
          <a:xfrm rot="5400000">
            <a:off x="6699905" y="3306270"/>
            <a:ext cx="339902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78AD37-7BD9-4BD2-9934-099B1B049459}"/>
              </a:ext>
            </a:extLst>
          </p:cNvPr>
          <p:cNvSpPr txBox="1"/>
          <p:nvPr/>
        </p:nvSpPr>
        <p:spPr>
          <a:xfrm rot="5400000">
            <a:off x="7005157" y="3912407"/>
            <a:ext cx="339902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0177EAE-7104-FF56-F224-81581F813C8E}"/>
              </a:ext>
            </a:extLst>
          </p:cNvPr>
          <p:cNvCxnSpPr>
            <a:cxnSpLocks/>
            <a:stCxn id="52" idx="0"/>
            <a:endCxn id="44" idx="2"/>
          </p:cNvCxnSpPr>
          <p:nvPr/>
        </p:nvCxnSpPr>
        <p:spPr>
          <a:xfrm flipH="1" flipV="1">
            <a:off x="5549462" y="4265151"/>
            <a:ext cx="963593" cy="194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22E7561-0D3E-6C50-6F50-655EF9728F4A}"/>
              </a:ext>
            </a:extLst>
          </p:cNvPr>
          <p:cNvSpPr/>
          <p:nvPr/>
        </p:nvSpPr>
        <p:spPr>
          <a:xfrm>
            <a:off x="8512222" y="3210861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78379E1-C072-4676-6CFD-8527F30EC3A9}"/>
              </a:ext>
            </a:extLst>
          </p:cNvPr>
          <p:cNvCxnSpPr>
            <a:cxnSpLocks/>
            <a:stCxn id="53" idx="0"/>
          </p:cNvCxnSpPr>
          <p:nvPr/>
        </p:nvCxnSpPr>
        <p:spPr>
          <a:xfrm>
            <a:off x="7027368" y="3463782"/>
            <a:ext cx="1244052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9F8F4B-12ED-7986-0D62-C541E2E962F2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7332620" y="3541336"/>
            <a:ext cx="938800" cy="52858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49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2492B1C-8998-95C4-E7D6-7703F7A87B33}"/>
              </a:ext>
            </a:extLst>
          </p:cNvPr>
          <p:cNvGrpSpPr/>
          <p:nvPr/>
        </p:nvGrpSpPr>
        <p:grpSpPr>
          <a:xfrm>
            <a:off x="7702483" y="4752892"/>
            <a:ext cx="2473693" cy="1825420"/>
            <a:chOff x="7611028" y="4292126"/>
            <a:chExt cx="2473693" cy="182542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01C077-AC36-6EC4-D7BB-CB3C05038EAD}"/>
                </a:ext>
              </a:extLst>
            </p:cNvPr>
            <p:cNvSpPr/>
            <p:nvPr/>
          </p:nvSpPr>
          <p:spPr>
            <a:xfrm>
              <a:off x="7611028" y="4301995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74AECC-8E45-B787-774B-455DECC5BF01}"/>
                </a:ext>
              </a:extLst>
            </p:cNvPr>
            <p:cNvSpPr txBox="1"/>
            <p:nvPr/>
          </p:nvSpPr>
          <p:spPr>
            <a:xfrm>
              <a:off x="7611029" y="4292126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3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EE424C-0B9B-455D-6E59-B824E62CD979}"/>
              </a:ext>
            </a:extLst>
          </p:cNvPr>
          <p:cNvGrpSpPr/>
          <p:nvPr/>
        </p:nvGrpSpPr>
        <p:grpSpPr>
          <a:xfrm>
            <a:off x="5076390" y="4742606"/>
            <a:ext cx="2473693" cy="1825420"/>
            <a:chOff x="4984935" y="4281840"/>
            <a:chExt cx="2473693" cy="182542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08ADC0-A79D-537C-9795-F5B1A1604D17}"/>
                </a:ext>
              </a:extLst>
            </p:cNvPr>
            <p:cNvSpPr/>
            <p:nvPr/>
          </p:nvSpPr>
          <p:spPr>
            <a:xfrm>
              <a:off x="4984935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C18318-7DC9-3AF8-AE12-AA0EC9F1CEF3}"/>
                </a:ext>
              </a:extLst>
            </p:cNvPr>
            <p:cNvSpPr txBox="1"/>
            <p:nvPr/>
          </p:nvSpPr>
          <p:spPr>
            <a:xfrm>
              <a:off x="4984936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2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D820F1-D1C8-4140-A8C9-F94587D65426}"/>
              </a:ext>
            </a:extLst>
          </p:cNvPr>
          <p:cNvGrpSpPr/>
          <p:nvPr/>
        </p:nvGrpSpPr>
        <p:grpSpPr>
          <a:xfrm>
            <a:off x="2450297" y="4742606"/>
            <a:ext cx="2473693" cy="1825420"/>
            <a:chOff x="2358842" y="4281840"/>
            <a:chExt cx="2473693" cy="18254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2BC2E2-AAA9-C5EF-7F5C-A2E0BF01B252}"/>
                </a:ext>
              </a:extLst>
            </p:cNvPr>
            <p:cNvSpPr/>
            <p:nvPr/>
          </p:nvSpPr>
          <p:spPr>
            <a:xfrm>
              <a:off x="2358842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C07121-E730-53F0-85E0-213F91D5659E}"/>
                </a:ext>
              </a:extLst>
            </p:cNvPr>
            <p:cNvSpPr txBox="1"/>
            <p:nvPr/>
          </p:nvSpPr>
          <p:spPr>
            <a:xfrm>
              <a:off x="2358843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F51ADC-586E-493B-79F7-6513F2FF7D7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Brokers and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752B3-116B-7F81-2681-3FE4E4E0C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1"/>
            <a:ext cx="11877675" cy="2479980"/>
          </a:xfrm>
        </p:spPr>
        <p:txBody>
          <a:bodyPr/>
          <a:lstStyle/>
          <a:p>
            <a:r>
              <a:rPr lang="hu-HU" dirty="0"/>
              <a:t>A Kafka cluster contains multiple brokers („</a:t>
            </a:r>
            <a:r>
              <a:rPr lang="hu-HU" b="1" dirty="0"/>
              <a:t>bootstrap servers</a:t>
            </a:r>
            <a:r>
              <a:rPr lang="hu-HU" dirty="0"/>
              <a:t>”)</a:t>
            </a:r>
          </a:p>
          <a:p>
            <a:r>
              <a:rPr lang="hu-HU"/>
              <a:t>Each broker </a:t>
            </a:r>
            <a:r>
              <a:rPr lang="hu-HU" dirty="0"/>
              <a:t>stores only certain topic partitions:</a:t>
            </a:r>
          </a:p>
          <a:p>
            <a:pPr lvl="1"/>
            <a:r>
              <a:rPr lang="hu-HU" dirty="0"/>
              <a:t>It’s common that a broker contains no partition at all from a topic</a:t>
            </a:r>
          </a:p>
          <a:p>
            <a:pPr lvl="1"/>
            <a:r>
              <a:rPr lang="hu-HU" dirty="0"/>
              <a:t>A partition is stored on one broker (if there is no replication configured)</a:t>
            </a:r>
          </a:p>
          <a:p>
            <a:r>
              <a:rPr lang="hu-HU" dirty="0"/>
              <a:t>By connecting to a broker a client is automatically connected to the whole cluster</a:t>
            </a:r>
          </a:p>
          <a:p>
            <a:pPr lvl="1"/>
            <a:r>
              <a:rPr lang="hu-HU" dirty="0"/>
              <a:t>In case the needed partition is not on the accessed broker,  clients can get where to connect</a:t>
            </a:r>
          </a:p>
          <a:p>
            <a:pPr lvl="1"/>
            <a:r>
              <a:rPr lang="hu-HU" dirty="0"/>
              <a:t>After connecting the broker sends back the list of brokers and the stored partitions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9E9CF0-5E69-0F1C-0F84-30BB50687302}"/>
              </a:ext>
            </a:extLst>
          </p:cNvPr>
          <p:cNvSpPr/>
          <p:nvPr/>
        </p:nvSpPr>
        <p:spPr>
          <a:xfrm>
            <a:off x="1101417" y="5273168"/>
            <a:ext cx="971238" cy="35412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 A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B2C6EC-E592-BB2D-6A04-434795DDD70E}"/>
              </a:ext>
            </a:extLst>
          </p:cNvPr>
          <p:cNvSpPr/>
          <p:nvPr/>
        </p:nvSpPr>
        <p:spPr>
          <a:xfrm>
            <a:off x="2980845" y="52033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ABB0A-9348-A76F-0753-B6720E01A47F}"/>
              </a:ext>
            </a:extLst>
          </p:cNvPr>
          <p:cNvSpPr/>
          <p:nvPr/>
        </p:nvSpPr>
        <p:spPr>
          <a:xfrm>
            <a:off x="2980845" y="5883329"/>
            <a:ext cx="1446028" cy="4731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771FCF-7CF7-7D41-1FFF-08FC6F77A96F}"/>
              </a:ext>
            </a:extLst>
          </p:cNvPr>
          <p:cNvSpPr/>
          <p:nvPr/>
        </p:nvSpPr>
        <p:spPr>
          <a:xfrm>
            <a:off x="5606938" y="52033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5CF811-9220-AF17-9A8A-614D2BFD7707}"/>
              </a:ext>
            </a:extLst>
          </p:cNvPr>
          <p:cNvSpPr/>
          <p:nvPr/>
        </p:nvSpPr>
        <p:spPr>
          <a:xfrm>
            <a:off x="8233031" y="5213658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EE5126-B547-F652-A273-46BF1A6F6590}"/>
              </a:ext>
            </a:extLst>
          </p:cNvPr>
          <p:cNvSpPr/>
          <p:nvPr/>
        </p:nvSpPr>
        <p:spPr>
          <a:xfrm>
            <a:off x="8233031" y="5893615"/>
            <a:ext cx="1446028" cy="4731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80D41E-DC6D-CEEA-A698-1B0025FE08A8}"/>
              </a:ext>
            </a:extLst>
          </p:cNvPr>
          <p:cNvSpPr/>
          <p:nvPr/>
        </p:nvSpPr>
        <p:spPr>
          <a:xfrm>
            <a:off x="1101417" y="5941785"/>
            <a:ext cx="971238" cy="3562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 B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FB5373-0AF4-B735-3CCA-5F8DC64425AA}"/>
              </a:ext>
            </a:extLst>
          </p:cNvPr>
          <p:cNvGrpSpPr/>
          <p:nvPr/>
        </p:nvGrpSpPr>
        <p:grpSpPr>
          <a:xfrm>
            <a:off x="5144229" y="3330214"/>
            <a:ext cx="3883956" cy="1422678"/>
            <a:chOff x="5144229" y="3330214"/>
            <a:chExt cx="3883956" cy="142267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F947B5-1BA3-798C-1EEF-280E55AC1A00}"/>
                </a:ext>
              </a:extLst>
            </p:cNvPr>
            <p:cNvSpPr/>
            <p:nvPr/>
          </p:nvSpPr>
          <p:spPr>
            <a:xfrm>
              <a:off x="5590222" y="3330214"/>
              <a:ext cx="1446028" cy="47314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Client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C3642B1-2386-EA31-F1FE-C471362FF55E}"/>
                </a:ext>
              </a:extLst>
            </p:cNvPr>
            <p:cNvCxnSpPr>
              <a:cxnSpLocks/>
            </p:cNvCxnSpPr>
            <p:nvPr/>
          </p:nvCxnSpPr>
          <p:spPr>
            <a:xfrm>
              <a:off x="6008436" y="3810189"/>
              <a:ext cx="1" cy="93924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C1BBDEE-5AAF-83D2-826D-12E393F95BF0}"/>
                </a:ext>
              </a:extLst>
            </p:cNvPr>
            <p:cNvCxnSpPr/>
            <p:nvPr/>
          </p:nvCxnSpPr>
          <p:spPr>
            <a:xfrm>
              <a:off x="6745036" y="3803363"/>
              <a:ext cx="1" cy="939243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0A0926-A2C6-F105-1C93-F471646E52C5}"/>
                </a:ext>
              </a:extLst>
            </p:cNvPr>
            <p:cNvSpPr txBox="1"/>
            <p:nvPr/>
          </p:nvSpPr>
          <p:spPr>
            <a:xfrm>
              <a:off x="5144229" y="3813756"/>
              <a:ext cx="831965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 Connect to bootstrap server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523C064-3F01-6FE3-C917-748CD2588018}"/>
                </a:ext>
              </a:extLst>
            </p:cNvPr>
            <p:cNvSpPr txBox="1"/>
            <p:nvPr/>
          </p:nvSpPr>
          <p:spPr>
            <a:xfrm>
              <a:off x="6752846" y="3812776"/>
              <a:ext cx="744410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 </a:t>
              </a:r>
            </a:p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List of brokers and topics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3A88851-CB17-A00B-E805-4A2C5D20CF6B}"/>
                </a:ext>
              </a:extLst>
            </p:cNvPr>
            <p:cNvSpPr txBox="1"/>
            <p:nvPr/>
          </p:nvSpPr>
          <p:spPr>
            <a:xfrm>
              <a:off x="7812902" y="3566978"/>
              <a:ext cx="121528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3. </a:t>
              </a:r>
            </a:p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Connect to proper broker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3A69F822-04EE-76C4-6554-17BB507EAFF1}"/>
                </a:ext>
              </a:extLst>
            </p:cNvPr>
            <p:cNvCxnSpPr>
              <a:cxnSpLocks/>
              <a:stCxn id="30" idx="3"/>
              <a:endCxn id="25" idx="0"/>
            </p:cNvCxnSpPr>
            <p:nvPr/>
          </p:nvCxnSpPr>
          <p:spPr>
            <a:xfrm>
              <a:off x="7036250" y="3566789"/>
              <a:ext cx="1903080" cy="1186103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622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  <p:bldP spid="19" grpId="0" animBg="1"/>
      <p:bldP spid="23" grpId="0" animBg="1"/>
      <p:bldP spid="24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0C29B0-0664-09AF-E783-CE3D142E20A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Topic Replication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E2D3-A706-19A8-6BC5-CD16F319E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0"/>
            <a:ext cx="11877675" cy="3228623"/>
          </a:xfrm>
        </p:spPr>
        <p:txBody>
          <a:bodyPr/>
          <a:lstStyle/>
          <a:p>
            <a:r>
              <a:rPr lang="hu-HU" dirty="0"/>
              <a:t>We can configure replicaton number for a topic (ideally should be 2-3)</a:t>
            </a:r>
          </a:p>
          <a:p>
            <a:r>
              <a:rPr lang="hu-HU" dirty="0"/>
              <a:t>Each partition is replicated to another broker (or brokers)</a:t>
            </a:r>
          </a:p>
          <a:p>
            <a:r>
              <a:rPr lang="hu-HU" dirty="0"/>
              <a:t>For every partition there is </a:t>
            </a:r>
            <a:r>
              <a:rPr lang="hu-HU" b="1" dirty="0"/>
              <a:t>one leader </a:t>
            </a:r>
            <a:r>
              <a:rPr lang="hu-HU" dirty="0"/>
              <a:t>and </a:t>
            </a:r>
            <a:r>
              <a:rPr lang="hu-HU" b="1" dirty="0"/>
              <a:t>multiple ISR </a:t>
            </a:r>
            <a:r>
              <a:rPr lang="hu-HU" dirty="0"/>
              <a:t>(in-sync replica)</a:t>
            </a:r>
          </a:p>
          <a:p>
            <a:r>
              <a:rPr lang="hu-HU" dirty="0"/>
              <a:t>Producer can send data only to the partition leader broker</a:t>
            </a:r>
          </a:p>
          <a:p>
            <a:r>
              <a:rPr lang="hu-HU" dirty="0"/>
              <a:t>Consumer by default can pull data only from the partition leader:</a:t>
            </a:r>
          </a:p>
          <a:p>
            <a:pPr lvl="1"/>
            <a:r>
              <a:rPr lang="hu-HU" dirty="0"/>
              <a:t>This can be configured to be able to use the closest ISR for cost and latency optimization</a:t>
            </a:r>
          </a:p>
          <a:p>
            <a:r>
              <a:rPr lang="hu-HU" dirty="0"/>
              <a:t>When a leader broker fails another takes its place</a:t>
            </a:r>
          </a:p>
          <a:p>
            <a:r>
              <a:rPr lang="hu-HU" dirty="0"/>
              <a:t>So for a </a:t>
            </a:r>
            <a:r>
              <a:rPr lang="hu-HU" b="1" dirty="0"/>
              <a:t>replication factor of N </a:t>
            </a:r>
            <a:r>
              <a:rPr lang="hu-HU" dirty="0"/>
              <a:t>the topic can be recovered </a:t>
            </a:r>
            <a:r>
              <a:rPr lang="hu-HU" b="1" dirty="0"/>
              <a:t>until</a:t>
            </a:r>
            <a:r>
              <a:rPr lang="hu-HU" dirty="0"/>
              <a:t> </a:t>
            </a:r>
            <a:r>
              <a:rPr lang="hu-HU" b="1" dirty="0"/>
              <a:t>N-1 broker failures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B459DC-A680-DA05-C766-6CC33128E843}"/>
              </a:ext>
            </a:extLst>
          </p:cNvPr>
          <p:cNvGrpSpPr/>
          <p:nvPr/>
        </p:nvGrpSpPr>
        <p:grpSpPr>
          <a:xfrm>
            <a:off x="8403886" y="4765973"/>
            <a:ext cx="2473693" cy="1825420"/>
            <a:chOff x="7611028" y="4292126"/>
            <a:chExt cx="2473693" cy="18254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4E3920-2E8B-F779-97B3-F9FAFBF25DD2}"/>
                </a:ext>
              </a:extLst>
            </p:cNvPr>
            <p:cNvSpPr/>
            <p:nvPr/>
          </p:nvSpPr>
          <p:spPr>
            <a:xfrm>
              <a:off x="7611028" y="4301995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3D3792-F046-3A17-E6ED-544CCF69EDC7}"/>
                </a:ext>
              </a:extLst>
            </p:cNvPr>
            <p:cNvSpPr txBox="1"/>
            <p:nvPr/>
          </p:nvSpPr>
          <p:spPr>
            <a:xfrm>
              <a:off x="7611029" y="4292126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3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BEF6356-EAD8-AF68-4416-F272B95D206A}"/>
              </a:ext>
            </a:extLst>
          </p:cNvPr>
          <p:cNvGrpSpPr/>
          <p:nvPr/>
        </p:nvGrpSpPr>
        <p:grpSpPr>
          <a:xfrm>
            <a:off x="5076390" y="4742606"/>
            <a:ext cx="2473693" cy="1825420"/>
            <a:chOff x="4984935" y="4281840"/>
            <a:chExt cx="2473693" cy="182542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E0880E-46D1-9E18-F47A-A40F0FB1FC90}"/>
                </a:ext>
              </a:extLst>
            </p:cNvPr>
            <p:cNvSpPr/>
            <p:nvPr/>
          </p:nvSpPr>
          <p:spPr>
            <a:xfrm>
              <a:off x="4984935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A83C7F-A22D-C234-C2C6-84805BFE1B66}"/>
                </a:ext>
              </a:extLst>
            </p:cNvPr>
            <p:cNvSpPr txBox="1"/>
            <p:nvPr/>
          </p:nvSpPr>
          <p:spPr>
            <a:xfrm>
              <a:off x="4984936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2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98CA80-4CE4-B27C-A61A-EAF04D2C545C}"/>
              </a:ext>
            </a:extLst>
          </p:cNvPr>
          <p:cNvGrpSpPr/>
          <p:nvPr/>
        </p:nvGrpSpPr>
        <p:grpSpPr>
          <a:xfrm>
            <a:off x="1748894" y="4742606"/>
            <a:ext cx="2473693" cy="1825420"/>
            <a:chOff x="2358842" y="4281840"/>
            <a:chExt cx="2473693" cy="18254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87B594-FF0B-92B4-35CC-E124200675CE}"/>
                </a:ext>
              </a:extLst>
            </p:cNvPr>
            <p:cNvSpPr/>
            <p:nvPr/>
          </p:nvSpPr>
          <p:spPr>
            <a:xfrm>
              <a:off x="2358842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DC3170-B253-5E66-C941-299F2F4A9047}"/>
                </a:ext>
              </a:extLst>
            </p:cNvPr>
            <p:cNvSpPr txBox="1"/>
            <p:nvPr/>
          </p:nvSpPr>
          <p:spPr>
            <a:xfrm>
              <a:off x="2358843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BC23C74-4E41-8717-4783-DB87972CA544}"/>
              </a:ext>
            </a:extLst>
          </p:cNvPr>
          <p:cNvSpPr/>
          <p:nvPr/>
        </p:nvSpPr>
        <p:spPr>
          <a:xfrm>
            <a:off x="2279442" y="52033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3AD01-3659-3440-EAAE-CE21622FE971}"/>
              </a:ext>
            </a:extLst>
          </p:cNvPr>
          <p:cNvSpPr/>
          <p:nvPr/>
        </p:nvSpPr>
        <p:spPr>
          <a:xfrm>
            <a:off x="5606938" y="52033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EA5EFB-27B4-3336-8307-DD7DA265A21F}"/>
              </a:ext>
            </a:extLst>
          </p:cNvPr>
          <p:cNvSpPr/>
          <p:nvPr/>
        </p:nvSpPr>
        <p:spPr>
          <a:xfrm>
            <a:off x="5606938" y="5893559"/>
            <a:ext cx="1446028" cy="47314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19F799-00BB-CFC5-562B-6050D1441BFF}"/>
              </a:ext>
            </a:extLst>
          </p:cNvPr>
          <p:cNvSpPr/>
          <p:nvPr/>
        </p:nvSpPr>
        <p:spPr>
          <a:xfrm>
            <a:off x="8917718" y="5203372"/>
            <a:ext cx="1446028" cy="47314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5CA7847-DBE0-73C7-3126-AF5B634072A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3725470" y="5439947"/>
            <a:ext cx="1881468" cy="690187"/>
          </a:xfrm>
          <a:prstGeom prst="bentConnector3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6C843D-E5D2-59C0-9723-54DCB9996129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7052966" y="5439947"/>
            <a:ext cx="1864752" cy="0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5802518-4FB3-978B-992B-DB6D2EE65BA4}"/>
              </a:ext>
            </a:extLst>
          </p:cNvPr>
          <p:cNvSpPr txBox="1"/>
          <p:nvPr/>
        </p:nvSpPr>
        <p:spPr>
          <a:xfrm>
            <a:off x="4160390" y="5138524"/>
            <a:ext cx="978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AB2C77-E310-4B6A-A7BF-FA0F4516C261}"/>
              </a:ext>
            </a:extLst>
          </p:cNvPr>
          <p:cNvSpPr txBox="1"/>
          <p:nvPr/>
        </p:nvSpPr>
        <p:spPr>
          <a:xfrm>
            <a:off x="7496243" y="5135629"/>
            <a:ext cx="978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F6A811-9B83-95BC-80C1-BC771439BE9D}"/>
              </a:ext>
            </a:extLst>
          </p:cNvPr>
          <p:cNvSpPr/>
          <p:nvPr/>
        </p:nvSpPr>
        <p:spPr>
          <a:xfrm>
            <a:off x="400554" y="5291863"/>
            <a:ext cx="988692" cy="30777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A51D44-567C-0D7B-FF4D-BB1722CEA95B}"/>
              </a:ext>
            </a:extLst>
          </p:cNvPr>
          <p:cNvSpPr/>
          <p:nvPr/>
        </p:nvSpPr>
        <p:spPr>
          <a:xfrm>
            <a:off x="400554" y="5739670"/>
            <a:ext cx="988692" cy="30777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998108-5E93-60EC-D062-0712D54A7E32}"/>
              </a:ext>
            </a:extLst>
          </p:cNvPr>
          <p:cNvCxnSpPr/>
          <p:nvPr/>
        </p:nvCxnSpPr>
        <p:spPr>
          <a:xfrm>
            <a:off x="1748894" y="4742606"/>
            <a:ext cx="2473693" cy="1825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7E37C6-043F-FA83-9501-9A623754A142}"/>
              </a:ext>
            </a:extLst>
          </p:cNvPr>
          <p:cNvCxnSpPr>
            <a:cxnSpLocks/>
          </p:cNvCxnSpPr>
          <p:nvPr/>
        </p:nvCxnSpPr>
        <p:spPr>
          <a:xfrm flipV="1">
            <a:off x="1748895" y="4742606"/>
            <a:ext cx="2473692" cy="1825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678443C-2479-48FF-A74A-F4DA7BDDAAFB}"/>
              </a:ext>
            </a:extLst>
          </p:cNvPr>
          <p:cNvSpPr/>
          <p:nvPr/>
        </p:nvSpPr>
        <p:spPr>
          <a:xfrm>
            <a:off x="8917718" y="5869935"/>
            <a:ext cx="1446028" cy="47314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48C175-8E90-85A4-782B-8EF2223AF8F6}"/>
              </a:ext>
            </a:extLst>
          </p:cNvPr>
          <p:cNvCxnSpPr>
            <a:endCxn id="23" idx="1"/>
          </p:cNvCxnSpPr>
          <p:nvPr/>
        </p:nvCxnSpPr>
        <p:spPr>
          <a:xfrm>
            <a:off x="7052966" y="6106510"/>
            <a:ext cx="1864752" cy="0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A3FB8E-7802-D33A-F88A-47A269BAD4B1}"/>
              </a:ext>
            </a:extLst>
          </p:cNvPr>
          <p:cNvSpPr txBox="1"/>
          <p:nvPr/>
        </p:nvSpPr>
        <p:spPr>
          <a:xfrm>
            <a:off x="7496243" y="5802192"/>
            <a:ext cx="978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6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9" grpId="0"/>
      <p:bldP spid="23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6EB6A6D-30E8-44DC-6A4E-1FF88DE7319C}"/>
              </a:ext>
            </a:extLst>
          </p:cNvPr>
          <p:cNvGrpSpPr/>
          <p:nvPr/>
        </p:nvGrpSpPr>
        <p:grpSpPr>
          <a:xfrm>
            <a:off x="3953103" y="3757160"/>
            <a:ext cx="6410097" cy="2704584"/>
            <a:chOff x="2358842" y="4281840"/>
            <a:chExt cx="2473693" cy="182542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09A0D62-FF0B-B380-A19D-DC2FD85EA270}"/>
                </a:ext>
              </a:extLst>
            </p:cNvPr>
            <p:cNvSpPr/>
            <p:nvPr/>
          </p:nvSpPr>
          <p:spPr>
            <a:xfrm>
              <a:off x="2358842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14B9AC-B6CA-E64E-7FE2-285C04996EFC}"/>
                </a:ext>
              </a:extLst>
            </p:cNvPr>
            <p:cNvSpPr txBox="1"/>
            <p:nvPr/>
          </p:nvSpPr>
          <p:spPr>
            <a:xfrm>
              <a:off x="2358843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0C29B0-0664-09AF-E783-CE3D142E20A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Producer Acknowledgement Options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E2D3-A706-19A8-6BC5-CD16F319E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1"/>
            <a:ext cx="11877675" cy="2909738"/>
          </a:xfrm>
        </p:spPr>
        <p:txBody>
          <a:bodyPr/>
          <a:lstStyle/>
          <a:p>
            <a:r>
              <a:rPr lang="en-US" dirty="0"/>
              <a:t>acks=0</a:t>
            </a:r>
            <a:r>
              <a:rPr lang="hu-HU" dirty="0"/>
              <a:t> :</a:t>
            </a:r>
          </a:p>
          <a:p>
            <a:pPr lvl="1"/>
            <a:r>
              <a:rPr lang="en-US" b="1" dirty="0"/>
              <a:t>No Acknowledgement</a:t>
            </a:r>
            <a:r>
              <a:rPr lang="hu-HU" b="1" dirty="0"/>
              <a:t>: </a:t>
            </a:r>
            <a:r>
              <a:rPr lang="en-US" dirty="0"/>
              <a:t>Producer does not wait for any acknowledgment from the broker.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High throughput, low latency, but risk of data loss.</a:t>
            </a:r>
          </a:p>
          <a:p>
            <a:r>
              <a:rPr lang="en-US" dirty="0"/>
              <a:t>acks=1</a:t>
            </a:r>
          </a:p>
          <a:p>
            <a:pPr lvl="1"/>
            <a:r>
              <a:rPr lang="en-US" b="1" dirty="0"/>
              <a:t>Leader Acknowledgement:</a:t>
            </a:r>
            <a:r>
              <a:rPr lang="en-US" dirty="0"/>
              <a:t> Producer waits for the leader to write the record to its local log.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Balanced approach, moderate latency, and throughput.</a:t>
            </a:r>
          </a:p>
          <a:p>
            <a:r>
              <a:rPr lang="en-US" dirty="0"/>
              <a:t>acks=all</a:t>
            </a:r>
            <a:r>
              <a:rPr lang="hu-HU" dirty="0"/>
              <a:t> / -1</a:t>
            </a:r>
            <a:endParaRPr lang="en-US" dirty="0"/>
          </a:p>
          <a:p>
            <a:pPr lvl="1"/>
            <a:r>
              <a:rPr lang="en-US" b="1" dirty="0"/>
              <a:t>All Replicas Acknowledgement:</a:t>
            </a:r>
            <a:r>
              <a:rPr lang="en-US" dirty="0"/>
              <a:t> Producer waits for all in-sync replicas to acknowledge the record.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Highest reliability, ensures no data loss, but higher latency.</a:t>
            </a:r>
            <a:endParaRPr lang="hu-HU" dirty="0"/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39E26F-E549-34AF-2F32-F0595F009F54}"/>
              </a:ext>
            </a:extLst>
          </p:cNvPr>
          <p:cNvGrpSpPr/>
          <p:nvPr/>
        </p:nvGrpSpPr>
        <p:grpSpPr>
          <a:xfrm>
            <a:off x="2056891" y="4142380"/>
            <a:ext cx="8212046" cy="2718529"/>
            <a:chOff x="2194565" y="2158203"/>
            <a:chExt cx="8212046" cy="271852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EDF10E1-0941-FCA6-6948-354F65B7F1E7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3B4C79C2-89CC-D2C5-7053-7D9D0BC1356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ACA9B2-A835-B604-DBCB-E335AF1F610B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82D4F7-AA01-A925-D7CB-7D9792D58929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E9C2D3-6EFE-E559-61BA-221DFC98EEFA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A9E096-701C-952A-34E3-8CEE21D627C7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680703-F551-2EE7-A7AE-A13BDD79605E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B9B9B9-60DA-879D-60A4-A02DBA7F15C0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2303DC-F6F3-35DF-213C-8334304DE697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1C6243-57CB-F522-43F8-1F4D0EA68431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44CBD7-B57C-A08A-FD2F-098EBE8BB695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79F6CEC-E884-8E79-A4FC-DA4C308BD694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596F12-4BDD-028F-91DF-228D186DEC1D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C70B338-E306-F705-39E7-E05D244CF5B4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3021FC-D5C1-C5E3-E43D-1FC31CD3BCDC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EC38FE-055D-9036-AE8D-F934E3B4BECF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05161C-08AA-88E3-9A28-01EB49219579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9CF1AD-3ABB-FCF9-0929-ECEACD396685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EC22408-4098-D32F-5EBC-C8188467EAC0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3CDD38-ABA2-1521-C39B-F33073A3F78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49A857-B9BB-DF02-970E-CDEBF90C27CD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312FAC-9C05-BF9B-FA8E-094B600B31D3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9B94A54-B090-892D-E8CE-728AD67F4B1C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E78BF58-488B-1FFA-5012-B6698909E9A1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F9A6D4D-2AE9-584A-6882-4557AA5CC495}"/>
                </a:ext>
              </a:extLst>
            </p:cNvPr>
            <p:cNvCxnSpPr>
              <a:cxnSpLocks/>
            </p:cNvCxnSpPr>
            <p:nvPr/>
          </p:nvCxnSpPr>
          <p:spPr>
            <a:xfrm>
              <a:off x="3459630" y="3221112"/>
              <a:ext cx="753914" cy="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3A9F83C-D01B-10E6-3953-DA85A67A5444}"/>
                </a:ext>
              </a:extLst>
            </p:cNvPr>
            <p:cNvSpPr txBox="1"/>
            <p:nvPr/>
          </p:nvSpPr>
          <p:spPr>
            <a:xfrm>
              <a:off x="3305003" y="2923924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write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7642E71-7E25-9638-CB6D-EAD44D90DF86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FCBA483-C01A-5106-9D4A-C7DBFCED28C9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AA28436-29ED-C4DA-F6AA-670F5FBEF670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1BB47B-BEF2-6D11-6E07-C0541F68E6C1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078EDB-EE12-DA5D-FAD2-AEB4CE9F8223}"/>
                </a:ext>
              </a:extLst>
            </p:cNvPr>
            <p:cNvCxnSpPr>
              <a:cxnSpLocks/>
              <a:stCxn id="31" idx="0"/>
              <a:endCxn id="24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89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AF86C92-EC14-3C79-2812-3B2EF511E66F}"/>
              </a:ext>
            </a:extLst>
          </p:cNvPr>
          <p:cNvSpPr/>
          <p:nvPr/>
        </p:nvSpPr>
        <p:spPr>
          <a:xfrm>
            <a:off x="2357119" y="3689225"/>
            <a:ext cx="7477761" cy="1148155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FF5B5ED-6568-151E-A603-FB9C62A0A35B}"/>
              </a:ext>
            </a:extLst>
          </p:cNvPr>
          <p:cNvSpPr/>
          <p:nvPr/>
        </p:nvSpPr>
        <p:spPr>
          <a:xfrm>
            <a:off x="289162" y="5488202"/>
            <a:ext cx="11613675" cy="1148155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6ED941-AC0D-6570-6AA0-DDCB626F7AD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(Zookeeper – Brief 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DB94-CA7A-8DF7-64BD-9FFC1C91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1"/>
            <a:ext cx="11877675" cy="2396475"/>
          </a:xfrm>
        </p:spPr>
        <p:txBody>
          <a:bodyPr/>
          <a:lstStyle/>
          <a:p>
            <a:r>
              <a:rPr lang="hu-HU" dirty="0"/>
              <a:t>Zookeper tracks the status of brokers, topics and partitions.</a:t>
            </a:r>
          </a:p>
          <a:p>
            <a:r>
              <a:rPr lang="hu-HU" dirty="0"/>
              <a:t>Key functions:</a:t>
            </a:r>
          </a:p>
          <a:p>
            <a:pPr lvl="1"/>
            <a:r>
              <a:rPr lang="en-US" b="1" dirty="0"/>
              <a:t>Controller Election: </a:t>
            </a:r>
            <a:r>
              <a:rPr lang="en-US" dirty="0"/>
              <a:t>Ensures a single active controller for leader-follower management.</a:t>
            </a:r>
          </a:p>
          <a:p>
            <a:pPr lvl="1"/>
            <a:r>
              <a:rPr lang="en-US" b="1" dirty="0"/>
              <a:t>Metadata Storage: </a:t>
            </a:r>
            <a:r>
              <a:rPr lang="en-US" dirty="0"/>
              <a:t>Maintains information about brokers, topics, and partitions.</a:t>
            </a:r>
          </a:p>
          <a:p>
            <a:pPr lvl="1"/>
            <a:r>
              <a:rPr lang="en-US" b="1" dirty="0"/>
              <a:t>Failover Handling: </a:t>
            </a:r>
            <a:r>
              <a:rPr lang="en-US" dirty="0"/>
              <a:t>Automatically selects new leaders if nodes fail.</a:t>
            </a:r>
            <a:endParaRPr lang="hu-HU" dirty="0"/>
          </a:p>
          <a:p>
            <a:r>
              <a:rPr lang="hu-HU" dirty="0"/>
              <a:t>Zookeeper operates as a separate cluster:</a:t>
            </a:r>
          </a:p>
          <a:p>
            <a:pPr lvl="1"/>
            <a:r>
              <a:rPr lang="en-US" dirty="0"/>
              <a:t>It typically consists of an odd number of nodes (3, 5, or more)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E82D4A-242A-3D48-73AE-21EA4E77E16B}"/>
              </a:ext>
            </a:extLst>
          </p:cNvPr>
          <p:cNvGrpSpPr/>
          <p:nvPr/>
        </p:nvGrpSpPr>
        <p:grpSpPr>
          <a:xfrm>
            <a:off x="2297145" y="5740990"/>
            <a:ext cx="1334570" cy="688856"/>
            <a:chOff x="4984935" y="4281840"/>
            <a:chExt cx="2473693" cy="7902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31254D-0E1D-55FA-9D48-FF8F26A64EC4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7BCBF0-B6CA-805F-7A6E-1051195E228D}"/>
                </a:ext>
              </a:extLst>
            </p:cNvPr>
            <p:cNvSpPr txBox="1"/>
            <p:nvPr/>
          </p:nvSpPr>
          <p:spPr>
            <a:xfrm>
              <a:off x="4984936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A98AAB-9D24-F0B7-46F1-1991E24FB89F}"/>
              </a:ext>
            </a:extLst>
          </p:cNvPr>
          <p:cNvGrpSpPr/>
          <p:nvPr/>
        </p:nvGrpSpPr>
        <p:grpSpPr>
          <a:xfrm>
            <a:off x="4249469" y="5749593"/>
            <a:ext cx="1334570" cy="688856"/>
            <a:chOff x="4984935" y="4281840"/>
            <a:chExt cx="2473693" cy="7902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D295A2-D662-2E52-F4F0-52CD8DDC01E6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15ABEF-B4EE-828B-0C05-1A15595948F5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2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06ADF5-715C-C292-571E-ED83F6122794}"/>
              </a:ext>
            </a:extLst>
          </p:cNvPr>
          <p:cNvGrpSpPr/>
          <p:nvPr/>
        </p:nvGrpSpPr>
        <p:grpSpPr>
          <a:xfrm>
            <a:off x="6201794" y="5745291"/>
            <a:ext cx="1334570" cy="688856"/>
            <a:chOff x="4984935" y="4281840"/>
            <a:chExt cx="2473693" cy="7902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39B504-9987-216C-D623-4A7C111B373A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680C10-D093-CC60-7E7A-04F05CEE3604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3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78C523-62B8-09CA-1B91-35B24DC4E91B}"/>
              </a:ext>
            </a:extLst>
          </p:cNvPr>
          <p:cNvGrpSpPr/>
          <p:nvPr/>
        </p:nvGrpSpPr>
        <p:grpSpPr>
          <a:xfrm>
            <a:off x="8154119" y="5740986"/>
            <a:ext cx="1334570" cy="688856"/>
            <a:chOff x="4984935" y="4281840"/>
            <a:chExt cx="2473693" cy="7902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E650A3D-A567-8B28-E0FD-0778D2216C3D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3D2517-F7EA-A2B8-0318-E8CB1152F75C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4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051711-2DA8-E4F5-08E4-416525887CAA}"/>
              </a:ext>
            </a:extLst>
          </p:cNvPr>
          <p:cNvGrpSpPr/>
          <p:nvPr/>
        </p:nvGrpSpPr>
        <p:grpSpPr>
          <a:xfrm>
            <a:off x="10106444" y="5736684"/>
            <a:ext cx="1334570" cy="688856"/>
            <a:chOff x="4984935" y="4281840"/>
            <a:chExt cx="2473693" cy="7902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65470D-1563-7F06-19CE-F4CCC6D15A87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7BE607-4085-36CB-800A-0B4223A2CA42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5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82FF86-0639-56EB-BCA4-33D2AC70381C}"/>
              </a:ext>
            </a:extLst>
          </p:cNvPr>
          <p:cNvGrpSpPr/>
          <p:nvPr/>
        </p:nvGrpSpPr>
        <p:grpSpPr>
          <a:xfrm>
            <a:off x="4231375" y="3907468"/>
            <a:ext cx="1334570" cy="688856"/>
            <a:chOff x="4984935" y="4281840"/>
            <a:chExt cx="2473693" cy="7902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F865D22-B9D3-B78B-C189-6DFDEBC4AF32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7A9535-83BE-1904-1448-626D9BC68245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ZK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6E307E8-1A78-59E1-C67D-A7E25A56FED0}"/>
              </a:ext>
            </a:extLst>
          </p:cNvPr>
          <p:cNvGrpSpPr/>
          <p:nvPr/>
        </p:nvGrpSpPr>
        <p:grpSpPr>
          <a:xfrm>
            <a:off x="6183699" y="3916071"/>
            <a:ext cx="1334570" cy="688856"/>
            <a:chOff x="4984935" y="4281840"/>
            <a:chExt cx="2473693" cy="7902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3E104CF-9C6D-5E1F-0917-627308D0C6D6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50C19E-A934-A47E-3B57-C7FDF3CF4AC2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ZK 2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FAC6DEF-8541-36B2-C71C-DB97BC44A23F}"/>
              </a:ext>
            </a:extLst>
          </p:cNvPr>
          <p:cNvGrpSpPr/>
          <p:nvPr/>
        </p:nvGrpSpPr>
        <p:grpSpPr>
          <a:xfrm>
            <a:off x="8136024" y="3911769"/>
            <a:ext cx="1334570" cy="688856"/>
            <a:chOff x="4984935" y="4281840"/>
            <a:chExt cx="2473693" cy="7902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D63F4C1-67AC-5CDC-CCF4-AC30A5ADAAB9}"/>
                </a:ext>
              </a:extLst>
            </p:cNvPr>
            <p:cNvSpPr/>
            <p:nvPr/>
          </p:nvSpPr>
          <p:spPr>
            <a:xfrm>
              <a:off x="4984935" y="4291709"/>
              <a:ext cx="2473693" cy="780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2A92F2-1B75-61BF-8EE5-AA9FE7CCB1A4}"/>
                </a:ext>
              </a:extLst>
            </p:cNvPr>
            <p:cNvSpPr txBox="1"/>
            <p:nvPr/>
          </p:nvSpPr>
          <p:spPr>
            <a:xfrm>
              <a:off x="4984937" y="4281840"/>
              <a:ext cx="2473691" cy="353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ZK 3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44" name="Picture 2" descr="Apache Kafka">
            <a:extLst>
              <a:ext uri="{FF2B5EF4-FFF2-40B4-BE49-F238E27FC236}">
                <a16:creationId xmlns:a16="http://schemas.microsoft.com/office/drawing/2014/main" id="{D870A960-8136-0894-36F3-42BE018C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11" y="5740986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ZooKeeper Monitoring | Opsview">
            <a:extLst>
              <a:ext uri="{FF2B5EF4-FFF2-40B4-BE49-F238E27FC236}">
                <a16:creationId xmlns:a16="http://schemas.microsoft.com/office/drawing/2014/main" id="{C9635ECA-77A9-422C-D4C3-D57DF3DFC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7" t="26476" r="9256" b="25405"/>
          <a:stretch/>
        </p:blipFill>
        <p:spPr bwMode="auto">
          <a:xfrm>
            <a:off x="2610235" y="3918234"/>
            <a:ext cx="1206207" cy="70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CECA200-3DA6-22EC-0CB7-0ECB6F0E2DF0}"/>
              </a:ext>
            </a:extLst>
          </p:cNvPr>
          <p:cNvCxnSpPr>
            <a:stCxn id="45" idx="2"/>
            <a:endCxn id="43" idx="0"/>
          </p:cNvCxnSpPr>
          <p:nvPr/>
        </p:nvCxnSpPr>
        <p:spPr>
          <a:xfrm>
            <a:off x="6096000" y="4837380"/>
            <a:ext cx="0" cy="650822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660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6ED941-AC0D-6570-6AA0-DDCB626F7AD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(Zookeeper – Depreciation)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DB94-CA7A-8DF7-64BD-9FFC1C91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1"/>
            <a:ext cx="11877675" cy="5791123"/>
          </a:xfrm>
        </p:spPr>
        <p:txBody>
          <a:bodyPr/>
          <a:lstStyle/>
          <a:p>
            <a:r>
              <a:rPr lang="hu-HU" dirty="0"/>
              <a:t>Zookeeper is replaced with Kraft (Kafka Raft) from Kafka 4.0 </a:t>
            </a:r>
          </a:p>
          <a:p>
            <a:pPr lvl="1"/>
            <a:r>
              <a:rPr lang="hu-HU" dirty="0"/>
              <a:t>from Kafka 3.x KRaft is in preview mode, so Kafka can be started without Zookeper</a:t>
            </a:r>
          </a:p>
          <a:p>
            <a:pPr lvl="1"/>
            <a:r>
              <a:rPr lang="hu-HU" dirty="0"/>
              <a:t>from Kafka 3.3 KRaft becomes production ready</a:t>
            </a:r>
          </a:p>
          <a:p>
            <a:pPr lvl="1"/>
            <a:endParaRPr lang="hu-HU" dirty="0"/>
          </a:p>
          <a:p>
            <a:r>
              <a:rPr lang="hu-HU" dirty="0"/>
              <a:t>Reasons:</a:t>
            </a:r>
          </a:p>
          <a:p>
            <a:pPr lvl="1"/>
            <a:r>
              <a:rPr lang="en-US" dirty="0"/>
              <a:t>Simplifies architecture by consolidating metadata management within Kafka.</a:t>
            </a:r>
          </a:p>
          <a:p>
            <a:pPr lvl="1"/>
            <a:r>
              <a:rPr lang="en-US" dirty="0"/>
              <a:t>Improves scalability and resiliency</a:t>
            </a:r>
            <a:r>
              <a:rPr lang="hu-HU" dirty="0"/>
              <a:t> (from &lt; </a:t>
            </a:r>
            <a:r>
              <a:rPr lang="hu-HU" b="1" dirty="0"/>
              <a:t>100 000 partitions </a:t>
            </a:r>
            <a:r>
              <a:rPr lang="hu-HU" dirty="0"/>
              <a:t>to the </a:t>
            </a:r>
            <a:r>
              <a:rPr lang="hu-HU" b="1" dirty="0"/>
              <a:t>scale of millions</a:t>
            </a:r>
            <a:r>
              <a:rPr lang="hu-HU" dirty="0"/>
              <a:t>)</a:t>
            </a:r>
            <a:endParaRPr lang="en-US" dirty="0"/>
          </a:p>
          <a:p>
            <a:pPr lvl="1"/>
            <a:r>
              <a:rPr lang="en-US" dirty="0"/>
              <a:t>Enhances control plane performance and stability</a:t>
            </a:r>
            <a:endParaRPr lang="hu-HU" dirty="0"/>
          </a:p>
          <a:p>
            <a:pPr lvl="1"/>
            <a:endParaRPr lang="hu-HU" dirty="0"/>
          </a:p>
          <a:p>
            <a:r>
              <a:rPr lang="hu-HU" dirty="0"/>
              <a:t>Since Kafka 2.2, the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kafka-topic.sh</a:t>
            </a:r>
            <a:r>
              <a:rPr lang="hu-HU" dirty="0"/>
              <a:t> CLI references Kafka brokers instead of Zookeeper.</a:t>
            </a:r>
          </a:p>
          <a:p>
            <a:endParaRPr lang="hu-HU" dirty="0"/>
          </a:p>
          <a:p>
            <a:r>
              <a:rPr lang="hu-HU" dirty="0"/>
              <a:t>All APIs and command that were previously used Zookeeper are migrated to Kafka instead.</a:t>
            </a:r>
          </a:p>
          <a:p>
            <a:pPr lvl="1"/>
            <a:r>
              <a:rPr lang="hu-HU" dirty="0"/>
              <a:t>So any client should only use Kafka.</a:t>
            </a:r>
          </a:p>
          <a:p>
            <a:pPr lvl="1"/>
            <a:endParaRPr lang="hu-HU" dirty="0"/>
          </a:p>
          <a:p>
            <a:r>
              <a:rPr lang="hu-HU" dirty="0"/>
              <a:t>KRaft is integrated directly into the Kafka brokers</a:t>
            </a:r>
          </a:p>
          <a:p>
            <a:pPr lvl="1"/>
            <a:r>
              <a:rPr lang="en-US" dirty="0"/>
              <a:t>Kafka brokers themselves act as</a:t>
            </a:r>
            <a:r>
              <a:rPr lang="hu-HU" dirty="0"/>
              <a:t> Kraft</a:t>
            </a:r>
            <a:r>
              <a:rPr lang="en-US" dirty="0"/>
              <a:t> controllers.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95501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E832-F88D-43EE-A683-EE68343C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3CAA275F-4DB8-FA88-C520-5F1FEFACB92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hu-HU" dirty="0"/>
              <a:t>Cloud Native Architecture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4FD9A7D-E95F-B798-7E3B-1BE46845173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ctr"/>
            <a:r>
              <a:rPr lang="hu-HU" sz="4000" dirty="0">
                <a:solidFill>
                  <a:srgbClr val="012863"/>
                </a:solidFill>
              </a:rPr>
              <a:t>Kafka CLI Tool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49161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0B6E25-1D51-FC14-2AFA-C07D546EEE0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047F8-547A-EA2A-5244-84BDBF526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rgbClr val="111111"/>
                </a:solidFill>
              </a:rPr>
              <a:t>A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suite of command-line tools for managing and interacting with </a:t>
            </a:r>
            <a:r>
              <a:rPr lang="en-US" b="0" i="0" dirty="0" err="1">
                <a:solidFill>
                  <a:srgbClr val="111111"/>
                </a:solidFill>
                <a:effectLst/>
              </a:rPr>
              <a:t>Kafk</a:t>
            </a:r>
            <a:r>
              <a:rPr lang="hu-HU" b="0" i="0" dirty="0">
                <a:solidFill>
                  <a:srgbClr val="111111"/>
                </a:solidFill>
                <a:effectLst/>
              </a:rPr>
              <a:t>a</a:t>
            </a:r>
          </a:p>
          <a:p>
            <a:r>
              <a:rPr lang="hu-HU" dirty="0">
                <a:solidFill>
                  <a:srgbClr val="111111"/>
                </a:solidFill>
              </a:rPr>
              <a:t>It is bundled with Kafka binaries</a:t>
            </a:r>
          </a:p>
          <a:p>
            <a:endParaRPr lang="hu-HU" dirty="0"/>
          </a:p>
          <a:p>
            <a:endParaRPr lang="hu-HU" dirty="0"/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Start and </a:t>
            </a:r>
            <a:r>
              <a:rPr lang="hu-HU" dirty="0"/>
              <a:t>s</a:t>
            </a:r>
            <a:r>
              <a:rPr lang="en-US" dirty="0"/>
              <a:t>top Kafka</a:t>
            </a:r>
          </a:p>
          <a:p>
            <a:pPr lvl="1"/>
            <a:r>
              <a:rPr lang="en-US" dirty="0"/>
              <a:t>Manage </a:t>
            </a:r>
            <a:r>
              <a:rPr lang="hu-HU" dirty="0"/>
              <a:t>t</a:t>
            </a:r>
            <a:r>
              <a:rPr lang="en-US" dirty="0" err="1"/>
              <a:t>opics</a:t>
            </a:r>
            <a:r>
              <a:rPr lang="hu-HU" dirty="0"/>
              <a:t> (c</a:t>
            </a:r>
            <a:r>
              <a:rPr lang="en-US" dirty="0" err="1"/>
              <a:t>reate</a:t>
            </a:r>
            <a:r>
              <a:rPr lang="en-US" dirty="0"/>
              <a:t>, list, and delete</a:t>
            </a:r>
            <a:r>
              <a:rPr lang="hu-HU" dirty="0"/>
              <a:t>)</a:t>
            </a:r>
            <a:endParaRPr lang="en-US" dirty="0"/>
          </a:p>
          <a:p>
            <a:pPr lvl="1"/>
            <a:r>
              <a:rPr lang="hu-HU" dirty="0"/>
              <a:t>M</a:t>
            </a:r>
            <a:r>
              <a:rPr lang="en-US" dirty="0" err="1"/>
              <a:t>anage</a:t>
            </a:r>
            <a:r>
              <a:rPr lang="en-US" dirty="0"/>
              <a:t> partitions and replicas</a:t>
            </a:r>
            <a:r>
              <a:rPr lang="hu-HU" dirty="0"/>
              <a:t> </a:t>
            </a:r>
            <a:endParaRPr lang="en-US" dirty="0"/>
          </a:p>
          <a:p>
            <a:pPr lvl="1"/>
            <a:r>
              <a:rPr lang="en-US" dirty="0"/>
              <a:t>Monitor and Debug</a:t>
            </a:r>
            <a:r>
              <a:rPr lang="hu-HU" dirty="0"/>
              <a:t> Kafka clusters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88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kafka-topics.sh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is used to manage topics in Kafka.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Create, list, describe, and delete topics</a:t>
            </a:r>
          </a:p>
          <a:p>
            <a:r>
              <a:rPr lang="en-US" dirty="0"/>
              <a:t>Alter topic configurations</a:t>
            </a:r>
          </a:p>
          <a:p>
            <a:r>
              <a:rPr lang="en-US" dirty="0"/>
              <a:t>Add partitions to existing topics</a:t>
            </a:r>
            <a:endParaRPr lang="hu-HU" dirty="0"/>
          </a:p>
          <a:p>
            <a:endParaRPr lang="hu-HU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kafka-topics.sh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--create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       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--topic my-topic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--bootstrap-server localhost:9092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--partitions 3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--replication-factor 1</a:t>
            </a:r>
          </a:p>
          <a:p>
            <a:pPr lvl="1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9E0DCD-D51A-2AF9-0D1E-1A95FF9704EB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72123785-08D6-1D32-9082-12B2EE598FE8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7CE0DC-53CB-04A1-6327-593F99235C45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39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040001-30CE-29D3-29A3-3A94CDA55CE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Topics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04426F8-75B5-FB0F-5079-B55C9D0BB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921712"/>
              </p:ext>
            </p:extLst>
          </p:nvPr>
        </p:nvGraphicFramePr>
        <p:xfrm>
          <a:off x="473817" y="2316714"/>
          <a:ext cx="11467886" cy="1524000"/>
        </p:xfrm>
        <a:graphic>
          <a:graphicData uri="http://schemas.openxmlformats.org/drawingml/2006/table">
            <a:tbl>
              <a:tblPr bandRow="1">
                <a:tableStyleId>{5FD0F851-EC5A-4D38-B0AD-8093EC10F338}</a:tableStyleId>
              </a:tblPr>
              <a:tblGrid>
                <a:gridCol w="2036557">
                  <a:extLst>
                    <a:ext uri="{9D8B030D-6E8A-4147-A177-3AD203B41FA5}">
                      <a16:colId xmlns:a16="http://schemas.microsoft.com/office/drawing/2014/main" val="1908932410"/>
                    </a:ext>
                  </a:extLst>
                </a:gridCol>
                <a:gridCol w="9431329">
                  <a:extLst>
                    <a:ext uri="{9D8B030D-6E8A-4147-A177-3AD203B41FA5}">
                      <a16:colId xmlns:a16="http://schemas.microsoft.com/office/drawing/2014/main" val="1061332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The name of the Kafka topic (</a:t>
                      </a:r>
                      <a:r>
                        <a:rPr lang="en-US" sz="1400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test_topic</a:t>
                      </a: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307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TopicId</a:t>
                      </a:r>
                      <a:endParaRPr lang="en-US" sz="14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Unique identifier for the topic (used internally by Kafka)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9919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PartitionCount</a:t>
                      </a:r>
                      <a:endParaRPr lang="en-US" sz="14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Number of partitions in the topic (here: 1)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3776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ReplicationFactor</a:t>
                      </a:r>
                      <a:endParaRPr lang="en-US" sz="14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Number of replicas per partition (here: 1, meaning no redundancy)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8461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Configs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Topic-level configuration; in this case, </a:t>
                      </a:r>
                      <a:r>
                        <a:rPr lang="en-US" sz="1400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segment.bytes</a:t>
                      </a: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=1073741824 means each log segment is 1 GB in size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258289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4EB5D1E-63B5-AD03-CFD7-0310544759BF}"/>
              </a:ext>
            </a:extLst>
          </p:cNvPr>
          <p:cNvSpPr txBox="1">
            <a:spLocks/>
          </p:cNvSpPr>
          <p:nvPr/>
        </p:nvSpPr>
        <p:spPr>
          <a:xfrm>
            <a:off x="161924" y="847420"/>
            <a:ext cx="11877675" cy="57911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rgbClr val="111111"/>
                </a:solidFill>
              </a:rPr>
              <a:t>Output example:</a:t>
            </a:r>
          </a:p>
          <a:p>
            <a:endParaRPr lang="hu-HU" sz="1600" dirty="0">
              <a:solidFill>
                <a:srgbClr val="111111"/>
              </a:solidFill>
            </a:endParaRPr>
          </a:p>
          <a:p>
            <a:endParaRPr lang="hu-HU" sz="1600" dirty="0">
              <a:solidFill>
                <a:srgbClr val="111111"/>
              </a:solidFill>
            </a:endParaRPr>
          </a:p>
          <a:p>
            <a:r>
              <a:rPr lang="hu-HU" sz="1600" dirty="0">
                <a:solidFill>
                  <a:srgbClr val="111111"/>
                </a:solidFill>
              </a:rPr>
              <a:t>Topic description:</a:t>
            </a:r>
          </a:p>
          <a:p>
            <a:endParaRPr lang="hu-HU" sz="1600" dirty="0">
              <a:solidFill>
                <a:srgbClr val="111111"/>
              </a:solidFill>
            </a:endParaRPr>
          </a:p>
          <a:p>
            <a:endParaRPr lang="hu-HU" sz="1600" dirty="0">
              <a:solidFill>
                <a:srgbClr val="111111"/>
              </a:solidFill>
            </a:endParaRPr>
          </a:p>
          <a:p>
            <a:endParaRPr lang="hu-HU" sz="1600" dirty="0">
              <a:solidFill>
                <a:srgbClr val="111111"/>
              </a:solidFill>
            </a:endParaRPr>
          </a:p>
          <a:p>
            <a:endParaRPr lang="hu-HU" sz="1600" dirty="0">
              <a:solidFill>
                <a:srgbClr val="111111"/>
              </a:solidFill>
            </a:endParaRPr>
          </a:p>
          <a:p>
            <a:endParaRPr lang="hu-HU" sz="1600" dirty="0">
              <a:solidFill>
                <a:srgbClr val="111111"/>
              </a:solidFill>
            </a:endParaRPr>
          </a:p>
          <a:p>
            <a:r>
              <a:rPr lang="hu-HU" sz="1600" dirty="0">
                <a:solidFill>
                  <a:srgbClr val="111111"/>
                </a:solidFill>
              </a:rPr>
              <a:t>Partition-level details: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0034A-404C-3E11-2B5C-AA6ABE57F315}"/>
              </a:ext>
            </a:extLst>
          </p:cNvPr>
          <p:cNvSpPr txBox="1"/>
          <p:nvPr/>
        </p:nvSpPr>
        <p:spPr>
          <a:xfrm>
            <a:off x="161924" y="1253996"/>
            <a:ext cx="1186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test_topic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TopicId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JwOcC6OzTqSfzbf_57DJMw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PartitionCount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ReplicationFactor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Configs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segment.bytes=1073741824</a:t>
            </a:r>
          </a:p>
          <a:p>
            <a:pPr lvl="1"/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test_topic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0 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Leader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 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Replicas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 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Isr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Elr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   </a:t>
            </a:r>
            <a:r>
              <a:rPr lang="hu-HU" sz="1400" b="1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LastKnownElr</a:t>
            </a:r>
            <a:r>
              <a:rPr lang="hu-HU" sz="1400" dirty="0">
                <a:solidFill>
                  <a:srgbClr val="11111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DFB9BA-932C-03B3-2C48-5CF54992D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848315"/>
              </p:ext>
            </p:extLst>
          </p:nvPr>
        </p:nvGraphicFramePr>
        <p:xfrm>
          <a:off x="473817" y="4441767"/>
          <a:ext cx="11467886" cy="1828800"/>
        </p:xfrm>
        <a:graphic>
          <a:graphicData uri="http://schemas.openxmlformats.org/drawingml/2006/table">
            <a:tbl>
              <a:tblPr bandRow="1">
                <a:tableStyleId>{5FD0F851-EC5A-4D38-B0AD-8093EC10F338}</a:tableStyleId>
              </a:tblPr>
              <a:tblGrid>
                <a:gridCol w="3172933">
                  <a:extLst>
                    <a:ext uri="{9D8B030D-6E8A-4147-A177-3AD203B41FA5}">
                      <a16:colId xmlns:a16="http://schemas.microsoft.com/office/drawing/2014/main" val="4149833925"/>
                    </a:ext>
                  </a:extLst>
                </a:gridCol>
                <a:gridCol w="8294953">
                  <a:extLst>
                    <a:ext uri="{9D8B030D-6E8A-4147-A177-3AD203B41FA5}">
                      <a16:colId xmlns:a16="http://schemas.microsoft.com/office/drawing/2014/main" val="1146318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Partition number (here: 0)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46603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Leader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Broker ID that is currently the leader for this partition (here: broker 1)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3410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Replicas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List of broker IDs that hold a copy of this partition (here: only broker 1)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7534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Isr</a:t>
                      </a: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(In-Sync Replicas)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List of broder IDs </a:t>
                      </a: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that are fully caught up with the leader (here: broker 1)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842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Elr</a:t>
                      </a:r>
                      <a:r>
                        <a:rPr lang="en-US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(Eligible Leader Replicas)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Replicas eligible to become leader </a:t>
                      </a:r>
                      <a:r>
                        <a:rPr lang="hu-HU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 case of failure</a:t>
                      </a: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(empty here, since there's only one replica)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24885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LastKnownElr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Last known eligible leader replicas (also empty here)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93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578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44053B-47BA-C0B2-B7BD-11A79527DDA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* Brief Note on Log Segments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0790-103B-8873-FC73-D2F6C3C5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stores messages in </a:t>
            </a:r>
            <a:r>
              <a:rPr lang="en-US" b="1" dirty="0"/>
              <a:t>append-only log files</a:t>
            </a:r>
            <a:r>
              <a:rPr lang="en-US" dirty="0"/>
              <a:t> per partition. </a:t>
            </a:r>
            <a:endParaRPr lang="hu-HU" dirty="0"/>
          </a:p>
          <a:p>
            <a:r>
              <a:rPr lang="en-US" dirty="0"/>
              <a:t>These logs are broken into </a:t>
            </a:r>
            <a:r>
              <a:rPr lang="en-US" b="1" dirty="0"/>
              <a:t>segments</a:t>
            </a:r>
            <a:r>
              <a:rPr lang="en-US" dirty="0"/>
              <a:t> to make storage and deletion more manageable</a:t>
            </a:r>
            <a:endParaRPr lang="hu-HU" dirty="0"/>
          </a:p>
          <a:p>
            <a:endParaRPr lang="hu-HU" dirty="0"/>
          </a:p>
          <a:p>
            <a:r>
              <a:rPr lang="hu-HU" dirty="0"/>
              <a:t>A</a:t>
            </a:r>
            <a:r>
              <a:rPr lang="en-US" dirty="0"/>
              <a:t> </a:t>
            </a:r>
            <a:r>
              <a:rPr lang="en-US" b="1" dirty="0"/>
              <a:t>log segment</a:t>
            </a:r>
            <a:r>
              <a:rPr lang="en-US" dirty="0"/>
              <a:t> is a chunk of data stored on disk for a given partition. </a:t>
            </a:r>
            <a:endParaRPr lang="hu-HU" dirty="0"/>
          </a:p>
          <a:p>
            <a:pPr>
              <a:lnSpc>
                <a:spcPct val="100000"/>
              </a:lnSpc>
            </a:pPr>
            <a:r>
              <a:rPr lang="hu-HU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segment.bytes=1073741824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each segment file will grow up to 1 GB before Kafka rolls over and starts a new segment.</a:t>
            </a:r>
          </a:p>
          <a:p>
            <a:pPr marL="0" indent="0">
              <a:buNone/>
            </a:pPr>
            <a:endParaRPr lang="hu-HU" dirty="0"/>
          </a:p>
          <a:p>
            <a:r>
              <a:rPr lang="en-US" dirty="0"/>
              <a:t>Each segment: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Contains a sequence of messages with increasing offsets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stored as a </a:t>
            </a:r>
            <a:r>
              <a:rPr lang="en-US" b="1" dirty="0"/>
              <a:t>.log </a:t>
            </a:r>
            <a:r>
              <a:rPr lang="en-US" dirty="0"/>
              <a:t>file (plus an </a:t>
            </a:r>
            <a:r>
              <a:rPr lang="en-US" b="1" dirty="0"/>
              <a:t>.index </a:t>
            </a:r>
            <a:r>
              <a:rPr lang="en-US" dirty="0"/>
              <a:t>file for fast lookup)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written to until it reaches the configured size (</a:t>
            </a:r>
            <a:r>
              <a:rPr lang="en-US" b="1" dirty="0" err="1"/>
              <a:t>log.segment.bytes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then </a:t>
            </a:r>
            <a:r>
              <a:rPr lang="en-US" b="1" dirty="0"/>
              <a:t>closed</a:t>
            </a:r>
            <a:r>
              <a:rPr lang="en-US" dirty="0"/>
              <a:t> and a new segment is created</a:t>
            </a:r>
          </a:p>
          <a:p>
            <a:endParaRPr lang="hu-HU" dirty="0"/>
          </a:p>
          <a:p>
            <a:r>
              <a:rPr lang="hu-HU" dirty="0"/>
              <a:t>The optimization is a tradeoff: </a:t>
            </a:r>
            <a:r>
              <a:rPr lang="hu-HU" b="1" dirty="0"/>
              <a:t>fewer files </a:t>
            </a:r>
            <a:r>
              <a:rPr lang="hu-HU" b="1" dirty="0">
                <a:sym typeface="Wingdings" panose="05000000000000000000" pitchFamily="2" charset="2"/>
              </a:rPr>
              <a:t></a:t>
            </a:r>
            <a:r>
              <a:rPr lang="hu-HU" b="1" dirty="0"/>
              <a:t> less overhead, less frequent cleanup</a:t>
            </a:r>
            <a:endParaRPr lang="hu-HU" dirty="0"/>
          </a:p>
          <a:p>
            <a:endParaRPr lang="hu-HU" dirty="0"/>
          </a:p>
          <a:p>
            <a:r>
              <a:rPr lang="hu-HU" dirty="0"/>
              <a:t>Log directory is configured by </a:t>
            </a:r>
            <a:r>
              <a:rPr lang="hu-HU" b="1" dirty="0"/>
              <a:t>log.dirs</a:t>
            </a:r>
            <a:r>
              <a:rPr lang="hu-HU" dirty="0"/>
              <a:t> parameter.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74F969-8433-617D-9738-8DD16DA9C8CC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6C326A3C-6A7D-12C3-45F0-A8BB67E4CAE5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11F8F4-C5D9-4828-A9A4-163005EF799F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49913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Console Producer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kafka-console-producer.sh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 to send messages to a Kafka topic from the command line. 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Produce messages to a specified topic.</a:t>
            </a:r>
            <a:endParaRPr lang="hu-HU" dirty="0"/>
          </a:p>
          <a:p>
            <a:pPr lvl="1"/>
            <a:r>
              <a:rPr lang="hu-HU" dirty="0"/>
              <a:t>With key</a:t>
            </a:r>
          </a:p>
          <a:p>
            <a:pPr lvl="1"/>
            <a:r>
              <a:rPr lang="hu-HU" dirty="0"/>
              <a:t>Without key</a:t>
            </a:r>
          </a:p>
          <a:p>
            <a:pPr lvl="1"/>
            <a:endParaRPr lang="en-US" dirty="0"/>
          </a:p>
          <a:p>
            <a:r>
              <a:rPr lang="en-US" dirty="0"/>
              <a:t>Read input from standard input (stdin). </a:t>
            </a:r>
            <a:endParaRPr lang="hu-HU" dirty="0"/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kafka-console-producer.sh --topic my-topic </a:t>
            </a: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--bootstrap-server localhost:9092</a:t>
            </a: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9592D5-0D45-9D6A-418F-E9C16F7B5955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C105E1F9-9D34-1489-8E9A-C701AF5C2724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9AC588-95EF-D0F9-D94F-256DA33BCC71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26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Console Consumer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-console-</a:t>
            </a:r>
            <a:r>
              <a:rPr lang="hu-HU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consumer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 to read messages from a Kafka topic from the command line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Consume messages from a specified </a:t>
            </a:r>
            <a:r>
              <a:rPr lang="en-US" dirty="0" err="1"/>
              <a:t>topi</a:t>
            </a:r>
            <a:r>
              <a:rPr lang="hu-HU" dirty="0"/>
              <a:t>c:</a:t>
            </a:r>
          </a:p>
          <a:p>
            <a:pPr lvl="1"/>
            <a:r>
              <a:rPr lang="hu-HU" dirty="0"/>
              <a:t>From tail of the topic</a:t>
            </a:r>
          </a:p>
          <a:p>
            <a:pPr lvl="1"/>
            <a:r>
              <a:rPr lang="hu-HU" dirty="0"/>
              <a:t>From the beginning of the topic</a:t>
            </a:r>
          </a:p>
          <a:p>
            <a:pPr lvl="1"/>
            <a:endParaRPr lang="en-US" dirty="0"/>
          </a:p>
          <a:p>
            <a:r>
              <a:rPr lang="hu-HU" dirty="0"/>
              <a:t>Can display key and value as well</a:t>
            </a:r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kafka-console-consumer.sh --topic my-topic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--bootstrap-server localhost:9092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--from-beginning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BE1E33-0BF0-679D-2701-170F265A4DC4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605038CA-7803-BEA7-3175-478B5224BEFA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DF31C4-2B2E-9866-A5C2-30D987427FB3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36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Consumer Groups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kafka-consumer-groups.sh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 to manage consumer groups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Describe consumer groups</a:t>
            </a:r>
          </a:p>
          <a:p>
            <a:r>
              <a:rPr lang="en-US" dirty="0"/>
              <a:t>List consumer groups</a:t>
            </a:r>
          </a:p>
          <a:p>
            <a:r>
              <a:rPr lang="en-US" dirty="0"/>
              <a:t>Delete consumer groups</a:t>
            </a:r>
            <a:endParaRPr lang="hu-HU" dirty="0"/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kafka-consumer-groups.sh --bootstrap-server localhost:9092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--describe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--group my-group</a:t>
            </a: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36C912-4011-E3B4-4D17-63ACEBA3AE22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943DEEE1-94B2-6F46-E437-8FB82137090C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C4E8E0-0E70-9C50-98B7-EAD9D7928BF3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3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Server Start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server-start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</a:t>
            </a:r>
            <a:r>
              <a:rPr lang="hu-HU" b="0" i="0" dirty="0">
                <a:solidFill>
                  <a:srgbClr val="111111"/>
                </a:solidFill>
                <a:effectLst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</a:rPr>
              <a:t>to start a Kafka broker. 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Start a Kafka broker using a specified properties file.</a:t>
            </a:r>
            <a:endParaRPr lang="hu-HU" dirty="0"/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kafka-server-start.sh config/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server.properties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2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Server Stop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server-stop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</a:t>
            </a:r>
            <a:r>
              <a:rPr lang="hu-HU" b="0" i="0" dirty="0">
                <a:solidFill>
                  <a:srgbClr val="111111"/>
                </a:solidFill>
                <a:effectLst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</a:rPr>
              <a:t>to </a:t>
            </a:r>
            <a:r>
              <a:rPr lang="hu-HU" b="0" i="0" dirty="0">
                <a:solidFill>
                  <a:srgbClr val="111111"/>
                </a:solidFill>
                <a:effectLst/>
              </a:rPr>
              <a:t>stop a running </a:t>
            </a:r>
            <a:r>
              <a:rPr lang="en-US" b="0" i="0" dirty="0">
                <a:solidFill>
                  <a:srgbClr val="111111"/>
                </a:solidFill>
                <a:effectLst/>
              </a:rPr>
              <a:t>Kafka broker. 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Stop a Kafka broker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kafka-server-stop.sh</a:t>
            </a: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04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ímd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62055</TotalTime>
  <Words>4695</Words>
  <Application>Microsoft Office PowerPoint</Application>
  <PresentationFormat>Widescreen</PresentationFormat>
  <Paragraphs>1251</Paragraphs>
  <Slides>47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Courier New</vt:lpstr>
      <vt:lpstr>Inter</vt:lpstr>
      <vt:lpstr>Open Sans</vt:lpstr>
      <vt:lpstr>Roboto</vt:lpstr>
      <vt:lpstr>Wingdings</vt:lpstr>
      <vt:lpstr>címdia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CÍME prezentáció alcíme</dc:title>
  <dc:creator>Microsoft Office User</dc:creator>
  <cp:lastModifiedBy>Szabó Dávid</cp:lastModifiedBy>
  <cp:revision>2452</cp:revision>
  <dcterms:created xsi:type="dcterms:W3CDTF">2021-07-01T15:39:11Z</dcterms:created>
  <dcterms:modified xsi:type="dcterms:W3CDTF">2025-09-15T19:58:52Z</dcterms:modified>
</cp:coreProperties>
</file>